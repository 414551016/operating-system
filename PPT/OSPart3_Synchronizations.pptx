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  <p:sldMasterId id="2147483653" r:id="rId2"/>
    <p:sldMasterId id="2147483654" r:id="rId3"/>
  </p:sldMasterIdLst>
  <p:notesMasterIdLst>
    <p:notesMasterId r:id="rId76"/>
  </p:notesMasterIdLst>
  <p:sldIdLst>
    <p:sldId id="256" r:id="rId4"/>
    <p:sldId id="288" r:id="rId5"/>
    <p:sldId id="289" r:id="rId6"/>
    <p:sldId id="290" r:id="rId7"/>
    <p:sldId id="291" r:id="rId8"/>
    <p:sldId id="292" r:id="rId9"/>
    <p:sldId id="293" r:id="rId10"/>
    <p:sldId id="294" r:id="rId11"/>
    <p:sldId id="296" r:id="rId12"/>
    <p:sldId id="297" r:id="rId13"/>
    <p:sldId id="298" r:id="rId14"/>
    <p:sldId id="300" r:id="rId15"/>
    <p:sldId id="299" r:id="rId16"/>
    <p:sldId id="301" r:id="rId17"/>
    <p:sldId id="302" r:id="rId18"/>
    <p:sldId id="303" r:id="rId19"/>
    <p:sldId id="304" r:id="rId20"/>
    <p:sldId id="305" r:id="rId21"/>
    <p:sldId id="306" r:id="rId22"/>
    <p:sldId id="307" r:id="rId23"/>
    <p:sldId id="308" r:id="rId24"/>
    <p:sldId id="309" r:id="rId25"/>
    <p:sldId id="310" r:id="rId26"/>
    <p:sldId id="311" r:id="rId27"/>
    <p:sldId id="312" r:id="rId28"/>
    <p:sldId id="313" r:id="rId29"/>
    <p:sldId id="314" r:id="rId30"/>
    <p:sldId id="315" r:id="rId31"/>
    <p:sldId id="316" r:id="rId32"/>
    <p:sldId id="317" r:id="rId33"/>
    <p:sldId id="318" r:id="rId34"/>
    <p:sldId id="319" r:id="rId35"/>
    <p:sldId id="322" r:id="rId36"/>
    <p:sldId id="323" r:id="rId37"/>
    <p:sldId id="324" r:id="rId38"/>
    <p:sldId id="326" r:id="rId39"/>
    <p:sldId id="327" r:id="rId40"/>
    <p:sldId id="325" r:id="rId41"/>
    <p:sldId id="328" r:id="rId42"/>
    <p:sldId id="329" r:id="rId43"/>
    <p:sldId id="330" r:id="rId44"/>
    <p:sldId id="331" r:id="rId45"/>
    <p:sldId id="332" r:id="rId46"/>
    <p:sldId id="333" r:id="rId47"/>
    <p:sldId id="334" r:id="rId48"/>
    <p:sldId id="335" r:id="rId49"/>
    <p:sldId id="336" r:id="rId50"/>
    <p:sldId id="337" r:id="rId51"/>
    <p:sldId id="338" r:id="rId52"/>
    <p:sldId id="339" r:id="rId53"/>
    <p:sldId id="340" r:id="rId54"/>
    <p:sldId id="341" r:id="rId55"/>
    <p:sldId id="342" r:id="rId56"/>
    <p:sldId id="343" r:id="rId57"/>
    <p:sldId id="351" r:id="rId58"/>
    <p:sldId id="352" r:id="rId59"/>
    <p:sldId id="353" r:id="rId60"/>
    <p:sldId id="354" r:id="rId61"/>
    <p:sldId id="355" r:id="rId62"/>
    <p:sldId id="356" r:id="rId63"/>
    <p:sldId id="357" r:id="rId64"/>
    <p:sldId id="358" r:id="rId65"/>
    <p:sldId id="359" r:id="rId66"/>
    <p:sldId id="361" r:id="rId67"/>
    <p:sldId id="362" r:id="rId68"/>
    <p:sldId id="363" r:id="rId69"/>
    <p:sldId id="364" r:id="rId70"/>
    <p:sldId id="365" r:id="rId71"/>
    <p:sldId id="366" r:id="rId72"/>
    <p:sldId id="295" r:id="rId73"/>
    <p:sldId id="321" r:id="rId74"/>
    <p:sldId id="360" r:id="rId75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5" autoAdjust="0"/>
    <p:restoredTop sz="91502" autoAdjust="0"/>
  </p:normalViewPr>
  <p:slideViewPr>
    <p:cSldViewPr>
      <p:cViewPr varScale="1">
        <p:scale>
          <a:sx n="115" d="100"/>
          <a:sy n="115" d="100"/>
        </p:scale>
        <p:origin x="136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16" Type="http://schemas.openxmlformats.org/officeDocument/2006/relationships/slide" Target="slides/slide1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slide" Target="slides/slide63.xml"/><Relationship Id="rId74" Type="http://schemas.openxmlformats.org/officeDocument/2006/relationships/slide" Target="slides/slide71.xml"/><Relationship Id="rId79" Type="http://schemas.openxmlformats.org/officeDocument/2006/relationships/theme" Target="theme/theme1.xml"/><Relationship Id="rId5" Type="http://schemas.openxmlformats.org/officeDocument/2006/relationships/slide" Target="slides/slide2.xml"/><Relationship Id="rId61" Type="http://schemas.openxmlformats.org/officeDocument/2006/relationships/slide" Target="slides/slide58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77" Type="http://schemas.openxmlformats.org/officeDocument/2006/relationships/presProps" Target="pres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80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slide" Target="slides/slide64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73" Type="http://schemas.openxmlformats.org/officeDocument/2006/relationships/slide" Target="slides/slide70.xml"/><Relationship Id="rId78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fld id="{FB8FC928-72EE-464F-BC38-B4632756C9EE}" type="datetimeFigureOut">
              <a:rPr lang="zh-TW" altLang="en-US"/>
              <a:pPr>
                <a:defRPr/>
              </a:pPr>
              <a:t>2024/5/15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 smtClean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smtClean="0">
                <a:latin typeface="Arial" charset="0"/>
                <a:ea typeface="新細明體" charset="-120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9676536-6B7D-46DE-95D7-3DD0ACF4DB29}" type="slidenum">
              <a:rPr lang="zh-TW" altLang="en-US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804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3CB1B1-1809-4C5B-B10D-D56A7FED31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87776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93C270-138C-42DF-BA7F-31BECF9A9D4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50585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0C126F-E9D4-4779-B5E6-E6821E897C3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90925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E33A61E-6E50-47C5-A571-1BEA1FBBB6D4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8581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59E5B3A-745C-4BDD-A569-4E3A2C7663DF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3431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E72F18-AD83-40E9-AFC0-EAB75D45B4F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55378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0021CF-3A74-41EE-8645-B20E4A2056F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200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6DD5D20-8F2C-4DD5-AE70-A881BBC0AA8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20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AE9C9D-1EC0-4BF1-9C08-0ED99A350A7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630274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5F71B1-7C88-4BC8-A518-24B159CE008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619740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36C93A-7BBE-44E5-BDAB-7156FDE321EE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7183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58D2B4-E862-438E-9790-CDD4659E5B5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701243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E358C2-AF4F-4DA6-BDBC-2C6B60C74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433744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73D52A-3251-4F2A-965A-68697340EB9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05053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E3BFBC-5F56-4283-B299-4DE386FC81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474976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16F7E-6462-4EBB-AC7C-57D2A1527BC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089308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88F2A4-614B-4CDF-B57C-19AD2CC91C25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382124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78C1DE-C343-45A7-98A2-D4A0CA8D1B3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861438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A8B438A-DA91-4030-A901-6756B18B2BA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75014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F856F6-89E5-4EB4-8B94-2E384E0429E7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43444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BC0EB8-BC90-40E1-8EEA-0FC09F0EB43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2090011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D0B9F2-E97D-48AD-9AF0-363D7651E3C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45176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F4EAC2-EC43-4CA0-BCF9-B1DA03845B2C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37119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66F714-468D-45C8-A116-4CD3D030CEB8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316385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110860-0040-4170-9093-2398FA10A3A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5423812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9144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76800" y="14478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01254-25D6-439E-BDBC-326C8D468B9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9933282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7743E6-03A6-4062-A2F9-A8CB67EA79E9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866704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56BC5-B4A1-4832-9556-DE3ECA9BC2E1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0615383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B2B0C5-6FC9-44D5-BF55-5F5C805708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066340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502423-93F9-4C8F-A1C5-744BE3352F8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943204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7D2BA9-7A74-4D25-A98B-BA166E1C76FA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9274707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ED71CD-6FCB-48D1-A58B-126B35190EAD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8288459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43700" y="274638"/>
            <a:ext cx="1943100" cy="5745162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914400" y="274638"/>
            <a:ext cx="5676900" cy="5745162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0D375B-07BA-448A-B2BF-AAF8798B13D0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287563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2" name="矩形 11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3" name="矩形 12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5" name="矩形 14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1031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32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27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28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C5D98EF3-68B0-4BE5-A804-4F06DFD0AF0B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Franklin Gothic Book" pitchFamily="34" charset="0"/>
          <a:ea typeface="新細明體" pitchFamily="18" charset="-12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kumimoji="1"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kumimoji="1" sz="2400">
          <a:solidFill>
            <a:schemeClr val="tx1"/>
          </a:solidFill>
          <a:latin typeface="+mn-lt"/>
          <a:ea typeface="+mn-ea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kumimoji="1" sz="2000">
          <a:solidFill>
            <a:schemeClr val="tx1"/>
          </a:solidFill>
          <a:latin typeface="+mn-lt"/>
          <a:ea typeface="+mn-ea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5pPr>
      <a:lvl6pPr marL="18288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6pPr>
      <a:lvl7pPr marL="22860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7pPr>
      <a:lvl8pPr marL="27432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8pPr>
      <a:lvl9pPr marL="3200400" indent="-228600" algn="l" rtl="0" fontAlgn="base">
        <a:spcBef>
          <a:spcPts val="375"/>
        </a:spcBef>
        <a:spcAft>
          <a:spcPct val="0"/>
        </a:spcAft>
        <a:buClr>
          <a:srgbClr val="A28E6A"/>
        </a:buClr>
        <a:buChar char="o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11" name="圓角矩形 10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4" name="矩形 11"/>
          <p:cNvSpPr>
            <a:spLocks noChangeArrowheads="1"/>
          </p:cNvSpPr>
          <p:nvPr/>
        </p:nvSpPr>
        <p:spPr bwMode="auto">
          <a:xfrm flipV="1">
            <a:off x="95250" y="1341438"/>
            <a:ext cx="9013825" cy="92075"/>
          </a:xfrm>
          <a:prstGeom prst="rect">
            <a:avLst/>
          </a:prstGeom>
          <a:solidFill>
            <a:schemeClr val="accent1"/>
          </a:solidFill>
          <a:ln w="19050" cap="sq" algn="ctr">
            <a:noFill/>
            <a:miter lim="800000"/>
            <a:headEnd/>
            <a:tailEnd/>
          </a:ln>
        </p:spPr>
        <p:txBody>
          <a:bodyPr rot="10800000" anchor="ctr"/>
          <a:lstStyle/>
          <a:p>
            <a:pPr algn="ctr" eaLnBrk="1" hangingPunct="1">
              <a:defRPr/>
            </a:pPr>
            <a:endParaRPr kumimoji="0" lang="en-US" altLang="zh-TW" sz="2400">
              <a:solidFill>
                <a:srgbClr val="FFFFFF"/>
              </a:solidFill>
              <a:latin typeface="Perpetua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9850" y="1341438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205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800100" y="6172200"/>
            <a:ext cx="4000500" cy="457200"/>
          </a:xfrm>
          <a:prstGeom prst="rect">
            <a:avLst/>
          </a:prstGeom>
        </p:spPr>
        <p:txBody>
          <a:bodyPr anchor="ctr" anchorCtr="0"/>
          <a:lstStyle>
            <a:lvl1pPr eaLnBrk="1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8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46050" y="6208713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924F783D-3DC7-4B21-9FC9-06AEAAF25AF2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 useBgFill="1">
        <p:nvSpPr>
          <p:cNvPr id="8" name="圓角矩形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kumimoji="0" lang="en-US" sz="2400"/>
          </a:p>
        </p:txBody>
      </p:sp>
      <p:sp>
        <p:nvSpPr>
          <p:cNvPr id="3076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3077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kumimoji="0" sz="1400">
                <a:solidFill>
                  <a:srgbClr val="FFFFFF"/>
                </a:solidFill>
                <a:latin typeface="Franklin Gothic Book" panose="020B0503020102020204" pitchFamily="34" charset="0"/>
              </a:defRPr>
            </a:lvl1pPr>
          </a:lstStyle>
          <a:p>
            <a:fld id="{D3C4E825-B7C8-40C0-A68F-A0BB2DAA5038}" type="slidenum">
              <a:rPr lang="zh-TW" altLang="en-US"/>
              <a:pPr/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>
          <a:solidFill>
            <a:schemeClr val="tx1"/>
          </a:solidFill>
          <a:latin typeface="+mn-lt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>
          <a:solidFill>
            <a:schemeClr val="tx1"/>
          </a:solidFill>
          <a:latin typeface="+mn-lt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5pPr>
      <a:lvl6pPr marL="18288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6pPr>
      <a:lvl7pPr marL="22860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7pPr>
      <a:lvl8pPr marL="27432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8pPr>
      <a:lvl9pPr marL="32004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myuan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2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emf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7.e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emf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9" Type="http://schemas.openxmlformats.org/officeDocument/2006/relationships/image" Target="../media/image45.e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ctrTitle"/>
          </p:nvPr>
        </p:nvSpPr>
        <p:spPr>
          <a:xfrm>
            <a:off x="107505" y="1484313"/>
            <a:ext cx="9000999" cy="1470025"/>
          </a:xfrm>
        </p:spPr>
        <p:txBody>
          <a:bodyPr/>
          <a:lstStyle/>
          <a:p>
            <a:pPr algn="ctr" eaLnBrk="1" hangingPunct="1"/>
            <a: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Operating Systems</a:t>
            </a:r>
            <a:br>
              <a:rPr lang="en-US" altLang="zh-TW" dirty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</a:br>
            <a:r>
              <a:rPr lang="en-US" altLang="zh-TW" dirty="0" smtClean="0">
                <a:solidFill>
                  <a:srgbClr val="FFFFFF"/>
                </a:solidFill>
                <a:latin typeface="Times New Roman" panose="02020603050405020304" pitchFamily="18" charset="0"/>
                <a:ea typeface="微軟正黑體" panose="020B0604030504040204" pitchFamily="34" charset="-120"/>
                <a:cs typeface="Times New Roman" panose="02020603050405020304" pitchFamily="18" charset="0"/>
              </a:rPr>
              <a:t>Synchronization</a:t>
            </a:r>
          </a:p>
        </p:txBody>
      </p:sp>
      <p:sp>
        <p:nvSpPr>
          <p:cNvPr id="4099" name="Rectangle 3"/>
          <p:cNvSpPr>
            <a:spLocks noGrp="1"/>
          </p:cNvSpPr>
          <p:nvPr>
            <p:ph type="subTitle" idx="1"/>
          </p:nvPr>
        </p:nvSpPr>
        <p:spPr>
          <a:xfrm>
            <a:off x="1331913" y="3644900"/>
            <a:ext cx="6400800" cy="1752600"/>
          </a:xfrm>
        </p:spPr>
        <p:txBody>
          <a:bodyPr/>
          <a:lstStyle/>
          <a:p>
            <a:pPr eaLnBrk="1" hangingPunct="1"/>
            <a:r>
              <a:rPr lang="en-US" altLang="zh-TW" dirty="0" err="1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Shyan</a:t>
            </a:r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-Ming Yuan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 Department, NCTU</a:t>
            </a: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smyuan@gmail.com</a:t>
            </a:r>
            <a:endParaRPr lang="en-US" altLang="zh-TW" dirty="0" smtClean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en-US" altLang="zh-TW" dirty="0" smtClean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Office hours: Wed. 8~10 (EC442)</a:t>
            </a:r>
          </a:p>
          <a:p>
            <a:pPr eaLnBrk="1" hangingPunct="1"/>
            <a:endParaRPr lang="en-US" altLang="zh-TW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615826"/>
            <a:ext cx="7772400" cy="724942"/>
          </a:xfrm>
        </p:spPr>
        <p:txBody>
          <a:bodyPr/>
          <a:lstStyle/>
          <a:p>
            <a:pPr algn="ctr"/>
            <a:r>
              <a:rPr lang="en-US" altLang="zh-TW" dirty="0" smtClean="0"/>
              <a:t>Distributed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340768"/>
            <a:ext cx="8363272" cy="5293568"/>
          </a:xfrm>
        </p:spPr>
        <p:txBody>
          <a:bodyPr/>
          <a:lstStyle/>
          <a:p>
            <a:r>
              <a:rPr lang="en-US" altLang="zh-TW" dirty="0"/>
              <a:t>A distributed system consists of a collection of distinct processes that are </a:t>
            </a:r>
            <a:r>
              <a:rPr lang="en-US" altLang="zh-TW" dirty="0" smtClean="0"/>
              <a:t>spatially separated </a:t>
            </a:r>
            <a:r>
              <a:rPr lang="en-US" altLang="zh-TW" dirty="0"/>
              <a:t>and run concurrently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concurrently executing processes</a:t>
            </a:r>
            <a:r>
              <a:rPr lang="en-US" altLang="zh-TW" dirty="0"/>
              <a:t> </a:t>
            </a:r>
            <a:r>
              <a:rPr lang="en-US" altLang="zh-TW" dirty="0" smtClean="0"/>
              <a:t>may share system resources either cooperatively </a:t>
            </a:r>
            <a:r>
              <a:rPr lang="en-US" altLang="zh-TW" dirty="0"/>
              <a:t>or </a:t>
            </a:r>
            <a:r>
              <a:rPr lang="en-US" altLang="zh-TW" dirty="0" smtClean="0"/>
              <a:t>competitively. </a:t>
            </a:r>
          </a:p>
          <a:p>
            <a:pPr lvl="1"/>
            <a:r>
              <a:rPr lang="en-US" altLang="zh-TW" dirty="0" smtClean="0"/>
              <a:t>To guarantee correct interactions among cooperative or </a:t>
            </a:r>
            <a:r>
              <a:rPr lang="en-US" altLang="zh-TW" dirty="0"/>
              <a:t>competitive </a:t>
            </a:r>
            <a:r>
              <a:rPr lang="en-US" altLang="zh-TW" dirty="0" smtClean="0"/>
              <a:t>sharing, </a:t>
            </a:r>
            <a:r>
              <a:rPr lang="en-US" altLang="zh-TW" dirty="0"/>
              <a:t>certain rules of </a:t>
            </a:r>
            <a:r>
              <a:rPr lang="en-US" altLang="zh-TW" dirty="0" smtClean="0"/>
              <a:t>behavior must be obeyed. </a:t>
            </a:r>
          </a:p>
          <a:p>
            <a:r>
              <a:rPr lang="en-US" altLang="zh-TW" dirty="0" smtClean="0"/>
              <a:t>The </a:t>
            </a:r>
            <a:r>
              <a:rPr lang="en-US" altLang="zh-TW" dirty="0"/>
              <a:t>rules for enforcing correct </a:t>
            </a:r>
            <a:r>
              <a:rPr lang="en-US" altLang="zh-TW" dirty="0" smtClean="0"/>
              <a:t>interaction are </a:t>
            </a:r>
            <a:r>
              <a:rPr lang="en-US" altLang="zh-TW" dirty="0"/>
              <a:t>implemented in the form of synchronization </a:t>
            </a:r>
            <a:r>
              <a:rPr lang="en-US" altLang="zh-TW" dirty="0" smtClean="0"/>
              <a:t>mechanisms.</a:t>
            </a:r>
          </a:p>
          <a:p>
            <a:pPr lvl="1"/>
            <a:r>
              <a:rPr lang="en-US" altLang="zh-TW" dirty="0"/>
              <a:t>Clock </a:t>
            </a:r>
            <a:r>
              <a:rPr lang="en-US" altLang="zh-TW" dirty="0" smtClean="0"/>
              <a:t>synchronization &amp; Event </a:t>
            </a:r>
            <a:r>
              <a:rPr lang="en-US" altLang="zh-TW" dirty="0"/>
              <a:t>ordering</a:t>
            </a:r>
          </a:p>
          <a:p>
            <a:pPr lvl="1"/>
            <a:r>
              <a:rPr lang="en-US" altLang="zh-TW" dirty="0" smtClean="0"/>
              <a:t>Mutual </a:t>
            </a:r>
            <a:r>
              <a:rPr lang="en-US" altLang="zh-TW" dirty="0"/>
              <a:t>exclusion</a:t>
            </a:r>
          </a:p>
          <a:p>
            <a:pPr lvl="1"/>
            <a:r>
              <a:rPr lang="en-US" altLang="zh-TW" dirty="0" smtClean="0"/>
              <a:t>Deadlock detection (and handling)</a:t>
            </a:r>
            <a:endParaRPr lang="en-US" altLang="zh-TW" dirty="0"/>
          </a:p>
          <a:p>
            <a:pPr lvl="1"/>
            <a:r>
              <a:rPr lang="en-US" altLang="zh-TW" dirty="0" smtClean="0"/>
              <a:t>Leader Election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41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Time and Clock in a DS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19808"/>
            <a:ext cx="9036496" cy="5149552"/>
          </a:xfrm>
        </p:spPr>
        <p:txBody>
          <a:bodyPr/>
          <a:lstStyle/>
          <a:p>
            <a:r>
              <a:rPr lang="en-US" altLang="zh-TW" dirty="0"/>
              <a:t>Time is an important practical issue in distributed systems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In a DSM, it requires an </a:t>
            </a:r>
            <a:r>
              <a:rPr lang="en-US" altLang="zh-TW" dirty="0"/>
              <a:t>absolute global </a:t>
            </a:r>
            <a:r>
              <a:rPr lang="en-US" altLang="zh-TW" dirty="0" smtClean="0"/>
              <a:t>time to support </a:t>
            </a:r>
            <a:r>
              <a:rPr lang="en-US" altLang="zh-TW" dirty="0" smtClean="0">
                <a:solidFill>
                  <a:srgbClr val="FF0000"/>
                </a:solidFill>
              </a:rPr>
              <a:t>strict </a:t>
            </a:r>
            <a:r>
              <a:rPr lang="en-US" altLang="zh-TW" dirty="0">
                <a:solidFill>
                  <a:srgbClr val="FF0000"/>
                </a:solidFill>
              </a:rPr>
              <a:t>consistency</a:t>
            </a:r>
            <a:r>
              <a:rPr lang="en-US" altLang="zh-TW" dirty="0"/>
              <a:t> </a:t>
            </a:r>
            <a:r>
              <a:rPr lang="en-US" altLang="zh-TW" dirty="0" smtClean="0"/>
              <a:t>model.</a:t>
            </a:r>
          </a:p>
          <a:p>
            <a:pPr lvl="2"/>
            <a:r>
              <a:rPr lang="en-US" altLang="zh-TW" dirty="0"/>
              <a:t>All writes instantaneously become visible to all processes.</a:t>
            </a:r>
          </a:p>
          <a:p>
            <a:pPr lvl="1"/>
            <a:r>
              <a:rPr lang="en-US" altLang="zh-TW" dirty="0" smtClean="0"/>
              <a:t>In a DFS, it also requires </a:t>
            </a:r>
            <a:r>
              <a:rPr lang="en-US" altLang="zh-TW" dirty="0"/>
              <a:t>an absolute global time to support </a:t>
            </a:r>
            <a:r>
              <a:rPr lang="en-US" altLang="zh-TW" dirty="0" smtClean="0">
                <a:solidFill>
                  <a:srgbClr val="FF0000"/>
                </a:solidFill>
              </a:rPr>
              <a:t>Unix semantics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A read always returns the result from the latest write.</a:t>
            </a:r>
          </a:p>
          <a:p>
            <a:r>
              <a:rPr lang="en-US" altLang="zh-TW" dirty="0"/>
              <a:t>Time is </a:t>
            </a:r>
            <a:r>
              <a:rPr lang="en-US" altLang="zh-TW" dirty="0" smtClean="0"/>
              <a:t>also problematic </a:t>
            </a:r>
            <a:r>
              <a:rPr lang="en-US" altLang="zh-TW" dirty="0"/>
              <a:t>in distributed systems.</a:t>
            </a:r>
          </a:p>
          <a:p>
            <a:pPr lvl="1"/>
            <a:r>
              <a:rPr lang="en-US" altLang="zh-TW" dirty="0"/>
              <a:t>Each computer </a:t>
            </a:r>
            <a:r>
              <a:rPr lang="en-US" altLang="zh-TW" dirty="0" smtClean="0"/>
              <a:t>has </a:t>
            </a:r>
            <a:r>
              <a:rPr lang="en-US" altLang="zh-TW" dirty="0"/>
              <a:t>its own physical clock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crystals </a:t>
            </a:r>
            <a:r>
              <a:rPr lang="en-US" altLang="zh-TW" dirty="0"/>
              <a:t>in different computers </a:t>
            </a:r>
            <a:r>
              <a:rPr lang="en-US" altLang="zh-TW" dirty="0" smtClean="0"/>
              <a:t>may oscillate in different frequencies.</a:t>
            </a:r>
          </a:p>
          <a:p>
            <a:pPr lvl="3"/>
            <a:r>
              <a:rPr lang="en-US" altLang="zh-TW" dirty="0"/>
              <a:t>The </a:t>
            </a:r>
            <a:r>
              <a:rPr lang="en-US" altLang="zh-TW" dirty="0" smtClean="0"/>
              <a:t>difference </a:t>
            </a:r>
            <a:r>
              <a:rPr lang="en-US" altLang="zh-TW" dirty="0"/>
              <a:t>between the readings of any two clocks is called </a:t>
            </a:r>
            <a:r>
              <a:rPr lang="en-US" altLang="zh-TW" dirty="0">
                <a:solidFill>
                  <a:srgbClr val="FF0000"/>
                </a:solidFill>
              </a:rPr>
              <a:t>clock skew</a:t>
            </a:r>
            <a:r>
              <a:rPr lang="en-US" altLang="zh-TW" dirty="0" smtClean="0"/>
              <a:t>.</a:t>
            </a:r>
          </a:p>
          <a:p>
            <a:pPr lvl="3"/>
            <a:r>
              <a:rPr lang="en-US" altLang="zh-TW" dirty="0" smtClean="0"/>
              <a:t>The difference </a:t>
            </a:r>
            <a:r>
              <a:rPr lang="en-US" altLang="zh-TW" dirty="0"/>
              <a:t>of oscillation </a:t>
            </a:r>
            <a:r>
              <a:rPr lang="en-US" altLang="zh-TW" dirty="0" smtClean="0"/>
              <a:t>frequency </a:t>
            </a:r>
            <a:r>
              <a:rPr lang="en-US" altLang="zh-TW" dirty="0"/>
              <a:t>is called </a:t>
            </a:r>
            <a:r>
              <a:rPr lang="en-US" altLang="zh-TW" dirty="0">
                <a:solidFill>
                  <a:srgbClr val="FF0000"/>
                </a:solidFill>
              </a:rPr>
              <a:t>clock </a:t>
            </a:r>
            <a:r>
              <a:rPr lang="en-US" altLang="zh-TW" dirty="0" smtClean="0">
                <a:solidFill>
                  <a:srgbClr val="FF0000"/>
                </a:solidFill>
              </a:rPr>
              <a:t>drift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smtClean="0"/>
              <a:t>These </a:t>
            </a:r>
            <a:r>
              <a:rPr lang="en-US" altLang="zh-TW" dirty="0"/>
              <a:t>clocks may deviate and cannot be synchronized perfectly.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222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Coordinated Universal Time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928992" cy="5221560"/>
          </a:xfrm>
        </p:spPr>
        <p:txBody>
          <a:bodyPr/>
          <a:lstStyle/>
          <a:p>
            <a:r>
              <a:rPr lang="en-US" altLang="zh-TW" dirty="0"/>
              <a:t>The most accurate physical clocks use </a:t>
            </a:r>
            <a:r>
              <a:rPr lang="en-US" altLang="zh-TW" dirty="0">
                <a:solidFill>
                  <a:srgbClr val="FF0000"/>
                </a:solidFill>
              </a:rPr>
              <a:t>atomic </a:t>
            </a:r>
            <a:r>
              <a:rPr lang="en-US" altLang="zh-TW" dirty="0" smtClean="0">
                <a:solidFill>
                  <a:srgbClr val="FF0000"/>
                </a:solidFill>
              </a:rPr>
              <a:t>oscillators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drift </a:t>
            </a:r>
            <a:r>
              <a:rPr lang="en-US" altLang="zh-TW" dirty="0" smtClean="0"/>
              <a:t>rate </a:t>
            </a:r>
            <a:r>
              <a:rPr lang="en-US" altLang="zh-TW" dirty="0"/>
              <a:t>is about </a:t>
            </a:r>
            <a:r>
              <a:rPr lang="en-US" altLang="zh-TW" dirty="0" smtClean="0"/>
              <a:t>10</a:t>
            </a:r>
            <a:r>
              <a:rPr lang="en-US" altLang="zh-TW" baseline="30000" dirty="0" smtClean="0"/>
              <a:t>-13</a:t>
            </a:r>
            <a:r>
              <a:rPr lang="en-US" altLang="zh-TW" dirty="0"/>
              <a:t>. </a:t>
            </a:r>
          </a:p>
          <a:p>
            <a:pPr lvl="1"/>
            <a:r>
              <a:rPr lang="en-US" altLang="zh-TW" dirty="0" smtClean="0"/>
              <a:t>In </a:t>
            </a:r>
            <a:r>
              <a:rPr lang="en-US" altLang="zh-TW" dirty="0"/>
              <a:t>1967, the standard second </a:t>
            </a:r>
            <a:r>
              <a:rPr lang="en-US" altLang="zh-TW" dirty="0" smtClean="0"/>
              <a:t>of </a:t>
            </a:r>
            <a:r>
              <a:rPr lang="en-US" altLang="zh-TW" dirty="0"/>
              <a:t>International Atomic </a:t>
            </a:r>
            <a:r>
              <a:rPr lang="en-US" altLang="zh-TW" dirty="0" smtClean="0"/>
              <a:t>Time (</a:t>
            </a:r>
            <a:r>
              <a:rPr lang="en-US" altLang="zh-TW" dirty="0" smtClean="0">
                <a:solidFill>
                  <a:srgbClr val="FF0000"/>
                </a:solidFill>
              </a:rPr>
              <a:t>IAT</a:t>
            </a:r>
            <a:r>
              <a:rPr lang="en-US" altLang="zh-TW" dirty="0" smtClean="0"/>
              <a:t>) has </a:t>
            </a:r>
            <a:r>
              <a:rPr lang="en-US" altLang="zh-TW" dirty="0"/>
              <a:t>been defined as 9,192,631,770 periods of transition between the two hyperfine levels of the ground state of </a:t>
            </a:r>
            <a:r>
              <a:rPr lang="en-US" altLang="zh-TW" dirty="0" smtClean="0"/>
              <a:t>cesium 133 (</a:t>
            </a:r>
            <a:r>
              <a:rPr lang="en-US" altLang="zh-TW" dirty="0" smtClean="0">
                <a:solidFill>
                  <a:srgbClr val="FF0000"/>
                </a:solidFill>
              </a:rPr>
              <a:t>Cs133</a:t>
            </a:r>
            <a:r>
              <a:rPr lang="en-US" altLang="zh-TW" dirty="0" smtClean="0"/>
              <a:t>).</a:t>
            </a:r>
          </a:p>
          <a:p>
            <a:pPr lvl="2"/>
            <a:r>
              <a:rPr lang="en-US" altLang="zh-TW" dirty="0" smtClean="0"/>
              <a:t>The average of 50 Cs133 clocks in international labs world wide.</a:t>
            </a:r>
          </a:p>
          <a:p>
            <a:r>
              <a:rPr lang="en-US" altLang="zh-TW" dirty="0" smtClean="0"/>
              <a:t>Coordinated Universal Time </a:t>
            </a:r>
            <a:r>
              <a:rPr lang="en-US" altLang="zh-TW" dirty="0"/>
              <a:t>(</a:t>
            </a:r>
            <a:r>
              <a:rPr lang="en-US" altLang="zh-TW" dirty="0">
                <a:solidFill>
                  <a:srgbClr val="FF0000"/>
                </a:solidFill>
              </a:rPr>
              <a:t>UTC</a:t>
            </a:r>
            <a:r>
              <a:rPr lang="en-US" altLang="zh-TW" dirty="0"/>
              <a:t>) is an international standard for </a:t>
            </a:r>
            <a:r>
              <a:rPr lang="en-US" altLang="zh-TW" dirty="0" smtClean="0"/>
              <a:t>timekeeping</a:t>
            </a:r>
            <a:r>
              <a:rPr lang="en-US" altLang="zh-TW" dirty="0"/>
              <a:t> </a:t>
            </a:r>
            <a:r>
              <a:rPr lang="en-US" altLang="zh-TW" dirty="0" smtClean="0"/>
              <a:t>that is </a:t>
            </a:r>
            <a:r>
              <a:rPr lang="en-US" altLang="zh-TW" dirty="0"/>
              <a:t>based on </a:t>
            </a:r>
            <a:r>
              <a:rPr lang="en-US" altLang="zh-TW" dirty="0" smtClean="0"/>
              <a:t>the IAT.</a:t>
            </a:r>
            <a:endParaRPr lang="en-US" altLang="zh-TW" dirty="0"/>
          </a:p>
          <a:p>
            <a:pPr lvl="1"/>
            <a:r>
              <a:rPr lang="en-US" altLang="zh-TW" dirty="0"/>
              <a:t>A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leap second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 </a:t>
            </a:r>
            <a:r>
              <a:rPr lang="en-US" altLang="zh-TW" dirty="0"/>
              <a:t>is inserted or deleted occasionally to keep it in step with </a:t>
            </a:r>
            <a:r>
              <a:rPr lang="en-US" altLang="zh-TW" dirty="0">
                <a:solidFill>
                  <a:srgbClr val="FF0000"/>
                </a:solidFill>
              </a:rPr>
              <a:t>astronomical </a:t>
            </a:r>
            <a:r>
              <a:rPr lang="en-US" altLang="zh-TW" dirty="0" smtClean="0">
                <a:solidFill>
                  <a:srgbClr val="FF0000"/>
                </a:solidFill>
              </a:rPr>
              <a:t>time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smtClean="0"/>
              <a:t>It </a:t>
            </a:r>
            <a:r>
              <a:rPr lang="en-US" altLang="zh-TW" dirty="0"/>
              <a:t>is </a:t>
            </a:r>
            <a:r>
              <a:rPr lang="en-US" altLang="zh-TW" dirty="0" smtClean="0"/>
              <a:t>broadcasted over </a:t>
            </a:r>
            <a:r>
              <a:rPr lang="en-US" altLang="zh-TW" dirty="0"/>
              <a:t>shortwave radio station </a:t>
            </a:r>
            <a:r>
              <a:rPr lang="en-US" altLang="zh-TW" dirty="0" smtClean="0">
                <a:solidFill>
                  <a:srgbClr val="FF0000"/>
                </a:solidFill>
              </a:rPr>
              <a:t>WWV</a:t>
            </a:r>
            <a:r>
              <a:rPr lang="en-US" altLang="zh-TW" dirty="0" smtClean="0"/>
              <a:t>.</a:t>
            </a:r>
          </a:p>
          <a:p>
            <a:pPr lvl="2"/>
            <a:r>
              <a:rPr lang="en-US" altLang="zh-TW" dirty="0" smtClean="0"/>
              <a:t>The accuracy is </a:t>
            </a:r>
            <a:r>
              <a:rPr lang="en-US" altLang="zh-TW" dirty="0" smtClean="0">
                <a:solidFill>
                  <a:srgbClr val="FF0000"/>
                </a:solidFill>
              </a:rPr>
              <a:t>10 </a:t>
            </a:r>
            <a:r>
              <a:rPr lang="en-US" altLang="zh-TW" dirty="0">
                <a:solidFill>
                  <a:srgbClr val="FF0000"/>
                </a:solidFill>
              </a:rPr>
              <a:t>msec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It is also broadcasted over Satellite for accuracy of </a:t>
            </a:r>
            <a:r>
              <a:rPr lang="en-US" altLang="zh-TW" dirty="0" smtClean="0">
                <a:solidFill>
                  <a:srgbClr val="FF0000"/>
                </a:solidFill>
              </a:rPr>
              <a:t>0.5 msec</a:t>
            </a:r>
            <a:r>
              <a:rPr lang="en-US" altLang="zh-TW" dirty="0" smtClean="0"/>
              <a:t>. 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17037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Physical Clock Synchronization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12776"/>
            <a:ext cx="8568952" cy="5328592"/>
          </a:xfrm>
        </p:spPr>
        <p:txBody>
          <a:bodyPr/>
          <a:lstStyle/>
          <a:p>
            <a:r>
              <a:rPr lang="en-US" altLang="zh-TW" dirty="0"/>
              <a:t>There are two kinds of physical clock synchronization.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External synchronization</a:t>
            </a:r>
            <a:r>
              <a:rPr lang="en-US" altLang="zh-TW" dirty="0"/>
              <a:t>: </a:t>
            </a:r>
            <a:r>
              <a:rPr lang="en-US" altLang="zh-TW" dirty="0" smtClean="0"/>
              <a:t>synchronized to a UTC source.</a:t>
            </a:r>
          </a:p>
          <a:p>
            <a:pPr lvl="2"/>
            <a:r>
              <a:rPr lang="en-US" altLang="zh-TW" dirty="0" smtClean="0"/>
              <a:t>Assume that there is </a:t>
            </a:r>
            <a:r>
              <a:rPr lang="en-US" altLang="zh-TW" dirty="0"/>
              <a:t>a </a:t>
            </a:r>
            <a:r>
              <a:rPr lang="en-US" altLang="zh-TW" dirty="0" smtClean="0"/>
              <a:t>bound </a:t>
            </a:r>
            <a:r>
              <a:rPr lang="en-US" altLang="zh-TW" dirty="0"/>
              <a:t>D &gt; 0 and a UTC source S, such that for all </a:t>
            </a:r>
            <a:r>
              <a:rPr lang="en-US" altLang="zh-TW" dirty="0" err="1"/>
              <a:t>i</a:t>
            </a:r>
            <a:r>
              <a:rPr lang="en-US" altLang="zh-TW" dirty="0"/>
              <a:t> = 1, 2, …, N and for all real times t in time interval </a:t>
            </a:r>
            <a:r>
              <a:rPr lang="en-US" altLang="zh-TW" dirty="0" smtClean="0"/>
              <a:t>T, </a:t>
            </a:r>
            <a:r>
              <a:rPr lang="en-US" altLang="zh-TW" dirty="0"/>
              <a:t>|S(t) – C</a:t>
            </a:r>
            <a:r>
              <a:rPr lang="en-US" altLang="zh-TW" baseline="-25000" dirty="0"/>
              <a:t>i</a:t>
            </a:r>
            <a:r>
              <a:rPr lang="en-US" altLang="zh-TW" dirty="0"/>
              <a:t>(t)|&lt; D. </a:t>
            </a:r>
          </a:p>
          <a:p>
            <a:pPr lvl="2"/>
            <a:r>
              <a:rPr lang="en-US" altLang="zh-TW" dirty="0"/>
              <a:t>Then the clocks C</a:t>
            </a:r>
            <a:r>
              <a:rPr lang="en-US" altLang="zh-TW" baseline="-25000" dirty="0"/>
              <a:t>i</a:t>
            </a:r>
            <a:r>
              <a:rPr lang="en-US" altLang="zh-TW" dirty="0"/>
              <a:t> are </a:t>
            </a:r>
            <a:r>
              <a:rPr lang="en-US" altLang="zh-TW" dirty="0">
                <a:solidFill>
                  <a:srgbClr val="FF0000"/>
                </a:solidFill>
              </a:rPr>
              <a:t>accurate to </a:t>
            </a:r>
            <a:r>
              <a:rPr lang="en-US" altLang="zh-TW" dirty="0"/>
              <a:t>within the bound D.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Internal synchronization</a:t>
            </a:r>
            <a:r>
              <a:rPr lang="en-US" altLang="zh-TW" dirty="0"/>
              <a:t>: </a:t>
            </a:r>
            <a:r>
              <a:rPr lang="en-US" altLang="zh-TW" dirty="0" smtClean="0"/>
              <a:t>synchronized within the DS.</a:t>
            </a:r>
          </a:p>
          <a:p>
            <a:pPr lvl="2"/>
            <a:r>
              <a:rPr lang="en-US" altLang="zh-TW" dirty="0" smtClean="0"/>
              <a:t>Assume that there is </a:t>
            </a:r>
            <a:r>
              <a:rPr lang="en-US" altLang="zh-TW" dirty="0"/>
              <a:t>a </a:t>
            </a:r>
            <a:r>
              <a:rPr lang="en-US" altLang="zh-TW" dirty="0" smtClean="0"/>
              <a:t>bound </a:t>
            </a:r>
            <a:r>
              <a:rPr lang="en-US" altLang="zh-TW" dirty="0"/>
              <a:t>D &gt; 0, such that for all </a:t>
            </a:r>
            <a:r>
              <a:rPr lang="en-US" altLang="zh-TW" dirty="0" err="1"/>
              <a:t>i</a:t>
            </a:r>
            <a:r>
              <a:rPr lang="en-US" altLang="zh-TW" dirty="0"/>
              <a:t>, j = 1, 2, …, N and for all real times t in time interval </a:t>
            </a:r>
            <a:r>
              <a:rPr lang="en-US" altLang="zh-TW" dirty="0" smtClean="0"/>
              <a:t>T, </a:t>
            </a:r>
            <a:r>
              <a:rPr lang="en-US" altLang="zh-TW" dirty="0"/>
              <a:t>|C</a:t>
            </a:r>
            <a:r>
              <a:rPr lang="en-US" altLang="zh-TW" baseline="-25000" dirty="0"/>
              <a:t>i</a:t>
            </a:r>
            <a:r>
              <a:rPr lang="en-US" altLang="zh-TW" dirty="0"/>
              <a:t>(t) – </a:t>
            </a:r>
            <a:r>
              <a:rPr lang="en-US" altLang="zh-TW" dirty="0" err="1"/>
              <a:t>C</a:t>
            </a:r>
            <a:r>
              <a:rPr lang="en-US" altLang="zh-TW" baseline="-25000" dirty="0" err="1"/>
              <a:t>j</a:t>
            </a:r>
            <a:r>
              <a:rPr lang="en-US" altLang="zh-TW" dirty="0"/>
              <a:t>(t)| &lt; D. </a:t>
            </a:r>
          </a:p>
          <a:p>
            <a:pPr lvl="2"/>
            <a:r>
              <a:rPr lang="en-US" altLang="zh-TW" dirty="0"/>
              <a:t>Then the clocks C</a:t>
            </a:r>
            <a:r>
              <a:rPr lang="en-US" altLang="zh-TW" baseline="-25000" dirty="0"/>
              <a:t>i</a:t>
            </a:r>
            <a:r>
              <a:rPr lang="en-US" altLang="zh-TW" dirty="0"/>
              <a:t> </a:t>
            </a:r>
            <a:r>
              <a:rPr lang="en-US" altLang="zh-TW" dirty="0">
                <a:solidFill>
                  <a:srgbClr val="FF0000"/>
                </a:solidFill>
              </a:rPr>
              <a:t>agree</a:t>
            </a:r>
            <a:r>
              <a:rPr lang="en-US" altLang="zh-TW" dirty="0"/>
              <a:t> within the bound 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Externally </a:t>
            </a:r>
            <a:r>
              <a:rPr lang="en-US" altLang="zh-TW" dirty="0"/>
              <a:t>synchronized clocks are also internally synchronized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However, internally synchronized clocks </a:t>
            </a:r>
            <a:r>
              <a:rPr lang="en-US" altLang="zh-TW" dirty="0"/>
              <a:t>are not necessarily externally synchronized.</a:t>
            </a:r>
          </a:p>
          <a:p>
            <a:pPr lvl="1"/>
            <a:r>
              <a:rPr lang="en-US" altLang="zh-TW" dirty="0"/>
              <a:t>They may drift collectively from an </a:t>
            </a:r>
            <a:r>
              <a:rPr lang="en-US" altLang="zh-TW" dirty="0" smtClean="0"/>
              <a:t>external UTC source.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2110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Timers and Clocks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447800"/>
            <a:ext cx="4896544" cy="5221560"/>
          </a:xfrm>
        </p:spPr>
        <p:txBody>
          <a:bodyPr/>
          <a:lstStyle/>
          <a:p>
            <a:r>
              <a:rPr lang="en-US" altLang="zh-TW" dirty="0" smtClean="0"/>
              <a:t>A computer timer usually goes </a:t>
            </a:r>
            <a:r>
              <a:rPr lang="en-US" altLang="zh-TW" dirty="0"/>
              <a:t>off </a:t>
            </a:r>
            <a:r>
              <a:rPr lang="en-US" altLang="zh-TW" dirty="0" smtClean="0"/>
              <a:t>multiple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times per sec.</a:t>
            </a:r>
          </a:p>
          <a:p>
            <a:pPr lvl="1"/>
            <a:r>
              <a:rPr lang="en-US" altLang="zh-TW" dirty="0" smtClean="0"/>
              <a:t>It increases </a:t>
            </a:r>
            <a:r>
              <a:rPr lang="en-US" altLang="zh-TW" dirty="0"/>
              <a:t>the count of ticks </a:t>
            </a:r>
            <a:r>
              <a:rPr lang="en-US" altLang="zh-TW" dirty="0" smtClean="0"/>
              <a:t>for each timer interrupt.</a:t>
            </a:r>
            <a:endParaRPr lang="en-US" altLang="zh-TW" dirty="0"/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value of clock on </a:t>
            </a:r>
            <a:r>
              <a:rPr lang="en-US" altLang="zh-TW" dirty="0" smtClean="0"/>
              <a:t>a host </a:t>
            </a:r>
            <a:r>
              <a:rPr lang="en-US" altLang="zh-TW" dirty="0"/>
              <a:t>p is </a:t>
            </a:r>
            <a:r>
              <a:rPr lang="en-US" altLang="zh-TW" dirty="0" err="1"/>
              <a:t>C</a:t>
            </a:r>
            <a:r>
              <a:rPr lang="en-US" altLang="zh-TW" baseline="-25000" dirty="0" err="1"/>
              <a:t>p</a:t>
            </a:r>
            <a:r>
              <a:rPr lang="en-US" altLang="zh-TW" dirty="0"/>
              <a:t>(t).</a:t>
            </a:r>
          </a:p>
          <a:p>
            <a:pPr lvl="1"/>
            <a:r>
              <a:rPr lang="en-US" altLang="zh-TW" dirty="0"/>
              <a:t>For a perfect </a:t>
            </a:r>
            <a:r>
              <a:rPr lang="en-US" altLang="zh-TW" dirty="0" smtClean="0"/>
              <a:t>clock w.r.t. UTC, </a:t>
            </a:r>
            <a:r>
              <a:rPr lang="en-US" altLang="zh-TW" dirty="0" err="1"/>
              <a:t>C</a:t>
            </a:r>
            <a:r>
              <a:rPr lang="en-US" altLang="zh-TW" baseline="-25000" dirty="0" err="1"/>
              <a:t>p</a:t>
            </a:r>
            <a:r>
              <a:rPr lang="en-US" altLang="zh-TW" dirty="0"/>
              <a:t>(t) = t and </a:t>
            </a:r>
            <a:r>
              <a:rPr lang="en-US" altLang="zh-TW" dirty="0" err="1"/>
              <a:t>dC</a:t>
            </a:r>
            <a:r>
              <a:rPr lang="en-US" altLang="zh-TW" dirty="0"/>
              <a:t>/</a:t>
            </a:r>
            <a:r>
              <a:rPr lang="en-US" altLang="zh-TW" dirty="0" err="1"/>
              <a:t>dt</a:t>
            </a:r>
            <a:r>
              <a:rPr lang="en-US" altLang="zh-TW" dirty="0"/>
              <a:t> = 1.</a:t>
            </a:r>
          </a:p>
          <a:p>
            <a:r>
              <a:rPr lang="en-US" altLang="zh-TW" dirty="0" smtClean="0"/>
              <a:t>If the drift rates of all clocks w.r.t UTC are at most</a:t>
            </a:r>
            <a:r>
              <a:rPr lang="el-GR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ρ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smtClean="0"/>
              <a:t>To </a:t>
            </a:r>
            <a:r>
              <a:rPr lang="en-US" altLang="zh-TW" dirty="0"/>
              <a:t>guarantee </a:t>
            </a:r>
            <a:r>
              <a:rPr lang="en-US" altLang="zh-TW" dirty="0" smtClean="0"/>
              <a:t>all </a:t>
            </a:r>
            <a:r>
              <a:rPr lang="en-US" altLang="zh-TW" dirty="0"/>
              <a:t>clocks never differ by more than </a:t>
            </a:r>
            <a:r>
              <a:rPr lang="en-US" altLang="zh-TW" dirty="0" smtClean="0"/>
              <a:t>D, </a:t>
            </a:r>
            <a:r>
              <a:rPr lang="en-US" altLang="zh-TW" dirty="0"/>
              <a:t>the clocks must re-synchronize every </a:t>
            </a:r>
            <a:r>
              <a:rPr lang="en-US" altLang="zh-TW" dirty="0" smtClean="0">
                <a:solidFill>
                  <a:srgbClr val="FF0000"/>
                </a:solidFill>
              </a:rPr>
              <a:t>D/(2</a:t>
            </a:r>
            <a:r>
              <a:rPr lang="el-GR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ρ</a:t>
            </a:r>
            <a:r>
              <a:rPr lang="en-US" altLang="zh-TW" dirty="0" smtClean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 </a:t>
            </a:r>
            <a:r>
              <a:rPr lang="en-US" altLang="zh-TW" dirty="0" smtClean="0"/>
              <a:t>seconds.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26" y="1916832"/>
            <a:ext cx="4230470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253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Clock Synchronization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29208" y="1591816"/>
            <a:ext cx="8075240" cy="2917304"/>
          </a:xfrm>
        </p:spPr>
        <p:txBody>
          <a:bodyPr/>
          <a:lstStyle/>
          <a:p>
            <a:r>
              <a:rPr lang="en-US" altLang="zh-TW" dirty="0"/>
              <a:t>Centralized Algorithms</a:t>
            </a:r>
          </a:p>
          <a:p>
            <a:pPr lvl="1"/>
            <a:r>
              <a:rPr lang="en-US" altLang="zh-TW" dirty="0" smtClean="0"/>
              <a:t>The Cristian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Algorithm (1989)</a:t>
            </a:r>
          </a:p>
          <a:p>
            <a:pPr lvl="1"/>
            <a:r>
              <a:rPr lang="en-US" altLang="zh-TW" dirty="0" smtClean="0"/>
              <a:t>The Berkeley </a:t>
            </a:r>
            <a:r>
              <a:rPr lang="en-US" altLang="zh-TW" dirty="0"/>
              <a:t>Algorithm (1989)</a:t>
            </a:r>
          </a:p>
          <a:p>
            <a:r>
              <a:rPr lang="en-US" altLang="zh-TW" dirty="0"/>
              <a:t>Decentralized Algorithms</a:t>
            </a:r>
          </a:p>
          <a:p>
            <a:pPr lvl="1"/>
            <a:r>
              <a:rPr lang="en-US" altLang="zh-TW" dirty="0"/>
              <a:t>Averaging Algorithms (e.g. NTP)</a:t>
            </a:r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7101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Cristian's Algorithm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2269232"/>
          </a:xfrm>
        </p:spPr>
        <p:txBody>
          <a:bodyPr/>
          <a:lstStyle/>
          <a:p>
            <a:r>
              <a:rPr lang="en-US" altLang="zh-TW" dirty="0"/>
              <a:t>Assume one </a:t>
            </a:r>
            <a:r>
              <a:rPr lang="en-US" altLang="zh-TW" dirty="0" smtClean="0"/>
              <a:t>host </a:t>
            </a:r>
            <a:r>
              <a:rPr lang="en-US" altLang="zh-TW" dirty="0"/>
              <a:t>(the time </a:t>
            </a:r>
            <a:r>
              <a:rPr lang="en-US" altLang="zh-TW" dirty="0" smtClean="0"/>
              <a:t>server S) </a:t>
            </a:r>
            <a:r>
              <a:rPr lang="en-US" altLang="zh-TW" dirty="0"/>
              <a:t>has a </a:t>
            </a:r>
            <a:r>
              <a:rPr lang="en-US" altLang="zh-TW" dirty="0" smtClean="0"/>
              <a:t>UTC receiver.</a:t>
            </a:r>
          </a:p>
          <a:p>
            <a:pPr lvl="1"/>
            <a:r>
              <a:rPr lang="en-US" altLang="zh-TW" dirty="0" smtClean="0"/>
              <a:t>All </a:t>
            </a:r>
            <a:r>
              <a:rPr lang="en-US" altLang="zh-TW" dirty="0"/>
              <a:t>other </a:t>
            </a:r>
            <a:r>
              <a:rPr lang="en-US" altLang="zh-TW" dirty="0" smtClean="0"/>
              <a:t>hosts try </a:t>
            </a:r>
            <a:r>
              <a:rPr lang="en-US" altLang="zh-TW" dirty="0"/>
              <a:t>to stay synchronized with </a:t>
            </a:r>
            <a:r>
              <a:rPr lang="en-US" altLang="zh-TW" dirty="0" smtClean="0"/>
              <a:t>the S.</a:t>
            </a:r>
            <a:endParaRPr lang="en-US" altLang="zh-TW" dirty="0"/>
          </a:p>
          <a:p>
            <a:r>
              <a:rPr lang="en-US" altLang="zh-TW" dirty="0"/>
              <a:t>Every </a:t>
            </a:r>
            <a:r>
              <a:rPr lang="en-US" altLang="zh-TW" dirty="0">
                <a:solidFill>
                  <a:srgbClr val="FF0000"/>
                </a:solidFill>
              </a:rPr>
              <a:t>D/(2</a:t>
            </a:r>
            <a:r>
              <a:rPr lang="el-GR" altLang="zh-TW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ρ</a:t>
            </a:r>
            <a:r>
              <a:rPr lang="en-US" altLang="zh-TW" dirty="0">
                <a:solidFill>
                  <a:srgbClr val="FF0000"/>
                </a:solidFill>
                <a:latin typeface="新細明體" panose="02020500000000000000" pitchFamily="18" charset="-120"/>
                <a:ea typeface="新細明體" panose="02020500000000000000" pitchFamily="18" charset="-120"/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seconds, each </a:t>
            </a:r>
            <a:r>
              <a:rPr lang="en-US" altLang="zh-TW" dirty="0" smtClean="0"/>
              <a:t>host </a:t>
            </a:r>
            <a:r>
              <a:rPr lang="en-US" altLang="zh-TW" dirty="0"/>
              <a:t>sends a </a:t>
            </a:r>
            <a:r>
              <a:rPr lang="en-US" altLang="zh-TW" dirty="0" smtClean="0">
                <a:solidFill>
                  <a:srgbClr val="FF0000"/>
                </a:solidFill>
              </a:rPr>
              <a:t>synch request </a:t>
            </a:r>
            <a:r>
              <a:rPr lang="en-US" altLang="zh-TW" dirty="0"/>
              <a:t>to the time </a:t>
            </a:r>
            <a:r>
              <a:rPr lang="en-US" altLang="zh-TW" dirty="0" smtClean="0"/>
              <a:t>server S </a:t>
            </a:r>
            <a:r>
              <a:rPr lang="en-US" altLang="zh-TW" dirty="0"/>
              <a:t>asking for the current time.</a:t>
            </a:r>
          </a:p>
          <a:p>
            <a:pPr lvl="1"/>
            <a:r>
              <a:rPr lang="en-US" altLang="zh-TW" dirty="0" smtClean="0"/>
              <a:t>The S replies its </a:t>
            </a:r>
            <a:r>
              <a:rPr lang="en-US" altLang="zh-TW" dirty="0"/>
              <a:t>current </a:t>
            </a:r>
            <a:r>
              <a:rPr lang="en-US" altLang="zh-TW" dirty="0" smtClean="0"/>
              <a:t>UTC time C</a:t>
            </a:r>
            <a:r>
              <a:rPr lang="en-US" altLang="zh-TW" baseline="-25000" dirty="0" smtClean="0"/>
              <a:t>UTC</a:t>
            </a:r>
            <a:r>
              <a:rPr lang="en-US" altLang="zh-TW" dirty="0" smtClean="0"/>
              <a:t> to the requester.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931" y="3573016"/>
            <a:ext cx="6145413" cy="309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943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Cristian's Algorithm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84784"/>
            <a:ext cx="8568952" cy="4429472"/>
          </a:xfrm>
        </p:spPr>
        <p:txBody>
          <a:bodyPr/>
          <a:lstStyle/>
          <a:p>
            <a:r>
              <a:rPr lang="en-US" altLang="zh-TW" dirty="0" smtClean="0"/>
              <a:t>In general, the client's clock may be adjusted to C</a:t>
            </a:r>
            <a:r>
              <a:rPr lang="en-US" altLang="zh-TW" baseline="-25000" dirty="0" smtClean="0"/>
              <a:t>UTC</a:t>
            </a:r>
            <a:r>
              <a:rPr lang="en-US" altLang="zh-TW" dirty="0" smtClean="0"/>
              <a:t>+(t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-t</a:t>
            </a:r>
            <a:r>
              <a:rPr lang="en-US" altLang="zh-TW" baseline="-25000" dirty="0"/>
              <a:t>0</a:t>
            </a:r>
            <a:r>
              <a:rPr lang="en-US" altLang="zh-TW" dirty="0" smtClean="0"/>
              <a:t>-</a:t>
            </a:r>
            <a:r>
              <a:rPr lang="en-US" altLang="zh-TW" b="1" dirty="0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/>
              <a:t>)/2</a:t>
            </a:r>
          </a:p>
          <a:p>
            <a:pPr lvl="1"/>
            <a:r>
              <a:rPr lang="en-US" altLang="zh-TW" dirty="0" smtClean="0"/>
              <a:t>(t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-t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) is the round trip delay.</a:t>
            </a:r>
          </a:p>
          <a:p>
            <a:pPr lvl="1"/>
            <a:r>
              <a:rPr lang="en-US" altLang="zh-TW" b="1" dirty="0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/>
              <a:t> is </a:t>
            </a:r>
            <a:r>
              <a:rPr lang="en-US" altLang="zh-TW" dirty="0"/>
              <a:t>the server interrupt handling </a:t>
            </a:r>
            <a:r>
              <a:rPr lang="en-US" altLang="zh-TW" dirty="0" smtClean="0"/>
              <a:t>time.</a:t>
            </a:r>
          </a:p>
          <a:p>
            <a:pPr lvl="2"/>
            <a:r>
              <a:rPr lang="en-US" altLang="zh-TW" dirty="0" smtClean="0"/>
              <a:t>It can be piggybacked in the C</a:t>
            </a:r>
            <a:r>
              <a:rPr lang="en-US" altLang="zh-TW" baseline="-25000" dirty="0" smtClean="0"/>
              <a:t>UTC</a:t>
            </a:r>
            <a:r>
              <a:rPr lang="en-US" altLang="zh-TW" dirty="0" smtClean="0"/>
              <a:t> response.</a:t>
            </a:r>
          </a:p>
          <a:p>
            <a:r>
              <a:rPr lang="en-US" altLang="zh-TW" dirty="0" smtClean="0"/>
              <a:t>However, if the client's </a:t>
            </a:r>
            <a:r>
              <a:rPr lang="en-US" altLang="zh-TW" dirty="0"/>
              <a:t>clock </a:t>
            </a:r>
            <a:r>
              <a:rPr lang="en-US" altLang="zh-TW" dirty="0" smtClean="0"/>
              <a:t>is faster than UTC then the  </a:t>
            </a:r>
            <a:r>
              <a:rPr lang="en-US" altLang="zh-TW" dirty="0"/>
              <a:t>C</a:t>
            </a:r>
            <a:r>
              <a:rPr lang="en-US" altLang="zh-TW" baseline="-25000" dirty="0"/>
              <a:t>UTC</a:t>
            </a:r>
            <a:r>
              <a:rPr lang="en-US" altLang="zh-TW" dirty="0"/>
              <a:t>+(t</a:t>
            </a:r>
            <a:r>
              <a:rPr lang="en-US" altLang="zh-TW" baseline="-25000" dirty="0"/>
              <a:t>1</a:t>
            </a:r>
            <a:r>
              <a:rPr lang="en-US" altLang="zh-TW" dirty="0"/>
              <a:t>-t</a:t>
            </a:r>
            <a:r>
              <a:rPr lang="en-US" altLang="zh-TW" baseline="-25000" dirty="0"/>
              <a:t>0</a:t>
            </a:r>
            <a:r>
              <a:rPr lang="en-US" altLang="zh-TW" dirty="0"/>
              <a:t>-I)/</a:t>
            </a:r>
            <a:r>
              <a:rPr lang="en-US" altLang="zh-TW" dirty="0" smtClean="0"/>
              <a:t>2 may be less than t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.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client's </a:t>
            </a:r>
            <a:r>
              <a:rPr lang="en-US" altLang="zh-TW" dirty="0" smtClean="0"/>
              <a:t>clock will be turn back.</a:t>
            </a:r>
          </a:p>
          <a:p>
            <a:pPr lvl="2"/>
            <a:r>
              <a:rPr lang="en-US" altLang="zh-TW" dirty="0" smtClean="0"/>
              <a:t>This is not acceptable for some applications.</a:t>
            </a:r>
          </a:p>
          <a:p>
            <a:pPr lvl="1"/>
            <a:r>
              <a:rPr lang="en-US" altLang="zh-TW" dirty="0" smtClean="0"/>
              <a:t>The reasonable solution is to slow </a:t>
            </a:r>
            <a:r>
              <a:rPr lang="en-US" altLang="zh-TW" dirty="0"/>
              <a:t>down </a:t>
            </a:r>
            <a:r>
              <a:rPr lang="en-US" altLang="zh-TW" dirty="0" smtClean="0"/>
              <a:t>client</a:t>
            </a:r>
            <a:r>
              <a:rPr lang="en-US" altLang="zh-TW" dirty="0"/>
              <a:t>'s</a:t>
            </a:r>
            <a:r>
              <a:rPr lang="en-US" altLang="zh-TW" dirty="0" smtClean="0"/>
              <a:t> </a:t>
            </a:r>
            <a:r>
              <a:rPr lang="en-US" altLang="zh-TW" dirty="0"/>
              <a:t>clock by adding less </a:t>
            </a:r>
            <a:r>
              <a:rPr lang="en-US" altLang="zh-TW" dirty="0" smtClean="0"/>
              <a:t>value </a:t>
            </a:r>
            <a:r>
              <a:rPr lang="en-US" altLang="zh-TW" dirty="0"/>
              <a:t>per </a:t>
            </a:r>
            <a:r>
              <a:rPr lang="en-US" altLang="zh-TW" dirty="0" smtClean="0"/>
              <a:t>tick.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zh-TW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31096979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The Berkeley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1837184"/>
          </a:xfrm>
        </p:spPr>
        <p:txBody>
          <a:bodyPr/>
          <a:lstStyle/>
          <a:p>
            <a:r>
              <a:rPr lang="en-US" altLang="zh-TW" sz="2000" dirty="0"/>
              <a:t>A </a:t>
            </a:r>
            <a:r>
              <a:rPr lang="en-US" altLang="zh-TW" sz="2000" dirty="0" smtClean="0"/>
              <a:t>host </a:t>
            </a:r>
            <a:r>
              <a:rPr lang="en-US" altLang="zh-TW" sz="2000" dirty="0"/>
              <a:t>is chosen to act as the </a:t>
            </a:r>
            <a:r>
              <a:rPr lang="en-US" altLang="zh-TW" sz="2000" dirty="0" smtClean="0"/>
              <a:t>time </a:t>
            </a:r>
            <a:r>
              <a:rPr lang="en-US" altLang="zh-TW" sz="2000" dirty="0"/>
              <a:t>daemon </a:t>
            </a:r>
            <a:r>
              <a:rPr lang="en-US" altLang="zh-TW" sz="2000" dirty="0" smtClean="0"/>
              <a:t>which asks </a:t>
            </a:r>
            <a:r>
              <a:rPr lang="en-US" altLang="zh-TW" sz="2000" dirty="0"/>
              <a:t>all the other </a:t>
            </a:r>
            <a:r>
              <a:rPr lang="en-US" altLang="zh-TW" sz="2000" dirty="0" smtClean="0"/>
              <a:t>hosts </a:t>
            </a:r>
            <a:r>
              <a:rPr lang="en-US" altLang="zh-TW" sz="2000" dirty="0"/>
              <a:t>for their clock </a:t>
            </a:r>
            <a:r>
              <a:rPr lang="en-US" altLang="zh-TW" sz="2000" dirty="0" smtClean="0"/>
              <a:t>skews periodically.</a:t>
            </a:r>
            <a:endParaRPr lang="en-US" altLang="zh-TW" sz="2000" dirty="0"/>
          </a:p>
          <a:p>
            <a:pPr lvl="1"/>
            <a:r>
              <a:rPr lang="en-US" altLang="zh-TW" sz="2000" dirty="0"/>
              <a:t>The </a:t>
            </a:r>
            <a:r>
              <a:rPr lang="en-US" altLang="zh-TW" sz="2000" dirty="0" smtClean="0"/>
              <a:t>slave hosts reply their clock skews.</a:t>
            </a:r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time daemon computes the </a:t>
            </a:r>
            <a:r>
              <a:rPr lang="en-US" altLang="zh-TW" sz="2000" dirty="0" smtClean="0"/>
              <a:t>average clock skew.</a:t>
            </a:r>
            <a:endParaRPr lang="en-US" altLang="zh-TW" sz="2000" dirty="0"/>
          </a:p>
          <a:p>
            <a:r>
              <a:rPr lang="en-US" altLang="zh-TW" sz="2000" dirty="0"/>
              <a:t>The time daemon tells </a:t>
            </a:r>
            <a:r>
              <a:rPr lang="en-US" altLang="zh-TW" sz="2000" dirty="0" smtClean="0"/>
              <a:t>every host </a:t>
            </a:r>
            <a:r>
              <a:rPr lang="en-US" altLang="zh-TW" sz="2000" dirty="0"/>
              <a:t>how to adjust their </a:t>
            </a:r>
            <a:r>
              <a:rPr lang="en-US" altLang="zh-TW" sz="2000" dirty="0" smtClean="0"/>
              <a:t>clocks.</a:t>
            </a:r>
            <a:endParaRPr lang="en-US" altLang="zh-TW" sz="2000" dirty="0"/>
          </a:p>
          <a:p>
            <a:endParaRPr lang="zh-TW" altLang="en-US" sz="2000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3284984"/>
            <a:ext cx="7463695" cy="3426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55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The Network Time Protocol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221560"/>
          </a:xfrm>
        </p:spPr>
        <p:txBody>
          <a:bodyPr/>
          <a:lstStyle/>
          <a:p>
            <a:r>
              <a:rPr lang="en-US" altLang="zh-TW" dirty="0" smtClean="0"/>
              <a:t>Cristian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method and the Berkeley algorithm are intended for use within intranets. </a:t>
            </a:r>
          </a:p>
          <a:p>
            <a:r>
              <a:rPr lang="en-US" altLang="zh-TW" dirty="0"/>
              <a:t>The Network Time Protocol (NTP) </a:t>
            </a:r>
            <a:r>
              <a:rPr lang="en-US" altLang="zh-TW" dirty="0" smtClean="0"/>
              <a:t>service </a:t>
            </a:r>
            <a:r>
              <a:rPr lang="en-US" altLang="zh-TW" dirty="0"/>
              <a:t>is provided by a network of servers located across the Internet. </a:t>
            </a:r>
            <a:endParaRPr lang="en-US" altLang="zh-TW" dirty="0" smtClean="0"/>
          </a:p>
          <a:p>
            <a:r>
              <a:rPr lang="en-US" altLang="zh-TW" dirty="0"/>
              <a:t>The </a:t>
            </a:r>
            <a:r>
              <a:rPr lang="en-US" altLang="zh-TW" dirty="0" smtClean="0"/>
              <a:t>NTP servers </a:t>
            </a:r>
            <a:r>
              <a:rPr lang="en-US" altLang="zh-TW" dirty="0"/>
              <a:t>are connected in a logical </a:t>
            </a:r>
            <a:r>
              <a:rPr lang="en-US" altLang="zh-TW" dirty="0" smtClean="0"/>
              <a:t>hierarchy.</a:t>
            </a:r>
          </a:p>
          <a:p>
            <a:pPr lvl="1"/>
            <a:r>
              <a:rPr lang="en-US" altLang="zh-TW" dirty="0" smtClean="0"/>
              <a:t>The levels </a:t>
            </a:r>
            <a:r>
              <a:rPr lang="en-US" altLang="zh-TW" dirty="0"/>
              <a:t>are called </a:t>
            </a:r>
            <a:r>
              <a:rPr lang="en-US" altLang="zh-TW" dirty="0">
                <a:solidFill>
                  <a:srgbClr val="FF0000"/>
                </a:solidFill>
              </a:rPr>
              <a:t>strata</a:t>
            </a:r>
            <a:r>
              <a:rPr lang="en-US" altLang="zh-TW" dirty="0"/>
              <a:t>. </a:t>
            </a:r>
          </a:p>
          <a:p>
            <a:pPr lvl="1"/>
            <a:r>
              <a:rPr lang="en-US" altLang="zh-TW" dirty="0"/>
              <a:t>Primary servers are connected directly to a </a:t>
            </a:r>
            <a:r>
              <a:rPr lang="en-US" altLang="zh-TW" dirty="0" smtClean="0"/>
              <a:t>UTC time source.</a:t>
            </a:r>
            <a:endParaRPr lang="en-US" altLang="zh-TW" dirty="0"/>
          </a:p>
          <a:p>
            <a:pPr lvl="2"/>
            <a:r>
              <a:rPr lang="en-US" altLang="zh-TW" dirty="0"/>
              <a:t>They occupy stratum 1 and act as the root.</a:t>
            </a:r>
          </a:p>
          <a:p>
            <a:pPr lvl="1"/>
            <a:r>
              <a:rPr lang="en-US" altLang="zh-TW" dirty="0"/>
              <a:t>Secondary </a:t>
            </a:r>
            <a:r>
              <a:rPr lang="en-US" altLang="zh-TW" dirty="0" smtClean="0"/>
              <a:t>servers are synchronized </a:t>
            </a:r>
            <a:r>
              <a:rPr lang="en-US" altLang="zh-TW" dirty="0"/>
              <a:t>with primary servers.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They </a:t>
            </a:r>
            <a:r>
              <a:rPr lang="en-US" altLang="zh-TW" dirty="0"/>
              <a:t>occupy stratum </a:t>
            </a:r>
            <a:r>
              <a:rPr lang="en-US" altLang="zh-TW" dirty="0" smtClean="0"/>
              <a:t>2. </a:t>
            </a:r>
            <a:endParaRPr lang="en-US" altLang="zh-TW" dirty="0"/>
          </a:p>
          <a:p>
            <a:pPr lvl="1"/>
            <a:r>
              <a:rPr lang="en-US" altLang="zh-TW" dirty="0"/>
              <a:t>Stratum 3 servers are synchronized with stratum 2 servers, and so on. </a:t>
            </a:r>
          </a:p>
          <a:p>
            <a:pPr lvl="1"/>
            <a:r>
              <a:rPr lang="en-US" altLang="zh-TW" dirty="0" smtClean="0"/>
              <a:t>Errors </a:t>
            </a:r>
            <a:r>
              <a:rPr lang="en-US" altLang="zh-TW" dirty="0"/>
              <a:t>are introduced at each level of synchronization.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863302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5192" y="399802"/>
            <a:ext cx="8435280" cy="940966"/>
          </a:xfrm>
        </p:spPr>
        <p:txBody>
          <a:bodyPr/>
          <a:lstStyle/>
          <a:p>
            <a:pPr algn="ctr"/>
            <a:r>
              <a:rPr lang="en-US" altLang="zh-TW" dirty="0"/>
              <a:t>An Example of an NTP implementation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67" y="1628800"/>
            <a:ext cx="8315665" cy="4816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6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The NTP </a:t>
            </a:r>
            <a:r>
              <a:rPr lang="en-US" altLang="zh-TW" dirty="0" smtClean="0"/>
              <a:t>Synchronization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40768"/>
            <a:ext cx="8712968" cy="5400600"/>
          </a:xfrm>
        </p:spPr>
        <p:txBody>
          <a:bodyPr/>
          <a:lstStyle/>
          <a:p>
            <a:r>
              <a:rPr lang="en-US" altLang="zh-TW" dirty="0"/>
              <a:t>NTP servers are synchronized in one of three modes: 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multicast</a:t>
            </a:r>
            <a:r>
              <a:rPr lang="en-US" altLang="zh-TW" dirty="0"/>
              <a:t>, </a:t>
            </a:r>
            <a:r>
              <a:rPr lang="en-US" altLang="zh-TW" dirty="0">
                <a:solidFill>
                  <a:srgbClr val="FF0000"/>
                </a:solidFill>
              </a:rPr>
              <a:t>procedure-call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symmetric mode</a:t>
            </a:r>
            <a:r>
              <a:rPr lang="en-US" altLang="zh-TW" dirty="0"/>
              <a:t>. </a:t>
            </a:r>
          </a:p>
          <a:p>
            <a:r>
              <a:rPr lang="en-US" altLang="zh-TW" dirty="0"/>
              <a:t>Multicast mode is intended for use on a high-speed LAN.</a:t>
            </a:r>
          </a:p>
          <a:p>
            <a:pPr lvl="1"/>
            <a:r>
              <a:rPr lang="en-US" altLang="zh-TW" dirty="0"/>
              <a:t>One or more servers periodically multicasts </a:t>
            </a:r>
            <a:r>
              <a:rPr lang="en-US" altLang="zh-TW" dirty="0" smtClean="0"/>
              <a:t>their clock values to </a:t>
            </a:r>
            <a:r>
              <a:rPr lang="en-US" altLang="zh-TW" dirty="0"/>
              <a:t>other </a:t>
            </a:r>
            <a:r>
              <a:rPr lang="en-US" altLang="zh-TW" dirty="0" smtClean="0"/>
              <a:t>hosts </a:t>
            </a:r>
            <a:r>
              <a:rPr lang="en-US" altLang="zh-TW" dirty="0"/>
              <a:t>connected by the LAN.</a:t>
            </a:r>
          </a:p>
          <a:p>
            <a:pPr lvl="1"/>
            <a:r>
              <a:rPr lang="en-US" altLang="zh-TW" dirty="0"/>
              <a:t>Upon receiving </a:t>
            </a:r>
            <a:r>
              <a:rPr lang="en-US" altLang="zh-TW" dirty="0" smtClean="0"/>
              <a:t>a clock value, </a:t>
            </a:r>
            <a:r>
              <a:rPr lang="en-US" altLang="zh-TW" dirty="0"/>
              <a:t>a </a:t>
            </a:r>
            <a:r>
              <a:rPr lang="en-US" altLang="zh-TW" dirty="0" smtClean="0"/>
              <a:t>host </a:t>
            </a:r>
            <a:r>
              <a:rPr lang="en-US" altLang="zh-TW" dirty="0"/>
              <a:t>sets its clock by assuming a small delay.</a:t>
            </a:r>
          </a:p>
          <a:p>
            <a:pPr lvl="1"/>
            <a:r>
              <a:rPr lang="en-US" altLang="zh-TW" dirty="0"/>
              <a:t>This mode can achieve only relatively low accuracies, but it is considered sufficient for many purposes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Procedure-call mode is similar to the </a:t>
            </a:r>
            <a:r>
              <a:rPr lang="en-US" altLang="zh-TW" dirty="0" smtClean="0"/>
              <a:t>Cristian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algorithm. </a:t>
            </a:r>
          </a:p>
          <a:p>
            <a:pPr lvl="1"/>
            <a:r>
              <a:rPr lang="en-US" altLang="zh-TW" dirty="0"/>
              <a:t>In this mode, one server accepts requests from other computers.</a:t>
            </a:r>
          </a:p>
          <a:p>
            <a:pPr lvl="1"/>
            <a:r>
              <a:rPr lang="en-US" altLang="zh-TW" dirty="0"/>
              <a:t>Upon receiving a request, it replies its current clock reading. </a:t>
            </a:r>
          </a:p>
          <a:p>
            <a:pPr lvl="1"/>
            <a:r>
              <a:rPr lang="en-US" altLang="zh-TW" dirty="0" smtClean="0"/>
              <a:t>It can achieved </a:t>
            </a:r>
            <a:r>
              <a:rPr lang="en-US" altLang="zh-TW" dirty="0"/>
              <a:t>higher </a:t>
            </a:r>
            <a:r>
              <a:rPr lang="en-US" altLang="zh-TW" dirty="0" smtClean="0"/>
              <a:t>accuracy that </a:t>
            </a:r>
            <a:r>
              <a:rPr lang="en-US" altLang="zh-TW" dirty="0"/>
              <a:t>multicast </a:t>
            </a:r>
            <a:r>
              <a:rPr lang="en-US" altLang="zh-TW" dirty="0" smtClean="0"/>
              <a:t>can not support.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45946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The NTP Synchronization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496944" cy="4572000"/>
          </a:xfrm>
        </p:spPr>
        <p:txBody>
          <a:bodyPr/>
          <a:lstStyle/>
          <a:p>
            <a:r>
              <a:rPr lang="en-US" altLang="zh-TW" dirty="0"/>
              <a:t>Symmetric mode is intended for </a:t>
            </a:r>
            <a:r>
              <a:rPr lang="en-US" altLang="zh-TW" dirty="0" smtClean="0"/>
              <a:t>servers in the lower strata.</a:t>
            </a:r>
            <a:endParaRPr lang="en-US" altLang="zh-TW" dirty="0"/>
          </a:p>
          <a:p>
            <a:pPr lvl="1"/>
            <a:r>
              <a:rPr lang="en-US" altLang="zh-TW" dirty="0"/>
              <a:t>It can achieve the highest </a:t>
            </a:r>
            <a:r>
              <a:rPr lang="en-US" altLang="zh-TW" dirty="0" smtClean="0"/>
              <a:t>accuracy.</a:t>
            </a:r>
            <a:endParaRPr lang="en-US" altLang="zh-TW" dirty="0"/>
          </a:p>
          <a:p>
            <a:pPr lvl="1"/>
            <a:r>
              <a:rPr lang="en-US" altLang="zh-TW" dirty="0"/>
              <a:t>A pair of servers operating in symmetric mode exchange messages bearing timing information. </a:t>
            </a:r>
          </a:p>
          <a:p>
            <a:r>
              <a:rPr lang="en-US" altLang="zh-TW" dirty="0"/>
              <a:t>In </a:t>
            </a:r>
            <a:r>
              <a:rPr lang="en-US" altLang="zh-TW" dirty="0" smtClean="0"/>
              <a:t>NTP, </a:t>
            </a:r>
            <a:r>
              <a:rPr lang="en-US" altLang="zh-TW" dirty="0"/>
              <a:t>messages are delivered </a:t>
            </a:r>
            <a:r>
              <a:rPr lang="en-US" altLang="zh-TW" dirty="0" smtClean="0"/>
              <a:t>unreliably (e.g. UDP). </a:t>
            </a:r>
            <a:endParaRPr lang="en-US" altLang="zh-TW" dirty="0"/>
          </a:p>
          <a:p>
            <a:r>
              <a:rPr lang="en-US" altLang="zh-TW" dirty="0"/>
              <a:t>In procedure-call and symmetric mode, processes exchange pairs of messages. </a:t>
            </a:r>
            <a:endParaRPr lang="en-US" altLang="zh-TW" dirty="0" smtClean="0"/>
          </a:p>
          <a:p>
            <a:pPr lvl="1"/>
            <a:r>
              <a:rPr lang="en-US" altLang="zh-TW" dirty="0"/>
              <a:t>For each pair of messages sent between two servers the NTP calculates </a:t>
            </a:r>
            <a:r>
              <a:rPr lang="en-US" altLang="zh-TW" dirty="0" smtClean="0"/>
              <a:t>an </a:t>
            </a:r>
            <a:r>
              <a:rPr lang="en-US" altLang="zh-TW" dirty="0"/>
              <a:t>offset </a:t>
            </a:r>
            <a:r>
              <a:rPr lang="en-US" altLang="zh-TW" dirty="0" err="1" smtClean="0">
                <a:solidFill>
                  <a:srgbClr val="FF0000"/>
                </a:solidFill>
              </a:rPr>
              <a:t>o</a:t>
            </a:r>
            <a:r>
              <a:rPr lang="en-US" altLang="zh-TW" baseline="-25000" dirty="0" err="1" smtClean="0">
                <a:solidFill>
                  <a:srgbClr val="FF0000"/>
                </a:solidFill>
              </a:rPr>
              <a:t>ij</a:t>
            </a:r>
            <a:r>
              <a:rPr lang="en-US" altLang="zh-TW" dirty="0" smtClean="0"/>
              <a:t> </a:t>
            </a:r>
            <a:r>
              <a:rPr lang="en-US" altLang="zh-TW" dirty="0"/>
              <a:t>which is an estimate of the actual offset between the two clocks and </a:t>
            </a:r>
            <a:r>
              <a:rPr lang="en-US" altLang="zh-TW" dirty="0" smtClean="0"/>
              <a:t>a </a:t>
            </a:r>
            <a:r>
              <a:rPr lang="en-US" altLang="zh-TW" dirty="0"/>
              <a:t>delay </a:t>
            </a:r>
            <a:r>
              <a:rPr lang="en-US" altLang="zh-TW" dirty="0" err="1" smtClean="0">
                <a:solidFill>
                  <a:srgbClr val="FF0000"/>
                </a:solidFill>
              </a:rPr>
              <a:t>d</a:t>
            </a:r>
            <a:r>
              <a:rPr lang="en-US" altLang="zh-TW" baseline="-25000" dirty="0" err="1" smtClean="0">
                <a:solidFill>
                  <a:srgbClr val="FF0000"/>
                </a:solidFill>
              </a:rPr>
              <a:t>ij</a:t>
            </a:r>
            <a:r>
              <a:rPr lang="en-US" altLang="zh-TW" dirty="0" smtClean="0"/>
              <a:t> </a:t>
            </a:r>
            <a:r>
              <a:rPr lang="en-US" altLang="zh-TW" dirty="0"/>
              <a:t>which is the total transmission time for the two messages.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159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59036"/>
            <a:ext cx="7772400" cy="881732"/>
          </a:xfrm>
        </p:spPr>
        <p:txBody>
          <a:bodyPr/>
          <a:lstStyle/>
          <a:p>
            <a:pPr algn="ctr"/>
            <a:r>
              <a:rPr lang="en-US" altLang="zh-TW" dirty="0" smtClean="0"/>
              <a:t>Clock Offset Estimation in NTP 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78" y="1484784"/>
            <a:ext cx="6773243" cy="233497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467544" y="3933056"/>
            <a:ext cx="8219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If the </a:t>
            </a:r>
            <a:r>
              <a:rPr lang="en-US" altLang="zh-TW" dirty="0" smtClean="0"/>
              <a:t>clock skew </a:t>
            </a:r>
            <a:r>
              <a:rPr lang="en-US" altLang="zh-TW" dirty="0"/>
              <a:t>of the clock at B relative to </a:t>
            </a:r>
            <a:r>
              <a:rPr lang="en-US" altLang="zh-TW" dirty="0" smtClean="0"/>
              <a:t>the clock </a:t>
            </a:r>
            <a:r>
              <a:rPr lang="en-US" altLang="zh-TW" dirty="0"/>
              <a:t>at A is </a:t>
            </a:r>
            <a:r>
              <a:rPr lang="en-US" altLang="zh-TW" dirty="0" smtClean="0">
                <a:solidFill>
                  <a:srgbClr val="FF0000"/>
                </a:solidFill>
              </a:rPr>
              <a:t>S</a:t>
            </a:r>
            <a:r>
              <a:rPr lang="en-US" altLang="zh-TW" dirty="0" smtClean="0"/>
              <a:t>, </a:t>
            </a:r>
            <a:r>
              <a:rPr lang="en-US" altLang="zh-TW" dirty="0"/>
              <a:t>and the actual transmission times for m and m' are </a:t>
            </a:r>
            <a:r>
              <a:rPr lang="en-US" altLang="zh-TW" dirty="0" smtClean="0"/>
              <a:t>t(m) </a:t>
            </a:r>
            <a:r>
              <a:rPr lang="en-US" altLang="zh-TW" dirty="0"/>
              <a:t>and </a:t>
            </a:r>
            <a:r>
              <a:rPr lang="en-US" altLang="zh-TW" dirty="0" smtClean="0"/>
              <a:t>t(m</a:t>
            </a:r>
            <a:r>
              <a:rPr lang="en-US" altLang="zh-TW" dirty="0" smtClean="0">
                <a:latin typeface="新細明體" panose="02020500000000000000" pitchFamily="18" charset="-120"/>
              </a:rPr>
              <a:t>'</a:t>
            </a:r>
            <a:r>
              <a:rPr lang="en-US" altLang="zh-TW" dirty="0" smtClean="0"/>
              <a:t>), respectively</a:t>
            </a:r>
            <a:r>
              <a:rPr lang="en-US" altLang="zh-TW" dirty="0"/>
              <a:t>.</a:t>
            </a:r>
          </a:p>
          <a:p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467544" y="4715852"/>
            <a:ext cx="79208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Then T</a:t>
            </a:r>
            <a:r>
              <a:rPr lang="en-US" altLang="zh-TW" baseline="-25000" dirty="0" smtClean="0"/>
              <a:t>i-2</a:t>
            </a:r>
            <a:r>
              <a:rPr lang="en-US" altLang="zh-TW" dirty="0" smtClean="0"/>
              <a:t>=T</a:t>
            </a:r>
            <a:r>
              <a:rPr lang="en-US" altLang="zh-TW" baseline="-25000" dirty="0" smtClean="0"/>
              <a:t>i-3</a:t>
            </a:r>
            <a:r>
              <a:rPr lang="en-US" altLang="zh-TW" dirty="0" smtClean="0"/>
              <a:t>+t(m)+S,   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=T</a:t>
            </a:r>
            <a:r>
              <a:rPr lang="en-US" altLang="zh-TW" baseline="-25000" dirty="0" smtClean="0"/>
              <a:t>i-1</a:t>
            </a:r>
            <a:r>
              <a:rPr lang="en-US" altLang="zh-TW" dirty="0" smtClean="0"/>
              <a:t>+t(m</a:t>
            </a:r>
            <a:r>
              <a:rPr lang="en-US" altLang="zh-TW" dirty="0" smtClean="0">
                <a:latin typeface="新細明體" panose="02020500000000000000" pitchFamily="18" charset="-120"/>
              </a:rPr>
              <a:t>'</a:t>
            </a:r>
            <a:r>
              <a:rPr lang="en-US" altLang="zh-TW" dirty="0" smtClean="0"/>
              <a:t>)-S,   </a:t>
            </a: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AB</a:t>
            </a:r>
            <a:r>
              <a:rPr lang="en-US" altLang="zh-TW" dirty="0" smtClean="0"/>
              <a:t>=t(m)+t(m</a:t>
            </a:r>
            <a:r>
              <a:rPr lang="en-US" altLang="zh-TW" dirty="0" smtClean="0">
                <a:latin typeface="新細明體" panose="02020500000000000000" pitchFamily="18" charset="-120"/>
              </a:rPr>
              <a:t>'</a:t>
            </a:r>
            <a:r>
              <a:rPr lang="en-US" altLang="zh-TW" dirty="0" smtClean="0"/>
              <a:t>)=T</a:t>
            </a:r>
            <a:r>
              <a:rPr lang="en-US" altLang="zh-TW" baseline="-25000" dirty="0" smtClean="0"/>
              <a:t>i-2</a:t>
            </a:r>
            <a:r>
              <a:rPr lang="en-US" altLang="zh-TW" dirty="0" smtClean="0"/>
              <a:t>-T</a:t>
            </a:r>
            <a:r>
              <a:rPr lang="en-US" altLang="zh-TW" baseline="-25000" dirty="0" smtClean="0"/>
              <a:t>i-3</a:t>
            </a:r>
            <a:r>
              <a:rPr lang="en-US" altLang="zh-TW" dirty="0" smtClean="0"/>
              <a:t>+T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-T</a:t>
            </a:r>
            <a:r>
              <a:rPr lang="en-US" altLang="zh-TW" baseline="-25000" dirty="0" smtClean="0"/>
              <a:t>i-1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67544" y="5157192"/>
            <a:ext cx="72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Let S</a:t>
            </a:r>
            <a:r>
              <a:rPr lang="en-US" altLang="zh-TW" baseline="-25000" dirty="0" smtClean="0"/>
              <a:t>AB</a:t>
            </a:r>
            <a:r>
              <a:rPr lang="en-US" altLang="zh-TW" dirty="0" smtClean="0"/>
              <a:t> be </a:t>
            </a:r>
            <a:r>
              <a:rPr lang="en-US" altLang="zh-TW" dirty="0" smtClean="0">
                <a:solidFill>
                  <a:srgbClr val="FF0000"/>
                </a:solidFill>
              </a:rPr>
              <a:t>(T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i-2</a:t>
            </a:r>
            <a:r>
              <a:rPr lang="en-US" altLang="zh-TW" dirty="0" smtClean="0">
                <a:solidFill>
                  <a:srgbClr val="FF0000"/>
                </a:solidFill>
              </a:rPr>
              <a:t>-T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i-3</a:t>
            </a:r>
            <a:r>
              <a:rPr lang="en-US" altLang="zh-TW" dirty="0" smtClean="0">
                <a:solidFill>
                  <a:srgbClr val="FF0000"/>
                </a:solidFill>
              </a:rPr>
              <a:t>+T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i-1</a:t>
            </a:r>
            <a:r>
              <a:rPr lang="en-US" altLang="zh-TW" dirty="0" smtClean="0">
                <a:solidFill>
                  <a:srgbClr val="FF0000"/>
                </a:solidFill>
              </a:rPr>
              <a:t>-T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)/2  </a:t>
            </a:r>
            <a:r>
              <a:rPr lang="en-US" altLang="zh-TW" dirty="0" smtClean="0"/>
              <a:t>then S=S</a:t>
            </a:r>
            <a:r>
              <a:rPr lang="en-US" altLang="zh-TW" baseline="-25000" dirty="0" smtClean="0"/>
              <a:t>AB </a:t>
            </a:r>
            <a:r>
              <a:rPr lang="en-US" altLang="zh-TW" dirty="0" smtClean="0"/>
              <a:t>+ </a:t>
            </a:r>
            <a:r>
              <a:rPr lang="en-US" altLang="zh-TW" smtClean="0"/>
              <a:t>(t(m’)-t(m))/</a:t>
            </a:r>
            <a:r>
              <a:rPr lang="en-US" altLang="zh-TW" dirty="0" smtClean="0"/>
              <a:t>2  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323528" y="5805264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Since </a:t>
            </a:r>
            <a:r>
              <a:rPr lang="en-US" altLang="zh-TW" dirty="0" smtClean="0"/>
              <a:t>t(m) and t(m’) ≥ </a:t>
            </a:r>
            <a:r>
              <a:rPr lang="en-US" altLang="zh-TW" dirty="0"/>
              <a:t>0, it can be shown that </a:t>
            </a:r>
            <a:r>
              <a:rPr lang="en-US" altLang="zh-TW" dirty="0" smtClean="0"/>
              <a:t>S</a:t>
            </a:r>
            <a:r>
              <a:rPr lang="en-US" altLang="zh-TW" baseline="-25000" dirty="0" smtClean="0"/>
              <a:t>AB</a:t>
            </a:r>
            <a:r>
              <a:rPr lang="en-US" altLang="zh-TW" dirty="0" smtClean="0"/>
              <a:t>–</a:t>
            </a: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AB</a:t>
            </a:r>
            <a:r>
              <a:rPr lang="en-US" altLang="zh-TW" dirty="0" smtClean="0"/>
              <a:t>/2 </a:t>
            </a:r>
            <a:r>
              <a:rPr lang="en-US" altLang="zh-TW" dirty="0" smtClean="0">
                <a:latin typeface="新細明體" panose="02020500000000000000" pitchFamily="18" charset="-120"/>
              </a:rPr>
              <a:t>≦</a:t>
            </a:r>
            <a:r>
              <a:rPr lang="en-US" altLang="zh-TW" dirty="0" smtClean="0"/>
              <a:t> S </a:t>
            </a:r>
            <a:r>
              <a:rPr lang="en-US" altLang="zh-TW" dirty="0" smtClean="0">
                <a:latin typeface="新細明體" panose="02020500000000000000" pitchFamily="18" charset="-120"/>
              </a:rPr>
              <a:t>≦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S</a:t>
            </a:r>
            <a:r>
              <a:rPr lang="en-US" altLang="zh-TW" baseline="-25000" dirty="0" err="1" smtClean="0"/>
              <a:t>AB</a:t>
            </a:r>
            <a:r>
              <a:rPr lang="en-US" altLang="zh-TW" dirty="0" err="1" smtClean="0"/>
              <a:t>+d</a:t>
            </a:r>
            <a:r>
              <a:rPr lang="en-US" altLang="zh-TW" baseline="-25000" dirty="0" err="1" smtClean="0"/>
              <a:t>AB</a:t>
            </a:r>
            <a:r>
              <a:rPr lang="en-US" altLang="zh-TW" dirty="0" smtClean="0"/>
              <a:t>/2. </a:t>
            </a:r>
          </a:p>
          <a:p>
            <a:r>
              <a:rPr lang="en-US" altLang="zh-TW" dirty="0" smtClean="0"/>
              <a:t>If S</a:t>
            </a:r>
            <a:r>
              <a:rPr lang="en-US" altLang="zh-TW" baseline="-25000" dirty="0" smtClean="0"/>
              <a:t>AB</a:t>
            </a:r>
            <a:r>
              <a:rPr lang="en-US" altLang="zh-TW" dirty="0" smtClean="0"/>
              <a:t> is used as </a:t>
            </a:r>
            <a:r>
              <a:rPr lang="en-US" altLang="zh-TW" dirty="0"/>
              <a:t>an </a:t>
            </a:r>
            <a:r>
              <a:rPr lang="en-US" altLang="zh-TW" dirty="0" smtClean="0"/>
              <a:t>estimated skew then </a:t>
            </a:r>
            <a:r>
              <a:rPr lang="en-US" altLang="zh-TW" dirty="0" err="1" smtClean="0"/>
              <a:t>d</a:t>
            </a:r>
            <a:r>
              <a:rPr lang="en-US" altLang="zh-TW" baseline="-25000" dirty="0" err="1" smtClean="0"/>
              <a:t>AB</a:t>
            </a:r>
            <a:r>
              <a:rPr lang="en-US" altLang="zh-TW" dirty="0" smtClean="0"/>
              <a:t> is the </a:t>
            </a:r>
            <a:r>
              <a:rPr lang="en-US" altLang="zh-TW" dirty="0"/>
              <a:t>accuracy of this </a:t>
            </a:r>
            <a:r>
              <a:rPr lang="en-US" altLang="zh-TW" dirty="0" smtClean="0"/>
              <a:t>estimation.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575334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Event Ordering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19808"/>
            <a:ext cx="9036496" cy="5005536"/>
          </a:xfrm>
        </p:spPr>
        <p:txBody>
          <a:bodyPr/>
          <a:lstStyle/>
          <a:p>
            <a:r>
              <a:rPr lang="en-US" altLang="zh-TW" dirty="0"/>
              <a:t>In a </a:t>
            </a:r>
            <a:r>
              <a:rPr lang="en-US" altLang="zh-TW" dirty="0" smtClean="0"/>
              <a:t>single computer, </a:t>
            </a:r>
            <a:r>
              <a:rPr lang="en-US" altLang="zh-TW" dirty="0"/>
              <a:t>events </a:t>
            </a:r>
            <a:r>
              <a:rPr lang="en-US" altLang="zh-TW" dirty="0" smtClean="0"/>
              <a:t>can be </a:t>
            </a:r>
            <a:r>
              <a:rPr lang="en-US" altLang="zh-TW" dirty="0"/>
              <a:t>ordered uniquely </a:t>
            </a:r>
            <a:r>
              <a:rPr lang="en-US" altLang="zh-TW" dirty="0" smtClean="0"/>
              <a:t>according to its </a:t>
            </a:r>
            <a:r>
              <a:rPr lang="en-US" altLang="zh-TW" dirty="0"/>
              <a:t>local </a:t>
            </a:r>
            <a:r>
              <a:rPr lang="en-US" altLang="zh-TW" dirty="0" smtClean="0"/>
              <a:t>physical clock</a:t>
            </a:r>
            <a:r>
              <a:rPr lang="en-US" altLang="zh-TW" dirty="0"/>
              <a:t>. </a:t>
            </a:r>
          </a:p>
          <a:p>
            <a:r>
              <a:rPr lang="en-US" altLang="zh-TW" dirty="0"/>
              <a:t>However, it is </a:t>
            </a:r>
            <a:r>
              <a:rPr lang="en-US" altLang="zh-TW" dirty="0" smtClean="0"/>
              <a:t>very hard </a:t>
            </a:r>
            <a:r>
              <a:rPr lang="en-US" altLang="zh-TW" dirty="0"/>
              <a:t>to </a:t>
            </a:r>
            <a:r>
              <a:rPr lang="en-US" altLang="zh-TW" dirty="0" smtClean="0"/>
              <a:t>perfectly synchronize </a:t>
            </a:r>
            <a:r>
              <a:rPr lang="en-US" altLang="zh-TW" dirty="0"/>
              <a:t>clocks </a:t>
            </a:r>
            <a:r>
              <a:rPr lang="en-US" altLang="zh-TW" dirty="0" smtClean="0"/>
              <a:t>in a DS.</a:t>
            </a:r>
            <a:endParaRPr lang="en-US" altLang="zh-TW" dirty="0"/>
          </a:p>
          <a:p>
            <a:pPr lvl="1"/>
            <a:r>
              <a:rPr lang="en-US" altLang="zh-TW" dirty="0"/>
              <a:t>Therefore, it is </a:t>
            </a:r>
            <a:r>
              <a:rPr lang="en-US" altLang="zh-TW" dirty="0" smtClean="0"/>
              <a:t>extremely difficult </a:t>
            </a:r>
            <a:r>
              <a:rPr lang="en-US" altLang="zh-TW" dirty="0"/>
              <a:t>to use physical </a:t>
            </a:r>
            <a:r>
              <a:rPr lang="en-US" altLang="zh-TW" dirty="0" smtClean="0"/>
              <a:t>clocks </a:t>
            </a:r>
            <a:r>
              <a:rPr lang="en-US" altLang="zh-TW" dirty="0"/>
              <a:t>to determine the order of any arbitrary pair of events in a </a:t>
            </a:r>
            <a:r>
              <a:rPr lang="en-US" altLang="zh-TW" dirty="0" smtClean="0"/>
              <a:t>DS.</a:t>
            </a:r>
          </a:p>
          <a:p>
            <a:r>
              <a:rPr lang="en-US" altLang="zh-TW" dirty="0" smtClean="0"/>
              <a:t>Fortunately, there are simple </a:t>
            </a:r>
            <a:r>
              <a:rPr lang="en-US" altLang="zh-TW" dirty="0"/>
              <a:t>and intuitively obvious facts </a:t>
            </a:r>
            <a:r>
              <a:rPr lang="en-US" altLang="zh-TW" dirty="0" smtClean="0"/>
              <a:t>that can </a:t>
            </a:r>
            <a:r>
              <a:rPr lang="en-US" altLang="zh-TW" dirty="0"/>
              <a:t>be applied in </a:t>
            </a:r>
            <a:r>
              <a:rPr lang="en-US" altLang="zh-TW" dirty="0" smtClean="0"/>
              <a:t>a DS </a:t>
            </a:r>
            <a:r>
              <a:rPr lang="en-US" altLang="zh-TW" dirty="0"/>
              <a:t>to order </a:t>
            </a:r>
            <a:r>
              <a:rPr lang="en-US" altLang="zh-TW" dirty="0" smtClean="0"/>
              <a:t>events occurred </a:t>
            </a:r>
            <a:r>
              <a:rPr lang="en-US" altLang="zh-TW" dirty="0"/>
              <a:t>at different </a:t>
            </a:r>
            <a:r>
              <a:rPr lang="en-US" altLang="zh-TW" dirty="0" smtClean="0"/>
              <a:t>hosts.</a:t>
            </a:r>
          </a:p>
          <a:p>
            <a:pPr lvl="1"/>
            <a:r>
              <a:rPr lang="en-US" altLang="zh-TW" dirty="0"/>
              <a:t>FACT-1: </a:t>
            </a:r>
            <a:r>
              <a:rPr lang="en-US" altLang="zh-TW" dirty="0" smtClean="0"/>
              <a:t>If </a:t>
            </a:r>
            <a:r>
              <a:rPr lang="en-US" altLang="zh-TW" dirty="0"/>
              <a:t>two events occurred at the same process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, </a:t>
            </a:r>
            <a:r>
              <a:rPr lang="en-US" altLang="zh-TW" dirty="0"/>
              <a:t>then they occurred in the order in which p</a:t>
            </a:r>
            <a:r>
              <a:rPr lang="en-US" altLang="zh-TW" baseline="-25000" dirty="0"/>
              <a:t>i</a:t>
            </a:r>
            <a:r>
              <a:rPr lang="en-US" altLang="zh-TW" dirty="0"/>
              <a:t> observes them.</a:t>
            </a:r>
          </a:p>
          <a:p>
            <a:pPr lvl="1"/>
            <a:r>
              <a:rPr lang="en-US" altLang="zh-TW" dirty="0" smtClean="0"/>
              <a:t>FACT-2: Whenever </a:t>
            </a:r>
            <a:r>
              <a:rPr lang="en-US" altLang="zh-TW" dirty="0"/>
              <a:t>a message is sent between processes, the </a:t>
            </a:r>
            <a:r>
              <a:rPr lang="en-US" altLang="zh-TW" dirty="0" smtClean="0"/>
              <a:t>sending message event </a:t>
            </a:r>
            <a:r>
              <a:rPr lang="en-US" altLang="zh-TW" dirty="0"/>
              <a:t>occurred before the </a:t>
            </a:r>
            <a:r>
              <a:rPr lang="en-US" altLang="zh-TW" dirty="0" smtClean="0"/>
              <a:t>receiving message event.</a:t>
            </a:r>
            <a:endParaRPr lang="en-US" altLang="zh-TW" dirty="0"/>
          </a:p>
          <a:p>
            <a:pPr lvl="1"/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174927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Happened Before Relation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12776"/>
            <a:ext cx="8856984" cy="5328592"/>
          </a:xfrm>
        </p:spPr>
        <p:txBody>
          <a:bodyPr/>
          <a:lstStyle/>
          <a:p>
            <a:r>
              <a:rPr lang="en-US" altLang="zh-TW" dirty="0" smtClean="0"/>
              <a:t>Based on these two facts, </a:t>
            </a:r>
            <a:r>
              <a:rPr lang="en-US" altLang="zh-TW" dirty="0" err="1" smtClean="0"/>
              <a:t>Lamport</a:t>
            </a:r>
            <a:r>
              <a:rPr lang="en-US" altLang="zh-TW" dirty="0" smtClean="0"/>
              <a:t> had defined the </a:t>
            </a:r>
            <a:r>
              <a:rPr lang="en-US" altLang="zh-TW" dirty="0" smtClean="0">
                <a:solidFill>
                  <a:srgbClr val="FF0000"/>
                </a:solidFill>
              </a:rPr>
              <a:t>happened before</a:t>
            </a:r>
            <a:r>
              <a:rPr lang="en-US" altLang="zh-TW" dirty="0" smtClean="0"/>
              <a:t> (</a:t>
            </a:r>
            <a:r>
              <a:rPr lang="en-US" altLang="zh-TW" dirty="0" smtClean="0">
                <a:solidFill>
                  <a:srgbClr val="FF0000"/>
                </a:solidFill>
              </a:rPr>
              <a:t>HB</a:t>
            </a:r>
            <a:r>
              <a:rPr lang="en-US" altLang="zh-TW" dirty="0" smtClean="0"/>
              <a:t>) relation</a:t>
            </a:r>
            <a:r>
              <a:rPr lang="en-US" altLang="zh-TW" dirty="0"/>
              <a:t>. </a:t>
            </a:r>
            <a:endParaRPr lang="en-US" altLang="zh-TW" dirty="0" smtClean="0"/>
          </a:p>
          <a:p>
            <a:r>
              <a:rPr lang="en-US" altLang="zh-TW" dirty="0"/>
              <a:t>The </a:t>
            </a:r>
            <a:r>
              <a:rPr lang="en-US" altLang="zh-TW" dirty="0" smtClean="0"/>
              <a:t>HB </a:t>
            </a:r>
            <a:r>
              <a:rPr lang="en-US" altLang="zh-TW" dirty="0"/>
              <a:t>relation, denoted by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→,</a:t>
            </a:r>
            <a:r>
              <a:rPr lang="en-US" altLang="zh-TW" dirty="0" smtClean="0"/>
              <a:t> are </a:t>
            </a:r>
            <a:r>
              <a:rPr lang="en-US" altLang="zh-TW" dirty="0"/>
              <a:t>defined as follows:</a:t>
            </a:r>
          </a:p>
          <a:p>
            <a:pPr lvl="1"/>
            <a:r>
              <a:rPr lang="en-US" altLang="zh-TW" dirty="0"/>
              <a:t>HB1: For any 2 events e and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in the same process, </a:t>
            </a:r>
            <a:r>
              <a:rPr lang="en-US" altLang="zh-TW" dirty="0" smtClean="0"/>
              <a:t>if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occurs after e, then 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/>
              <a:t>HB2: For any message m, send(m)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</a:t>
            </a:r>
            <a:r>
              <a:rPr lang="en-US" altLang="zh-TW" dirty="0"/>
              <a:t>receive(m</a:t>
            </a:r>
            <a:r>
              <a:rPr lang="en-US" altLang="zh-TW" dirty="0" smtClean="0"/>
              <a:t>),  where the </a:t>
            </a:r>
            <a:r>
              <a:rPr lang="en-US" altLang="zh-TW" dirty="0"/>
              <a:t>send(m) is the </a:t>
            </a:r>
            <a:r>
              <a:rPr lang="en-US" altLang="zh-TW" dirty="0" smtClean="0"/>
              <a:t>event of sending m and </a:t>
            </a:r>
            <a:r>
              <a:rPr lang="en-US" altLang="zh-TW" dirty="0"/>
              <a:t>the receive(m) is </a:t>
            </a:r>
            <a:r>
              <a:rPr lang="en-US" altLang="zh-TW" dirty="0" smtClean="0"/>
              <a:t>event of receiving m.</a:t>
            </a:r>
            <a:endParaRPr lang="en-US" altLang="zh-TW" dirty="0"/>
          </a:p>
          <a:p>
            <a:pPr lvl="1"/>
            <a:r>
              <a:rPr lang="en-US" altLang="zh-TW" dirty="0"/>
              <a:t>HB3: </a:t>
            </a:r>
            <a:r>
              <a:rPr lang="en-US" altLang="zh-TW" dirty="0" smtClean="0"/>
              <a:t>For any three events e</a:t>
            </a:r>
            <a:r>
              <a:rPr lang="en-US" altLang="zh-TW" dirty="0"/>
              <a:t>,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</a:t>
            </a:r>
            <a:r>
              <a:rPr lang="en-US" altLang="zh-TW" dirty="0"/>
              <a:t>and </a:t>
            </a:r>
            <a:r>
              <a:rPr lang="en-US" altLang="zh-TW" dirty="0" smtClean="0"/>
              <a:t>e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,</a:t>
            </a:r>
            <a:r>
              <a:rPr lang="en-US" altLang="zh-TW" dirty="0" smtClean="0"/>
              <a:t> </a:t>
            </a:r>
          </a:p>
          <a:p>
            <a:pPr lvl="3"/>
            <a:r>
              <a:rPr lang="en-US" altLang="zh-TW" dirty="0" smtClean="0"/>
              <a:t>if </a:t>
            </a:r>
            <a:r>
              <a:rPr lang="en-US" altLang="zh-TW" dirty="0"/>
              <a:t>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and </a:t>
            </a:r>
            <a:r>
              <a:rPr lang="en-US" altLang="zh-TW" dirty="0" smtClean="0"/>
              <a:t>e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 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, </a:t>
            </a:r>
            <a:r>
              <a:rPr lang="en-US" altLang="zh-TW" dirty="0"/>
              <a:t>then 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Thus, for </a:t>
            </a:r>
            <a:r>
              <a:rPr lang="en-US" altLang="zh-TW" dirty="0"/>
              <a:t>any 2 events e and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</a:t>
            </a:r>
            <a:r>
              <a:rPr lang="en-US" altLang="zh-TW" dirty="0"/>
              <a:t>if 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</a:t>
            </a:r>
            <a:r>
              <a:rPr lang="en-US" altLang="zh-TW" dirty="0"/>
              <a:t>then </a:t>
            </a:r>
            <a:r>
              <a:rPr lang="en-US" altLang="zh-TW" dirty="0" smtClean="0"/>
              <a:t>there exists </a:t>
            </a:r>
            <a:r>
              <a:rPr lang="en-US" altLang="zh-TW" dirty="0"/>
              <a:t>a series of events e</a:t>
            </a:r>
            <a:r>
              <a:rPr lang="en-US" altLang="zh-TW" baseline="-25000" dirty="0"/>
              <a:t>1</a:t>
            </a:r>
            <a:r>
              <a:rPr lang="en-US" altLang="zh-TW" dirty="0"/>
              <a:t>, e</a:t>
            </a:r>
            <a:r>
              <a:rPr lang="en-US" altLang="zh-TW" baseline="-25000" dirty="0"/>
              <a:t>2</a:t>
            </a:r>
            <a:r>
              <a:rPr lang="en-US" altLang="zh-TW" dirty="0"/>
              <a:t>, …, </a:t>
            </a:r>
            <a:r>
              <a:rPr lang="en-US" altLang="zh-TW" dirty="0" err="1" smtClean="0"/>
              <a:t>e</a:t>
            </a:r>
            <a:r>
              <a:rPr lang="en-US" altLang="zh-TW" baseline="-25000" dirty="0" err="1" smtClean="0"/>
              <a:t>n</a:t>
            </a:r>
            <a:r>
              <a:rPr lang="en-US" altLang="zh-TW" dirty="0" smtClean="0"/>
              <a:t>, where </a:t>
            </a:r>
            <a:r>
              <a:rPr lang="en-US" altLang="zh-TW" dirty="0"/>
              <a:t>e = e</a:t>
            </a:r>
            <a:r>
              <a:rPr lang="en-US" altLang="zh-TW" baseline="-25000" dirty="0"/>
              <a:t>1</a:t>
            </a:r>
            <a:r>
              <a:rPr lang="en-US" altLang="zh-TW" dirty="0"/>
              <a:t> and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= </a:t>
            </a:r>
            <a:r>
              <a:rPr lang="en-US" altLang="zh-TW" dirty="0" err="1" smtClean="0"/>
              <a:t>e</a:t>
            </a:r>
            <a:r>
              <a:rPr lang="en-US" altLang="zh-TW" baseline="-25000" dirty="0" err="1" smtClean="0"/>
              <a:t>n</a:t>
            </a:r>
            <a:r>
              <a:rPr lang="en-US" altLang="zh-TW" dirty="0" smtClean="0"/>
              <a:t>, such that </a:t>
            </a:r>
          </a:p>
          <a:p>
            <a:pPr lvl="1"/>
            <a:r>
              <a:rPr lang="en-US" altLang="zh-TW" dirty="0"/>
              <a:t>f</a:t>
            </a:r>
            <a:r>
              <a:rPr lang="en-US" altLang="zh-TW" dirty="0" smtClean="0"/>
              <a:t>or </a:t>
            </a:r>
            <a:r>
              <a:rPr lang="en-US" altLang="zh-TW" dirty="0" err="1"/>
              <a:t>i</a:t>
            </a:r>
            <a:r>
              <a:rPr lang="en-US" altLang="zh-TW" dirty="0"/>
              <a:t> = 1, 2, …, </a:t>
            </a:r>
            <a:r>
              <a:rPr lang="en-US" altLang="zh-TW" dirty="0" smtClean="0"/>
              <a:t>n-1, </a:t>
            </a:r>
            <a:r>
              <a:rPr lang="en-US" altLang="zh-TW" dirty="0"/>
              <a:t>either HB1 or HB2 </a:t>
            </a:r>
            <a:r>
              <a:rPr lang="en-US" altLang="zh-TW" dirty="0" smtClean="0"/>
              <a:t>holds </a:t>
            </a:r>
            <a:r>
              <a:rPr lang="en-US" altLang="zh-TW" dirty="0"/>
              <a:t>between </a:t>
            </a:r>
            <a:r>
              <a:rPr lang="en-US" altLang="zh-TW" dirty="0" err="1"/>
              <a:t>e</a:t>
            </a:r>
            <a:r>
              <a:rPr lang="en-US" altLang="zh-TW" baseline="-25000" dirty="0" err="1"/>
              <a:t>i</a:t>
            </a:r>
            <a:r>
              <a:rPr lang="en-US" altLang="zh-TW" dirty="0"/>
              <a:t> and </a:t>
            </a:r>
            <a:r>
              <a:rPr lang="en-US" altLang="zh-TW" dirty="0" smtClean="0"/>
              <a:t>e</a:t>
            </a:r>
            <a:r>
              <a:rPr lang="en-US" altLang="zh-TW" baseline="-25000" dirty="0" smtClean="0"/>
              <a:t>i+1</a:t>
            </a:r>
            <a:r>
              <a:rPr lang="en-US" altLang="zh-TW" dirty="0"/>
              <a:t>.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45999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Lamport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Logical Clock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340768"/>
            <a:ext cx="9036496" cy="5400600"/>
          </a:xfrm>
        </p:spPr>
        <p:txBody>
          <a:bodyPr/>
          <a:lstStyle/>
          <a:p>
            <a:r>
              <a:rPr lang="en-US" altLang="zh-TW" dirty="0"/>
              <a:t>Lamport invented a simple numerical mechanism, called </a:t>
            </a:r>
            <a:r>
              <a:rPr lang="en-US" altLang="zh-TW" dirty="0">
                <a:solidFill>
                  <a:srgbClr val="FF0000"/>
                </a:solidFill>
              </a:rPr>
              <a:t>logical clock</a:t>
            </a:r>
            <a:r>
              <a:rPr lang="en-US" altLang="zh-TW" dirty="0"/>
              <a:t>, to capture the </a:t>
            </a:r>
            <a:r>
              <a:rPr lang="en-US" altLang="zh-TW" dirty="0">
                <a:solidFill>
                  <a:srgbClr val="FF0000"/>
                </a:solidFill>
              </a:rPr>
              <a:t>happened before </a:t>
            </a:r>
            <a:r>
              <a:rPr lang="en-US" altLang="zh-TW" dirty="0"/>
              <a:t>relation.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smtClean="0"/>
              <a:t>logical </a:t>
            </a:r>
            <a:r>
              <a:rPr lang="en-US" altLang="zh-TW" dirty="0"/>
              <a:t>clock is a monotonically increasing </a:t>
            </a:r>
            <a:r>
              <a:rPr lang="en-US" altLang="zh-TW" dirty="0" smtClean="0"/>
              <a:t>counter. </a:t>
            </a:r>
            <a:endParaRPr lang="en-US" altLang="zh-TW" dirty="0"/>
          </a:p>
          <a:p>
            <a:r>
              <a:rPr lang="en-US" altLang="zh-TW" dirty="0"/>
              <a:t>Each process p</a:t>
            </a:r>
            <a:r>
              <a:rPr lang="en-US" altLang="zh-TW" baseline="-25000" dirty="0"/>
              <a:t>i</a:t>
            </a:r>
            <a:r>
              <a:rPr lang="en-US" altLang="zh-TW" dirty="0"/>
              <a:t> keeps its own logical clock, </a:t>
            </a:r>
            <a:r>
              <a:rPr lang="en-US" altLang="zh-TW" dirty="0" smtClean="0"/>
              <a:t>L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, which </a:t>
            </a:r>
            <a:r>
              <a:rPr lang="en-US" altLang="zh-TW" dirty="0"/>
              <a:t>is used for time stamping events in p</a:t>
            </a:r>
            <a:r>
              <a:rPr lang="en-US" altLang="zh-TW" baseline="-25000" dirty="0"/>
              <a:t>i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The L</a:t>
            </a:r>
            <a:r>
              <a:rPr lang="en-US" altLang="zh-TW" baseline="-25000" dirty="0"/>
              <a:t>i</a:t>
            </a:r>
            <a:r>
              <a:rPr lang="en-US" altLang="zh-TW" dirty="0"/>
              <a:t>(e) is referred to the timestamp of event e at p</a:t>
            </a:r>
            <a:r>
              <a:rPr lang="en-US" altLang="zh-TW" baseline="-25000" dirty="0"/>
              <a:t>i</a:t>
            </a:r>
            <a:r>
              <a:rPr lang="en-US" altLang="zh-TW" dirty="0"/>
              <a:t> and the L(e) is the timestamp of event e.</a:t>
            </a:r>
          </a:p>
          <a:p>
            <a:r>
              <a:rPr lang="en-US" altLang="zh-TW" dirty="0"/>
              <a:t>To capture the </a:t>
            </a:r>
            <a:r>
              <a:rPr lang="en-US" altLang="zh-TW" dirty="0" smtClean="0"/>
              <a:t>HB relation, </a:t>
            </a:r>
            <a:r>
              <a:rPr lang="en-US" altLang="zh-TW" dirty="0"/>
              <a:t>processes update their logical clocks and </a:t>
            </a:r>
            <a:r>
              <a:rPr lang="en-US" altLang="zh-TW" dirty="0" smtClean="0"/>
              <a:t>exchange their </a:t>
            </a:r>
            <a:r>
              <a:rPr lang="en-US" altLang="zh-TW" dirty="0"/>
              <a:t>logical clocks in messages as follows:</a:t>
            </a:r>
          </a:p>
          <a:p>
            <a:pPr lvl="1"/>
            <a:r>
              <a:rPr lang="en-US" altLang="zh-TW" dirty="0"/>
              <a:t>LC1: B</a:t>
            </a:r>
            <a:r>
              <a:rPr lang="en-US" altLang="zh-TW" dirty="0" smtClean="0"/>
              <a:t>efore issuing an event,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updates L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←</a:t>
            </a:r>
            <a:r>
              <a:rPr lang="en-US" altLang="zh-TW" dirty="0" smtClean="0"/>
              <a:t> </a:t>
            </a:r>
            <a:r>
              <a:rPr lang="en-US" altLang="zh-TW" dirty="0"/>
              <a:t>L</a:t>
            </a:r>
            <a:r>
              <a:rPr lang="en-US" altLang="zh-TW" baseline="-25000" dirty="0"/>
              <a:t>i</a:t>
            </a:r>
            <a:r>
              <a:rPr lang="en-US" altLang="zh-TW" dirty="0"/>
              <a:t> + 1.</a:t>
            </a:r>
          </a:p>
          <a:p>
            <a:pPr lvl="1"/>
            <a:r>
              <a:rPr lang="en-US" altLang="zh-TW" dirty="0" smtClean="0"/>
              <a:t>LC2a: On sending a </a:t>
            </a:r>
            <a:r>
              <a:rPr lang="en-US" altLang="zh-TW" dirty="0"/>
              <a:t>message </a:t>
            </a:r>
            <a:r>
              <a:rPr lang="en-US" altLang="zh-TW" dirty="0" smtClean="0"/>
              <a:t>m,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uses L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as timestamp for </a:t>
            </a:r>
            <a:r>
              <a:rPr lang="en-US" altLang="zh-TW" dirty="0" smtClean="0"/>
              <a:t>send(m).</a:t>
            </a:r>
            <a:endParaRPr lang="en-US" altLang="zh-TW" dirty="0"/>
          </a:p>
          <a:p>
            <a:pPr lvl="1"/>
            <a:r>
              <a:rPr lang="en-US" altLang="zh-TW" dirty="0" smtClean="0"/>
              <a:t>LC2b: </a:t>
            </a:r>
            <a:r>
              <a:rPr lang="en-US" altLang="zh-TW" dirty="0"/>
              <a:t>On receiving </a:t>
            </a:r>
            <a:r>
              <a:rPr lang="en-US" altLang="zh-TW" dirty="0" smtClean="0"/>
              <a:t>a message (m</a:t>
            </a:r>
            <a:r>
              <a:rPr lang="en-US" altLang="zh-TW" dirty="0"/>
              <a:t>,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m</a:t>
            </a:r>
            <a:r>
              <a:rPr lang="en-US" altLang="zh-TW" dirty="0" smtClean="0"/>
              <a:t>) by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sets </a:t>
            </a:r>
            <a:r>
              <a:rPr lang="en-US" altLang="zh-TW" dirty="0" err="1" smtClean="0"/>
              <a:t>L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←</a:t>
            </a:r>
            <a:r>
              <a:rPr lang="en-US" altLang="zh-TW" dirty="0" smtClean="0"/>
              <a:t> </a:t>
            </a:r>
            <a:r>
              <a:rPr lang="en-US" altLang="zh-TW" dirty="0"/>
              <a:t>max(</a:t>
            </a:r>
            <a:r>
              <a:rPr lang="en-US" altLang="zh-TW" dirty="0" err="1"/>
              <a:t>L</a:t>
            </a:r>
            <a:r>
              <a:rPr lang="en-US" altLang="zh-TW" baseline="-25000" dirty="0" err="1"/>
              <a:t>j</a:t>
            </a:r>
            <a:r>
              <a:rPr lang="en-US" altLang="zh-TW" dirty="0"/>
              <a:t>, </a:t>
            </a:r>
            <a:r>
              <a:rPr lang="en-US" altLang="zh-TW" dirty="0" smtClean="0"/>
              <a:t>t</a:t>
            </a:r>
            <a:r>
              <a:rPr lang="en-US" altLang="zh-TW" baseline="-25000" dirty="0" smtClean="0"/>
              <a:t>m</a:t>
            </a:r>
            <a:r>
              <a:rPr lang="en-US" altLang="zh-TW" dirty="0" smtClean="0"/>
              <a:t>)+1 </a:t>
            </a:r>
            <a:r>
              <a:rPr lang="en-US" altLang="zh-TW" dirty="0"/>
              <a:t>and </a:t>
            </a:r>
            <a:r>
              <a:rPr lang="en-US" altLang="zh-TW" dirty="0"/>
              <a:t>uses L</a:t>
            </a:r>
            <a:r>
              <a:rPr lang="en-US" altLang="zh-TW" baseline="-25000" dirty="0"/>
              <a:t>i</a:t>
            </a:r>
            <a:r>
              <a:rPr lang="en-US" altLang="zh-TW" dirty="0"/>
              <a:t> as </a:t>
            </a:r>
            <a:r>
              <a:rPr lang="en-US" altLang="zh-TW" dirty="0" smtClean="0"/>
              <a:t>timestamp for </a:t>
            </a:r>
            <a:r>
              <a:rPr lang="en-US" altLang="zh-TW" dirty="0"/>
              <a:t>the </a:t>
            </a:r>
            <a:r>
              <a:rPr lang="en-US" altLang="zh-TW" dirty="0" smtClean="0"/>
              <a:t>receive(m</a:t>
            </a:r>
            <a:r>
              <a:rPr lang="en-US" altLang="zh-TW" dirty="0"/>
              <a:t>).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702186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Lamport's Logical </a:t>
            </a:r>
            <a:r>
              <a:rPr lang="en-US" altLang="zh-TW" dirty="0" smtClean="0"/>
              <a:t>Clock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67544" y="1447800"/>
            <a:ext cx="8219256" cy="2701280"/>
          </a:xfrm>
        </p:spPr>
        <p:txBody>
          <a:bodyPr/>
          <a:lstStyle/>
          <a:p>
            <a:r>
              <a:rPr lang="en-US" altLang="zh-TW" dirty="0"/>
              <a:t>It can be shown that any two events e and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</a:t>
            </a:r>
            <a:endParaRPr lang="en-US" altLang="zh-TW" dirty="0"/>
          </a:p>
          <a:p>
            <a:pPr lvl="1"/>
            <a:r>
              <a:rPr lang="en-US" altLang="zh-TW" dirty="0"/>
              <a:t>if 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then L(e) &lt; </a:t>
            </a:r>
            <a:r>
              <a:rPr lang="en-US" altLang="zh-TW" dirty="0" smtClean="0"/>
              <a:t>L(e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pPr lvl="1"/>
            <a:r>
              <a:rPr lang="en-US" altLang="zh-TW" dirty="0" smtClean="0"/>
              <a:t>However, </a:t>
            </a:r>
            <a:r>
              <a:rPr lang="en-US" altLang="zh-TW" dirty="0"/>
              <a:t>the converse is not true. </a:t>
            </a:r>
          </a:p>
          <a:p>
            <a:r>
              <a:rPr lang="en-US" altLang="zh-TW" dirty="0" smtClean="0"/>
              <a:t>For </a:t>
            </a:r>
            <a:r>
              <a:rPr lang="en-US" altLang="zh-TW" dirty="0"/>
              <a:t>example, L(b)&gt; L(e) but </a:t>
            </a:r>
            <a:r>
              <a:rPr lang="en-US" altLang="zh-TW" dirty="0" smtClean="0"/>
              <a:t>neither (b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e) nor (b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←</a:t>
            </a:r>
            <a:r>
              <a:rPr lang="en-US" altLang="zh-TW" dirty="0" smtClean="0"/>
              <a:t> e).</a:t>
            </a:r>
          </a:p>
          <a:p>
            <a:pPr lvl="1"/>
            <a:r>
              <a:rPr lang="en-US" altLang="zh-TW" dirty="0" smtClean="0"/>
              <a:t>If neither </a:t>
            </a:r>
            <a:r>
              <a:rPr lang="en-US" altLang="zh-TW" dirty="0"/>
              <a:t>(b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/>
              <a:t> e) nor (b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←</a:t>
            </a:r>
            <a:r>
              <a:rPr lang="en-US" altLang="zh-TW" dirty="0"/>
              <a:t> e</a:t>
            </a:r>
            <a:r>
              <a:rPr lang="en-US" altLang="zh-TW" dirty="0" smtClean="0"/>
              <a:t>), then b and e are concurrent and denoted as (</a:t>
            </a:r>
            <a:r>
              <a:rPr lang="en-US" altLang="zh-TW" dirty="0" err="1" smtClean="0"/>
              <a:t>b</a:t>
            </a:r>
            <a:r>
              <a:rPr lang="en-US" altLang="zh-TW" dirty="0" err="1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∥e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).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4176685"/>
            <a:ext cx="7315778" cy="249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687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Totally Ordered Logical Clocks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40768"/>
            <a:ext cx="8928992" cy="5221560"/>
          </a:xfrm>
        </p:spPr>
        <p:txBody>
          <a:bodyPr/>
          <a:lstStyle/>
          <a:p>
            <a:r>
              <a:rPr lang="en-US" altLang="zh-TW" dirty="0" smtClean="0"/>
              <a:t>HB </a:t>
            </a:r>
            <a:r>
              <a:rPr lang="en-US" altLang="zh-TW" dirty="0"/>
              <a:t>is only a partial </a:t>
            </a:r>
            <a:r>
              <a:rPr lang="en-US" altLang="zh-TW" dirty="0" smtClean="0"/>
              <a:t>ordering relation: L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(e) may equal to </a:t>
            </a:r>
            <a:r>
              <a:rPr lang="en-US" altLang="zh-TW" dirty="0" err="1" smtClean="0"/>
              <a:t>L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(f).</a:t>
            </a:r>
          </a:p>
          <a:p>
            <a:r>
              <a:rPr lang="en-US" altLang="zh-TW" dirty="0" smtClean="0"/>
              <a:t>It </a:t>
            </a:r>
            <a:r>
              <a:rPr lang="en-US" altLang="zh-TW" dirty="0"/>
              <a:t>is possible to create a total order on </a:t>
            </a:r>
            <a:r>
              <a:rPr lang="en-US" altLang="zh-TW" dirty="0" smtClean="0"/>
              <a:t>all </a:t>
            </a:r>
            <a:r>
              <a:rPr lang="en-US" altLang="zh-TW" dirty="0"/>
              <a:t>events by taking into account the </a:t>
            </a:r>
            <a:r>
              <a:rPr lang="en-US" altLang="zh-TW" dirty="0" smtClean="0"/>
              <a:t>IDs </a:t>
            </a:r>
            <a:r>
              <a:rPr lang="en-US" altLang="zh-TW" dirty="0"/>
              <a:t>of the processes at which events occur.</a:t>
            </a:r>
          </a:p>
          <a:p>
            <a:pPr lvl="1"/>
            <a:r>
              <a:rPr lang="en-US" altLang="zh-TW" dirty="0"/>
              <a:t>All </a:t>
            </a:r>
            <a:r>
              <a:rPr lang="en-US" altLang="zh-TW" dirty="0" smtClean="0"/>
              <a:t>events </a:t>
            </a:r>
            <a:r>
              <a:rPr lang="en-US" altLang="zh-TW" dirty="0"/>
              <a:t>are ordered by their logical clocks with process IDs.</a:t>
            </a:r>
          </a:p>
          <a:p>
            <a:r>
              <a:rPr lang="en-US" altLang="zh-TW" dirty="0"/>
              <a:t>Global logical </a:t>
            </a:r>
            <a:r>
              <a:rPr lang="en-US" altLang="zh-TW" dirty="0" smtClean="0"/>
              <a:t>clocks (GLC):</a:t>
            </a:r>
            <a:endParaRPr lang="en-US" altLang="zh-TW" dirty="0"/>
          </a:p>
          <a:p>
            <a:pPr lvl="1"/>
            <a:r>
              <a:rPr lang="en-US" altLang="zh-TW" dirty="0"/>
              <a:t>If e is an event </a:t>
            </a:r>
            <a:r>
              <a:rPr lang="en-US" altLang="zh-TW" dirty="0" smtClean="0"/>
              <a:t>of </a:t>
            </a:r>
            <a:r>
              <a:rPr lang="en-US" altLang="zh-TW" dirty="0"/>
              <a:t>p</a:t>
            </a:r>
            <a:r>
              <a:rPr lang="en-US" altLang="zh-TW" baseline="-25000" dirty="0"/>
              <a:t>i</a:t>
            </a:r>
            <a:r>
              <a:rPr lang="en-US" altLang="zh-TW" dirty="0"/>
              <a:t> with </a:t>
            </a:r>
            <a:r>
              <a:rPr lang="en-US" altLang="zh-TW" dirty="0" smtClean="0"/>
              <a:t>L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(e), </a:t>
            </a:r>
            <a:r>
              <a:rPr lang="en-US" altLang="zh-TW" dirty="0"/>
              <a:t>then the </a:t>
            </a:r>
            <a:r>
              <a:rPr lang="en-US" altLang="zh-TW" dirty="0" smtClean="0"/>
              <a:t>GLC of </a:t>
            </a:r>
            <a:r>
              <a:rPr lang="en-US" altLang="zh-TW" dirty="0"/>
              <a:t>e is </a:t>
            </a:r>
            <a:r>
              <a:rPr lang="en-US" altLang="zh-TW" dirty="0" smtClean="0"/>
              <a:t>(</a:t>
            </a:r>
            <a:r>
              <a:rPr lang="en-US" altLang="zh-TW" dirty="0"/>
              <a:t>L</a:t>
            </a:r>
            <a:r>
              <a:rPr lang="en-US" altLang="zh-TW" baseline="-25000" dirty="0"/>
              <a:t>i</a:t>
            </a:r>
            <a:r>
              <a:rPr lang="en-US" altLang="zh-TW" dirty="0"/>
              <a:t>(e)</a:t>
            </a:r>
            <a:r>
              <a:rPr lang="en-US" altLang="zh-TW" dirty="0" smtClean="0"/>
              <a:t>, </a:t>
            </a:r>
            <a:r>
              <a:rPr lang="en-US" altLang="zh-TW" dirty="0" err="1"/>
              <a:t>i</a:t>
            </a:r>
            <a:r>
              <a:rPr lang="en-US" altLang="zh-TW" dirty="0"/>
              <a:t>). </a:t>
            </a:r>
          </a:p>
          <a:p>
            <a:pPr lvl="1"/>
            <a:r>
              <a:rPr lang="en-US" altLang="zh-TW" dirty="0" smtClean="0"/>
              <a:t>(</a:t>
            </a:r>
            <a:r>
              <a:rPr lang="en-US" altLang="zh-TW" dirty="0"/>
              <a:t>L</a:t>
            </a:r>
            <a:r>
              <a:rPr lang="en-US" altLang="zh-TW" baseline="-25000" dirty="0"/>
              <a:t>i</a:t>
            </a:r>
            <a:r>
              <a:rPr lang="en-US" altLang="zh-TW" dirty="0"/>
              <a:t>(e)</a:t>
            </a:r>
            <a:r>
              <a:rPr lang="en-US" altLang="zh-TW" dirty="0" smtClean="0"/>
              <a:t>, </a:t>
            </a:r>
            <a:r>
              <a:rPr lang="en-US" altLang="zh-TW" dirty="0" err="1"/>
              <a:t>i</a:t>
            </a:r>
            <a:r>
              <a:rPr lang="en-US" altLang="zh-TW" dirty="0"/>
              <a:t>) &lt; </a:t>
            </a:r>
            <a:r>
              <a:rPr lang="en-US" altLang="zh-TW" dirty="0" smtClean="0"/>
              <a:t>(</a:t>
            </a:r>
            <a:r>
              <a:rPr lang="en-US" altLang="zh-TW" dirty="0" err="1" smtClean="0"/>
              <a:t>L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(f), </a:t>
            </a:r>
            <a:r>
              <a:rPr lang="en-US" altLang="zh-TW" dirty="0"/>
              <a:t>j) if and only if </a:t>
            </a:r>
            <a:endParaRPr lang="en-US" altLang="zh-TW" dirty="0" smtClean="0"/>
          </a:p>
          <a:p>
            <a:pPr marL="319088" lvl="1" indent="0">
              <a:buNone/>
            </a:pPr>
            <a:r>
              <a:rPr lang="en-US" altLang="zh-TW" dirty="0"/>
              <a:t>	</a:t>
            </a:r>
            <a:r>
              <a:rPr lang="en-US" altLang="zh-TW" dirty="0" smtClean="0"/>
              <a:t>either (</a:t>
            </a:r>
            <a:r>
              <a:rPr lang="en-US" altLang="zh-TW" dirty="0"/>
              <a:t>L</a:t>
            </a:r>
            <a:r>
              <a:rPr lang="en-US" altLang="zh-TW" baseline="-25000" dirty="0"/>
              <a:t>i</a:t>
            </a:r>
            <a:r>
              <a:rPr lang="en-US" altLang="zh-TW" dirty="0"/>
              <a:t>(e)</a:t>
            </a:r>
            <a:r>
              <a:rPr lang="en-US" altLang="zh-TW" dirty="0" smtClean="0"/>
              <a:t> </a:t>
            </a:r>
            <a:r>
              <a:rPr lang="en-US" altLang="zh-TW" dirty="0"/>
              <a:t>&lt; </a:t>
            </a:r>
            <a:r>
              <a:rPr lang="en-US" altLang="zh-TW" dirty="0" err="1"/>
              <a:t>L</a:t>
            </a:r>
            <a:r>
              <a:rPr lang="en-US" altLang="zh-TW" baseline="-25000" dirty="0" err="1"/>
              <a:t>j</a:t>
            </a:r>
            <a:r>
              <a:rPr lang="en-US" altLang="zh-TW" dirty="0"/>
              <a:t>(f)</a:t>
            </a:r>
            <a:r>
              <a:rPr lang="en-US" altLang="zh-TW" dirty="0" smtClean="0"/>
              <a:t>) </a:t>
            </a:r>
            <a:r>
              <a:rPr lang="en-US" altLang="zh-TW" dirty="0"/>
              <a:t>or </a:t>
            </a:r>
            <a:r>
              <a:rPr lang="en-US" altLang="zh-TW" dirty="0" smtClean="0"/>
              <a:t>[(</a:t>
            </a:r>
            <a:r>
              <a:rPr lang="en-US" altLang="zh-TW" dirty="0"/>
              <a:t>L</a:t>
            </a:r>
            <a:r>
              <a:rPr lang="en-US" altLang="zh-TW" baseline="-25000" dirty="0"/>
              <a:t>i</a:t>
            </a:r>
            <a:r>
              <a:rPr lang="en-US" altLang="zh-TW" dirty="0"/>
              <a:t>(e)</a:t>
            </a:r>
            <a:r>
              <a:rPr lang="en-US" altLang="zh-TW" dirty="0" smtClean="0"/>
              <a:t> == </a:t>
            </a:r>
            <a:r>
              <a:rPr lang="en-US" altLang="zh-TW" dirty="0" err="1"/>
              <a:t>L</a:t>
            </a:r>
            <a:r>
              <a:rPr lang="en-US" altLang="zh-TW" baseline="-25000" dirty="0" err="1"/>
              <a:t>j</a:t>
            </a:r>
            <a:r>
              <a:rPr lang="en-US" altLang="zh-TW" dirty="0"/>
              <a:t>(f)</a:t>
            </a:r>
            <a:r>
              <a:rPr lang="en-US" altLang="zh-TW" dirty="0" smtClean="0"/>
              <a:t>) </a:t>
            </a:r>
            <a:r>
              <a:rPr lang="en-US" altLang="zh-TW" dirty="0"/>
              <a:t>and (</a:t>
            </a:r>
            <a:r>
              <a:rPr lang="en-US" altLang="zh-TW" dirty="0" err="1"/>
              <a:t>i</a:t>
            </a:r>
            <a:r>
              <a:rPr lang="en-US" altLang="zh-TW" dirty="0"/>
              <a:t> &lt; j)]. </a:t>
            </a:r>
          </a:p>
          <a:p>
            <a:pPr marL="0" indent="0">
              <a:buNone/>
            </a:pP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854845"/>
            <a:ext cx="6226163" cy="181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190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The Vector Clock</a:t>
            </a:r>
            <a:r>
              <a:rPr lang="zh-TW" altLang="en-US" dirty="0" smtClean="0"/>
              <a:t> </a:t>
            </a:r>
            <a:r>
              <a:rPr lang="en-US" altLang="zh-TW" dirty="0" smtClean="0"/>
              <a:t>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077544"/>
          </a:xfrm>
        </p:spPr>
        <p:txBody>
          <a:bodyPr/>
          <a:lstStyle/>
          <a:p>
            <a:r>
              <a:rPr lang="en-US" altLang="zh-TW" dirty="0" smtClean="0"/>
              <a:t>The global logical clock proposed by Lamport can be used to support </a:t>
            </a:r>
            <a:r>
              <a:rPr lang="en-US" altLang="zh-TW" dirty="0" smtClean="0"/>
              <a:t>consistent ordering </a:t>
            </a:r>
            <a:r>
              <a:rPr lang="en-US" altLang="zh-TW" dirty="0" smtClean="0"/>
              <a:t>in </a:t>
            </a:r>
            <a:r>
              <a:rPr lang="en-US" altLang="zh-TW" dirty="0" smtClean="0"/>
              <a:t>many to many group communication.</a:t>
            </a:r>
            <a:endParaRPr lang="en-US" altLang="zh-TW" dirty="0" smtClean="0"/>
          </a:p>
          <a:p>
            <a:r>
              <a:rPr lang="en-US" altLang="zh-TW" dirty="0" smtClean="0"/>
              <a:t>However in GLC, if GLC(e</a:t>
            </a:r>
            <a:r>
              <a:rPr lang="en-US" altLang="zh-TW" dirty="0"/>
              <a:t>) &lt; </a:t>
            </a:r>
            <a:r>
              <a:rPr lang="en-US" altLang="zh-TW" dirty="0" smtClean="0"/>
              <a:t>GLC(e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) does not imply </a:t>
            </a:r>
            <a:r>
              <a:rPr lang="en-US" altLang="zh-TW" dirty="0"/>
              <a:t>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'.</a:t>
            </a:r>
          </a:p>
          <a:p>
            <a:r>
              <a:rPr lang="en-US" altLang="zh-TW" dirty="0"/>
              <a:t>Mattern and </a:t>
            </a:r>
            <a:r>
              <a:rPr lang="en-US" altLang="zh-TW" dirty="0" err="1"/>
              <a:t>Fidge</a:t>
            </a:r>
            <a:r>
              <a:rPr lang="en-US" altLang="zh-TW" dirty="0"/>
              <a:t> </a:t>
            </a:r>
            <a:r>
              <a:rPr lang="en-US" altLang="zh-TW" dirty="0" smtClean="0"/>
              <a:t>proposed </a:t>
            </a:r>
            <a:r>
              <a:rPr lang="en-US" altLang="zh-TW" dirty="0"/>
              <a:t>vector </a:t>
            </a:r>
            <a:r>
              <a:rPr lang="en-US" altLang="zh-TW" dirty="0" smtClean="0"/>
              <a:t>clock (</a:t>
            </a:r>
            <a:r>
              <a:rPr lang="en-US" altLang="zh-TW" dirty="0" smtClean="0">
                <a:solidFill>
                  <a:srgbClr val="FF0000"/>
                </a:solidFill>
              </a:rPr>
              <a:t>VC</a:t>
            </a:r>
            <a:r>
              <a:rPr lang="en-US" altLang="zh-TW" dirty="0" smtClean="0"/>
              <a:t>) scheme.</a:t>
            </a:r>
          </a:p>
          <a:p>
            <a:pPr lvl="1"/>
            <a:r>
              <a:rPr lang="en-US" altLang="zh-TW" dirty="0" smtClean="0"/>
              <a:t>If </a:t>
            </a:r>
            <a:r>
              <a:rPr lang="en-US" altLang="zh-TW" dirty="0"/>
              <a:t>e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/>
              <a:t>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 </a:t>
            </a:r>
            <a:r>
              <a:rPr lang="en-US" altLang="zh-TW" dirty="0" smtClean="0"/>
              <a:t>then </a:t>
            </a:r>
            <a:r>
              <a:rPr lang="en-US" altLang="zh-TW" dirty="0"/>
              <a:t>VC(e)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&lt; VC(e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').</a:t>
            </a:r>
            <a:endParaRPr lang="en-US" altLang="zh-TW" dirty="0" smtClean="0"/>
          </a:p>
          <a:p>
            <a:pPr lvl="1"/>
            <a:r>
              <a:rPr lang="en-US" altLang="zh-TW" dirty="0"/>
              <a:t>I</a:t>
            </a:r>
            <a:r>
              <a:rPr lang="en-US" altLang="zh-TW" dirty="0" smtClean="0"/>
              <a:t>f VC(e)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&lt; VC(e') then </a:t>
            </a:r>
            <a:r>
              <a:rPr lang="en-US" altLang="zh-TW" dirty="0"/>
              <a:t>e 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'.</a:t>
            </a:r>
          </a:p>
          <a:p>
            <a:pPr lvl="1"/>
            <a:r>
              <a:rPr lang="en-US" altLang="zh-TW" sz="2600" dirty="0">
                <a:ea typeface="+mn-ea"/>
                <a:cs typeface="+mn-cs"/>
              </a:rPr>
              <a:t>If </a:t>
            </a:r>
            <a:r>
              <a:rPr lang="en-US" altLang="zh-TW" sz="2600" dirty="0" err="1">
                <a:ea typeface="+mn-ea"/>
                <a:cs typeface="+mn-cs"/>
              </a:rPr>
              <a:t>e∥e</a:t>
            </a:r>
            <a:r>
              <a:rPr lang="en-US" altLang="zh-TW" sz="2600" dirty="0">
                <a:ea typeface="+mn-ea"/>
                <a:cs typeface="+mn-cs"/>
              </a:rPr>
              <a:t>' then neither VC(e</a:t>
            </a:r>
            <a:r>
              <a:rPr lang="en-US" altLang="zh-TW" sz="2600" dirty="0">
                <a:ea typeface="+mn-ea"/>
                <a:cs typeface="+mn-cs"/>
              </a:rPr>
              <a:t>) &lt;</a:t>
            </a:r>
            <a:r>
              <a:rPr lang="en-US" altLang="zh-TW" sz="2600" dirty="0">
                <a:ea typeface="+mn-ea"/>
                <a:cs typeface="+mn-cs"/>
              </a:rPr>
              <a:t> </a:t>
            </a:r>
            <a:r>
              <a:rPr lang="en-US" altLang="zh-TW" sz="2600" dirty="0">
                <a:ea typeface="+mn-ea"/>
                <a:cs typeface="+mn-cs"/>
              </a:rPr>
              <a:t>VC(e</a:t>
            </a:r>
            <a:r>
              <a:rPr lang="en-US" altLang="zh-TW" sz="2600" dirty="0">
                <a:ea typeface="+mn-ea"/>
                <a:cs typeface="+mn-cs"/>
              </a:rPr>
              <a:t>') nor VC(e) &gt; VC(e').</a:t>
            </a:r>
          </a:p>
          <a:p>
            <a:pPr lvl="1"/>
            <a:r>
              <a:rPr lang="en-US" altLang="zh-TW" sz="2600" dirty="0">
                <a:ea typeface="+mn-ea"/>
                <a:cs typeface="+mn-cs"/>
              </a:rPr>
              <a:t>If not (</a:t>
            </a:r>
            <a:r>
              <a:rPr lang="en-US" altLang="zh-TW" sz="2600" dirty="0">
                <a:ea typeface="+mn-ea"/>
                <a:cs typeface="+mn-cs"/>
              </a:rPr>
              <a:t>VC(e) &lt; VC(e</a:t>
            </a:r>
            <a:r>
              <a:rPr lang="en-US" altLang="zh-TW" sz="2600" dirty="0">
                <a:ea typeface="+mn-ea"/>
                <a:cs typeface="+mn-cs"/>
              </a:rPr>
              <a:t>')) and not(</a:t>
            </a:r>
            <a:r>
              <a:rPr lang="en-US" altLang="zh-TW" sz="2600" dirty="0">
                <a:ea typeface="+mn-ea"/>
                <a:cs typeface="+mn-cs"/>
              </a:rPr>
              <a:t>VC(e) &gt; VC(e</a:t>
            </a:r>
            <a:r>
              <a:rPr lang="en-US" altLang="zh-TW" sz="2600" dirty="0">
                <a:ea typeface="+mn-ea"/>
                <a:cs typeface="+mn-cs"/>
              </a:rPr>
              <a:t>')) then </a:t>
            </a:r>
            <a:r>
              <a:rPr lang="en-US" altLang="zh-TW" sz="2600" dirty="0" err="1">
                <a:ea typeface="+mn-ea"/>
                <a:cs typeface="+mn-cs"/>
              </a:rPr>
              <a:t>e∥e</a:t>
            </a:r>
            <a:r>
              <a:rPr lang="en-US" altLang="zh-TW" sz="2600" dirty="0">
                <a:ea typeface="+mn-ea"/>
                <a:cs typeface="+mn-cs"/>
              </a:rPr>
              <a:t>'.</a:t>
            </a:r>
          </a:p>
          <a:p>
            <a:r>
              <a:rPr lang="en-US" altLang="zh-TW" dirty="0"/>
              <a:t>The VC scheme can be used to support </a:t>
            </a:r>
            <a:r>
              <a:rPr lang="en-US" altLang="zh-TW" sz="2600" dirty="0" smtClean="0">
                <a:ea typeface="+mn-ea"/>
                <a:cs typeface="+mn-cs"/>
              </a:rPr>
              <a:t>Causal </a:t>
            </a:r>
            <a:r>
              <a:rPr lang="en-US" altLang="zh-TW" sz="2600" dirty="0">
                <a:ea typeface="+mn-ea"/>
                <a:cs typeface="+mn-cs"/>
              </a:rPr>
              <a:t>ordering in many to many group communication.</a:t>
            </a:r>
            <a:endParaRPr lang="en-US" altLang="zh-TW" sz="2600" dirty="0">
              <a:ea typeface="+mn-ea"/>
              <a:cs typeface="+mn-cs"/>
            </a:endParaRPr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44128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The Vector Clock</a:t>
            </a:r>
            <a:r>
              <a:rPr lang="zh-TW" altLang="en-US" dirty="0"/>
              <a:t>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84784"/>
            <a:ext cx="8928992" cy="5256584"/>
          </a:xfrm>
        </p:spPr>
        <p:txBody>
          <a:bodyPr/>
          <a:lstStyle/>
          <a:p>
            <a:r>
              <a:rPr lang="en-US" altLang="zh-TW" dirty="0"/>
              <a:t>A vector clock for a system of N </a:t>
            </a:r>
            <a:r>
              <a:rPr lang="en-US" altLang="zh-TW" dirty="0" smtClean="0"/>
              <a:t>hosts </a:t>
            </a:r>
            <a:r>
              <a:rPr lang="en-US" altLang="zh-TW" dirty="0"/>
              <a:t>is an array of N integers. </a:t>
            </a:r>
          </a:p>
          <a:p>
            <a:pPr lvl="1"/>
            <a:r>
              <a:rPr lang="en-US" altLang="zh-TW" dirty="0"/>
              <a:t>Each process p</a:t>
            </a:r>
            <a:r>
              <a:rPr lang="en-US" altLang="zh-TW" baseline="-25000" dirty="0"/>
              <a:t>i</a:t>
            </a:r>
            <a:r>
              <a:rPr lang="en-US" altLang="zh-TW" dirty="0"/>
              <a:t> </a:t>
            </a:r>
            <a:r>
              <a:rPr lang="en-US" altLang="zh-TW" dirty="0" smtClean="0"/>
              <a:t>keeps its own </a:t>
            </a:r>
            <a:r>
              <a:rPr lang="en-US" altLang="zh-TW" dirty="0" smtClean="0">
                <a:solidFill>
                  <a:srgbClr val="FF0000"/>
                </a:solidFill>
              </a:rPr>
              <a:t>vector clock, V</a:t>
            </a:r>
            <a:r>
              <a:rPr lang="en-US" altLang="zh-TW" baseline="-25000" dirty="0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/>
              <a:t>, for timestamps. </a:t>
            </a:r>
            <a:endParaRPr lang="en-US" altLang="zh-TW" dirty="0"/>
          </a:p>
          <a:p>
            <a:r>
              <a:rPr lang="en-US" altLang="zh-TW" dirty="0" smtClean="0"/>
              <a:t>There </a:t>
            </a:r>
            <a:r>
              <a:rPr lang="en-US" altLang="zh-TW" dirty="0"/>
              <a:t>are following </a:t>
            </a:r>
            <a:r>
              <a:rPr lang="en-US" altLang="zh-TW" dirty="0" smtClean="0"/>
              <a:t>rules </a:t>
            </a:r>
            <a:r>
              <a:rPr lang="en-US" altLang="zh-TW" dirty="0"/>
              <a:t>for updating the vector clocks:</a:t>
            </a:r>
          </a:p>
          <a:p>
            <a:pPr lvl="1"/>
            <a:r>
              <a:rPr lang="en-US" altLang="zh-TW" dirty="0"/>
              <a:t>VC1: Initially, V</a:t>
            </a:r>
            <a:r>
              <a:rPr lang="en-US" altLang="zh-TW" baseline="-25000" dirty="0"/>
              <a:t>i</a:t>
            </a:r>
            <a:r>
              <a:rPr lang="en-US" altLang="zh-TW" dirty="0"/>
              <a:t>[j] = 0 , for all </a:t>
            </a:r>
            <a:r>
              <a:rPr lang="en-US" altLang="zh-TW" dirty="0" err="1"/>
              <a:t>i</a:t>
            </a:r>
            <a:r>
              <a:rPr lang="en-US" altLang="zh-TW" dirty="0"/>
              <a:t>, j = 1, 2, …, N .</a:t>
            </a:r>
          </a:p>
          <a:p>
            <a:pPr lvl="1"/>
            <a:r>
              <a:rPr lang="en-US" altLang="zh-TW" dirty="0"/>
              <a:t>VC2: </a:t>
            </a:r>
            <a:r>
              <a:rPr lang="en-US" altLang="zh-TW" dirty="0" smtClean="0"/>
              <a:t>before </a:t>
            </a:r>
            <a:r>
              <a:rPr lang="en-US" altLang="zh-TW" dirty="0"/>
              <a:t>t</a:t>
            </a:r>
            <a:r>
              <a:rPr lang="en-US" altLang="zh-TW" dirty="0" smtClean="0"/>
              <a:t>imestamping an </a:t>
            </a:r>
            <a:r>
              <a:rPr lang="en-US" altLang="zh-TW" dirty="0"/>
              <a:t>event,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sets V</a:t>
            </a:r>
            <a:r>
              <a:rPr lang="en-US" altLang="zh-TW" baseline="-25000" dirty="0"/>
              <a:t>i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←</a:t>
            </a:r>
            <a:r>
              <a:rPr lang="en-US" altLang="zh-TW" dirty="0" smtClean="0"/>
              <a:t> </a:t>
            </a:r>
            <a:r>
              <a:rPr lang="en-US" altLang="zh-TW" dirty="0"/>
              <a:t>V</a:t>
            </a:r>
            <a:r>
              <a:rPr lang="en-US" altLang="zh-TW" baseline="-25000" dirty="0"/>
              <a:t>i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 + 1.</a:t>
            </a:r>
          </a:p>
          <a:p>
            <a:pPr lvl="1"/>
            <a:r>
              <a:rPr lang="en-US" altLang="zh-TW" dirty="0"/>
              <a:t>VC3: </a:t>
            </a:r>
            <a:r>
              <a:rPr lang="en-US" altLang="zh-TW" dirty="0" smtClean="0"/>
              <a:t>on sending a message m,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 uses V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as the timestamp of m.</a:t>
            </a:r>
            <a:endParaRPr lang="en-US" altLang="zh-TW" dirty="0"/>
          </a:p>
          <a:p>
            <a:pPr lvl="1"/>
            <a:r>
              <a:rPr lang="en-US" altLang="zh-TW" dirty="0"/>
              <a:t>VC4: </a:t>
            </a:r>
            <a:r>
              <a:rPr lang="en-US" altLang="zh-TW" dirty="0" smtClean="0"/>
              <a:t>on receiving a message m (sent from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) with </a:t>
            </a:r>
            <a:r>
              <a:rPr lang="en-US" altLang="zh-TW" dirty="0"/>
              <a:t>a timestamp </a:t>
            </a:r>
            <a:r>
              <a:rPr lang="en-US" altLang="zh-TW" dirty="0" smtClean="0"/>
              <a:t>T, </a:t>
            </a:r>
          </a:p>
          <a:p>
            <a:pPr lvl="2"/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sets V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[j</a:t>
            </a:r>
            <a:r>
              <a:rPr lang="en-US" altLang="zh-TW" dirty="0"/>
              <a:t>]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←</a:t>
            </a:r>
            <a:r>
              <a:rPr lang="en-US" altLang="zh-TW" dirty="0" smtClean="0"/>
              <a:t> </a:t>
            </a:r>
            <a:r>
              <a:rPr lang="en-US" altLang="zh-TW" dirty="0"/>
              <a:t>max(V</a:t>
            </a:r>
            <a:r>
              <a:rPr lang="en-US" altLang="zh-TW" baseline="-25000" dirty="0"/>
              <a:t>i</a:t>
            </a:r>
            <a:r>
              <a:rPr lang="en-US" altLang="zh-TW" dirty="0"/>
              <a:t>[j], </a:t>
            </a:r>
            <a:r>
              <a:rPr lang="en-US" altLang="zh-TW" dirty="0" smtClean="0"/>
              <a:t>T[j</a:t>
            </a:r>
            <a:r>
              <a:rPr lang="en-US" altLang="zh-TW" dirty="0"/>
              <a:t>]), for j = 1, 2, …, N. </a:t>
            </a:r>
          </a:p>
          <a:p>
            <a:r>
              <a:rPr lang="en-US" altLang="zh-TW" dirty="0" smtClean="0"/>
              <a:t>For each </a:t>
            </a:r>
            <a:r>
              <a:rPr lang="en-US" altLang="zh-TW" dirty="0"/>
              <a:t>vector clock V</a:t>
            </a:r>
            <a:r>
              <a:rPr lang="en-US" altLang="zh-TW" baseline="-25000" dirty="0"/>
              <a:t>i</a:t>
            </a:r>
            <a:r>
              <a:rPr lang="en-US" altLang="zh-TW" dirty="0"/>
              <a:t>, </a:t>
            </a:r>
          </a:p>
          <a:p>
            <a:pPr lvl="1"/>
            <a:r>
              <a:rPr lang="en-US" altLang="zh-TW" dirty="0"/>
              <a:t>V</a:t>
            </a:r>
            <a:r>
              <a:rPr lang="en-US" altLang="zh-TW" baseline="-25000" dirty="0"/>
              <a:t>i</a:t>
            </a:r>
            <a:r>
              <a:rPr lang="en-US" altLang="zh-TW" dirty="0"/>
              <a:t>[</a:t>
            </a:r>
            <a:r>
              <a:rPr lang="en-US" altLang="zh-TW" dirty="0" err="1"/>
              <a:t>i</a:t>
            </a:r>
            <a:r>
              <a:rPr lang="en-US" altLang="zh-TW" dirty="0"/>
              <a:t>] is the number of events that p</a:t>
            </a:r>
            <a:r>
              <a:rPr lang="en-US" altLang="zh-TW" baseline="-25000" dirty="0"/>
              <a:t>i</a:t>
            </a:r>
            <a:r>
              <a:rPr lang="en-US" altLang="zh-TW" dirty="0"/>
              <a:t> has time stamped.</a:t>
            </a:r>
          </a:p>
          <a:p>
            <a:pPr lvl="1"/>
            <a:r>
              <a:rPr lang="en-US" altLang="zh-TW" dirty="0"/>
              <a:t>for all </a:t>
            </a:r>
            <a:r>
              <a:rPr lang="en-US" altLang="zh-TW" dirty="0" smtClean="0"/>
              <a:t>j </a:t>
            </a:r>
            <a:r>
              <a:rPr lang="en-US" altLang="zh-TW" dirty="0"/>
              <a:t>≠ </a:t>
            </a:r>
            <a:r>
              <a:rPr lang="en-US" altLang="zh-TW" dirty="0" err="1"/>
              <a:t>i</a:t>
            </a:r>
            <a:r>
              <a:rPr lang="en-US" altLang="zh-TW" dirty="0" smtClean="0"/>
              <a:t>, </a:t>
            </a:r>
            <a:r>
              <a:rPr lang="en-US" altLang="zh-TW" dirty="0"/>
              <a:t>j = 1, 2, …, N 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V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[j</a:t>
            </a:r>
            <a:r>
              <a:rPr lang="en-US" altLang="zh-TW" dirty="0"/>
              <a:t>] </a:t>
            </a:r>
            <a:r>
              <a:rPr lang="en-US" altLang="zh-TW" dirty="0" smtClean="0"/>
              <a:t> </a:t>
            </a:r>
            <a:r>
              <a:rPr lang="en-US" altLang="zh-TW" dirty="0"/>
              <a:t>is the number of events that have occurred at </a:t>
            </a:r>
            <a:r>
              <a:rPr lang="en-US" altLang="zh-TW" dirty="0" err="1"/>
              <a:t>p</a:t>
            </a:r>
            <a:r>
              <a:rPr lang="en-US" altLang="zh-TW" baseline="-25000" dirty="0" err="1"/>
              <a:t>j</a:t>
            </a:r>
            <a:r>
              <a:rPr lang="en-US" altLang="zh-TW" dirty="0"/>
              <a:t> and have affected p</a:t>
            </a:r>
            <a:r>
              <a:rPr lang="en-US" altLang="zh-TW" baseline="-25000" dirty="0"/>
              <a:t>i</a:t>
            </a:r>
            <a:r>
              <a:rPr lang="en-US" altLang="zh-TW" dirty="0"/>
              <a:t> 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19381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/>
              <a:t>The Vector Clock</a:t>
            </a:r>
            <a:r>
              <a:rPr lang="zh-TW" altLang="en-US" dirty="0"/>
              <a:t> </a:t>
            </a:r>
            <a:r>
              <a:rPr lang="en-US" altLang="zh-TW" dirty="0"/>
              <a:t>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40768"/>
            <a:ext cx="8928992" cy="3578009"/>
          </a:xfrm>
        </p:spPr>
        <p:txBody>
          <a:bodyPr/>
          <a:lstStyle/>
          <a:p>
            <a:r>
              <a:rPr lang="en-US" altLang="zh-TW" dirty="0"/>
              <a:t>Vector Clocks have the following properties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V == V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if and only if V[j] == V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[j] for all j=1,2…,N</a:t>
            </a:r>
          </a:p>
          <a:p>
            <a:pPr lvl="1"/>
            <a:r>
              <a:rPr lang="en-US" altLang="zh-TW" dirty="0" smtClean="0"/>
              <a:t>V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≦</a:t>
            </a:r>
            <a:r>
              <a:rPr lang="en-US" altLang="zh-TW" dirty="0"/>
              <a:t>V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', </a:t>
            </a:r>
            <a:r>
              <a:rPr lang="en-US" altLang="zh-TW" dirty="0"/>
              <a:t>if and only if V[j]≦V'[j] for all j=1,2…,N</a:t>
            </a:r>
          </a:p>
          <a:p>
            <a:pPr lvl="1"/>
            <a:r>
              <a:rPr lang="en-US" altLang="zh-TW" dirty="0"/>
              <a:t>V &lt; V', if and only if V≦V' and V≠V'</a:t>
            </a:r>
          </a:p>
          <a:p>
            <a:pPr lvl="1"/>
            <a:r>
              <a:rPr lang="en-US" altLang="zh-TW" dirty="0" smtClean="0"/>
              <a:t>It </a:t>
            </a:r>
            <a:r>
              <a:rPr lang="en-US" altLang="zh-TW" dirty="0"/>
              <a:t>can </a:t>
            </a:r>
            <a:r>
              <a:rPr lang="en-US" altLang="zh-TW" dirty="0" smtClean="0"/>
              <a:t>be shown </a:t>
            </a:r>
            <a:r>
              <a:rPr lang="en-US" altLang="zh-TW" dirty="0"/>
              <a:t>that two events e and </a:t>
            </a:r>
            <a:r>
              <a:rPr lang="en-US" altLang="zh-TW" dirty="0" smtClean="0"/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</a:t>
            </a:r>
          </a:p>
          <a:p>
            <a:pPr lvl="2"/>
            <a:r>
              <a:rPr lang="en-US" altLang="zh-TW" dirty="0" smtClean="0"/>
              <a:t>if </a:t>
            </a:r>
            <a:r>
              <a:rPr lang="en-US" altLang="zh-TW" dirty="0"/>
              <a:t>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/>
              <a:t>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then V(e</a:t>
            </a:r>
            <a:r>
              <a:rPr lang="en-US" altLang="zh-TW" dirty="0" smtClean="0"/>
              <a:t>)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&lt; </a:t>
            </a:r>
            <a:r>
              <a:rPr lang="en-US" altLang="zh-TW" dirty="0" smtClean="0"/>
              <a:t>V(e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).</a:t>
            </a:r>
            <a:endParaRPr lang="en-US" altLang="zh-TW" dirty="0"/>
          </a:p>
          <a:p>
            <a:pPr lvl="2"/>
            <a:r>
              <a:rPr lang="en-US" altLang="zh-TW" dirty="0" smtClean="0"/>
              <a:t>if V(e) </a:t>
            </a:r>
            <a:r>
              <a:rPr lang="en-US" altLang="zh-TW" dirty="0"/>
              <a:t>&lt; </a:t>
            </a:r>
            <a:r>
              <a:rPr lang="en-US" altLang="zh-TW" dirty="0" smtClean="0"/>
              <a:t>V(e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) then e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dirty="0" smtClean="0">
                <a:ea typeface="新細明體" panose="02020500000000000000" pitchFamily="18" charset="-120"/>
              </a:rPr>
              <a:t>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. </a:t>
            </a:r>
            <a:endParaRPr lang="en-US" altLang="zh-TW" dirty="0"/>
          </a:p>
          <a:p>
            <a:pPr lvl="2"/>
            <a:r>
              <a:rPr lang="en-US" altLang="zh-TW" dirty="0" smtClean="0"/>
              <a:t>If e and 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are concurrent then V(e) </a:t>
            </a:r>
            <a:r>
              <a:rPr lang="en-US" altLang="zh-TW" dirty="0" smtClean="0"/>
              <a:t>and </a:t>
            </a:r>
            <a:r>
              <a:rPr lang="en-US" altLang="zh-TW" dirty="0"/>
              <a:t>V(e</a:t>
            </a:r>
            <a:r>
              <a:rPr lang="en-US" altLang="zh-TW" dirty="0" smtClean="0"/>
              <a:t>') are </a:t>
            </a:r>
            <a:r>
              <a:rPr lang="en-US" altLang="zh-TW" dirty="0"/>
              <a:t>not in any order. </a:t>
            </a:r>
          </a:p>
          <a:p>
            <a:pPr lvl="2"/>
            <a:r>
              <a:rPr lang="en-US" altLang="zh-TW" dirty="0" smtClean="0"/>
              <a:t>Events e and b are concurrent because neither V(e) </a:t>
            </a:r>
            <a:r>
              <a:rPr lang="en-US" altLang="zh-TW" dirty="0"/>
              <a:t>&lt; </a:t>
            </a:r>
            <a:r>
              <a:rPr lang="en-US" altLang="zh-TW" dirty="0" smtClean="0"/>
              <a:t>V(b) </a:t>
            </a:r>
            <a:r>
              <a:rPr lang="en-US" altLang="zh-TW" dirty="0"/>
              <a:t>nor </a:t>
            </a:r>
            <a:r>
              <a:rPr lang="en-US" altLang="zh-TW" dirty="0" smtClean="0"/>
              <a:t>V(b) </a:t>
            </a:r>
            <a:r>
              <a:rPr lang="en-US" altLang="zh-TW" dirty="0"/>
              <a:t>&lt; </a:t>
            </a:r>
            <a:r>
              <a:rPr lang="en-US" altLang="zh-TW" dirty="0" smtClean="0"/>
              <a:t>V(e) </a:t>
            </a:r>
            <a:r>
              <a:rPr lang="en-US" altLang="zh-TW" dirty="0"/>
              <a:t>is </a:t>
            </a:r>
            <a:r>
              <a:rPr lang="en-US" altLang="zh-TW" dirty="0" smtClean="0"/>
              <a:t>true.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4918777"/>
            <a:ext cx="5326983" cy="1799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88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Distributed Mutual Exclusion (DME)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435280" cy="5221560"/>
          </a:xfrm>
        </p:spPr>
        <p:txBody>
          <a:bodyPr/>
          <a:lstStyle/>
          <a:p>
            <a:r>
              <a:rPr lang="en-US" altLang="zh-TW" dirty="0"/>
              <a:t>If a collection of processes share a resource or collection of resources, then </a:t>
            </a:r>
            <a:r>
              <a:rPr lang="en-US" altLang="zh-TW" dirty="0" smtClean="0"/>
              <a:t>mutual </a:t>
            </a:r>
            <a:r>
              <a:rPr lang="en-US" altLang="zh-TW" dirty="0"/>
              <a:t>exclusion is </a:t>
            </a:r>
            <a:r>
              <a:rPr lang="en-US" altLang="zh-TW" dirty="0" smtClean="0"/>
              <a:t>often required </a:t>
            </a:r>
            <a:r>
              <a:rPr lang="en-US" altLang="zh-TW" dirty="0"/>
              <a:t>to prevent interference and ensure consistency </a:t>
            </a:r>
            <a:r>
              <a:rPr lang="en-US" altLang="zh-TW" dirty="0" smtClean="0"/>
              <a:t>of </a:t>
            </a:r>
            <a:r>
              <a:rPr lang="en-US" altLang="zh-TW" dirty="0"/>
              <a:t>the shared resources.</a:t>
            </a:r>
          </a:p>
          <a:p>
            <a:r>
              <a:rPr lang="en-US" altLang="zh-TW" dirty="0"/>
              <a:t>A </a:t>
            </a:r>
            <a:r>
              <a:rPr lang="en-US" altLang="zh-TW" dirty="0" smtClean="0"/>
              <a:t>“solution” </a:t>
            </a:r>
            <a:r>
              <a:rPr lang="en-US" altLang="zh-TW" dirty="0"/>
              <a:t>for distributed mutual exclusion should be based solely on </a:t>
            </a:r>
            <a:r>
              <a:rPr lang="en-US" altLang="zh-TW" dirty="0">
                <a:solidFill>
                  <a:srgbClr val="FF0000"/>
                </a:solidFill>
              </a:rPr>
              <a:t>message passing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A particularly interesting example is where a collection of peer processes must coordinate their accesses to shared resources </a:t>
            </a:r>
            <a:r>
              <a:rPr lang="en-US" altLang="zh-TW" dirty="0" smtClean="0"/>
              <a:t>among </a:t>
            </a:r>
            <a:r>
              <a:rPr lang="en-US" altLang="zh-TW" dirty="0"/>
              <a:t>themselves.</a:t>
            </a:r>
          </a:p>
          <a:p>
            <a:pPr lvl="1"/>
            <a:r>
              <a:rPr lang="en-US" altLang="zh-TW" dirty="0"/>
              <a:t>This occurs routinely on networks such as </a:t>
            </a:r>
            <a:r>
              <a:rPr lang="en-US" altLang="zh-TW" dirty="0">
                <a:solidFill>
                  <a:srgbClr val="FF0000"/>
                </a:solidFill>
              </a:rPr>
              <a:t>Ethernets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IEEE 802.11</a:t>
            </a:r>
            <a:r>
              <a:rPr lang="en-US" altLang="zh-TW" dirty="0"/>
              <a:t> wireless networks in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ad hoc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mode, where network interfaces cooperate as peers so that only one node transmits at a time on the shared medium.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613572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Algorithms for DME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-36512" y="1447800"/>
            <a:ext cx="9001000" cy="5221560"/>
          </a:xfrm>
        </p:spPr>
        <p:txBody>
          <a:bodyPr/>
          <a:lstStyle/>
          <a:p>
            <a:pPr lvl="1"/>
            <a:r>
              <a:rPr lang="en-US" altLang="zh-TW" dirty="0"/>
              <a:t>Consider a system of N </a:t>
            </a:r>
            <a:r>
              <a:rPr lang="en-US" altLang="zh-TW" dirty="0" smtClean="0"/>
              <a:t>processes, named </a:t>
            </a:r>
            <a:r>
              <a:rPr lang="en-US" altLang="zh-TW" dirty="0"/>
              <a:t>p</a:t>
            </a:r>
            <a:r>
              <a:rPr lang="en-US" altLang="zh-TW" baseline="-25000" dirty="0"/>
              <a:t>i</a:t>
            </a:r>
            <a:r>
              <a:rPr lang="en-US" altLang="zh-TW" dirty="0"/>
              <a:t>, </a:t>
            </a:r>
            <a:r>
              <a:rPr lang="en-US" altLang="zh-TW" dirty="0" err="1"/>
              <a:t>i</a:t>
            </a:r>
            <a:r>
              <a:rPr lang="en-US" altLang="zh-TW" dirty="0"/>
              <a:t> = 1, 2, …, </a:t>
            </a:r>
            <a:r>
              <a:rPr lang="en-US" altLang="zh-TW" dirty="0" smtClean="0"/>
              <a:t>N.</a:t>
            </a:r>
            <a:endParaRPr lang="en-US" altLang="zh-TW" dirty="0"/>
          </a:p>
          <a:p>
            <a:pPr lvl="2"/>
            <a:r>
              <a:rPr lang="en-US" altLang="zh-TW" dirty="0"/>
              <a:t>The processes access common resources in a critical section (CS).</a:t>
            </a:r>
          </a:p>
          <a:p>
            <a:pPr lvl="2"/>
            <a:r>
              <a:rPr lang="en-US" altLang="zh-TW" dirty="0"/>
              <a:t>The system is assumed to be </a:t>
            </a:r>
            <a:r>
              <a:rPr lang="en-US" altLang="zh-TW" dirty="0" smtClean="0"/>
              <a:t>asynchronous, </a:t>
            </a:r>
            <a:r>
              <a:rPr lang="en-US" altLang="zh-TW" dirty="0"/>
              <a:t>processes are failure </a:t>
            </a:r>
            <a:r>
              <a:rPr lang="en-US" altLang="zh-TW" dirty="0" smtClean="0"/>
              <a:t>free, and </a:t>
            </a:r>
            <a:r>
              <a:rPr lang="en-US" altLang="zh-TW" dirty="0"/>
              <a:t>the message delivery is reliable.</a:t>
            </a:r>
          </a:p>
          <a:p>
            <a:pPr lvl="1"/>
            <a:r>
              <a:rPr lang="en-US" altLang="zh-TW" dirty="0"/>
              <a:t>Any message sent is eventually delivered </a:t>
            </a:r>
            <a:r>
              <a:rPr lang="en-US" altLang="zh-TW" dirty="0" smtClean="0"/>
              <a:t>undamaged </a:t>
            </a:r>
            <a:r>
              <a:rPr lang="en-US" altLang="zh-TW" dirty="0"/>
              <a:t>and exactly once.</a:t>
            </a:r>
          </a:p>
          <a:p>
            <a:pPr lvl="1"/>
            <a:r>
              <a:rPr lang="en-US" altLang="zh-TW" dirty="0"/>
              <a:t>The application-level protocol for executing a CS is as follows:</a:t>
            </a:r>
          </a:p>
          <a:p>
            <a:pPr lvl="2"/>
            <a:r>
              <a:rPr lang="en-US" altLang="zh-TW" dirty="0"/>
              <a:t>enter()                    </a:t>
            </a:r>
            <a:r>
              <a:rPr lang="en-US" altLang="zh-TW" dirty="0" smtClean="0"/>
              <a:t> // </a:t>
            </a:r>
            <a:r>
              <a:rPr lang="en-US" altLang="zh-TW" dirty="0"/>
              <a:t>enter the CS – block if necessary</a:t>
            </a:r>
          </a:p>
          <a:p>
            <a:pPr lvl="2"/>
            <a:r>
              <a:rPr lang="en-US" altLang="zh-TW" dirty="0" err="1"/>
              <a:t>resourceAccesses</a:t>
            </a:r>
            <a:r>
              <a:rPr lang="en-US" altLang="zh-TW" dirty="0"/>
              <a:t>()   // access shared resources in the CS</a:t>
            </a:r>
          </a:p>
          <a:p>
            <a:pPr lvl="2"/>
            <a:r>
              <a:rPr lang="en-US" altLang="zh-TW" dirty="0"/>
              <a:t>exit()                      </a:t>
            </a:r>
            <a:r>
              <a:rPr lang="en-US" altLang="zh-TW" dirty="0" smtClean="0"/>
              <a:t> // </a:t>
            </a:r>
            <a:r>
              <a:rPr lang="en-US" altLang="zh-TW" dirty="0"/>
              <a:t>leave the CS – other processes may now enter</a:t>
            </a:r>
          </a:p>
          <a:p>
            <a:pPr lvl="1"/>
            <a:r>
              <a:rPr lang="en-US" altLang="zh-TW" dirty="0"/>
              <a:t>The essential requirements for mutual exclusion are as follows:</a:t>
            </a:r>
          </a:p>
          <a:p>
            <a:pPr lvl="2"/>
            <a:r>
              <a:rPr lang="en-US" altLang="zh-TW" dirty="0"/>
              <a:t>ME1: (safety) At most one process may execute in the CS at a time.</a:t>
            </a:r>
          </a:p>
          <a:p>
            <a:pPr lvl="2"/>
            <a:r>
              <a:rPr lang="en-US" altLang="zh-TW" dirty="0"/>
              <a:t>ME2: (liveness) Requests to enter and exit the CS eventually succeed.</a:t>
            </a:r>
          </a:p>
          <a:p>
            <a:pPr lvl="3"/>
            <a:r>
              <a:rPr lang="en-US" altLang="zh-TW" dirty="0"/>
              <a:t>ME2 implies freedom from both deadlock and starvation.</a:t>
            </a:r>
          </a:p>
          <a:p>
            <a:pPr lvl="2"/>
            <a:r>
              <a:rPr lang="en-US" altLang="zh-TW" dirty="0"/>
              <a:t>ME3: </a:t>
            </a:r>
            <a:r>
              <a:rPr lang="en-US" altLang="zh-TW" dirty="0" smtClean="0"/>
              <a:t>(HB </a:t>
            </a:r>
            <a:r>
              <a:rPr lang="en-US" altLang="zh-TW" dirty="0"/>
              <a:t>ordering) Entry to the CS is granted in the </a:t>
            </a:r>
            <a:r>
              <a:rPr lang="en-US" altLang="zh-TW" dirty="0" smtClean="0"/>
              <a:t>HB </a:t>
            </a:r>
            <a:r>
              <a:rPr lang="en-US" altLang="zh-TW" dirty="0"/>
              <a:t>order of requests.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58493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A Central Server DME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83568" y="1447800"/>
            <a:ext cx="8003232" cy="1117104"/>
          </a:xfrm>
        </p:spPr>
        <p:txBody>
          <a:bodyPr/>
          <a:lstStyle/>
          <a:p>
            <a:r>
              <a:rPr lang="en-US" altLang="zh-TW" dirty="0"/>
              <a:t>Entering the CS takes 2 messages: a request and a grant.</a:t>
            </a:r>
          </a:p>
          <a:p>
            <a:r>
              <a:rPr lang="en-US" altLang="zh-TW" dirty="0"/>
              <a:t>Exiting the CS takes 1 release message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1219" y="2492896"/>
            <a:ext cx="5795237" cy="4032448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3178582"/>
            <a:ext cx="3456384" cy="140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4223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A Ring-Based DME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147248" cy="1909192"/>
          </a:xfrm>
        </p:spPr>
        <p:txBody>
          <a:bodyPr/>
          <a:lstStyle/>
          <a:p>
            <a:r>
              <a:rPr lang="en-US" altLang="zh-TW" dirty="0"/>
              <a:t>Entering the CS takes 0 ~ N messages.</a:t>
            </a:r>
          </a:p>
          <a:p>
            <a:pPr lvl="1"/>
            <a:r>
              <a:rPr lang="en-US" altLang="zh-TW" dirty="0"/>
              <a:t>0: when it has just received the token.</a:t>
            </a:r>
          </a:p>
          <a:p>
            <a:pPr lvl="1"/>
            <a:r>
              <a:rPr lang="en-US" altLang="zh-TW" dirty="0"/>
              <a:t>N: when it has just passed out the token. </a:t>
            </a:r>
          </a:p>
          <a:p>
            <a:r>
              <a:rPr lang="en-US" altLang="zh-TW" dirty="0"/>
              <a:t>Exiting the CS requires only one message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6016" y="3140968"/>
            <a:ext cx="4320480" cy="3640553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3970670"/>
            <a:ext cx="3456384" cy="1402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837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471810"/>
            <a:ext cx="9001000" cy="868958"/>
          </a:xfrm>
        </p:spPr>
        <p:txBody>
          <a:bodyPr/>
          <a:lstStyle/>
          <a:p>
            <a:r>
              <a:rPr lang="en-US" altLang="zh-TW" dirty="0"/>
              <a:t>The Ricart and </a:t>
            </a:r>
            <a:r>
              <a:rPr lang="en-US" altLang="zh-TW" dirty="0" err="1" smtClean="0"/>
              <a:t>Agrawala</a:t>
            </a:r>
            <a:r>
              <a:rPr lang="en-US" altLang="zh-TW" dirty="0" err="1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err="1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DME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784976" cy="5077544"/>
          </a:xfrm>
        </p:spPr>
        <p:txBody>
          <a:bodyPr/>
          <a:lstStyle/>
          <a:p>
            <a:r>
              <a:rPr lang="en-US" altLang="zh-TW" dirty="0"/>
              <a:t>A process sends a request message to all other processes when it wants to enter the CS.</a:t>
            </a:r>
          </a:p>
          <a:p>
            <a:pPr lvl="1"/>
            <a:r>
              <a:rPr lang="en-US" altLang="zh-TW" dirty="0"/>
              <a:t>It can enter only if all the other processes have replied to this request message. </a:t>
            </a:r>
          </a:p>
          <a:p>
            <a:r>
              <a:rPr lang="en-US" altLang="zh-TW" dirty="0"/>
              <a:t>The conditions under which a process replies to a request are designed to ensure that conditions </a:t>
            </a:r>
            <a:r>
              <a:rPr lang="en-US" altLang="zh-TW" dirty="0" smtClean="0"/>
              <a:t>ME1, ME2, and ME3 </a:t>
            </a:r>
            <a:r>
              <a:rPr lang="en-US" altLang="zh-TW" dirty="0"/>
              <a:t>are met.</a:t>
            </a:r>
          </a:p>
          <a:p>
            <a:pPr lvl="1"/>
            <a:r>
              <a:rPr lang="en-US" altLang="zh-TW" dirty="0"/>
              <a:t>The processes p</a:t>
            </a:r>
            <a:r>
              <a:rPr lang="en-US" altLang="zh-TW" baseline="-25000" dirty="0"/>
              <a:t>1</a:t>
            </a:r>
            <a:r>
              <a:rPr lang="en-US" altLang="zh-TW" dirty="0"/>
              <a:t>, p</a:t>
            </a:r>
            <a:r>
              <a:rPr lang="en-US" altLang="zh-TW" baseline="-25000" dirty="0"/>
              <a:t>2</a:t>
            </a:r>
            <a:r>
              <a:rPr lang="en-US" altLang="zh-TW" dirty="0"/>
              <a:t>, …, </a:t>
            </a:r>
            <a:r>
              <a:rPr lang="en-US" altLang="zh-TW" dirty="0" err="1"/>
              <a:t>p</a:t>
            </a:r>
            <a:r>
              <a:rPr lang="en-US" altLang="zh-TW" baseline="-25000" dirty="0" err="1"/>
              <a:t>N</a:t>
            </a:r>
            <a:r>
              <a:rPr lang="en-US" altLang="zh-TW" dirty="0"/>
              <a:t> bear unique identifiers.</a:t>
            </a:r>
          </a:p>
          <a:p>
            <a:pPr lvl="1"/>
            <a:r>
              <a:rPr lang="en-US" altLang="zh-TW" dirty="0"/>
              <a:t>Each process p</a:t>
            </a:r>
            <a:r>
              <a:rPr lang="en-US" altLang="zh-TW" baseline="-25000" dirty="0"/>
              <a:t>i</a:t>
            </a:r>
            <a:r>
              <a:rPr lang="en-US" altLang="zh-TW" dirty="0"/>
              <a:t> keeps a logical clock for time stamping.</a:t>
            </a:r>
          </a:p>
          <a:p>
            <a:pPr lvl="1"/>
            <a:r>
              <a:rPr lang="en-US" altLang="zh-TW" dirty="0"/>
              <a:t>There exists a reliable channel between any two processes.</a:t>
            </a:r>
          </a:p>
          <a:p>
            <a:pPr lvl="1"/>
            <a:r>
              <a:rPr lang="en-US" altLang="zh-TW" dirty="0"/>
              <a:t>Entry </a:t>
            </a:r>
            <a:r>
              <a:rPr lang="en-US" altLang="zh-TW" dirty="0" smtClean="0"/>
              <a:t>requesting </a:t>
            </a:r>
            <a:r>
              <a:rPr lang="en-US" altLang="zh-TW" dirty="0"/>
              <a:t>messages are of the form &lt;</a:t>
            </a:r>
            <a:r>
              <a:rPr lang="en-US" altLang="zh-TW" dirty="0" err="1" smtClean="0"/>
              <a:t>T</a:t>
            </a:r>
            <a:r>
              <a:rPr lang="en-US" altLang="zh-TW" baseline="-25000" dirty="0" err="1" smtClean="0"/>
              <a:t>i</a:t>
            </a:r>
            <a:r>
              <a:rPr lang="en-US" altLang="zh-TW" dirty="0" smtClean="0"/>
              <a:t>, </a:t>
            </a:r>
            <a:r>
              <a:rPr lang="en-US" altLang="zh-TW" dirty="0" err="1" smtClean="0"/>
              <a:t>i</a:t>
            </a:r>
            <a:r>
              <a:rPr lang="en-US" altLang="zh-TW" dirty="0" smtClean="0"/>
              <a:t>&gt;.</a:t>
            </a:r>
            <a:endParaRPr lang="en-US" altLang="zh-TW" dirty="0"/>
          </a:p>
          <a:p>
            <a:pPr lvl="2"/>
            <a:r>
              <a:rPr lang="en-US" altLang="zh-TW" dirty="0" err="1" smtClean="0">
                <a:solidFill>
                  <a:srgbClr val="FF0000"/>
                </a:solidFill>
              </a:rPr>
              <a:t>T</a:t>
            </a:r>
            <a:r>
              <a:rPr lang="en-US" altLang="zh-TW" baseline="-25000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is the </a:t>
            </a:r>
            <a:r>
              <a:rPr lang="en-US" altLang="zh-TW" dirty="0" smtClean="0"/>
              <a:t>sender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timestamp and </a:t>
            </a:r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/>
              <a:t> is </a:t>
            </a:r>
            <a:r>
              <a:rPr lang="en-US" altLang="zh-TW" dirty="0"/>
              <a:t>the </a:t>
            </a:r>
            <a:r>
              <a:rPr lang="en-US" altLang="zh-TW" dirty="0" smtClean="0"/>
              <a:t>sender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identifier</a:t>
            </a:r>
            <a:r>
              <a:rPr lang="en-US" altLang="zh-TW" dirty="0" smtClean="0"/>
              <a:t>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2946881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5"/>
          <p:cNvSpPr>
            <a:spLocks/>
          </p:cNvSpPr>
          <p:nvPr/>
        </p:nvSpPr>
        <p:spPr bwMode="auto">
          <a:xfrm>
            <a:off x="323528" y="692696"/>
            <a:ext cx="8568952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FF33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40640" bIns="0">
            <a:spAutoFit/>
          </a:bodyPr>
          <a:lstStyle>
            <a:lvl1pPr marL="39688"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431800" algn="l"/>
                <a:tab pos="8001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On initialization at </a:t>
            </a:r>
            <a:r>
              <a:rPr lang="en-US" altLang="zh-TW" sz="2000" b="1" dirty="0" smtClean="0">
                <a:solidFill>
                  <a:prstClr val="black"/>
                </a:solidFill>
                <a:cs typeface="Times" panose="02020603050405020304" pitchFamily="18" charset="0"/>
              </a:rPr>
              <a:t>p</a:t>
            </a:r>
            <a:r>
              <a:rPr lang="en-US" altLang="zh-TW" sz="2000" b="1" baseline="-25000" dirty="0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endParaRPr lang="en-US" altLang="zh-TW" sz="2000" b="1" dirty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state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:= RELEASED;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LC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:= any non-zero value;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dirty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To enter the </a:t>
            </a:r>
            <a:r>
              <a:rPr lang="en-US" altLang="zh-TW" sz="2000" b="1" dirty="0" smtClean="0">
                <a:solidFill>
                  <a:prstClr val="black"/>
                </a:solidFill>
                <a:cs typeface="Times" panose="02020603050405020304" pitchFamily="18" charset="0"/>
              </a:rPr>
              <a:t>critical section </a:t>
            </a: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at p</a:t>
            </a:r>
            <a:r>
              <a:rPr lang="en-US" altLang="zh-TW" sz="2000" b="1" baseline="-25000" dirty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state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:= WANTED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    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LC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:= </a:t>
            </a:r>
            <a:r>
              <a:rPr lang="en-US" altLang="zh-TW" sz="2000" dirty="0" err="1">
                <a:solidFill>
                  <a:prstClr val="black"/>
                </a:solidFill>
                <a:cs typeface="Times" panose="02020603050405020304" pitchFamily="18" charset="0"/>
              </a:rPr>
              <a:t>LC</a:t>
            </a:r>
            <a:r>
              <a:rPr lang="en-US" altLang="zh-TW" sz="2000" baseline="-25000" dirty="0" err="1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+ 1;</a:t>
            </a:r>
            <a:endParaRPr lang="en-US" altLang="zh-TW" sz="2000" dirty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send a 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request </a:t>
            </a:r>
            <a:r>
              <a:rPr lang="en-US" altLang="zh-TW" sz="2000" i="1" dirty="0" smtClean="0">
                <a:solidFill>
                  <a:prstClr val="black"/>
                </a:solidFill>
                <a:cs typeface="Times" panose="02020603050405020304" pitchFamily="18" charset="0"/>
              </a:rPr>
              <a:t>&lt;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=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LC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,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i="1" dirty="0" smtClean="0">
                <a:solidFill>
                  <a:prstClr val="black"/>
                </a:solidFill>
                <a:cs typeface="Times" panose="02020603050405020304" pitchFamily="18" charset="0"/>
              </a:rPr>
              <a:t>&gt;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to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all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other processes; </a:t>
            </a:r>
            <a:endParaRPr lang="en-US" altLang="zh-TW" sz="2000" dirty="0">
              <a:solidFill>
                <a:srgbClr val="FF3300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Wait until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(number of replies received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==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(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N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– 1));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state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:=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IN-CS;</a:t>
            </a:r>
            <a:endParaRPr lang="en-US" altLang="zh-TW" sz="2000" dirty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zh-TW" sz="2000" b="1" dirty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On receipt of a </a:t>
            </a:r>
            <a:r>
              <a:rPr lang="en-US" altLang="zh-TW" sz="2000" b="1" i="1" dirty="0">
                <a:solidFill>
                  <a:prstClr val="black"/>
                </a:solidFill>
                <a:cs typeface="Times" panose="02020603050405020304" pitchFamily="18" charset="0"/>
              </a:rPr>
              <a:t>request &lt;</a:t>
            </a:r>
            <a:r>
              <a:rPr lang="en-US" altLang="zh-TW" sz="2000" b="1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="1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j</a:t>
            </a:r>
            <a:r>
              <a:rPr lang="en-US" altLang="zh-TW" sz="2000" b="1" dirty="0" smtClean="0">
                <a:solidFill>
                  <a:prstClr val="black"/>
                </a:solidFill>
                <a:cs typeface="Times" panose="02020603050405020304" pitchFamily="18" charset="0"/>
              </a:rPr>
              <a:t>, </a:t>
            </a: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j</a:t>
            </a:r>
            <a:r>
              <a:rPr lang="en-US" altLang="zh-TW" sz="2000" b="1" i="1" dirty="0" smtClean="0">
                <a:solidFill>
                  <a:prstClr val="black"/>
                </a:solidFill>
                <a:cs typeface="Times" panose="02020603050405020304" pitchFamily="18" charset="0"/>
              </a:rPr>
              <a:t>&gt; </a:t>
            </a: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at </a:t>
            </a:r>
            <a:r>
              <a:rPr lang="en-US" altLang="zh-TW" sz="2000" b="1" dirty="0" smtClean="0">
                <a:solidFill>
                  <a:prstClr val="black"/>
                </a:solidFill>
                <a:cs typeface="Times" panose="02020603050405020304" pitchFamily="18" charset="0"/>
              </a:rPr>
              <a:t>p</a:t>
            </a:r>
            <a:r>
              <a:rPr lang="en-US" altLang="zh-TW" sz="2000" b="1" baseline="-25000" dirty="0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b="1" dirty="0" smtClean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(</a:t>
            </a:r>
            <a:r>
              <a:rPr lang="en-US" altLang="zh-TW" sz="2000" b="1" dirty="0" err="1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 ≠ j</a:t>
            </a:r>
            <a:r>
              <a:rPr lang="en-US" altLang="zh-TW" sz="2000" b="1" dirty="0" smtClean="0">
                <a:solidFill>
                  <a:prstClr val="black"/>
                </a:solidFill>
                <a:cs typeface="Times" panose="02020603050405020304" pitchFamily="18" charset="0"/>
              </a:rPr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    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LC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:=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max(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j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,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LC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)+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1;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if  (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state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== IN-CS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or (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state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==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WANTED and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(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, </a:t>
            </a:r>
            <a:r>
              <a:rPr lang="en-US" altLang="zh-TW" sz="2000" dirty="0" err="1">
                <a:solidFill>
                  <a:prstClr val="black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) &lt; (</a:t>
            </a:r>
            <a:r>
              <a:rPr lang="en-US" altLang="zh-TW" sz="2000" dirty="0" err="1">
                <a:solidFill>
                  <a:prstClr val="black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aseline="-25000" dirty="0" err="1">
                <a:solidFill>
                  <a:prstClr val="black"/>
                </a:solidFill>
                <a:cs typeface="Times" panose="02020603050405020304" pitchFamily="18" charset="0"/>
              </a:rPr>
              <a:t>j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, j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)))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                   // 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aseline="-25000" dirty="0">
                <a:solidFill>
                  <a:srgbClr val="FF0000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</a:rPr>
              <a:t>is the timestamp of 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the </a:t>
            </a:r>
            <a:r>
              <a:rPr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</a:rPr>
              <a:t>p</a:t>
            </a:r>
            <a:r>
              <a:rPr lang="en-US" altLang="zh-TW" sz="2000" baseline="-25000" dirty="0" smtClean="0">
                <a:solidFill>
                  <a:srgbClr val="FF0000"/>
                </a:solidFill>
                <a:cs typeface="Times" panose="02020603050405020304" pitchFamily="18" charset="0"/>
              </a:rPr>
              <a:t>i</a:t>
            </a:r>
            <a:r>
              <a:rPr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</a:rPr>
              <a:t>’s requesting message</a:t>
            </a:r>
            <a:endParaRPr lang="en-US" altLang="zh-TW" sz="2000" dirty="0">
              <a:solidFill>
                <a:srgbClr val="FF0000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then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	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queue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request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&lt;</a:t>
            </a:r>
            <a:r>
              <a:rPr lang="en-US" altLang="zh-TW" sz="2000" dirty="0" err="1">
                <a:solidFill>
                  <a:prstClr val="black"/>
                </a:solidFill>
                <a:cs typeface="Times" panose="02020603050405020304" pitchFamily="18" charset="0"/>
              </a:rPr>
              <a:t>T</a:t>
            </a:r>
            <a:r>
              <a:rPr lang="en-US" altLang="zh-TW" sz="2000" baseline="-25000" dirty="0" err="1">
                <a:solidFill>
                  <a:prstClr val="black"/>
                </a:solidFill>
                <a:cs typeface="Times" panose="02020603050405020304" pitchFamily="18" charset="0"/>
              </a:rPr>
              <a:t>j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, j</a:t>
            </a:r>
            <a:r>
              <a:rPr lang="en-US" altLang="zh-TW" sz="2000" i="1" dirty="0">
                <a:solidFill>
                  <a:prstClr val="black"/>
                </a:solidFill>
                <a:cs typeface="Times" panose="02020603050405020304" pitchFamily="18" charset="0"/>
              </a:rPr>
              <a:t>&gt; </a:t>
            </a:r>
            <a:r>
              <a:rPr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</a:rPr>
              <a:t>without 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replying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;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else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	reply immediately to </a:t>
            </a:r>
            <a:r>
              <a:rPr lang="en-US" altLang="zh-TW" sz="2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p</a:t>
            </a:r>
            <a:r>
              <a:rPr lang="en-US" altLang="zh-TW" sz="2000" baseline="-25000" dirty="0" err="1" smtClean="0">
                <a:solidFill>
                  <a:prstClr val="black"/>
                </a:solidFill>
                <a:cs typeface="Times" panose="02020603050405020304" pitchFamily="18" charset="0"/>
              </a:rPr>
              <a:t>j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;</a:t>
            </a:r>
          </a:p>
          <a:p>
            <a:pPr eaLnBrk="1" hangingPunct="1">
              <a:lnSpc>
                <a:spcPct val="90000"/>
              </a:lnSpc>
            </a:pPr>
            <a:endParaRPr lang="en-US" altLang="zh-TW" sz="2000" b="1" dirty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To exit the critical section at p</a:t>
            </a:r>
            <a:r>
              <a:rPr lang="en-US" altLang="zh-TW" sz="2000" b="1" baseline="-25000" dirty="0">
                <a:solidFill>
                  <a:prstClr val="black"/>
                </a:solidFill>
                <a:cs typeface="Times" panose="02020603050405020304" pitchFamily="18" charset="0"/>
              </a:rPr>
              <a:t>i </a:t>
            </a:r>
            <a:r>
              <a:rPr lang="en-US" altLang="zh-TW" sz="2000" b="1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endParaRPr lang="en-US" altLang="zh-TW" sz="2000" b="1" dirty="0" smtClean="0">
              <a:solidFill>
                <a:prstClr val="black"/>
              </a:solidFill>
              <a:cs typeface="Times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000" b="1" i="1" dirty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b="1" i="1" dirty="0" smtClean="0">
                <a:solidFill>
                  <a:prstClr val="black"/>
                </a:solidFill>
                <a:cs typeface="Times" panose="02020603050405020304" pitchFamily="18" charset="0"/>
              </a:rPr>
              <a:t>      </a:t>
            </a:r>
            <a:r>
              <a:rPr lang="en-US" altLang="zh-TW" sz="2000" i="1" dirty="0" smtClean="0">
                <a:solidFill>
                  <a:prstClr val="black"/>
                </a:solidFill>
                <a:cs typeface="Times" panose="02020603050405020304" pitchFamily="18" charset="0"/>
              </a:rPr>
              <a:t>state</a:t>
            </a:r>
            <a:r>
              <a:rPr lang="en-US" altLang="zh-TW" sz="2000" dirty="0" smtClean="0">
                <a:solidFill>
                  <a:prstClr val="black"/>
                </a:solidFill>
                <a:cs typeface="Times" panose="02020603050405020304" pitchFamily="18" charset="0"/>
              </a:rPr>
              <a:t> </a:t>
            </a: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:= RELEASED;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dirty="0">
                <a:solidFill>
                  <a:prstClr val="black"/>
                </a:solidFill>
                <a:cs typeface="Times" panose="02020603050405020304" pitchFamily="18" charset="0"/>
              </a:rPr>
              <a:t>	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reply </a:t>
            </a:r>
            <a:r>
              <a:rPr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</a:rPr>
              <a:t>all </a:t>
            </a:r>
            <a:r>
              <a:rPr lang="en-US" altLang="zh-TW" sz="2000" dirty="0">
                <a:solidFill>
                  <a:srgbClr val="FF0000"/>
                </a:solidFill>
                <a:cs typeface="Times" panose="02020603050405020304" pitchFamily="18" charset="0"/>
              </a:rPr>
              <a:t>queued requests;</a:t>
            </a:r>
          </a:p>
        </p:txBody>
      </p:sp>
      <p:sp>
        <p:nvSpPr>
          <p:cNvPr id="3" name="標題 1"/>
          <p:cNvSpPr txBox="1">
            <a:spLocks/>
          </p:cNvSpPr>
          <p:nvPr/>
        </p:nvSpPr>
        <p:spPr bwMode="auto">
          <a:xfrm>
            <a:off x="251520" y="103859"/>
            <a:ext cx="8712968" cy="51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P</a:t>
            </a:r>
            <a:r>
              <a:rPr kumimoji="0" lang="en-US" altLang="zh-TW" sz="2800" b="1" kern="0" dirty="0" err="1" smtClean="0">
                <a:solidFill>
                  <a:srgbClr val="696464"/>
                </a:solidFill>
                <a:latin typeface="Franklin Gothic Book"/>
              </a:rPr>
              <a:t>seudo</a:t>
            </a:r>
            <a:r>
              <a:rPr kumimoji="0" lang="en-US" altLang="zh-TW" sz="2800" b="1" kern="0" dirty="0" smtClean="0">
                <a:solidFill>
                  <a:srgbClr val="696464"/>
                </a:solidFill>
                <a:latin typeface="Franklin Gothic Book"/>
              </a:rPr>
              <a:t> Code for </a:t>
            </a: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Ricart and </a:t>
            </a:r>
            <a:r>
              <a:rPr kumimoji="0" lang="en-US" altLang="zh-TW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Agrawala</a:t>
            </a:r>
            <a:r>
              <a:rPr kumimoji="0" lang="en-US" altLang="zh-TW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kumimoji="0" lang="en-US" altLang="zh-TW" sz="28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s</a:t>
            </a: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 DME Algorithm</a:t>
            </a:r>
            <a:endParaRPr kumimoji="0" lang="zh-TW" altLang="en-US" sz="2800" b="1" i="0" u="none" strike="noStrike" kern="0" cap="none" spc="0" normalizeH="0" baseline="0" noProof="0" dirty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1246832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27794"/>
            <a:ext cx="7772400" cy="1012974"/>
          </a:xfrm>
        </p:spPr>
        <p:txBody>
          <a:bodyPr/>
          <a:lstStyle/>
          <a:p>
            <a:pPr algn="ctr"/>
            <a:r>
              <a:rPr lang="en-US" altLang="zh-TW" dirty="0" smtClean="0"/>
              <a:t>Properties </a:t>
            </a:r>
            <a:r>
              <a:rPr lang="en-US" altLang="zh-TW" dirty="0"/>
              <a:t>of </a:t>
            </a:r>
            <a:r>
              <a:rPr lang="en-US" altLang="zh-TW" dirty="0" smtClean="0"/>
              <a:t>the </a:t>
            </a:r>
            <a:r>
              <a:rPr lang="en-US" altLang="zh-TW" dirty="0" err="1" smtClean="0"/>
              <a:t>Ricart</a:t>
            </a:r>
            <a:r>
              <a:rPr lang="en-US" altLang="zh-TW" dirty="0" err="1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err="1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519808"/>
            <a:ext cx="8363272" cy="2053208"/>
          </a:xfrm>
        </p:spPr>
        <p:txBody>
          <a:bodyPr/>
          <a:lstStyle/>
          <a:p>
            <a:r>
              <a:rPr lang="en-US" altLang="zh-TW" dirty="0"/>
              <a:t>Entering the CS takes 2(N-1) messages.</a:t>
            </a:r>
          </a:p>
          <a:p>
            <a:pPr lvl="1"/>
            <a:r>
              <a:rPr lang="en-US" altLang="zh-TW" dirty="0"/>
              <a:t> </a:t>
            </a:r>
            <a:r>
              <a:rPr lang="en-US" altLang="zh-TW" dirty="0" smtClean="0"/>
              <a:t>(</a:t>
            </a:r>
            <a:r>
              <a:rPr lang="en-US" altLang="zh-TW" dirty="0"/>
              <a:t>N-1) messages for request and (N-1) messages for reply. </a:t>
            </a:r>
          </a:p>
          <a:p>
            <a:r>
              <a:rPr lang="en-US" altLang="zh-TW" dirty="0"/>
              <a:t>Exiting the CS requires no message.</a:t>
            </a:r>
          </a:p>
          <a:p>
            <a:r>
              <a:rPr lang="en-US" altLang="zh-TW" dirty="0" smtClean="0"/>
              <a:t>All </a:t>
            </a:r>
            <a:r>
              <a:rPr lang="en-US" altLang="zh-TW" dirty="0"/>
              <a:t>three requirements </a:t>
            </a:r>
            <a:r>
              <a:rPr lang="en-US" altLang="zh-TW" dirty="0" smtClean="0"/>
              <a:t>of ME1</a:t>
            </a:r>
            <a:r>
              <a:rPr lang="en-US" altLang="zh-TW" dirty="0"/>
              <a:t>, ME2, and </a:t>
            </a:r>
            <a:r>
              <a:rPr lang="en-US" altLang="zh-TW" dirty="0" smtClean="0"/>
              <a:t>ME3 are met.</a:t>
            </a:r>
            <a:endParaRPr lang="en-US" altLang="zh-TW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3645024"/>
            <a:ext cx="8541962" cy="2880320"/>
          </a:xfrm>
          <a:prstGeom prst="rect">
            <a:avLst/>
          </a:prstGeom>
        </p:spPr>
      </p:pic>
      <p:sp>
        <p:nvSpPr>
          <p:cNvPr id="5" name="文字方塊 4"/>
          <p:cNvSpPr txBox="1"/>
          <p:nvPr/>
        </p:nvSpPr>
        <p:spPr>
          <a:xfrm>
            <a:off x="3635896" y="3789040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0</a:t>
            </a:r>
            <a:r>
              <a:rPr lang="en-US" altLang="zh-TW" dirty="0" smtClean="0"/>
              <a:t> enters CS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415808" y="5713259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</a:t>
            </a:r>
            <a:r>
              <a:rPr lang="en-US" altLang="zh-TW" baseline="-25000" dirty="0"/>
              <a:t>2</a:t>
            </a:r>
            <a:r>
              <a:rPr lang="en-US" altLang="zh-TW" dirty="0" smtClean="0"/>
              <a:t> enters CS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62135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The </a:t>
            </a:r>
            <a:r>
              <a:rPr lang="en-US" altLang="zh-TW" dirty="0" smtClean="0"/>
              <a:t>Maekawa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DME </a:t>
            </a:r>
            <a:r>
              <a:rPr lang="en-US" altLang="zh-TW" dirty="0" smtClean="0"/>
              <a:t>Algorithm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84784"/>
            <a:ext cx="8784976" cy="5221560"/>
          </a:xfrm>
        </p:spPr>
        <p:txBody>
          <a:bodyPr/>
          <a:lstStyle/>
          <a:p>
            <a:r>
              <a:rPr lang="en-US" altLang="zh-TW" dirty="0" err="1"/>
              <a:t>Maekawa</a:t>
            </a:r>
            <a:r>
              <a:rPr lang="en-US" altLang="zh-TW" dirty="0"/>
              <a:t> observed that in order for a process to enter a CS, it is not necessary for all of its peers to grant </a:t>
            </a:r>
            <a:r>
              <a:rPr lang="en-US" altLang="zh-TW" dirty="0" smtClean="0"/>
              <a:t>its </a:t>
            </a:r>
            <a:r>
              <a:rPr lang="en-US" altLang="zh-TW" dirty="0"/>
              <a:t>access. </a:t>
            </a:r>
          </a:p>
          <a:p>
            <a:pPr lvl="1"/>
            <a:r>
              <a:rPr lang="en-US" altLang="zh-TW" dirty="0" smtClean="0"/>
              <a:t>Processes can vote </a:t>
            </a:r>
            <a:r>
              <a:rPr lang="en-US" altLang="zh-TW" dirty="0"/>
              <a:t>for </a:t>
            </a:r>
            <a:r>
              <a:rPr lang="en-US" altLang="zh-TW" dirty="0" smtClean="0"/>
              <a:t>each other </a:t>
            </a:r>
            <a:r>
              <a:rPr lang="en-US" altLang="zh-TW" dirty="0"/>
              <a:t>to enter the CS. </a:t>
            </a:r>
          </a:p>
          <a:p>
            <a:pPr lvl="1"/>
            <a:r>
              <a:rPr lang="en-US" altLang="zh-TW" dirty="0"/>
              <a:t>A 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candidate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 </a:t>
            </a:r>
            <a:r>
              <a:rPr lang="en-US" altLang="zh-TW" dirty="0"/>
              <a:t>process must collect sufficient votes to enter the CS.</a:t>
            </a:r>
          </a:p>
          <a:p>
            <a:pPr lvl="1"/>
            <a:r>
              <a:rPr lang="en-US" altLang="zh-TW" dirty="0" smtClean="0"/>
              <a:t>Each process </a:t>
            </a:r>
            <a:r>
              <a:rPr lang="en-US" altLang="zh-TW" dirty="0"/>
              <a:t>must cast </a:t>
            </a:r>
            <a:r>
              <a:rPr lang="en-US" altLang="zh-TW" dirty="0" smtClean="0"/>
              <a:t>its vote to </a:t>
            </a:r>
            <a:r>
              <a:rPr lang="en-US" altLang="zh-TW" dirty="0"/>
              <a:t>only one candidate </a:t>
            </a:r>
            <a:r>
              <a:rPr lang="en-US" altLang="zh-TW" dirty="0" smtClean="0"/>
              <a:t>at a time for ensuring </a:t>
            </a:r>
            <a:r>
              <a:rPr lang="en-US" altLang="zh-TW" dirty="0"/>
              <a:t>that at most one process can enter the CS.</a:t>
            </a:r>
          </a:p>
          <a:p>
            <a:pPr marL="547687" lvl="2" indent="-273050">
              <a:spcBef>
                <a:spcPts val="575"/>
              </a:spcBef>
              <a:buClr>
                <a:schemeClr val="accent1"/>
              </a:buClr>
            </a:pPr>
            <a:r>
              <a:rPr lang="en-US" altLang="zh-TW" dirty="0">
                <a:solidFill>
                  <a:srgbClr val="FF0000"/>
                </a:solidFill>
              </a:rPr>
              <a:t>Majority voting </a:t>
            </a:r>
            <a:r>
              <a:rPr lang="en-US" altLang="zh-TW" dirty="0" smtClean="0"/>
              <a:t>is one simple mechanism of this scheme. 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altLang="zh-TW" dirty="0" smtClean="0"/>
              <a:t>However, the simple majority voting requires at least 3(1+N/2) message for each CS.</a:t>
            </a:r>
          </a:p>
          <a:p>
            <a:pPr marL="547687" lvl="2" indent="-273050">
              <a:spcBef>
                <a:spcPts val="575"/>
              </a:spcBef>
              <a:buClr>
                <a:schemeClr val="accent1"/>
              </a:buClr>
            </a:pPr>
            <a:r>
              <a:rPr lang="en-US" altLang="zh-TW" dirty="0" smtClean="0"/>
              <a:t>Entering CS takes (1+N/2) ~N requests and at least (1+N/2) grants.</a:t>
            </a:r>
          </a:p>
          <a:p>
            <a:pPr marL="547687" lvl="2" indent="-273050">
              <a:spcBef>
                <a:spcPts val="575"/>
              </a:spcBef>
              <a:buClr>
                <a:schemeClr val="accent1"/>
              </a:buClr>
            </a:pPr>
            <a:r>
              <a:rPr lang="en-US" altLang="zh-TW" dirty="0" smtClean="0"/>
              <a:t>Exiting CS takes at least (1+N/2) releases (for releasing grants).</a:t>
            </a:r>
          </a:p>
          <a:p>
            <a:pPr marL="273050" lvl="1" indent="-273050">
              <a:spcBef>
                <a:spcPts val="575"/>
              </a:spcBef>
              <a:buClr>
                <a:schemeClr val="accent1"/>
              </a:buClr>
            </a:pPr>
            <a:r>
              <a:rPr lang="en-US" altLang="zh-TW" dirty="0" smtClean="0"/>
              <a:t>In addition, revoking-grant and re-grant messages may be needed to handle deadlock and starvation.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99722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99802"/>
            <a:ext cx="7772400" cy="1012974"/>
          </a:xfrm>
        </p:spPr>
        <p:txBody>
          <a:bodyPr/>
          <a:lstStyle/>
          <a:p>
            <a:r>
              <a:rPr lang="en-US" altLang="zh-TW" dirty="0"/>
              <a:t>The Maekawa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/>
              <a:t>s DME </a:t>
            </a:r>
            <a:r>
              <a:rPr lang="en-US" altLang="zh-TW" dirty="0" smtClean="0"/>
              <a:t>Algorithm (2)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521296"/>
                <a:ext cx="8640960" cy="4572000"/>
              </a:xfrm>
            </p:spPr>
            <p:txBody>
              <a:bodyPr/>
              <a:lstStyle/>
              <a:p>
                <a:r>
                  <a:rPr lang="en-US" altLang="zh-TW" dirty="0" smtClean="0"/>
                  <a:t>Each </a:t>
                </a:r>
                <a:r>
                  <a:rPr lang="en-US" altLang="zh-TW" dirty="0"/>
                  <a:t>process p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is assigned with </a:t>
                </a:r>
                <a:r>
                  <a:rPr lang="en-US" altLang="zh-TW" dirty="0"/>
                  <a:t>a voting set </a:t>
                </a:r>
                <a:r>
                  <a:rPr lang="en-US" altLang="zh-TW" dirty="0" smtClean="0"/>
                  <a:t>V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, </a:t>
                </a:r>
                <a:r>
                  <a:rPr lang="en-US" altLang="zh-TW" dirty="0" err="1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= 1, 2, …, </a:t>
                </a:r>
                <a:r>
                  <a:rPr lang="en-US" altLang="zh-TW" dirty="0" smtClean="0"/>
                  <a:t>N.</a:t>
                </a:r>
              </a:p>
              <a:p>
                <a:pPr lvl="1"/>
                <a:r>
                  <a:rPr lang="en-US" altLang="zh-TW" dirty="0" smtClean="0"/>
                  <a:t>For all </a:t>
                </a:r>
                <a:r>
                  <a:rPr lang="en-US" altLang="zh-TW" dirty="0"/>
                  <a:t>V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⊆ {p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 p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…, </a:t>
                </a:r>
                <a:r>
                  <a:rPr lang="en-US" altLang="zh-TW" dirty="0" err="1"/>
                  <a:t>p</a:t>
                </a:r>
                <a:r>
                  <a:rPr lang="en-US" altLang="zh-TW" baseline="-25000" dirty="0" err="1"/>
                  <a:t>N</a:t>
                </a:r>
                <a:r>
                  <a:rPr lang="en-US" altLang="zh-TW" dirty="0"/>
                  <a:t>}. </a:t>
                </a:r>
                <a:endParaRPr lang="en-US" altLang="zh-TW" dirty="0" smtClean="0"/>
              </a:p>
              <a:p>
                <a:r>
                  <a:rPr lang="en-US" altLang="zh-TW" dirty="0"/>
                  <a:t>The sets V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are chosen so that, for all </a:t>
                </a:r>
                <a:r>
                  <a:rPr lang="en-US" altLang="zh-TW" dirty="0" err="1"/>
                  <a:t>i</a:t>
                </a:r>
                <a:r>
                  <a:rPr lang="en-US" altLang="zh-TW" dirty="0"/>
                  <a:t>, j = 1, 2, …, </a:t>
                </a:r>
                <a:r>
                  <a:rPr lang="en-US" altLang="zh-TW" dirty="0" smtClean="0"/>
                  <a:t>N, </a:t>
                </a:r>
              </a:p>
              <a:p>
                <a:pPr lvl="1"/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∈ V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</a:t>
                </a:r>
              </a:p>
              <a:p>
                <a:pPr lvl="1"/>
                <a:r>
                  <a:rPr lang="en-US" altLang="zh-TW" dirty="0"/>
                  <a:t>V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 ∩ </a:t>
                </a:r>
                <a:r>
                  <a:rPr lang="en-US" altLang="zh-TW" dirty="0" err="1"/>
                  <a:t>V</a:t>
                </a:r>
                <a:r>
                  <a:rPr lang="en-US" altLang="zh-TW" baseline="-25000" dirty="0" err="1"/>
                  <a:t>j</a:t>
                </a:r>
                <a:r>
                  <a:rPr lang="en-US" altLang="zh-TW" dirty="0"/>
                  <a:t> </a:t>
                </a:r>
                <a:r>
                  <a:rPr lang="en-US" altLang="zh-TW" dirty="0" smtClean="0"/>
                  <a:t>≠∅ </a:t>
                </a:r>
              </a:p>
              <a:p>
                <a:pPr lvl="1"/>
                <a:r>
                  <a:rPr lang="en-US" altLang="zh-TW" dirty="0" smtClean="0"/>
                  <a:t>|</a:t>
                </a:r>
                <a:r>
                  <a:rPr lang="en-US" altLang="zh-TW" dirty="0"/>
                  <a:t>V</a:t>
                </a:r>
                <a:r>
                  <a:rPr lang="en-US" altLang="zh-TW" baseline="-25000" dirty="0"/>
                  <a:t>i</a:t>
                </a:r>
                <a:r>
                  <a:rPr lang="en-US" altLang="zh-TW" dirty="0"/>
                  <a:t>|= K, each process has a voting set of the same size of K.</a:t>
                </a:r>
              </a:p>
              <a:p>
                <a:pPr lvl="1"/>
                <a:r>
                  <a:rPr lang="en-US" altLang="zh-TW" dirty="0"/>
                  <a:t>Each process </a:t>
                </a:r>
                <a:r>
                  <a:rPr lang="en-US" altLang="zh-TW" dirty="0" err="1"/>
                  <a:t>p</a:t>
                </a:r>
                <a:r>
                  <a:rPr lang="en-US" altLang="zh-TW" baseline="-25000" dirty="0" err="1"/>
                  <a:t>j</a:t>
                </a:r>
                <a:r>
                  <a:rPr lang="en-US" altLang="zh-TW" dirty="0"/>
                  <a:t> is contained in M voting sets.</a:t>
                </a:r>
              </a:p>
              <a:p>
                <a:r>
                  <a:rPr lang="en-US" altLang="zh-TW" dirty="0"/>
                  <a:t>Maekawa showed that the optimal solution, which minimizes K and allows the processes to achieve mutual exclusion,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b="0" i="0" dirty="0" smtClean="0">
                        <a:latin typeface="Cambria Math" panose="02040503050406030204" pitchFamily="18" charset="0"/>
                      </a:rPr>
                      <m:t>K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~</m:t>
                    </m:r>
                    <m:rad>
                      <m:radPr>
                        <m:degHide m:val="o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zh-TW" altLang="en-US" dirty="0" smtClean="0"/>
                  <a:t> </a:t>
                </a:r>
                <a:r>
                  <a:rPr lang="en-US" altLang="zh-TW" dirty="0"/>
                  <a:t>and M = K.</a:t>
                </a:r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521296"/>
                <a:ext cx="8640960" cy="4572000"/>
              </a:xfrm>
              <a:blipFill>
                <a:blip r:embed="rId2"/>
                <a:stretch>
                  <a:fillRect l="-705" t="-1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0976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/>
          </p:cNvSpPr>
          <p:nvPr/>
        </p:nvSpPr>
        <p:spPr bwMode="auto">
          <a:xfrm>
            <a:off x="179512" y="908720"/>
            <a:ext cx="4752528" cy="56886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39688"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initialization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RELEASED;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FALSE;</a:t>
            </a: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enter the critical section at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b="1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WANTED;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send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all processes in V</a:t>
            </a:r>
            <a:r>
              <a:rPr kumimoji="0" lang="en-US" altLang="zh-TW" sz="2000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Wait until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(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#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of replies received ==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IN-CS;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b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at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</a:p>
          <a:p>
            <a:pPr eaLnBrk="1" hangingPunct="1">
              <a:spcBef>
                <a:spcPts val="500"/>
              </a:spcBef>
            </a:pP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if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== IN-CS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or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== TRUE){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queue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without replying; 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 else {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send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reply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TRUE;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}</a:t>
            </a: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exit the critical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section at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state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RELEASED;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send 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release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all processes in V</a:t>
            </a:r>
            <a:r>
              <a:rPr kumimoji="0" lang="en-US" altLang="zh-TW" sz="2000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</a:p>
          <a:p>
            <a:pPr eaLnBrk="1" hangingPunct="1"/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4427984" y="980728"/>
            <a:ext cx="4680520" cy="2852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39688"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>
              <a:spcBef>
                <a:spcPts val="500"/>
              </a:spcBef>
            </a:pP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release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b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b="1" baseline="-25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if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(queue of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requests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is non-empty){</a:t>
            </a:r>
            <a:endParaRPr kumimoji="0" lang="en-US" altLang="zh-TW" sz="2000" b="1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remove head of queue (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 </a:t>
            </a:r>
          </a:p>
          <a:p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send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reply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TRUE;</a:t>
            </a:r>
          </a:p>
          <a:p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 else { </a:t>
            </a:r>
          </a:p>
          <a:p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FALSE;</a:t>
            </a:r>
          </a:p>
          <a:p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4211960" y="5406315"/>
            <a:ext cx="48245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Only ME1 is satisfied.</a:t>
            </a: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Both ME2 and ME3 are not satisfied. </a:t>
            </a:r>
            <a:endParaRPr lang="zh-TW" altLang="en-US" sz="2400" b="1" dirty="0">
              <a:solidFill>
                <a:prstClr val="black"/>
              </a:solidFill>
              <a:latin typeface="Perpetua" pitchFamily="18" charset="0"/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 bwMode="auto">
          <a:xfrm>
            <a:off x="251520" y="175867"/>
            <a:ext cx="8712968" cy="51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lvl="0" algn="ctr"/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P</a:t>
            </a:r>
            <a:r>
              <a:rPr kumimoji="0" lang="en-US" altLang="zh-TW" sz="2800" b="1" kern="0" dirty="0" err="1" smtClean="0">
                <a:solidFill>
                  <a:srgbClr val="696464"/>
                </a:solidFill>
                <a:latin typeface="Franklin Gothic Book"/>
              </a:rPr>
              <a:t>seudo</a:t>
            </a:r>
            <a:r>
              <a:rPr kumimoji="0" lang="en-US" altLang="zh-TW" sz="2800" b="1" kern="0" dirty="0" smtClean="0">
                <a:solidFill>
                  <a:srgbClr val="696464"/>
                </a:solidFill>
                <a:latin typeface="Franklin Gothic Book"/>
              </a:rPr>
              <a:t> Code </a:t>
            </a:r>
            <a:r>
              <a:rPr kumimoji="0" lang="en-US" altLang="zh-TW" sz="2800" b="1" kern="0" dirty="0">
                <a:solidFill>
                  <a:srgbClr val="696464"/>
                </a:solidFill>
              </a:rPr>
              <a:t>for </a:t>
            </a:r>
            <a:r>
              <a:rPr kumimoji="0" lang="en-US" altLang="zh-TW" sz="2800" b="1" kern="0" dirty="0" smtClean="0">
                <a:solidFill>
                  <a:srgbClr val="696464"/>
                </a:solidFill>
              </a:rPr>
              <a:t>Maekawa's </a:t>
            </a: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DME Algorithm</a:t>
            </a:r>
            <a:endParaRPr kumimoji="0" lang="zh-TW" altLang="en-US" sz="2800" b="1" i="0" u="none" strike="noStrike" kern="0" cap="none" spc="0" normalizeH="0" baseline="0" noProof="0" dirty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3894518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/>
              <a:t>Deadlocks in </a:t>
            </a:r>
            <a:r>
              <a:rPr lang="en-US" altLang="zh-TW" dirty="0" err="1" smtClean="0"/>
              <a:t>Meakawa</a:t>
            </a:r>
            <a:r>
              <a:rPr lang="en-US" altLang="zh-TW" dirty="0" err="1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err="1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Algorithm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35496" y="1412776"/>
                <a:ext cx="9036496" cy="5112568"/>
              </a:xfrm>
            </p:spPr>
            <p:txBody>
              <a:bodyPr/>
              <a:lstStyle/>
              <a:p>
                <a:r>
                  <a:rPr lang="en-US" altLang="zh-TW" dirty="0" smtClean="0"/>
                  <a:t>Consider three processes, p</a:t>
                </a:r>
                <a:r>
                  <a:rPr lang="en-US" altLang="zh-TW" baseline="-25000" dirty="0" smtClean="0"/>
                  <a:t>1</a:t>
                </a:r>
                <a:r>
                  <a:rPr lang="en-US" altLang="zh-TW" dirty="0" smtClean="0"/>
                  <a:t>, </a:t>
                </a:r>
                <a:r>
                  <a:rPr lang="en-US" altLang="zh-TW" dirty="0"/>
                  <a:t>p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and p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, where V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={p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, p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}, V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={p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p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}, and V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={p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, p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}. </a:t>
                </a:r>
              </a:p>
              <a:p>
                <a:pPr lvl="1"/>
                <a:r>
                  <a:rPr lang="en-US" altLang="zh-TW" dirty="0"/>
                  <a:t>If they concurrently request </a:t>
                </a:r>
                <a:r>
                  <a:rPr lang="en-US" altLang="zh-TW" dirty="0" smtClean="0"/>
                  <a:t>to enter the </a:t>
                </a:r>
                <a:r>
                  <a:rPr lang="en-US" altLang="zh-TW" dirty="0"/>
                  <a:t>CS, then it is possible for p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 to reply to itself and hold off p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, for p</a:t>
                </a:r>
                <a:r>
                  <a:rPr lang="en-US" altLang="zh-TW" baseline="-25000" dirty="0"/>
                  <a:t>2</a:t>
                </a:r>
                <a:r>
                  <a:rPr lang="en-US" altLang="zh-TW" dirty="0"/>
                  <a:t> to reply to itself and hold off p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, and for p</a:t>
                </a:r>
                <a:r>
                  <a:rPr lang="en-US" altLang="zh-TW" baseline="-25000" dirty="0"/>
                  <a:t>3</a:t>
                </a:r>
                <a:r>
                  <a:rPr lang="en-US" altLang="zh-TW" dirty="0"/>
                  <a:t> to reply to itself and hold off p</a:t>
                </a:r>
                <a:r>
                  <a:rPr lang="en-US" altLang="zh-TW" baseline="-25000" dirty="0"/>
                  <a:t>1</a:t>
                </a:r>
                <a:r>
                  <a:rPr lang="en-US" altLang="zh-TW" dirty="0"/>
                  <a:t>. </a:t>
                </a:r>
              </a:p>
              <a:p>
                <a:pPr lvl="1"/>
                <a:r>
                  <a:rPr lang="en-US" altLang="zh-TW" dirty="0"/>
                  <a:t>Each process has received </a:t>
                </a:r>
                <a:r>
                  <a:rPr lang="en-US" altLang="zh-TW" dirty="0" smtClean="0"/>
                  <a:t>only one replies </a:t>
                </a:r>
                <a:r>
                  <a:rPr lang="en-US" altLang="zh-TW" dirty="0"/>
                  <a:t>and none can proceed.</a:t>
                </a:r>
              </a:p>
              <a:p>
                <a:r>
                  <a:rPr lang="en-US" altLang="zh-TW" dirty="0"/>
                  <a:t>Later </a:t>
                </a:r>
                <a:r>
                  <a:rPr lang="en-US" altLang="zh-TW" dirty="0" smtClean="0"/>
                  <a:t>Sanders adjusted the </a:t>
                </a:r>
                <a:r>
                  <a:rPr lang="en-US" altLang="zh-TW" dirty="0"/>
                  <a:t>algorithm </a:t>
                </a:r>
                <a:r>
                  <a:rPr lang="en-US" altLang="zh-TW" dirty="0" smtClean="0"/>
                  <a:t>to become </a:t>
                </a:r>
                <a:r>
                  <a:rPr lang="en-US" altLang="zh-TW" dirty="0"/>
                  <a:t>deadlock-free</a:t>
                </a:r>
                <a:r>
                  <a:rPr lang="en-US" altLang="zh-TW" dirty="0" smtClean="0"/>
                  <a:t>.</a:t>
                </a:r>
              </a:p>
              <a:p>
                <a:pPr lvl="1"/>
                <a:r>
                  <a:rPr lang="en-US" altLang="zh-TW" dirty="0" smtClean="0"/>
                  <a:t>It requires </a:t>
                </a:r>
                <a:r>
                  <a:rPr lang="en-US" altLang="zh-TW" dirty="0"/>
                  <a:t>extra messages to handle deadlocks.</a:t>
                </a:r>
              </a:p>
              <a:p>
                <a:pPr lvl="1"/>
                <a:r>
                  <a:rPr lang="en-US" altLang="zh-TW" dirty="0"/>
                  <a:t>Maximum number of messages required per CS </a:t>
                </a:r>
                <a:r>
                  <a:rPr lang="en-US" altLang="zh-TW" dirty="0" smtClean="0"/>
                  <a:t>is </a:t>
                </a:r>
                <a:r>
                  <a:rPr lang="en-US" altLang="zh-TW" dirty="0"/>
                  <a:t>5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rad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r>
                  <a:rPr lang="en-US" altLang="zh-TW" dirty="0"/>
                  <a:t>To handle deadlocks, processes may change its vote for ensuring </a:t>
                </a:r>
                <a:r>
                  <a:rPr lang="en-US" altLang="zh-TW" dirty="0" smtClean="0"/>
                  <a:t>HB </a:t>
                </a:r>
                <a:r>
                  <a:rPr lang="en-US" altLang="zh-TW" dirty="0"/>
                  <a:t>ordering of entering CS, so that requirement ME3 is also satisfied.</a:t>
                </a:r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496" y="1412776"/>
                <a:ext cx="9036496" cy="5112568"/>
              </a:xfrm>
              <a:blipFill>
                <a:blip r:embed="rId2"/>
                <a:stretch>
                  <a:fillRect l="-675" t="-1074" r="-1822" b="-1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442201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327794"/>
            <a:ext cx="8784976" cy="1012974"/>
          </a:xfrm>
        </p:spPr>
        <p:txBody>
          <a:bodyPr/>
          <a:lstStyle/>
          <a:p>
            <a:pPr algn="ctr"/>
            <a:r>
              <a:rPr lang="en-US" altLang="zh-TW" sz="3600" dirty="0"/>
              <a:t>Deadlock Handling </a:t>
            </a:r>
            <a:r>
              <a:rPr lang="en-US" altLang="zh-TW" sz="3600" dirty="0" smtClean="0"/>
              <a:t>in </a:t>
            </a:r>
            <a:r>
              <a:rPr lang="en-US" altLang="zh-TW" sz="3600" dirty="0" err="1"/>
              <a:t>Meakawa</a:t>
            </a:r>
            <a:r>
              <a:rPr lang="en-US" altLang="zh-TW" sz="3600" dirty="0" err="1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sz="3600" dirty="0" err="1"/>
              <a:t>s</a:t>
            </a:r>
            <a:r>
              <a:rPr lang="en-US" altLang="zh-TW" sz="3600" dirty="0"/>
              <a:t> Algorithm</a:t>
            </a:r>
            <a:r>
              <a:rPr lang="en-US" altLang="zh-TW" sz="3600" dirty="0" smtClean="0"/>
              <a:t> 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340768"/>
            <a:ext cx="9144000" cy="5400600"/>
          </a:xfrm>
        </p:spPr>
        <p:txBody>
          <a:bodyPr/>
          <a:lstStyle/>
          <a:p>
            <a:r>
              <a:rPr lang="en-US" altLang="zh-TW" dirty="0" smtClean="0"/>
              <a:t>To avoid deadlock, a </a:t>
            </a:r>
            <a:r>
              <a:rPr lang="en-US" altLang="zh-TW" dirty="0"/>
              <a:t>process </a:t>
            </a:r>
            <a:r>
              <a:rPr lang="en-US" altLang="zh-TW" dirty="0" smtClean="0"/>
              <a:t>p needs to </a:t>
            </a:r>
            <a:r>
              <a:rPr lang="en-US" altLang="zh-TW" dirty="0">
                <a:solidFill>
                  <a:srgbClr val="FF0000"/>
                </a:solidFill>
              </a:rPr>
              <a:t>yield a vote </a:t>
            </a:r>
            <a:r>
              <a:rPr lang="en-US" altLang="zh-TW" dirty="0"/>
              <a:t>if the timestamp of </a:t>
            </a:r>
            <a:r>
              <a:rPr lang="en-US" altLang="zh-TW" dirty="0" smtClean="0"/>
              <a:t>p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request is larger than the timestamp of some other requests waiting for the same vote.</a:t>
            </a:r>
          </a:p>
          <a:p>
            <a:r>
              <a:rPr lang="en-US" altLang="zh-TW" dirty="0"/>
              <a:t>When a higher priority request arrives and waits at a process </a:t>
            </a:r>
            <a:r>
              <a:rPr lang="en-US" altLang="zh-TW" dirty="0" smtClean="0"/>
              <a:t>p,</a:t>
            </a:r>
          </a:p>
          <a:p>
            <a:pPr lvl="1"/>
            <a:r>
              <a:rPr lang="en-US" altLang="zh-TW" dirty="0" smtClean="0"/>
              <a:t>If p </a:t>
            </a:r>
            <a:r>
              <a:rPr lang="en-US" altLang="zh-TW" dirty="0"/>
              <a:t>has sent a REPLY message to a lower priority request, a deadlock may </a:t>
            </a:r>
            <a:r>
              <a:rPr lang="en-US" altLang="zh-TW" dirty="0" smtClean="0"/>
              <a:t>occur.</a:t>
            </a:r>
            <a:endParaRPr lang="en-US" altLang="zh-TW" dirty="0"/>
          </a:p>
          <a:p>
            <a:r>
              <a:rPr lang="en-US" altLang="zh-TW" dirty="0"/>
              <a:t>Deadlock handling requires three extra types of messages:</a:t>
            </a:r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FAILED</a:t>
            </a:r>
            <a:r>
              <a:rPr lang="en-US" altLang="zh-TW" dirty="0"/>
              <a:t> message from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indicates that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can not grant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/>
              <a:t> </a:t>
            </a:r>
            <a:r>
              <a:rPr lang="en-US" altLang="zh-TW" dirty="0" smtClean="0"/>
              <a:t>a vote </a:t>
            </a:r>
            <a:r>
              <a:rPr lang="en-US" altLang="zh-TW" dirty="0"/>
              <a:t>because it has </a:t>
            </a:r>
            <a:r>
              <a:rPr lang="en-US" altLang="zh-TW" dirty="0" smtClean="0"/>
              <a:t>voted </a:t>
            </a:r>
            <a:r>
              <a:rPr lang="en-US" altLang="zh-TW" dirty="0"/>
              <a:t>to a process with a higher priority request.</a:t>
            </a:r>
          </a:p>
          <a:p>
            <a:pPr lvl="1"/>
            <a:r>
              <a:rPr lang="en-US" altLang="zh-TW" dirty="0" smtClean="0"/>
              <a:t>An </a:t>
            </a:r>
            <a:r>
              <a:rPr lang="en-US" altLang="zh-TW" dirty="0">
                <a:solidFill>
                  <a:srgbClr val="FF0000"/>
                </a:solidFill>
              </a:rPr>
              <a:t>INQUIRE</a:t>
            </a:r>
            <a:r>
              <a:rPr lang="en-US" altLang="zh-TW" dirty="0"/>
              <a:t> message from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indicates that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would like to find out from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if it has all votes from processes in </a:t>
            </a:r>
            <a:r>
              <a:rPr lang="en-US" altLang="zh-TW" dirty="0" err="1" smtClean="0"/>
              <a:t>V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pPr lvl="1"/>
            <a:r>
              <a:rPr lang="en-US" altLang="zh-TW" dirty="0" smtClean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YIELD</a:t>
            </a:r>
            <a:r>
              <a:rPr lang="en-US" altLang="zh-TW" dirty="0"/>
              <a:t> message from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to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indicates that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is returning the vote to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for yielding </a:t>
            </a:r>
            <a:r>
              <a:rPr lang="en-US" altLang="zh-TW" dirty="0"/>
              <a:t>to a higher priority request at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503819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/>
          </p:cNvSpPr>
          <p:nvPr/>
        </p:nvSpPr>
        <p:spPr bwMode="auto">
          <a:xfrm>
            <a:off x="1403648" y="620688"/>
            <a:ext cx="6192688" cy="6048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39688"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initialization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RELEASED;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</a:t>
            </a:r>
            <a:r>
              <a:rPr lang="en-US" altLang="zh-TW" sz="2000" dirty="0">
                <a:solidFill>
                  <a:srgbClr val="FF0000"/>
                </a:solidFill>
              </a:rPr>
              <a:t>∅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replied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</a:t>
            </a:r>
            <a:r>
              <a:rPr lang="en-US" altLang="zh-TW" sz="2000" dirty="0">
                <a:solidFill>
                  <a:srgbClr val="FF0000"/>
                </a:solidFill>
              </a:rPr>
              <a:t>∅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FALSE;  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voted-to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(</a:t>
            </a:r>
            <a:r>
              <a:rPr kumimoji="0" lang="en-US" altLang="zh-TW" sz="2000" dirty="0" smtClean="0">
                <a:solidFill>
                  <a:srgbClr val="FF0000"/>
                </a:solidFill>
                <a:latin typeface="新細明體" panose="02020500000000000000" pitchFamily="18" charset="-120"/>
                <a:cs typeface="Times" panose="02020603050405020304" pitchFamily="18" charset="0"/>
                <a:sym typeface="Times" panose="02020603050405020304" pitchFamily="18" charset="0"/>
              </a:rPr>
              <a:t>∞,∞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</a:t>
            </a: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enter the critical section at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b="1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WANTED;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send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request(L</a:t>
            </a:r>
            <a:r>
              <a:rPr kumimoji="0" lang="en-US" altLang="zh-TW" sz="2000" baseline="-25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all processes in V</a:t>
            </a:r>
            <a:r>
              <a:rPr kumimoji="0" lang="en-US" altLang="zh-TW" sz="2000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w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ait until (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replied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== |V</a:t>
            </a:r>
            <a:r>
              <a:rPr kumimoji="0" lang="en-US" altLang="zh-TW" sz="2000" baseline="-25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|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</a:t>
            </a:r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IN-CS;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request(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j)</a:t>
            </a:r>
            <a:r>
              <a:rPr kumimoji="0" lang="en-US" altLang="zh-TW" sz="2000" b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from </a:t>
            </a:r>
            <a:r>
              <a:rPr kumimoji="0" lang="en-US" altLang="zh-TW" sz="2000" b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at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</a:p>
          <a:p>
            <a:pPr eaLnBrk="1" hangingPunct="1">
              <a:spcBef>
                <a:spcPts val="500"/>
              </a:spcBef>
            </a:pP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if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== IN-CS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or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== TRUE){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queue 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request(</a:t>
            </a:r>
            <a:r>
              <a:rPr kumimoji="0" lang="en-US" altLang="zh-TW" sz="2000" dirty="0" err="1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j)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in proper position;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if (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dirty="0" err="1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j)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&lt;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voted-to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send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INQUIRE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where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voted-to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is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,k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else 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send </a:t>
            </a:r>
            <a:r>
              <a:rPr kumimoji="0" lang="en-US" altLang="zh-TW" sz="2000" i="1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 else {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	send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reply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TRUE;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voted-to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(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</a:t>
            </a:r>
            <a:endParaRPr kumimoji="0" lang="en-US" altLang="zh-TW" sz="2000" dirty="0">
              <a:solidFill>
                <a:srgbClr val="FF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}</a:t>
            </a:r>
          </a:p>
          <a:p>
            <a:pPr eaLnBrk="1" hangingPunct="1"/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</p:txBody>
      </p:sp>
      <p:sp>
        <p:nvSpPr>
          <p:cNvPr id="8" name="標題 1"/>
          <p:cNvSpPr txBox="1">
            <a:spLocks/>
          </p:cNvSpPr>
          <p:nvPr/>
        </p:nvSpPr>
        <p:spPr bwMode="auto">
          <a:xfrm>
            <a:off x="251520" y="116632"/>
            <a:ext cx="8712968" cy="51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lvl="0" algn="ctr"/>
            <a:r>
              <a:rPr kumimoji="0" lang="en-US" altLang="zh-TW" sz="2800" b="1" kern="0" dirty="0" smtClean="0">
                <a:solidFill>
                  <a:srgbClr val="696464"/>
                </a:solidFill>
              </a:rPr>
              <a:t>Deadlock </a:t>
            </a:r>
            <a:r>
              <a:rPr kumimoji="0" lang="en-US" altLang="zh-TW" sz="2800" b="1" kern="0" dirty="0">
                <a:solidFill>
                  <a:srgbClr val="696464"/>
                </a:solidFill>
              </a:rPr>
              <a:t>F</a:t>
            </a:r>
            <a:r>
              <a:rPr kumimoji="0" lang="en-US" altLang="zh-TW" sz="2800" b="1" kern="0" dirty="0" smtClean="0">
                <a:solidFill>
                  <a:srgbClr val="696464"/>
                </a:solidFill>
              </a:rPr>
              <a:t>ree Maekawa's </a:t>
            </a: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DME Algorithm (1)</a:t>
            </a:r>
            <a:endParaRPr kumimoji="0" lang="zh-TW" altLang="en-US" sz="2800" b="1" i="0" u="none" strike="noStrike" kern="0" cap="none" spc="0" normalizeH="0" baseline="0" noProof="0" dirty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1759008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5"/>
          <p:cNvSpPr>
            <a:spLocks/>
          </p:cNvSpPr>
          <p:nvPr/>
        </p:nvSpPr>
        <p:spPr bwMode="auto">
          <a:xfrm>
            <a:off x="179512" y="764703"/>
            <a:ext cx="5184576" cy="5872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39688"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/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reply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from </a:t>
            </a:r>
            <a:r>
              <a:rPr kumimoji="0" lang="en-US" altLang="zh-TW" sz="2000" b="1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at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b="1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replied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replied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新細明體" panose="02020500000000000000" pitchFamily="18" charset="-120"/>
                <a:cs typeface="Times" panose="02020603050405020304" pitchFamily="18" charset="0"/>
                <a:sym typeface="Times" panose="02020603050405020304" pitchFamily="18" charset="0"/>
              </a:rPr>
              <a:t>∪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{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– {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};</a:t>
            </a: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b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at p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新細明體" panose="02020500000000000000" pitchFamily="18" charset="-120"/>
                <a:cs typeface="Times" panose="02020603050405020304" pitchFamily="18" charset="0"/>
                <a:sym typeface="Times" panose="02020603050405020304" pitchFamily="18" charset="0"/>
              </a:rPr>
              <a:t>∪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{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};</a:t>
            </a: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INQUIRE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b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at p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if ( 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 </a:t>
            </a:r>
            <a:r>
              <a:rPr kumimoji="0" lang="en-US" altLang="zh-TW" sz="2000" dirty="0" smtClean="0">
                <a:solidFill>
                  <a:srgbClr val="FF0000"/>
                </a:solidFill>
                <a:latin typeface="新細明體" panose="02020500000000000000" pitchFamily="18" charset="-120"/>
                <a:cs typeface="Times" panose="02020603050405020304" pitchFamily="18" charset="0"/>
                <a:sym typeface="Times" panose="02020603050405020304" pitchFamily="18" charset="0"/>
              </a:rPr>
              <a:t>≠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lang="en-US" altLang="zh-TW" sz="2000" dirty="0" smtClean="0">
                <a:solidFill>
                  <a:srgbClr val="FF0000"/>
                </a:solidFill>
              </a:rPr>
              <a:t>∅</a:t>
            </a:r>
            <a:r>
              <a:rPr lang="en-US" altLang="zh-TW" sz="2000" dirty="0" smtClean="0"/>
              <a:t>)</a:t>
            </a:r>
            <a:r>
              <a:rPr lang="en-US" altLang="zh-TW" sz="2000" dirty="0" smtClean="0">
                <a:solidFill>
                  <a:srgbClr val="FF0000"/>
                </a:solidFill>
              </a:rPr>
              <a:t> </a:t>
            </a:r>
            <a:r>
              <a:rPr lang="en-US" altLang="zh-TW" sz="2000" dirty="0" smtClean="0"/>
              <a:t>or (</a:t>
            </a:r>
            <a:r>
              <a:rPr lang="en-US" altLang="zh-TW" sz="2000" dirty="0" smtClean="0">
                <a:solidFill>
                  <a:srgbClr val="FF0000"/>
                </a:solidFill>
              </a:rPr>
              <a:t>state </a:t>
            </a:r>
            <a:r>
              <a:rPr lang="en-US" altLang="zh-TW" sz="2000" dirty="0" smtClean="0">
                <a:solidFill>
                  <a:srgbClr val="FF0000"/>
                </a:solidFill>
                <a:latin typeface="新細明體" panose="02020500000000000000" pitchFamily="18" charset="-120"/>
              </a:rPr>
              <a:t>≠ </a:t>
            </a:r>
            <a:r>
              <a:rPr lang="en-US" altLang="zh-TW" sz="2000" dirty="0" smtClean="0">
                <a:solidFill>
                  <a:srgbClr val="FF0000"/>
                </a:solidFill>
              </a:rPr>
              <a:t>IN-CS</a:t>
            </a:r>
            <a:r>
              <a:rPr lang="en-US" altLang="zh-TW" sz="2000" dirty="0" smtClean="0"/>
              <a:t>) ){</a:t>
            </a:r>
          </a:p>
          <a:p>
            <a:pPr eaLnBrk="1" hangingPunct="1"/>
            <a:r>
              <a:rPr kumimoji="0" lang="en-US" altLang="zh-TW" sz="2000" dirty="0"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      send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YIELD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 smtClean="0"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; </a:t>
            </a:r>
            <a:r>
              <a:rPr kumimoji="0" lang="en-US" altLang="zh-TW" sz="2000" i="1" dirty="0" smtClean="0">
                <a:cs typeface="Times" panose="02020603050405020304" pitchFamily="18" charset="0"/>
                <a:sym typeface="Times" panose="02020603050405020304" pitchFamily="18" charset="0"/>
              </a:rPr>
              <a:t>replied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 := </a:t>
            </a:r>
            <a:r>
              <a:rPr kumimoji="0" lang="en-US" altLang="zh-TW" sz="2000" i="1" dirty="0" smtClean="0">
                <a:cs typeface="Times" panose="02020603050405020304" pitchFamily="18" charset="0"/>
                <a:sym typeface="Times" panose="02020603050405020304" pitchFamily="18" charset="0"/>
              </a:rPr>
              <a:t>replied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 -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{</a:t>
            </a:r>
            <a:r>
              <a:rPr kumimoji="0" lang="en-US" altLang="zh-TW" sz="2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}; 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failed :=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failed ∪{</a:t>
            </a:r>
            <a:r>
              <a:rPr kumimoji="0" lang="en-US" altLang="zh-TW" sz="2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};</a:t>
            </a:r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}</a:t>
            </a: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YIELD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b="1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at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queue 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request(</a:t>
            </a:r>
            <a:r>
              <a:rPr kumimoji="0" lang="en-US" altLang="zh-TW" sz="2000" dirty="0" err="1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j)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in proper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position;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//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where 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voted-to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is (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j)  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remove head of queue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(L</a:t>
            </a:r>
            <a:r>
              <a:rPr kumimoji="0" lang="en-US" altLang="zh-TW" sz="2000" baseline="-25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k)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send 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reply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TRUE; </a:t>
            </a:r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voted-to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:= (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k);</a:t>
            </a:r>
            <a:endParaRPr kumimoji="0" lang="en-US" altLang="zh-TW" sz="2000" dirty="0">
              <a:solidFill>
                <a:srgbClr val="FF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exit the critical section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state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RELEASED;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send </a:t>
            </a:r>
            <a:r>
              <a:rPr kumimoji="0" lang="en-US" altLang="zh-TW" sz="2000" i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release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to all processes in V</a:t>
            </a:r>
            <a:r>
              <a:rPr kumimoji="0" lang="en-US" altLang="zh-TW" sz="2000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644008" y="3497520"/>
            <a:ext cx="432048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500"/>
              </a:spcBef>
            </a:pP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On receipt of a </a:t>
            </a:r>
            <a:r>
              <a:rPr kumimoji="0" lang="en-US" altLang="zh-TW" sz="2000" b="1" i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release</a:t>
            </a: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from </a:t>
            </a:r>
            <a:r>
              <a:rPr kumimoji="0" lang="en-US" altLang="zh-TW" sz="2000" b="1" dirty="0" err="1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 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if (queue of requests is non-empty){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    remove 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head of queue </a:t>
            </a:r>
            <a:r>
              <a:rPr kumimoji="0" lang="en-US" altLang="zh-TW" sz="20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(L</a:t>
            </a:r>
            <a:r>
              <a:rPr kumimoji="0" lang="en-US" altLang="zh-TW" sz="2000" baseline="-250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, k); 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    send </a:t>
            </a:r>
            <a:r>
              <a:rPr kumimoji="0" lang="en-US" altLang="zh-TW" sz="2000" i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reply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to </a:t>
            </a:r>
            <a:r>
              <a:rPr kumimoji="0" lang="en-US" altLang="zh-TW" sz="2000" dirty="0" err="1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;  </a:t>
            </a:r>
            <a:endParaRPr kumimoji="0" lang="en-US" altLang="zh-TW" sz="2000" dirty="0" smtClean="0">
              <a:solidFill>
                <a:srgbClr val="000000"/>
              </a:solidFill>
              <a:latin typeface="Times" panose="02020603050405020304" pitchFamily="18" charset="0"/>
              <a:cs typeface="Times" panose="02020603050405020304" pitchFamily="18" charset="0"/>
              <a:sym typeface="Times" panose="02020603050405020304" pitchFamily="18" charset="0"/>
            </a:endParaRP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    </a:t>
            </a:r>
            <a:r>
              <a:rPr kumimoji="0" lang="en-US" altLang="zh-TW" sz="2000" i="1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:= TRUE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     </a:t>
            </a:r>
            <a:r>
              <a:rPr kumimoji="0" lang="en-US" altLang="zh-TW" sz="2000" i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voted-to </a:t>
            </a:r>
            <a:r>
              <a:rPr kumimoji="0" lang="en-US" altLang="zh-TW" sz="20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:= (</a:t>
            </a:r>
            <a:r>
              <a:rPr kumimoji="0" lang="en-US" altLang="zh-TW" sz="2000" dirty="0" smtClean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L</a:t>
            </a:r>
            <a:r>
              <a:rPr kumimoji="0" lang="en-US" altLang="zh-TW" sz="2000" baseline="-25000" dirty="0" smtClean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, k);</a:t>
            </a:r>
            <a:endParaRPr kumimoji="0" lang="en-US" altLang="zh-TW" sz="2000" dirty="0">
              <a:solidFill>
                <a:srgbClr val="FF0000"/>
              </a:solidFill>
              <a:latin typeface="Times" panose="02020603050405020304" pitchFamily="18" charset="0"/>
              <a:cs typeface="Times" panose="02020603050405020304" pitchFamily="18" charset="0"/>
              <a:sym typeface="Times" panose="02020603050405020304" pitchFamily="18" charset="0"/>
            </a:endParaRP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} 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else { 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     </a:t>
            </a:r>
            <a:r>
              <a:rPr kumimoji="0" lang="en-US" altLang="zh-TW" sz="2000" i="1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voted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:= FALSE;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  }</a:t>
            </a:r>
            <a:endParaRPr kumimoji="0" lang="en-US" altLang="zh-TW" sz="2000" dirty="0">
              <a:solidFill>
                <a:srgbClr val="000000"/>
              </a:solidFill>
              <a:latin typeface="Times" panose="02020603050405020304" pitchFamily="18" charset="0"/>
              <a:cs typeface="Times" panose="02020603050405020304" pitchFamily="18" charset="0"/>
              <a:sym typeface="Times" panose="02020603050405020304" pitchFamily="18" charset="0"/>
            </a:endParaRPr>
          </a:p>
          <a:p>
            <a:endParaRPr lang="zh-TW" altLang="en-US" dirty="0"/>
          </a:p>
        </p:txBody>
      </p:sp>
      <p:sp>
        <p:nvSpPr>
          <p:cNvPr id="6" name="標題 1"/>
          <p:cNvSpPr txBox="1">
            <a:spLocks/>
          </p:cNvSpPr>
          <p:nvPr/>
        </p:nvSpPr>
        <p:spPr bwMode="auto">
          <a:xfrm>
            <a:off x="251520" y="116632"/>
            <a:ext cx="8712968" cy="51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lvl="0" algn="ctr"/>
            <a:r>
              <a:rPr kumimoji="0" lang="en-US" altLang="zh-TW" sz="2800" b="1" kern="0" dirty="0" smtClean="0">
                <a:solidFill>
                  <a:srgbClr val="696464"/>
                </a:solidFill>
              </a:rPr>
              <a:t>Deadlock </a:t>
            </a:r>
            <a:r>
              <a:rPr kumimoji="0" lang="en-US" altLang="zh-TW" sz="2800" b="1" kern="0" dirty="0">
                <a:solidFill>
                  <a:srgbClr val="696464"/>
                </a:solidFill>
              </a:rPr>
              <a:t>F</a:t>
            </a:r>
            <a:r>
              <a:rPr kumimoji="0" lang="en-US" altLang="zh-TW" sz="2800" b="1" kern="0" dirty="0" smtClean="0">
                <a:solidFill>
                  <a:srgbClr val="696464"/>
                </a:solidFill>
              </a:rPr>
              <a:t>ree Maekawa's </a:t>
            </a:r>
            <a:r>
              <a:rPr kumimoji="0" lang="en-US" altLang="zh-TW" sz="28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DME Algorithm (2)</a:t>
            </a:r>
            <a:endParaRPr kumimoji="0" lang="zh-TW" altLang="en-US" sz="2800" b="1" i="0" u="none" strike="noStrike" kern="0" cap="none" spc="0" normalizeH="0" baseline="0" noProof="0" dirty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31428753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/>
          <p:cNvSpPr txBox="1"/>
          <p:nvPr/>
        </p:nvSpPr>
        <p:spPr>
          <a:xfrm>
            <a:off x="899592" y="2348880"/>
            <a:ext cx="20162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TW" sz="2400" b="1" dirty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1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1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2, 3}</a:t>
            </a: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2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2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4, 6}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3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3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5, 6}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4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4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1, 5}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5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5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</a:t>
            </a:r>
            <a:r>
              <a:rPr lang="en-US" altLang="zh-TW" sz="2400" b="1" dirty="0">
                <a:solidFill>
                  <a:prstClr val="black"/>
                </a:solidFill>
                <a:latin typeface="Perpetua" pitchFamily="18" charset="0"/>
              </a:rPr>
              <a:t>2, 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7}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6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6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1, 7}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7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7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3, 4}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endParaRPr lang="zh-TW" altLang="en-US" sz="2400" b="1" dirty="0">
              <a:solidFill>
                <a:prstClr val="black"/>
              </a:solidFill>
              <a:latin typeface="Perpetua" pitchFamily="18" charset="0"/>
            </a:endParaRPr>
          </a:p>
        </p:txBody>
      </p:sp>
      <p:sp>
        <p:nvSpPr>
          <p:cNvPr id="6" name="文字方塊 5"/>
          <p:cNvSpPr txBox="1"/>
          <p:nvPr/>
        </p:nvSpPr>
        <p:spPr>
          <a:xfrm>
            <a:off x="5148064" y="1506557"/>
            <a:ext cx="2448272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TW" sz="2400" b="1" dirty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1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1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2, 3, 4}</a:t>
            </a: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2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2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5, 8 ,11}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3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3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6, 8, 13}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4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4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6, 10, 11}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5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5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1, 6, 7}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6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6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2, 9, 12}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7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7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2, 10, 13}</a:t>
            </a: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8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8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1, 9, 10}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9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9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3, 7, 11}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10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10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3, 5, 12}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11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11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1, 12</a:t>
            </a:r>
            <a:r>
              <a:rPr lang="en-US" altLang="zh-TW" sz="2400" b="1" dirty="0">
                <a:solidFill>
                  <a:prstClr val="black"/>
                </a:solidFill>
                <a:latin typeface="Perpetua" pitchFamily="18" charset="0"/>
              </a:rPr>
              <a:t>, 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13</a:t>
            </a:r>
            <a:r>
              <a:rPr lang="en-US" altLang="zh-TW" sz="2400" b="1" dirty="0">
                <a:solidFill>
                  <a:prstClr val="black"/>
                </a:solidFill>
                <a:latin typeface="Perpetua" pitchFamily="18" charset="0"/>
              </a:rPr>
              <a:t>}</a:t>
            </a: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12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12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4, 7, 8}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  <a:p>
            <a:pPr eaLnBrk="1" hangingPunct="1"/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V</a:t>
            </a:r>
            <a:r>
              <a:rPr lang="en-US" altLang="zh-TW" sz="2400" b="1" baseline="-25000" dirty="0" smtClean="0">
                <a:solidFill>
                  <a:prstClr val="black"/>
                </a:solidFill>
                <a:latin typeface="Perpetua" pitchFamily="18" charset="0"/>
              </a:rPr>
              <a:t>13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={</a:t>
            </a:r>
            <a:r>
              <a:rPr lang="en-US" altLang="zh-TW" sz="2400" b="1" dirty="0" smtClean="0">
                <a:solidFill>
                  <a:srgbClr val="FF0000"/>
                </a:solidFill>
                <a:latin typeface="Perpetua" pitchFamily="18" charset="0"/>
              </a:rPr>
              <a:t>13</a:t>
            </a:r>
            <a:r>
              <a:rPr lang="en-US" altLang="zh-TW" sz="2400" b="1" dirty="0" smtClean="0">
                <a:solidFill>
                  <a:prstClr val="black"/>
                </a:solidFill>
                <a:latin typeface="Perpetua" pitchFamily="18" charset="0"/>
              </a:rPr>
              <a:t>, 4, 5, 9}</a:t>
            </a:r>
            <a:endParaRPr lang="en-US" altLang="zh-TW" sz="2400" b="1" dirty="0">
              <a:solidFill>
                <a:prstClr val="black"/>
              </a:solidFill>
              <a:latin typeface="Perpetua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899592" y="980728"/>
            <a:ext cx="31683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N=K(K-1)+1 is optimal</a:t>
            </a:r>
          </a:p>
          <a:p>
            <a:r>
              <a:rPr lang="en-US" altLang="zh-TW" sz="2000" dirty="0" smtClean="0"/>
              <a:t>N=3*2+1=7</a:t>
            </a:r>
            <a:endParaRPr lang="zh-TW" altLang="en-US" sz="2000" dirty="0"/>
          </a:p>
        </p:txBody>
      </p:sp>
      <p:sp>
        <p:nvSpPr>
          <p:cNvPr id="7" name="文字方塊 6"/>
          <p:cNvSpPr txBox="1"/>
          <p:nvPr/>
        </p:nvSpPr>
        <p:spPr>
          <a:xfrm>
            <a:off x="5148064" y="836712"/>
            <a:ext cx="20162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dirty="0" smtClean="0"/>
              <a:t>N=4*3+1=13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969594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群組 3"/>
          <p:cNvGrpSpPr/>
          <p:nvPr/>
        </p:nvGrpSpPr>
        <p:grpSpPr>
          <a:xfrm>
            <a:off x="107504" y="116632"/>
            <a:ext cx="9073008" cy="6120680"/>
            <a:chOff x="-36512" y="2233"/>
            <a:chExt cx="9073008" cy="6120680"/>
          </a:xfrm>
        </p:grpSpPr>
        <p:sp>
          <p:nvSpPr>
            <p:cNvPr id="5" name="文字方塊 4"/>
            <p:cNvSpPr txBox="1"/>
            <p:nvPr/>
          </p:nvSpPr>
          <p:spPr>
            <a:xfrm>
              <a:off x="35496" y="1763524"/>
              <a:ext cx="34563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2, 3, 4, 5, 9, 13}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6" name="文字方塊 5"/>
            <p:cNvSpPr txBox="1"/>
            <p:nvPr/>
          </p:nvSpPr>
          <p:spPr>
            <a:xfrm>
              <a:off x="35496" y="2175247"/>
              <a:ext cx="367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2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2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3, 4, 6, 10, 14}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7" name="文字方塊 6"/>
            <p:cNvSpPr txBox="1"/>
            <p:nvPr/>
          </p:nvSpPr>
          <p:spPr>
            <a:xfrm>
              <a:off x="4355976" y="1772816"/>
              <a:ext cx="35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3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={1, 2,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3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4, 7, 11, 15}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8" name="文字方塊 7"/>
            <p:cNvSpPr txBox="1"/>
            <p:nvPr/>
          </p:nvSpPr>
          <p:spPr>
            <a:xfrm>
              <a:off x="4355976" y="2175247"/>
              <a:ext cx="3384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4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={1, 2, 3,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4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8, 12, 16}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9" name="文字方塊 8"/>
            <p:cNvSpPr txBox="1"/>
            <p:nvPr/>
          </p:nvSpPr>
          <p:spPr>
            <a:xfrm>
              <a:off x="35496" y="2843644"/>
              <a:ext cx="35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5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5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6, 7, 8, 1, 9, 13}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0" name="文字方塊 9"/>
            <p:cNvSpPr txBox="1"/>
            <p:nvPr/>
          </p:nvSpPr>
          <p:spPr>
            <a:xfrm>
              <a:off x="35496" y="3255367"/>
              <a:ext cx="345638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6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={5,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6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7, 8, 2, 10, 14}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1" name="文字方塊 10"/>
            <p:cNvSpPr txBox="1"/>
            <p:nvPr/>
          </p:nvSpPr>
          <p:spPr>
            <a:xfrm>
              <a:off x="35496" y="4005064"/>
              <a:ext cx="41044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9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 {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9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10, 11, 12, 1, 5, 13}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2" name="文字方塊 11"/>
            <p:cNvSpPr txBox="1"/>
            <p:nvPr/>
          </p:nvSpPr>
          <p:spPr>
            <a:xfrm>
              <a:off x="35496" y="5229200"/>
              <a:ext cx="40324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13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={13, 14, 15, 16, 1, 5, 9}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3" name="文字方塊 12"/>
            <p:cNvSpPr txBox="1"/>
            <p:nvPr/>
          </p:nvSpPr>
          <p:spPr>
            <a:xfrm>
              <a:off x="4427984" y="2843644"/>
              <a:ext cx="3744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7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={5, 6,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7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8, 3, 11, 15}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4" name="文字方塊 13"/>
            <p:cNvSpPr txBox="1"/>
            <p:nvPr/>
          </p:nvSpPr>
          <p:spPr>
            <a:xfrm>
              <a:off x="4427984" y="3255367"/>
              <a:ext cx="3528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8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={5, 6, 7,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8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4, 12, 16}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5" name="文字方塊 14"/>
            <p:cNvSpPr txBox="1"/>
            <p:nvPr/>
          </p:nvSpPr>
          <p:spPr>
            <a:xfrm>
              <a:off x="35496" y="4416787"/>
              <a:ext cx="367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10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={9,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10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11, 12, 2, 6,  14}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6" name="文字方塊 15"/>
            <p:cNvSpPr txBox="1"/>
            <p:nvPr/>
          </p:nvSpPr>
          <p:spPr>
            <a:xfrm>
              <a:off x="4499992" y="4005064"/>
              <a:ext cx="37444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11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={9, 10,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11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12, 3, 7, 15}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4499992" y="4416787"/>
              <a:ext cx="367240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12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={9, 10, 11,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12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4, 8, 16}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8" name="文字方塊 17"/>
            <p:cNvSpPr txBox="1"/>
            <p:nvPr/>
          </p:nvSpPr>
          <p:spPr>
            <a:xfrm>
              <a:off x="35496" y="5631631"/>
              <a:ext cx="396044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14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={13,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14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15, 16, 2, 6, 10}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19" name="文字方塊 18"/>
            <p:cNvSpPr txBox="1"/>
            <p:nvPr/>
          </p:nvSpPr>
          <p:spPr>
            <a:xfrm>
              <a:off x="4499992" y="5229200"/>
              <a:ext cx="388843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15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={13, 14,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15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16, 3, 7, 11}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p:sp>
          <p:nvSpPr>
            <p:cNvPr id="20" name="文字方塊 19"/>
            <p:cNvSpPr txBox="1"/>
            <p:nvPr/>
          </p:nvSpPr>
          <p:spPr>
            <a:xfrm>
              <a:off x="4499992" y="5661248"/>
              <a:ext cx="381642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eaLnBrk="1" hangingPunct="1"/>
              <a:r>
                <a:rPr lang="en-US" altLang="zh-TW" sz="2400" b="1" dirty="0">
                  <a:solidFill>
                    <a:prstClr val="black"/>
                  </a:solidFill>
                  <a:latin typeface="Perpetua" pitchFamily="18" charset="0"/>
                </a:rPr>
                <a:t>V</a:t>
              </a:r>
              <a:r>
                <a:rPr lang="en-US" altLang="zh-TW" sz="2400" b="1" baseline="-25000" dirty="0" smtClean="0">
                  <a:solidFill>
                    <a:prstClr val="black"/>
                  </a:solidFill>
                  <a:latin typeface="Perpetua" pitchFamily="18" charset="0"/>
                </a:rPr>
                <a:t>16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={13, 14, 15, </a:t>
              </a:r>
              <a:r>
                <a:rPr lang="en-US" altLang="zh-TW" sz="2400" b="1" dirty="0" smtClean="0">
                  <a:solidFill>
                    <a:srgbClr val="FF0000"/>
                  </a:solidFill>
                  <a:latin typeface="Perpetua" pitchFamily="18" charset="0"/>
                </a:rPr>
                <a:t>16</a:t>
              </a:r>
              <a:r>
                <a:rPr lang="en-US" altLang="zh-TW" sz="2400" b="1" dirty="0" smtClean="0">
                  <a:solidFill>
                    <a:prstClr val="black"/>
                  </a:solidFill>
                  <a:latin typeface="Perpetua" pitchFamily="18" charset="0"/>
                </a:rPr>
                <a:t>, 4, 8, 12}</a:t>
              </a:r>
              <a:endParaRPr lang="zh-TW" altLang="en-US" sz="2400" b="1" dirty="0">
                <a:solidFill>
                  <a:prstClr val="black"/>
                </a:solidFill>
                <a:latin typeface="Perpetua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字方塊 20"/>
                <p:cNvSpPr txBox="1"/>
                <p:nvPr/>
              </p:nvSpPr>
              <p:spPr>
                <a:xfrm>
                  <a:off x="-36512" y="2233"/>
                  <a:ext cx="9073008" cy="144552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eaLnBrk="1" hangingPunct="1"/>
                  <a:r>
                    <a:rPr lang="en-US" altLang="zh-TW" sz="2800" b="1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N = 4*4 = 16, </a:t>
                  </a:r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Arrange N processes in a 2D matrix. </a:t>
                  </a:r>
                </a:p>
                <a:p>
                  <a:pPr eaLnBrk="1" hangingPunct="1"/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Let V</a:t>
                  </a:r>
                  <a:r>
                    <a:rPr lang="en-US" altLang="zh-TW" sz="2800" baseline="-250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i</a:t>
                  </a:r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 = {hosts in the row of p</a:t>
                  </a:r>
                  <a:r>
                    <a:rPr lang="en-US" altLang="zh-TW" sz="2800" baseline="-250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i</a:t>
                  </a:r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}</a:t>
                  </a:r>
                  <a:r>
                    <a:rPr lang="en-US" altLang="zh-TW" sz="2800" dirty="0" smtClean="0">
                      <a:solidFill>
                        <a:prstClr val="black"/>
                      </a:solidFill>
                      <a:latin typeface="新細明體" panose="02020500000000000000" pitchFamily="18" charset="-120"/>
                    </a:rPr>
                    <a:t>∪</a:t>
                  </a:r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{hosts in the column of p</a:t>
                  </a:r>
                  <a:r>
                    <a:rPr lang="en-US" altLang="zh-TW" sz="2800" baseline="-250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i</a:t>
                  </a:r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}.</a:t>
                  </a:r>
                </a:p>
                <a:p>
                  <a:pPr eaLnBrk="1" hangingPunct="1"/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K=2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TW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</m:rad>
                    </m:oMath>
                  </a14:m>
                  <a:r>
                    <a:rPr lang="en-US" altLang="zh-TW" sz="2800" dirty="0" smtClean="0">
                      <a:solidFill>
                        <a:prstClr val="black"/>
                      </a:solidFill>
                      <a:latin typeface="Perpetua" pitchFamily="18" charset="0"/>
                    </a:rPr>
                    <a:t> - 1</a:t>
                  </a:r>
                  <a:endParaRPr lang="zh-TW" altLang="en-US" sz="2800" dirty="0">
                    <a:solidFill>
                      <a:prstClr val="black"/>
                    </a:solidFill>
                    <a:latin typeface="Perpetua" pitchFamily="18" charset="0"/>
                  </a:endParaRPr>
                </a:p>
              </p:txBody>
            </p:sp>
          </mc:Choice>
          <mc:Fallback xmlns="">
            <p:sp>
              <p:nvSpPr>
                <p:cNvPr id="21" name="文字方塊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6512" y="2233"/>
                  <a:ext cx="9073008" cy="1445524"/>
                </a:xfrm>
                <a:prstGeom prst="rect">
                  <a:avLst/>
                </a:prstGeom>
                <a:blipFill>
                  <a:blip r:embed="rId2"/>
                  <a:stretch>
                    <a:fillRect l="-1411" t="-4219" b="-1012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37764152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Token Based DME Algorithms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47800"/>
            <a:ext cx="8640960" cy="5149552"/>
          </a:xfrm>
        </p:spPr>
        <p:txBody>
          <a:bodyPr/>
          <a:lstStyle/>
          <a:p>
            <a:r>
              <a:rPr lang="en-US" altLang="zh-TW" dirty="0" smtClean="0"/>
              <a:t>Inspired by the token ring and </a:t>
            </a:r>
            <a:r>
              <a:rPr lang="en-US" altLang="zh-TW" dirty="0" err="1" smtClean="0"/>
              <a:t>Ricart</a:t>
            </a:r>
            <a:r>
              <a:rPr lang="en-US" altLang="zh-TW" dirty="0" err="1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err="1" smtClean="0"/>
              <a:t>s</a:t>
            </a:r>
            <a:r>
              <a:rPr lang="en-US" altLang="zh-TW" dirty="0" smtClean="0"/>
              <a:t> </a:t>
            </a:r>
            <a:r>
              <a:rPr lang="en-US" altLang="zh-TW" dirty="0"/>
              <a:t>DME algorithm, </a:t>
            </a:r>
            <a:r>
              <a:rPr lang="en-US" altLang="zh-TW" dirty="0" smtClean="0"/>
              <a:t>Suzuki </a:t>
            </a:r>
            <a:r>
              <a:rPr lang="en-US" altLang="zh-TW" dirty="0"/>
              <a:t>and </a:t>
            </a:r>
            <a:r>
              <a:rPr lang="en-US" altLang="zh-TW" dirty="0" err="1" smtClean="0"/>
              <a:t>Kasami</a:t>
            </a:r>
            <a:r>
              <a:rPr lang="en-US" altLang="zh-TW" dirty="0" smtClean="0"/>
              <a:t> proposed to replace reply messages by a privilege (token) in such a way that each CS section only needs N messages.</a:t>
            </a:r>
          </a:p>
          <a:p>
            <a:pPr lvl="1"/>
            <a:r>
              <a:rPr lang="en-US" altLang="zh-TW" dirty="0" smtClean="0"/>
              <a:t>N-1 requests and 1 token transfer.</a:t>
            </a:r>
          </a:p>
          <a:p>
            <a:pPr lvl="1"/>
            <a:r>
              <a:rPr lang="en-US" altLang="zh-TW" dirty="0"/>
              <a:t>Each </a:t>
            </a:r>
            <a:r>
              <a:rPr lang="en-US" altLang="zh-TW" dirty="0" smtClean="0"/>
              <a:t>node uses a vector RN </a:t>
            </a:r>
            <a:r>
              <a:rPr lang="en-US" altLang="zh-TW" dirty="0"/>
              <a:t>of size N for recording the largest sequence number ever received from </a:t>
            </a:r>
            <a:r>
              <a:rPr lang="en-US" altLang="zh-TW" dirty="0" smtClean="0"/>
              <a:t>other </a:t>
            </a:r>
            <a:r>
              <a:rPr lang="en-US" altLang="zh-TW" dirty="0"/>
              <a:t>nodes. 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In addition, each node has a waiting queue Q to record all known pending requests.</a:t>
            </a:r>
          </a:p>
          <a:p>
            <a:pPr lvl="1"/>
            <a:r>
              <a:rPr lang="en-US" altLang="zh-TW" dirty="0" smtClean="0"/>
              <a:t>The token is transferred with the RN and Q of the original holder. </a:t>
            </a:r>
          </a:p>
          <a:p>
            <a:r>
              <a:rPr lang="en-US" altLang="zh-TW" dirty="0" smtClean="0"/>
              <a:t>Later, </a:t>
            </a:r>
            <a:r>
              <a:rPr lang="en-US" altLang="zh-TW" dirty="0"/>
              <a:t>Raymond </a:t>
            </a:r>
            <a:r>
              <a:rPr lang="en-US" altLang="zh-TW" dirty="0" smtClean="0"/>
              <a:t>proposed to arrange nodes </a:t>
            </a:r>
            <a:r>
              <a:rPr lang="en-US" altLang="zh-TW" dirty="0"/>
              <a:t>as </a:t>
            </a:r>
            <a:r>
              <a:rPr lang="en-US" altLang="zh-TW" dirty="0" smtClean="0"/>
              <a:t>a minimum spanning (</a:t>
            </a:r>
            <a:r>
              <a:rPr lang="en-US" altLang="zh-TW" dirty="0" smtClean="0">
                <a:solidFill>
                  <a:srgbClr val="FF0000"/>
                </a:solidFill>
              </a:rPr>
              <a:t>MSP</a:t>
            </a:r>
            <a:r>
              <a:rPr lang="en-US" altLang="zh-TW" dirty="0" smtClean="0"/>
              <a:t>) tree in such a </a:t>
            </a:r>
            <a:r>
              <a:rPr lang="en-US" altLang="zh-TW" dirty="0"/>
              <a:t>way that </a:t>
            </a:r>
            <a:r>
              <a:rPr lang="en-US" altLang="zh-TW" dirty="0" smtClean="0"/>
              <a:t>all messages (request and token) are </a:t>
            </a:r>
            <a:r>
              <a:rPr lang="en-US" altLang="zh-TW" dirty="0"/>
              <a:t>sent </a:t>
            </a:r>
            <a:r>
              <a:rPr lang="en-US" altLang="zh-TW" dirty="0" smtClean="0"/>
              <a:t>along the </a:t>
            </a:r>
            <a:r>
              <a:rPr lang="en-US" altLang="zh-TW" dirty="0"/>
              <a:t>(undirected) edges of this tree.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868478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/>
          </p:cNvSpPr>
          <p:nvPr/>
        </p:nvSpPr>
        <p:spPr bwMode="auto">
          <a:xfrm>
            <a:off x="107504" y="908720"/>
            <a:ext cx="4464496" cy="58326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39688"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562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initialization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RELEASED;</a:t>
            </a:r>
          </a:p>
          <a:p>
            <a:pPr eaLnBrk="1" hangingPunct="1"/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i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HaveToken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TRUE or FALSE;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// TRUE for node 1, FALSE for others;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</a:t>
            </a:r>
            <a:r>
              <a:rPr lang="pt-BR" altLang="zh-TW" sz="2000" dirty="0" smtClean="0"/>
              <a:t>Q := </a:t>
            </a:r>
            <a:r>
              <a:rPr lang="en-US" altLang="zh-TW" sz="2000" dirty="0"/>
              <a:t>∅</a:t>
            </a:r>
            <a:r>
              <a:rPr lang="pt-BR" altLang="zh-TW" sz="2000" dirty="0" smtClean="0"/>
              <a:t>; </a:t>
            </a:r>
          </a:p>
          <a:p>
            <a:pPr eaLnBrk="1" hangingPunct="1"/>
            <a:r>
              <a:rPr lang="pt-BR" altLang="zh-TW" sz="2000" dirty="0"/>
              <a:t> </a:t>
            </a:r>
            <a:r>
              <a:rPr lang="pt-BR" altLang="zh-TW" sz="2000" dirty="0" smtClean="0"/>
              <a:t>  RN[j</a:t>
            </a:r>
            <a:r>
              <a:rPr lang="pt-BR" altLang="zh-TW" sz="2000" dirty="0"/>
              <a:t>] </a:t>
            </a:r>
            <a:r>
              <a:rPr lang="pt-BR" altLang="zh-TW" sz="2000" dirty="0" smtClean="0"/>
              <a:t>:= </a:t>
            </a:r>
            <a:r>
              <a:rPr lang="pt-BR" altLang="zh-TW" sz="2000" dirty="0"/>
              <a:t>-1, </a:t>
            </a:r>
            <a:r>
              <a:rPr lang="pt-BR" altLang="zh-TW" sz="2000" dirty="0" smtClean="0"/>
              <a:t>for all j </a:t>
            </a:r>
            <a:r>
              <a:rPr lang="pt-BR" altLang="zh-TW" sz="2000" dirty="0"/>
              <a:t>= 1,2, . . . , N; </a:t>
            </a:r>
            <a:endParaRPr lang="pt-BR" altLang="zh-TW" sz="2000" dirty="0" smtClean="0"/>
          </a:p>
          <a:p>
            <a:pPr eaLnBrk="1" hangingPunct="1"/>
            <a:r>
              <a:rPr lang="pt-BR" altLang="zh-TW" sz="2000" dirty="0"/>
              <a:t> </a:t>
            </a:r>
            <a:r>
              <a:rPr lang="pt-BR" altLang="zh-TW" sz="2000" dirty="0" smtClean="0"/>
              <a:t>  LN[j</a:t>
            </a:r>
            <a:r>
              <a:rPr lang="pt-BR" altLang="zh-TW" sz="2000" dirty="0"/>
              <a:t>] </a:t>
            </a:r>
            <a:r>
              <a:rPr lang="pt-BR" altLang="zh-TW" sz="2000" dirty="0" smtClean="0"/>
              <a:t>:= </a:t>
            </a:r>
            <a:r>
              <a:rPr lang="pt-BR" altLang="zh-TW" sz="2000" dirty="0"/>
              <a:t>-1, </a:t>
            </a:r>
            <a:r>
              <a:rPr lang="pt-BR" altLang="zh-TW" sz="2000" dirty="0" smtClean="0"/>
              <a:t>for all j </a:t>
            </a:r>
            <a:r>
              <a:rPr lang="pt-BR" altLang="zh-TW" sz="2000" dirty="0"/>
              <a:t>= 1,2,. . . , N; </a:t>
            </a:r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enter the critical section at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b="1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WANTED;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if (not </a:t>
            </a:r>
            <a:r>
              <a:rPr kumimoji="0" lang="en-US" altLang="zh-TW" sz="2000" i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HaveToken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 {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RN[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]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:=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RN[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]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+ 1;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for all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≠i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j=1,2,…,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N)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 send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</a:t>
            </a:r>
            <a:r>
              <a:rPr kumimoji="0" lang="zh-TW" altLang="en-US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RN[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])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 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	   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wait until </a:t>
            </a:r>
            <a:r>
              <a:rPr kumimoji="0" lang="en-US" altLang="zh-TW" sz="2000" i="1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oken </a:t>
            </a:r>
            <a:r>
              <a:rPr lang="en-US" altLang="zh-TW" sz="2000" i="1" dirty="0" smtClean="0">
                <a:solidFill>
                  <a:srgbClr val="FF0000"/>
                </a:solidFill>
              </a:rPr>
              <a:t>(Q</a:t>
            </a:r>
            <a:r>
              <a:rPr lang="en-US" altLang="zh-TW" sz="2000" i="1" dirty="0">
                <a:solidFill>
                  <a:srgbClr val="FF0000"/>
                </a:solidFill>
              </a:rPr>
              <a:t>, LN) </a:t>
            </a:r>
            <a:r>
              <a:rPr lang="en-US" altLang="zh-TW" sz="2000" dirty="0"/>
              <a:t>is received; </a:t>
            </a:r>
            <a:endParaRPr lang="en-US" altLang="zh-TW" sz="2000" dirty="0" smtClean="0"/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</a:t>
            </a:r>
            <a:r>
              <a:rPr kumimoji="0" lang="en-US" altLang="zh-TW" sz="2000" i="1" dirty="0" err="1" smtClean="0">
                <a:cs typeface="Times" panose="02020603050405020304" pitchFamily="18" charset="0"/>
                <a:sym typeface="Times" panose="02020603050405020304" pitchFamily="18" charset="0"/>
              </a:rPr>
              <a:t>HaveToken</a:t>
            </a:r>
            <a:r>
              <a:rPr kumimoji="0" lang="en-US" altLang="zh-TW" sz="2000" dirty="0" smtClean="0">
                <a:cs typeface="Times" panose="02020603050405020304" pitchFamily="18" charset="0"/>
                <a:sym typeface="Times" panose="02020603050405020304" pitchFamily="18" charset="0"/>
              </a:rPr>
              <a:t> := TRUE;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   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IN-CS;</a:t>
            </a:r>
          </a:p>
          <a:p>
            <a:pPr eaLnBrk="1" hangingPunct="1">
              <a:lnSpc>
                <a:spcPct val="120000"/>
              </a:lnSpc>
            </a:pP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}</a:t>
            </a:r>
          </a:p>
          <a:p>
            <a:pPr eaLnBrk="1" hangingPunct="1"/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</p:txBody>
      </p:sp>
      <p:sp>
        <p:nvSpPr>
          <p:cNvPr id="5" name="Rectangle 5"/>
          <p:cNvSpPr>
            <a:spLocks/>
          </p:cNvSpPr>
          <p:nvPr/>
        </p:nvSpPr>
        <p:spPr bwMode="auto">
          <a:xfrm>
            <a:off x="4211960" y="908720"/>
            <a:ext cx="5040560" cy="576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chemeClr val="tx1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0640" bIns="0"/>
          <a:lstStyle>
            <a:lvl1pPr marL="39688"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1pPr>
            <a:lvl2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2pPr>
            <a:lvl3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3pPr>
            <a:lvl4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4pPr>
            <a:lvl5pPr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tabLst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  <a:tab pos="800100" algn="l"/>
                <a:tab pos="1181100" algn="l"/>
                <a:tab pos="1866900" algn="l"/>
                <a:tab pos="228600" algn="l"/>
                <a:tab pos="431800" algn="l"/>
              </a:tabLst>
              <a:defRPr sz="1200">
                <a:solidFill>
                  <a:schemeClr val="tx1"/>
                </a:solidFill>
                <a:latin typeface="Times" panose="02020603050405020304" pitchFamily="18" charset="0"/>
              </a:defRPr>
            </a:lvl9pPr>
          </a:lstStyle>
          <a:p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On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receipt of a </a:t>
            </a:r>
            <a:r>
              <a:rPr kumimoji="0" lang="en-US" altLang="zh-TW" sz="2000" b="1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request</a:t>
            </a:r>
            <a:r>
              <a:rPr kumimoji="0" lang="zh-TW" altLang="en-US" sz="2000" b="1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b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(j, n) 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from </a:t>
            </a:r>
            <a:r>
              <a:rPr kumimoji="0" lang="en-US" altLang="zh-TW" sz="2000" b="1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err="1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at </a:t>
            </a:r>
            <a:r>
              <a:rPr kumimoji="0" lang="en-US" altLang="zh-TW" sz="2000" b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="1" baseline="-25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RN[j] := max(RN[j], n);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if (</a:t>
            </a:r>
            <a:r>
              <a:rPr kumimoji="0" lang="en-US" altLang="zh-TW" sz="2000" i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HaveToken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and (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== RELEASED)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and (RN[j]==LN[j]+1)){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   </a:t>
            </a:r>
            <a:r>
              <a:rPr kumimoji="0" lang="en-US" altLang="zh-TW" sz="2000" i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HaveToken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:= FALSE;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   send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token(Q, LN)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</a:p>
          <a:p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}</a:t>
            </a:r>
          </a:p>
          <a:p>
            <a:pPr eaLnBrk="1" hangingPunct="1"/>
            <a:r>
              <a:rPr kumimoji="0" lang="en-US" altLang="zh-TW" sz="2000" b="1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exit the critical section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	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LN[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] := RN[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];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for all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j≠i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,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j=1,2,…,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N)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if ((j is not in Q)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and (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RN[j]==LN[j]+1))</a:t>
            </a: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  Q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:= append(Q, j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);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if (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Q ≠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</a:rPr>
              <a:t>∅ </a:t>
            </a:r>
            <a:r>
              <a:rPr lang="en-US" altLang="zh-TW" sz="2000" dirty="0" smtClean="0"/>
              <a:t>){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 </a:t>
            </a:r>
            <a:r>
              <a:rPr kumimoji="0" lang="en-US" altLang="zh-TW" sz="2000" i="1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HaveToken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:=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FALSE;</a:t>
            </a:r>
          </a:p>
          <a:p>
            <a:pPr eaLnBrk="1" hangingPunct="1"/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Q :=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removehead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(Q, k);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    send </a:t>
            </a:r>
            <a:r>
              <a:rPr kumimoji="0" lang="en-US" altLang="zh-TW" sz="2000" i="1" dirty="0" smtClean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token(Q, </a:t>
            </a:r>
            <a:r>
              <a:rPr kumimoji="0" lang="en-US" altLang="zh-TW" sz="2000" i="1" dirty="0">
                <a:solidFill>
                  <a:srgbClr val="FF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LN)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to </a:t>
            </a:r>
            <a:r>
              <a:rPr kumimoji="0" lang="en-US" altLang="zh-TW" sz="2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p</a:t>
            </a:r>
            <a:r>
              <a:rPr kumimoji="0" lang="en-US" altLang="zh-TW" sz="2000" baseline="-25000" dirty="0" err="1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k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;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  };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pPr eaLnBrk="1" hangingPunct="1"/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</a:t>
            </a:r>
            <a:r>
              <a:rPr kumimoji="0" lang="en-US" altLang="zh-TW" sz="2000" i="1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   state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 </a:t>
            </a:r>
            <a:r>
              <a:rPr kumimoji="0" lang="en-US" altLang="zh-TW" sz="2000" dirty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:= </a:t>
            </a:r>
            <a:r>
              <a:rPr kumimoji="0" lang="en-US" altLang="zh-TW" sz="2000" dirty="0" smtClean="0">
                <a:solidFill>
                  <a:srgbClr val="000000"/>
                </a:solidFill>
                <a:cs typeface="Times" panose="02020603050405020304" pitchFamily="18" charset="0"/>
                <a:sym typeface="Times" panose="02020603050405020304" pitchFamily="18" charset="0"/>
              </a:rPr>
              <a:t>RELEASED;</a:t>
            </a:r>
            <a:endParaRPr kumimoji="0" lang="en-US" altLang="zh-TW" sz="2000" dirty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  <a:p>
            <a:endParaRPr kumimoji="0" lang="en-US" altLang="zh-TW" sz="2000" dirty="0" smtClean="0">
              <a:solidFill>
                <a:srgbClr val="000000"/>
              </a:solidFill>
              <a:cs typeface="Times" panose="02020603050405020304" pitchFamily="18" charset="0"/>
              <a:sym typeface="Times" panose="02020603050405020304" pitchFamily="18" charset="0"/>
            </a:endParaRPr>
          </a:p>
        </p:txBody>
      </p:sp>
      <p:sp>
        <p:nvSpPr>
          <p:cNvPr id="7" name="標題 1"/>
          <p:cNvSpPr txBox="1">
            <a:spLocks/>
          </p:cNvSpPr>
          <p:nvPr/>
        </p:nvSpPr>
        <p:spPr bwMode="auto">
          <a:xfrm>
            <a:off x="251520" y="247875"/>
            <a:ext cx="8712968" cy="5168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5pPr>
            <a:lvl6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6pPr>
            <a:lvl7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7pPr>
            <a:lvl8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8pPr>
            <a:lvl9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Franklin Gothic Book" pitchFamily="34" charset="0"/>
              </a:defRPr>
            </a:lvl9pPr>
          </a:lstStyle>
          <a:p>
            <a:pPr lvl="0" algn="ctr"/>
            <a:r>
              <a:rPr kumimoji="0" lang="en-US" altLang="zh-TW" sz="3200" b="1" kern="0" dirty="0" smtClean="0">
                <a:solidFill>
                  <a:srgbClr val="696464"/>
                </a:solidFill>
              </a:rPr>
              <a:t>The </a:t>
            </a:r>
            <a:r>
              <a:rPr kumimoji="0" lang="en-US" altLang="zh-TW" sz="3200" b="1" i="0" u="none" strike="noStrike" kern="0" cap="none" spc="0" normalizeH="0" baseline="0" noProof="0" dirty="0" smtClean="0">
                <a:ln>
                  <a:noFill/>
                </a:ln>
                <a:solidFill>
                  <a:srgbClr val="696464"/>
                </a:solidFill>
                <a:effectLst/>
                <a:uLnTx/>
                <a:uFillTx/>
                <a:latin typeface="Franklin Gothic Book"/>
              </a:rPr>
              <a:t>DME Algorithm of S</a:t>
            </a:r>
            <a:r>
              <a:rPr kumimoji="0" lang="en-US" altLang="zh-TW" sz="3200" b="1" kern="0" dirty="0" err="1" smtClean="0">
                <a:solidFill>
                  <a:srgbClr val="696464"/>
                </a:solidFill>
              </a:rPr>
              <a:t>uzuki</a:t>
            </a:r>
            <a:r>
              <a:rPr kumimoji="0" lang="en-US" altLang="zh-TW" sz="3200" b="1" kern="0" dirty="0" smtClean="0">
                <a:solidFill>
                  <a:srgbClr val="696464"/>
                </a:solidFill>
              </a:rPr>
              <a:t> </a:t>
            </a:r>
            <a:r>
              <a:rPr kumimoji="0" lang="en-US" altLang="zh-TW" sz="3200" b="1" kern="0" dirty="0">
                <a:solidFill>
                  <a:srgbClr val="696464"/>
                </a:solidFill>
              </a:rPr>
              <a:t>and </a:t>
            </a:r>
            <a:r>
              <a:rPr kumimoji="0" lang="en-US" altLang="zh-TW" sz="3200" b="1" kern="0" dirty="0" err="1">
                <a:solidFill>
                  <a:srgbClr val="696464"/>
                </a:solidFill>
              </a:rPr>
              <a:t>Kasami</a:t>
            </a:r>
            <a:r>
              <a:rPr kumimoji="0" lang="en-US" altLang="zh-TW" sz="3200" b="1" kern="0" dirty="0">
                <a:solidFill>
                  <a:srgbClr val="696464"/>
                </a:solidFill>
              </a:rPr>
              <a:t> </a:t>
            </a:r>
            <a:endParaRPr kumimoji="0" lang="zh-TW" altLang="en-US" sz="3200" b="1" i="0" u="none" strike="noStrike" kern="0" cap="none" spc="0" normalizeH="0" baseline="0" noProof="0" dirty="0">
              <a:ln>
                <a:noFill/>
              </a:ln>
              <a:solidFill>
                <a:srgbClr val="696464"/>
              </a:solidFill>
              <a:effectLst/>
              <a:uLnTx/>
              <a:uFillTx/>
              <a:latin typeface="Franklin Gothic Book"/>
            </a:endParaRPr>
          </a:p>
        </p:txBody>
      </p:sp>
    </p:spTree>
    <p:extLst>
      <p:ext uri="{BB962C8B-B14F-4D97-AF65-F5344CB8AC3E}">
        <p14:creationId xmlns:p14="http://schemas.microsoft.com/office/powerpoint/2010/main" val="23101260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16" y="399802"/>
            <a:ext cx="8060432" cy="940966"/>
          </a:xfrm>
        </p:spPr>
        <p:txBody>
          <a:bodyPr/>
          <a:lstStyle/>
          <a:p>
            <a:pPr algn="ctr"/>
            <a:r>
              <a:rPr lang="en-US" altLang="zh-TW" dirty="0" smtClean="0"/>
              <a:t>Raymond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</a:t>
            </a:r>
            <a:r>
              <a:rPr lang="en-US" altLang="zh-TW" dirty="0"/>
              <a:t>Tree-Based </a:t>
            </a:r>
            <a:r>
              <a:rPr lang="en-US" altLang="zh-TW" dirty="0" smtClean="0"/>
              <a:t>Algorithm (1)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2341240"/>
          </a:xfrm>
        </p:spPr>
        <p:txBody>
          <a:bodyPr/>
          <a:lstStyle/>
          <a:p>
            <a:r>
              <a:rPr lang="en-US" altLang="zh-TW" dirty="0"/>
              <a:t>Initially, the root of the </a:t>
            </a:r>
            <a:r>
              <a:rPr lang="en-US" altLang="zh-TW" dirty="0" smtClean="0"/>
              <a:t>MSP tree holds </a:t>
            </a:r>
            <a:r>
              <a:rPr lang="en-US" altLang="zh-TW" dirty="0"/>
              <a:t>the </a:t>
            </a:r>
            <a:r>
              <a:rPr lang="en-US" altLang="zh-TW" dirty="0" smtClean="0">
                <a:solidFill>
                  <a:srgbClr val="FF0000"/>
                </a:solidFill>
              </a:rPr>
              <a:t>Token</a:t>
            </a:r>
            <a:r>
              <a:rPr lang="en-US" altLang="zh-TW" dirty="0" smtClean="0"/>
              <a:t>. </a:t>
            </a:r>
            <a:endParaRPr lang="en-US" altLang="zh-TW" dirty="0"/>
          </a:p>
          <a:p>
            <a:r>
              <a:rPr lang="en-US" altLang="zh-TW" dirty="0"/>
              <a:t>The root has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</a:t>
            </a:r>
            <a:r>
              <a:rPr lang="en-US" altLang="zh-TW" dirty="0"/>
              <a:t>pointing to itself and </a:t>
            </a:r>
            <a:r>
              <a:rPr lang="en-US" altLang="zh-TW" dirty="0" err="1" smtClean="0">
                <a:solidFill>
                  <a:srgbClr val="FF0000"/>
                </a:solidFill>
              </a:rPr>
              <a:t>HaveToken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 smtClean="0"/>
              <a:t>:=</a:t>
            </a:r>
            <a:r>
              <a:rPr lang="en-US" altLang="zh-TW" dirty="0" smtClean="0">
                <a:solidFill>
                  <a:srgbClr val="FF0000"/>
                </a:solidFill>
              </a:rPr>
              <a:t> </a:t>
            </a:r>
            <a:r>
              <a:rPr lang="en-US" altLang="zh-TW" dirty="0"/>
              <a:t>T</a:t>
            </a:r>
            <a:r>
              <a:rPr lang="en-US" altLang="zh-TW" dirty="0" smtClean="0"/>
              <a:t>rue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/>
              <a:t>All other nodes have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</a:t>
            </a:r>
            <a:r>
              <a:rPr lang="en-US" altLang="zh-TW" dirty="0"/>
              <a:t>pointing to their parents in the tree and </a:t>
            </a:r>
            <a:r>
              <a:rPr lang="en-US" altLang="zh-TW" dirty="0" err="1" smtClean="0">
                <a:solidFill>
                  <a:srgbClr val="FF0000"/>
                </a:solidFill>
              </a:rPr>
              <a:t>HaveToken</a:t>
            </a:r>
            <a:r>
              <a:rPr lang="en-US" altLang="zh-TW" dirty="0" smtClean="0"/>
              <a:t> := False.</a:t>
            </a:r>
          </a:p>
          <a:p>
            <a:r>
              <a:rPr lang="en-US" altLang="zh-TW" dirty="0" smtClean="0"/>
              <a:t>Each </a:t>
            </a:r>
            <a:r>
              <a:rPr lang="en-US" altLang="zh-TW" dirty="0"/>
              <a:t>node </a:t>
            </a:r>
            <a:r>
              <a:rPr lang="en-US" altLang="zh-TW" dirty="0" smtClean="0"/>
              <a:t>has </a:t>
            </a:r>
            <a:r>
              <a:rPr lang="en-US" altLang="zh-TW" dirty="0"/>
              <a:t>a FIFO </a:t>
            </a:r>
            <a:r>
              <a:rPr lang="en-US" altLang="zh-TW" dirty="0" smtClean="0"/>
              <a:t>queue Q for token requesting </a:t>
            </a:r>
            <a:r>
              <a:rPr lang="en-US" altLang="zh-TW" dirty="0"/>
              <a:t>neighbors.</a:t>
            </a:r>
          </a:p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4532875" y="3997885"/>
                <a:ext cx="4719645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1" hangingPunct="1"/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  <a:sym typeface="Times" panose="02020603050405020304" pitchFamily="18" charset="0"/>
                  </a:rPr>
                  <a:t>To enter the critical section at p</a:t>
                </a:r>
                <a:r>
                  <a:rPr kumimoji="0" lang="en-US" altLang="zh-TW" sz="2000" b="1" baseline="-25000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  <a:sym typeface="Times" panose="02020603050405020304" pitchFamily="18" charset="0"/>
                  </a:rPr>
                  <a:t>i</a:t>
                </a:r>
              </a:p>
              <a:p>
                <a:pPr lvl="0">
                  <a:lnSpc>
                    <a:spcPct val="120000"/>
                  </a:lnSpc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 </a:t>
                </a:r>
                <a:r>
                  <a:rPr kumimoji="0" lang="en-US" altLang="zh-TW" sz="2000" i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state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:= WANTED;</a:t>
                </a:r>
              </a:p>
              <a:p>
                <a:pPr lvl="0">
                  <a:lnSpc>
                    <a:spcPct val="120000"/>
                  </a:lnSpc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  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If 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(not </a:t>
                </a:r>
                <a:r>
                  <a:rPr kumimoji="0" lang="en-US" altLang="zh-TW" sz="2000" i="1" dirty="0" err="1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HaveToken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){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If (Q == </a:t>
                </a:r>
                <a14:m>
                  <m:oMath xmlns:m="http://schemas.openxmlformats.org/officeDocument/2006/math">
                    <m:r>
                      <a:rPr kumimoji="0" lang="en-US" altLang="zh-TW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)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		send a </a:t>
                </a:r>
                <a:r>
                  <a:rPr kumimoji="0" lang="en-US" altLang="zh-TW" sz="2000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request token (</a:t>
                </a:r>
                <a:r>
                  <a:rPr kumimoji="0" lang="en-US" altLang="zh-TW" sz="2000" dirty="0" err="1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i</a:t>
                </a:r>
                <a:r>
                  <a:rPr kumimoji="0" lang="en-US" altLang="zh-TW" sz="2000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) 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to </a:t>
                </a:r>
                <a:r>
                  <a:rPr kumimoji="0" lang="en-US" altLang="zh-TW" sz="2000" i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</a:t>
                </a:r>
                <a:r>
                  <a:rPr kumimoji="0" lang="en-US" altLang="zh-TW" sz="2000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enqueue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(Q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, </a:t>
                </a:r>
                <a:r>
                  <a:rPr kumimoji="0" lang="en-US" altLang="zh-TW" sz="2000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i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);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}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else</a:t>
                </a:r>
                <a:endParaRPr kumimoji="0" lang="en-US" altLang="zh-TW" sz="2000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marL="640080" lvl="1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	</a:t>
                </a:r>
                <a:r>
                  <a:rPr kumimoji="0" lang="en-US" altLang="zh-TW" sz="2000" i="1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state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IN-CS;</a:t>
                </a:r>
                <a:endParaRPr kumimoji="0" lang="en-US" altLang="zh-TW" sz="2000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  <a:sym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2875" y="3997885"/>
                <a:ext cx="4719645" cy="2677656"/>
              </a:xfrm>
              <a:prstGeom prst="rect">
                <a:avLst/>
              </a:prstGeom>
              <a:blipFill>
                <a:blip r:embed="rId2"/>
                <a:stretch>
                  <a:fillRect l="-1421" t="-1367" b="-31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07504" y="3951054"/>
                <a:ext cx="4536504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  <a:sym typeface="Times" panose="02020603050405020304" pitchFamily="18" charset="0"/>
                  </a:rPr>
                  <a:t>On initialization</a:t>
                </a:r>
              </a:p>
              <a:p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</a:t>
                </a:r>
                <a:r>
                  <a:rPr kumimoji="0" lang="en-US" altLang="zh-TW" sz="2000" i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state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:= RELEASED;</a:t>
                </a:r>
              </a:p>
              <a:p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</a:t>
                </a:r>
                <a:r>
                  <a:rPr kumimoji="0" lang="en-US" altLang="zh-TW" sz="2000" i="1" dirty="0" err="1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HaveToken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:= TRUE or FALSE;</a:t>
                </a:r>
              </a:p>
              <a:p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 // TRUE for </a:t>
                </a:r>
                <a:r>
                  <a:rPr kumimoji="0" lang="en-US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root node, </a:t>
                </a:r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FALSE for others;</a:t>
                </a:r>
              </a:p>
              <a:p>
                <a:r>
                  <a:rPr kumimoji="0" lang="en-US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 </a:t>
                </a:r>
                <a:r>
                  <a:rPr kumimoji="0" lang="pt-BR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Q := </a:t>
                </a:r>
                <a14:m>
                  <m:oMath xmlns:m="http://schemas.openxmlformats.org/officeDocument/2006/math">
                    <m:r>
                      <a:rPr kumimoji="0" lang="en-US" altLang="zh-TW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0" lang="pt-BR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 </a:t>
                </a:r>
                <a:endParaRPr kumimoji="0" lang="pt-BR" altLang="zh-TW" sz="2000" dirty="0" smtClean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r>
                  <a:rPr kumimoji="0" lang="pt-BR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pt-BR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</a:t>
                </a:r>
                <a:r>
                  <a:rPr kumimoji="0" lang="pt-BR" altLang="zh-TW" sz="2000" i="1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pt-BR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self or parent;</a:t>
                </a:r>
              </a:p>
              <a:p>
                <a:r>
                  <a:rPr kumimoji="0" lang="pt-BR" altLang="zh-TW" sz="2000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pt-BR" altLang="zh-TW" sz="2000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// self for root node, parent for others;</a:t>
                </a:r>
                <a:endParaRPr kumimoji="0" lang="pt-BR" altLang="zh-TW" sz="2000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endParaRPr lang="zh-TW" altLang="en-US" sz="20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951054"/>
                <a:ext cx="4536504" cy="2554545"/>
              </a:xfrm>
              <a:prstGeom prst="rect">
                <a:avLst/>
              </a:prstGeom>
              <a:blipFill>
                <a:blip r:embed="rId3"/>
                <a:stretch>
                  <a:fillRect l="-1478" t="-119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8597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11560" y="471810"/>
            <a:ext cx="7992888" cy="868958"/>
          </a:xfrm>
        </p:spPr>
        <p:txBody>
          <a:bodyPr/>
          <a:lstStyle/>
          <a:p>
            <a:r>
              <a:rPr lang="en-US" altLang="zh-TW" dirty="0"/>
              <a:t>Raymond</a:t>
            </a:r>
            <a:r>
              <a:rPr lang="en-US" altLang="zh-TW" dirty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/>
              <a:t>s Tree-Based Algorithm </a:t>
            </a:r>
            <a:r>
              <a:rPr lang="en-US" altLang="zh-TW" dirty="0" smtClean="0"/>
              <a:t>(2) 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35496" y="1388963"/>
                <a:ext cx="4824536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1" fontAlgn="auto" hangingPunct="1">
                  <a:spcBef>
                    <a:spcPts val="700"/>
                  </a:spcBef>
                  <a:spcAft>
                    <a:spcPts val="0"/>
                  </a:spcAft>
                  <a:buClr>
                    <a:srgbClr val="DD8047"/>
                  </a:buClr>
                  <a:buSzPct val="60000"/>
                  <a:defRPr/>
                </a:pPr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On receiving a </a:t>
                </a:r>
                <a:r>
                  <a:rPr kumimoji="0" lang="en-US" altLang="zh-TW" sz="2000" b="1" dirty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request </a:t>
                </a:r>
                <a:r>
                  <a:rPr kumimoji="0" lang="en-US" altLang="zh-TW" sz="2000" b="1" dirty="0" smtClean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token (j) </a:t>
                </a:r>
                <a:r>
                  <a:rPr kumimoji="0" lang="en-US" altLang="zh-TW" sz="2000" b="1" dirty="0" smtClean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at </a:t>
                </a:r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p</a:t>
                </a:r>
                <a:r>
                  <a:rPr kumimoji="0" lang="en-US" altLang="zh-TW" sz="2000" b="1" baseline="-25000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i</a:t>
                </a:r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 </a:t>
                </a:r>
              </a:p>
              <a:p>
                <a:pPr lvl="0">
                  <a:buClr>
                    <a:srgbClr val="DD8047"/>
                  </a:buClr>
                  <a:buSzPct val="60000"/>
                  <a:defRPr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if (Q ≠ </a:t>
                </a:r>
                <a14:m>
                  <m:oMath xmlns:m="http://schemas.openxmlformats.org/officeDocument/2006/math">
                    <m:r>
                      <a:rPr kumimoji="0"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or </a:t>
                </a:r>
                <a:r>
                  <a:rPr kumimoji="0" lang="en-US" altLang="zh-TW" i="1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state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== IN-CS) {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err="1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enqueue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(Q,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j);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marL="182880" indent="-274320">
                  <a:buClr>
                    <a:srgbClr val="94B6D2"/>
                  </a:buClr>
                  <a:buSzPct val="70000"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}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else if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</a:t>
                </a:r>
                <a:r>
                  <a:rPr kumimoji="0" lang="en-US" altLang="zh-TW" i="1" dirty="0" err="1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HaveToken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 {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  <a:defRPr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send a </a:t>
                </a:r>
                <a:r>
                  <a:rPr kumimoji="0" lang="en-US" altLang="zh-TW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token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message to </a:t>
                </a:r>
                <a:r>
                  <a:rPr kumimoji="0" lang="en-US" altLang="zh-TW" dirty="0" err="1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p</a:t>
                </a:r>
                <a:r>
                  <a:rPr kumimoji="0" lang="en-US" altLang="zh-TW" baseline="-25000" dirty="0" err="1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j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  <a:defRPr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i="1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HaveToken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:= False;</a:t>
                </a:r>
              </a:p>
              <a:p>
                <a:pPr marL="182880" indent="-274320">
                  <a:buClr>
                    <a:srgbClr val="94B6D2"/>
                  </a:buClr>
                  <a:buSzPct val="70000"/>
                  <a:defRPr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}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else{</a:t>
                </a:r>
              </a:p>
              <a:p>
                <a:pPr marL="640080" lvl="1" indent="-274320">
                  <a:buClr>
                    <a:srgbClr val="94B6D2"/>
                  </a:buClr>
                  <a:buSzPct val="70000"/>
                  <a:defRPr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</a:t>
                </a:r>
                <a:r>
                  <a:rPr kumimoji="0" lang="en-US" altLang="zh-TW" dirty="0" err="1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enqueue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(Q,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j);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marL="640080" lvl="1" indent="-274320">
                  <a:buClr>
                    <a:srgbClr val="94B6D2"/>
                  </a:buClr>
                  <a:buSzPct val="70000"/>
                  <a:defRPr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send a </a:t>
                </a:r>
                <a:r>
                  <a:rPr kumimoji="0" lang="en-US" altLang="zh-TW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request </a:t>
                </a:r>
                <a:r>
                  <a:rPr kumimoji="0" lang="en-US" altLang="zh-TW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token(</a:t>
                </a:r>
                <a:r>
                  <a:rPr kumimoji="0" lang="en-US" altLang="zh-TW" dirty="0" err="1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i</a:t>
                </a:r>
                <a:r>
                  <a:rPr kumimoji="0" lang="en-US" altLang="zh-TW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)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message to </a:t>
                </a:r>
                <a:r>
                  <a:rPr kumimoji="0" lang="en-US" altLang="zh-TW" i="1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</a:p>
              <a:p>
                <a:pPr marL="182880" indent="-274320">
                  <a:buClr>
                    <a:srgbClr val="94B6D2"/>
                  </a:buClr>
                  <a:buSzPct val="70000"/>
                  <a:defRPr/>
                </a:pP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  <a:sym typeface="Times" panose="02020603050405020304" pitchFamily="18" charset="0"/>
                  </a:rPr>
                  <a:t>   };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  <a:sym typeface="Times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1388963"/>
                <a:ext cx="4824536" cy="2893100"/>
              </a:xfrm>
              <a:prstGeom prst="rect">
                <a:avLst/>
              </a:prstGeom>
              <a:blipFill>
                <a:blip r:embed="rId2"/>
                <a:stretch>
                  <a:fillRect l="-1391" t="-1266" b="-25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4375339" y="2579552"/>
                <a:ext cx="4752528" cy="28931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eaLnBrk="1" fontAlgn="auto" hangingPunct="1">
                  <a:spcBef>
                    <a:spcPts val="700"/>
                  </a:spcBef>
                  <a:spcAft>
                    <a:spcPts val="0"/>
                  </a:spcAft>
                  <a:buClr>
                    <a:srgbClr val="DD8047"/>
                  </a:buClr>
                  <a:buSzPct val="60000"/>
                  <a:defRPr/>
                </a:pPr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Upon receiving a </a:t>
                </a:r>
                <a:r>
                  <a:rPr kumimoji="0" lang="en-US" altLang="zh-TW" sz="2000" b="1" dirty="0">
                    <a:solidFill>
                      <a:srgbClr val="FF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token</a:t>
                </a:r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 at p</a:t>
                </a:r>
                <a:r>
                  <a:rPr kumimoji="0" lang="en-US" altLang="zh-TW" sz="2000" b="1" baseline="-25000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i</a:t>
                </a:r>
              </a:p>
              <a:p>
                <a:r>
                  <a:rPr kumimoji="0" lang="en-US" altLang="zh-TW" b="1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b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</a:t>
                </a:r>
                <a:r>
                  <a:rPr kumimoji="0" lang="en-US" altLang="zh-TW" i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</a:t>
                </a:r>
                <a:r>
                  <a:rPr kumimoji="0" lang="en-US" altLang="zh-TW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dequeue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(Q);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if (Holder==</a:t>
                </a:r>
                <a:r>
                  <a:rPr kumimoji="0" lang="en-US" altLang="zh-TW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i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){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i="1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HaveToken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True;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     </a:t>
                </a:r>
                <a:r>
                  <a:rPr kumimoji="0" lang="en-US" altLang="zh-TW" i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State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IN-CS;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	</a:t>
                </a:r>
                <a:endParaRPr kumimoji="0" lang="en-US" altLang="zh-TW" dirty="0" smtClean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}else{</a:t>
                </a:r>
              </a:p>
              <a:p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    send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a </a:t>
                </a:r>
                <a:r>
                  <a:rPr kumimoji="0" lang="en-US" altLang="zh-TW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token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message to </a:t>
                </a:r>
                <a:r>
                  <a:rPr kumimoji="0" lang="en-US" altLang="zh-TW" i="1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if (Q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≠ </a:t>
                </a:r>
                <a14:m>
                  <m:oMath xmlns:m="http://schemas.openxmlformats.org/officeDocument/2006/math">
                    <m:r>
                      <a:rPr kumimoji="0"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</a:t>
                </a:r>
              </a:p>
              <a:p>
                <a:pPr lvl="1">
                  <a:buNone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  send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a </a:t>
                </a:r>
                <a:r>
                  <a:rPr kumimoji="0" lang="en-US" altLang="zh-TW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request </a:t>
                </a:r>
                <a:r>
                  <a:rPr kumimoji="0" lang="en-US" altLang="zh-TW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token(</a:t>
                </a:r>
                <a:r>
                  <a:rPr kumimoji="0" lang="en-US" altLang="zh-TW" dirty="0" err="1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i</a:t>
                </a:r>
                <a:r>
                  <a:rPr kumimoji="0" lang="en-US" altLang="zh-TW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)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message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to </a:t>
                </a:r>
                <a:r>
                  <a:rPr kumimoji="0" lang="en-US" altLang="zh-TW" i="1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</a:p>
              <a:p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};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5339" y="2579552"/>
                <a:ext cx="4752528" cy="2893100"/>
              </a:xfrm>
              <a:prstGeom prst="rect">
                <a:avLst/>
              </a:prstGeom>
              <a:blipFill>
                <a:blip r:embed="rId3"/>
                <a:stretch>
                  <a:fillRect l="-1412" t="-1053" b="-2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/>
              <p:cNvSpPr txBox="1"/>
              <p:nvPr/>
            </p:nvSpPr>
            <p:spPr>
              <a:xfrm>
                <a:off x="35496" y="4330258"/>
                <a:ext cx="4896544" cy="23391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0" lang="en-US" altLang="zh-TW" sz="2000" b="1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To exit the critical section at p</a:t>
                </a:r>
                <a:r>
                  <a:rPr kumimoji="0" lang="en-US" altLang="zh-TW" sz="2000" b="1" baseline="-25000" dirty="0">
                    <a:solidFill>
                      <a:srgbClr val="000000"/>
                    </a:solidFill>
                    <a:latin typeface="Times" panose="02020603050405020304" pitchFamily="18" charset="0"/>
                    <a:cs typeface="Times" panose="02020603050405020304" pitchFamily="18" charset="0"/>
                  </a:rPr>
                  <a:t>i</a:t>
                </a:r>
              </a:p>
              <a:p>
                <a:r>
                  <a:rPr kumimoji="0" lang="en-US" altLang="zh-TW" b="1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b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If (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Q ≠ </a:t>
                </a:r>
                <a14:m>
                  <m:oMath xmlns:m="http://schemas.openxmlformats.org/officeDocument/2006/math">
                    <m:r>
                      <a:rPr kumimoji="0"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){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i="1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</a:t>
                </a:r>
                <a:r>
                  <a:rPr kumimoji="0" lang="en-US" altLang="zh-TW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dequeue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(Q);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send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a </a:t>
                </a:r>
                <a:r>
                  <a:rPr kumimoji="0" lang="en-US" altLang="zh-TW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token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message to </a:t>
                </a:r>
                <a:r>
                  <a:rPr kumimoji="0" lang="en-US" altLang="zh-TW" i="1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i="1" dirty="0" err="1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HaveToken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:= False;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if (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Q ≠ </a:t>
                </a:r>
                <a14:m>
                  <m:oMath xmlns:m="http://schemas.openxmlformats.org/officeDocument/2006/math">
                    <m:r>
                      <a:rPr kumimoji="0" lang="en-US" altLang="zh-TW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)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pPr lvl="1">
                  <a:buNone/>
                </a:pP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	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send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a </a:t>
                </a:r>
                <a:r>
                  <a:rPr kumimoji="0" lang="en-US" altLang="zh-TW" dirty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request </a:t>
                </a:r>
                <a:r>
                  <a:rPr kumimoji="0" lang="en-US" altLang="zh-TW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token(</a:t>
                </a:r>
                <a:r>
                  <a:rPr kumimoji="0" lang="en-US" altLang="zh-TW" dirty="0" err="1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i</a:t>
                </a:r>
                <a:r>
                  <a:rPr kumimoji="0" lang="en-US" altLang="zh-TW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) </a:t>
                </a:r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message to </a:t>
                </a:r>
                <a:r>
                  <a:rPr kumimoji="0" lang="en-US" altLang="zh-TW" i="1" dirty="0" smtClean="0">
                    <a:solidFill>
                      <a:srgbClr val="FF0000"/>
                    </a:solidFill>
                    <a:latin typeface="Tw Cen MT"/>
                    <a:ea typeface="微軟正黑體" panose="020B0604030504040204" pitchFamily="34" charset="-120"/>
                  </a:rPr>
                  <a:t>Holder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;</a:t>
                </a:r>
                <a:endParaRPr kumimoji="0" lang="en-US" altLang="zh-TW" dirty="0">
                  <a:solidFill>
                    <a:prstClr val="black"/>
                  </a:solidFill>
                  <a:latin typeface="Tw Cen MT"/>
                  <a:ea typeface="微軟正黑體" panose="020B0604030504040204" pitchFamily="34" charset="-120"/>
                </a:endParaRPr>
              </a:p>
              <a:p>
                <a:r>
                  <a:rPr kumimoji="0" lang="en-US" altLang="zh-TW" dirty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</a:t>
                </a:r>
                <a:r>
                  <a:rPr kumimoji="0" lang="en-US" altLang="zh-TW" dirty="0" smtClean="0">
                    <a:solidFill>
                      <a:prstClr val="black"/>
                    </a:solidFill>
                    <a:latin typeface="Tw Cen MT"/>
                    <a:ea typeface="微軟正黑體" panose="020B0604030504040204" pitchFamily="34" charset="-120"/>
                  </a:rPr>
                  <a:t>  }</a:t>
                </a:r>
              </a:p>
            </p:txBody>
          </p:sp>
        </mc:Choice>
        <mc:Fallback xmlns="">
          <p:sp>
            <p:nvSpPr>
              <p:cNvPr id="6" name="文字方塊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6" y="4330258"/>
                <a:ext cx="4896544" cy="2339102"/>
              </a:xfrm>
              <a:prstGeom prst="rect">
                <a:avLst/>
              </a:prstGeom>
              <a:blipFill>
                <a:blip r:embed="rId4"/>
                <a:stretch>
                  <a:fillRect l="-1370" t="-1302" b="-33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03147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160" y="371960"/>
            <a:ext cx="5964016" cy="2769008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00372" y="4062454"/>
            <a:ext cx="6099820" cy="26069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文字方塊 6"/>
          <p:cNvSpPr txBox="1"/>
          <p:nvPr/>
        </p:nvSpPr>
        <p:spPr>
          <a:xfrm>
            <a:off x="6516216" y="3429000"/>
            <a:ext cx="230425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The values of the Holder for each node: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Holder(A) = B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Holder(B) = C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Holder(C) = G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Holder(D) = C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Holder(E) = A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Holder(F) = B</a:t>
            </a:r>
          </a:p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Holder(G) = G</a:t>
            </a:r>
          </a:p>
          <a:p>
            <a:pPr eaLnBrk="1" hangingPunct="1"/>
            <a:endParaRPr lang="zh-TW" altLang="en-US" sz="2000" b="1" dirty="0">
              <a:solidFill>
                <a:prstClr val="black"/>
              </a:solidFill>
              <a:latin typeface="Perpetua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39552" y="3297178"/>
            <a:ext cx="54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All logically directed edges are pointing in a direction towards node G (the node has </a:t>
            </a:r>
            <a:r>
              <a:rPr lang="en-US" altLang="zh-TW" sz="2000" b="1" dirty="0" smtClean="0">
                <a:solidFill>
                  <a:srgbClr val="FF0000"/>
                </a:solidFill>
                <a:latin typeface="Perpetua" pitchFamily="18" charset="0"/>
              </a:rPr>
              <a:t>token</a:t>
            </a:r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.)</a:t>
            </a:r>
            <a:endParaRPr lang="zh-TW" altLang="en-US" sz="2000" b="1" dirty="0">
              <a:solidFill>
                <a:prstClr val="black"/>
              </a:solidFill>
              <a:latin typeface="Perpetua" pitchFamily="18" charset="0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6191572" y="404664"/>
            <a:ext cx="27363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TW" sz="2000" b="1" dirty="0" smtClean="0">
                <a:solidFill>
                  <a:prstClr val="black"/>
                </a:solidFill>
                <a:latin typeface="Perpetua" pitchFamily="18" charset="0"/>
              </a:rPr>
              <a:t>The initial tree of 7 nodes.</a:t>
            </a:r>
            <a:endParaRPr lang="zh-TW" altLang="en-US" sz="2000" b="1" dirty="0">
              <a:solidFill>
                <a:prstClr val="black"/>
              </a:solidFill>
              <a:latin typeface="Perpet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649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512" y="399802"/>
            <a:ext cx="8856984" cy="940966"/>
          </a:xfrm>
        </p:spPr>
        <p:txBody>
          <a:bodyPr/>
          <a:lstStyle/>
          <a:p>
            <a:pPr algn="ctr"/>
            <a:r>
              <a:rPr lang="en-US" altLang="zh-TW" dirty="0" smtClean="0"/>
              <a:t>Properties of Raymond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DME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340768"/>
            <a:ext cx="8784976" cy="5400600"/>
          </a:xfrm>
        </p:spPr>
        <p:txBody>
          <a:bodyPr/>
          <a:lstStyle/>
          <a:p>
            <a:r>
              <a:rPr lang="en-US" altLang="zh-TW" dirty="0"/>
              <a:t>In the worst-case, the algorithm requires (2 * longest path length of the tree) messages per CS execution.</a:t>
            </a:r>
          </a:p>
          <a:p>
            <a:pPr lvl="1"/>
            <a:r>
              <a:rPr lang="en-US" altLang="zh-TW" dirty="0"/>
              <a:t>This happens when the </a:t>
            </a:r>
            <a:r>
              <a:rPr lang="en-US" altLang="zh-TW" dirty="0">
                <a:solidFill>
                  <a:srgbClr val="FF0000"/>
                </a:solidFill>
              </a:rPr>
              <a:t>t</a:t>
            </a:r>
            <a:r>
              <a:rPr lang="en-US" altLang="zh-TW" dirty="0" smtClean="0">
                <a:solidFill>
                  <a:srgbClr val="FF0000"/>
                </a:solidFill>
              </a:rPr>
              <a:t>oken</a:t>
            </a:r>
            <a:r>
              <a:rPr lang="en-US" altLang="zh-TW" dirty="0" smtClean="0"/>
              <a:t> </a:t>
            </a:r>
            <a:r>
              <a:rPr lang="en-US" altLang="zh-TW" dirty="0"/>
              <a:t>is </a:t>
            </a:r>
            <a:r>
              <a:rPr lang="en-US" altLang="zh-TW" dirty="0" smtClean="0"/>
              <a:t>passed </a:t>
            </a:r>
            <a:r>
              <a:rPr lang="en-US" altLang="zh-TW" dirty="0"/>
              <a:t>between nodes at either ends of the longest path of the minimal spanning tree.</a:t>
            </a:r>
          </a:p>
          <a:p>
            <a:pPr lvl="1"/>
            <a:r>
              <a:rPr lang="en-US" altLang="zh-TW" dirty="0"/>
              <a:t>The worst </a:t>
            </a:r>
            <a:r>
              <a:rPr lang="en-US" altLang="zh-TW" dirty="0" smtClean="0"/>
              <a:t>topology </a:t>
            </a:r>
            <a:r>
              <a:rPr lang="en-US" altLang="zh-TW" dirty="0"/>
              <a:t>is where nodes are arranged in a </a:t>
            </a:r>
            <a:r>
              <a:rPr lang="en-US" altLang="zh-TW" dirty="0">
                <a:solidFill>
                  <a:srgbClr val="FF0000"/>
                </a:solidFill>
              </a:rPr>
              <a:t>straight line</a:t>
            </a:r>
            <a:r>
              <a:rPr lang="en-US" altLang="zh-TW" dirty="0"/>
              <a:t>.</a:t>
            </a:r>
          </a:p>
          <a:p>
            <a:pPr lvl="2"/>
            <a:r>
              <a:rPr lang="en-US" altLang="zh-TW" dirty="0" smtClean="0"/>
              <a:t>In this case, </a:t>
            </a:r>
            <a:r>
              <a:rPr lang="en-US" altLang="zh-TW" dirty="0"/>
              <a:t>2 * (N – 1) messages are needed per CS execution.</a:t>
            </a:r>
          </a:p>
          <a:p>
            <a:r>
              <a:rPr lang="en-US" altLang="zh-TW" dirty="0"/>
              <a:t>In general, </a:t>
            </a:r>
            <a:r>
              <a:rPr lang="en-US" altLang="zh-TW" dirty="0" smtClean="0"/>
              <a:t>MSP trees </a:t>
            </a:r>
            <a:r>
              <a:rPr lang="en-US" altLang="zh-TW" dirty="0"/>
              <a:t>with high fan-outs are preferred. </a:t>
            </a:r>
          </a:p>
          <a:p>
            <a:pPr lvl="1"/>
            <a:r>
              <a:rPr lang="en-US" altLang="zh-TW" dirty="0"/>
              <a:t>The longest path length of such trees is typically </a:t>
            </a:r>
            <a:r>
              <a:rPr lang="en-US" altLang="zh-TW" dirty="0">
                <a:solidFill>
                  <a:srgbClr val="FF0000"/>
                </a:solidFill>
              </a:rPr>
              <a:t>O(log N)</a:t>
            </a:r>
            <a:r>
              <a:rPr lang="en-US" altLang="zh-TW" dirty="0"/>
              <a:t>. </a:t>
            </a:r>
          </a:p>
          <a:p>
            <a:pPr lvl="1"/>
            <a:r>
              <a:rPr lang="en-US" altLang="zh-TW" dirty="0"/>
              <a:t>On average, O(log N) messages are </a:t>
            </a:r>
            <a:r>
              <a:rPr lang="en-US" altLang="zh-TW" dirty="0" smtClean="0"/>
              <a:t>needed </a:t>
            </a:r>
            <a:r>
              <a:rPr lang="en-US" altLang="zh-TW" dirty="0"/>
              <a:t>per CS execution.</a:t>
            </a:r>
          </a:p>
          <a:p>
            <a:r>
              <a:rPr lang="en-US" altLang="zh-TW" dirty="0"/>
              <a:t>Under heavy load, </a:t>
            </a:r>
            <a:r>
              <a:rPr lang="en-US" altLang="zh-TW" dirty="0" smtClean="0"/>
              <a:t>it </a:t>
            </a:r>
            <a:r>
              <a:rPr lang="en-US" altLang="zh-TW" dirty="0"/>
              <a:t>exhibits an interesting property: </a:t>
            </a:r>
          </a:p>
          <a:p>
            <a:pPr lvl="1"/>
            <a:r>
              <a:rPr lang="en-US" altLang="zh-TW" dirty="0"/>
              <a:t>As </a:t>
            </a:r>
            <a:r>
              <a:rPr lang="en-US" altLang="zh-TW" dirty="0" smtClean="0"/>
              <a:t>the </a:t>
            </a:r>
            <a:r>
              <a:rPr lang="en-US" altLang="zh-TW" dirty="0"/>
              <a:t>number of nodes requesting for the </a:t>
            </a:r>
            <a:r>
              <a:rPr lang="en-US" altLang="zh-TW" dirty="0" smtClean="0"/>
              <a:t>token </a:t>
            </a:r>
            <a:r>
              <a:rPr lang="en-US" altLang="zh-TW" dirty="0"/>
              <a:t>increases, the number of messages exchanged per CS entry decreases.</a:t>
            </a:r>
          </a:p>
          <a:p>
            <a:pPr lvl="1"/>
            <a:r>
              <a:rPr lang="en-US" altLang="zh-TW" dirty="0"/>
              <a:t>In </a:t>
            </a:r>
            <a:r>
              <a:rPr lang="en-US" altLang="zh-TW" dirty="0">
                <a:solidFill>
                  <a:srgbClr val="FF0000"/>
                </a:solidFill>
              </a:rPr>
              <a:t>heavy load</a:t>
            </a:r>
            <a:r>
              <a:rPr lang="en-US" altLang="zh-TW" dirty="0"/>
              <a:t>, it requires only </a:t>
            </a:r>
            <a:r>
              <a:rPr lang="en-US" altLang="zh-TW" dirty="0">
                <a:solidFill>
                  <a:srgbClr val="FF0000"/>
                </a:solidFill>
              </a:rPr>
              <a:t>4</a:t>
            </a:r>
            <a:r>
              <a:rPr lang="en-US" altLang="zh-TW" dirty="0"/>
              <a:t> messages per CS execution.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4796324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8" y="399802"/>
            <a:ext cx="9036496" cy="940966"/>
          </a:xfrm>
        </p:spPr>
        <p:txBody>
          <a:bodyPr/>
          <a:lstStyle/>
          <a:p>
            <a:pPr algn="ctr"/>
            <a:r>
              <a:rPr lang="en-US" altLang="zh-TW" dirty="0"/>
              <a:t>An example of </a:t>
            </a:r>
            <a:r>
              <a:rPr lang="en-US" altLang="zh-TW" dirty="0" smtClean="0"/>
              <a:t>Raymond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s DME Algorithm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562" y="1486232"/>
            <a:ext cx="7919387" cy="5371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445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332656"/>
            <a:ext cx="7772400" cy="940966"/>
          </a:xfrm>
        </p:spPr>
        <p:txBody>
          <a:bodyPr/>
          <a:lstStyle/>
          <a:p>
            <a:r>
              <a:rPr lang="en-US" altLang="zh-TW" dirty="0" smtClean="0"/>
              <a:t>Path Compressing in MSP Tree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77280"/>
            <a:ext cx="8928992" cy="2987824"/>
          </a:xfrm>
        </p:spPr>
        <p:txBody>
          <a:bodyPr/>
          <a:lstStyle/>
          <a:p>
            <a:r>
              <a:rPr lang="en-US" altLang="zh-TW" dirty="0" smtClean="0"/>
              <a:t>Instead of using the static MSP tree, </a:t>
            </a:r>
            <a:r>
              <a:rPr lang="fi-FI" altLang="zh-TW" dirty="0" smtClean="0"/>
              <a:t>Naimia, Trehela, </a:t>
            </a:r>
            <a:r>
              <a:rPr lang="fi-FI" altLang="zh-TW" dirty="0"/>
              <a:t>and </a:t>
            </a:r>
            <a:r>
              <a:rPr lang="fi-FI" altLang="zh-TW" dirty="0" smtClean="0"/>
              <a:t>Arnold dynamically adjust the MSP in such a way that the new root of the MSP is the next requester known by the original root.</a:t>
            </a:r>
          </a:p>
          <a:p>
            <a:pPr lvl="1"/>
            <a:r>
              <a:rPr lang="fi-FI" altLang="zh-TW" dirty="0" smtClean="0"/>
              <a:t>All nodes in the path between both roots also changed the value of their </a:t>
            </a:r>
            <a:r>
              <a:rPr lang="fi-FI" altLang="zh-TW" dirty="0" smtClean="0">
                <a:solidFill>
                  <a:srgbClr val="FF0000"/>
                </a:solidFill>
              </a:rPr>
              <a:t>holders</a:t>
            </a:r>
            <a:r>
              <a:rPr lang="fi-FI" altLang="zh-TW" dirty="0" smtClean="0"/>
              <a:t> to be the new root.</a:t>
            </a:r>
          </a:p>
          <a:p>
            <a:r>
              <a:rPr lang="fi-FI" altLang="zh-TW" dirty="0" smtClean="0"/>
              <a:t>It was shown that the </a:t>
            </a:r>
            <a:r>
              <a:rPr lang="fi-FI" altLang="zh-TW" dirty="0"/>
              <a:t>dynamic MSP tree </a:t>
            </a:r>
            <a:r>
              <a:rPr lang="fi-FI" altLang="zh-TW" dirty="0" smtClean="0"/>
              <a:t>DME algorithm only needs about 1+log</a:t>
            </a:r>
            <a:r>
              <a:rPr lang="fi-FI" altLang="zh-TW" baseline="-25000" dirty="0" smtClean="0"/>
              <a:t>2</a:t>
            </a:r>
            <a:r>
              <a:rPr lang="fi-FI" altLang="zh-TW" dirty="0" smtClean="0"/>
              <a:t>N messages per CS.</a:t>
            </a:r>
            <a:endParaRPr lang="zh-TW" altLang="en-US" dirty="0"/>
          </a:p>
        </p:txBody>
      </p:sp>
      <p:sp>
        <p:nvSpPr>
          <p:cNvPr id="5" name="文字方塊 4"/>
          <p:cNvSpPr txBox="1"/>
          <p:nvPr/>
        </p:nvSpPr>
        <p:spPr>
          <a:xfrm>
            <a:off x="290645" y="4522990"/>
            <a:ext cx="424847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On initialization</a:t>
            </a:r>
          </a:p>
          <a:p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state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:= RELEASED;</a:t>
            </a:r>
          </a:p>
          <a:p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</a:t>
            </a:r>
            <a:r>
              <a:rPr kumimoji="0" lang="en-US" altLang="zh-TW" i="1" dirty="0" err="1" smtClean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HaveToken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:= TRUE or FALSE;</a:t>
            </a:r>
          </a:p>
          <a:p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 // TRUE for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root node,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FALSE for others;</a:t>
            </a:r>
          </a:p>
          <a:p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 </a:t>
            </a:r>
            <a:r>
              <a:rPr kumimoji="0" lang="en-US" altLang="zh-TW" i="1" dirty="0" smtClean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next</a:t>
            </a:r>
            <a:r>
              <a:rPr kumimoji="0" lang="pt-BR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pt-BR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:=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nil</a:t>
            </a:r>
            <a:r>
              <a:rPr kumimoji="0" lang="pt-BR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 </a:t>
            </a:r>
          </a:p>
          <a:p>
            <a:r>
              <a:rPr kumimoji="0" lang="pt-BR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pt-BR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</a:t>
            </a:r>
            <a:r>
              <a:rPr kumimoji="0" lang="pt-BR" altLang="zh-TW" i="1" dirty="0" smtClean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Holder</a:t>
            </a:r>
            <a:r>
              <a:rPr kumimoji="0" lang="pt-BR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root or nil;</a:t>
            </a:r>
          </a:p>
          <a:p>
            <a:r>
              <a:rPr kumimoji="0" lang="pt-BR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pt-BR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// nil for root,  root for others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4539117" y="4522990"/>
            <a:ext cx="4392488" cy="21729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1" hangingPunct="1"/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To enter the critical section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  <a:sym typeface="Times" panose="02020603050405020304" pitchFamily="18" charset="0"/>
              </a:rPr>
              <a:t>i</a:t>
            </a:r>
          </a:p>
          <a:p>
            <a:pPr lvl="0">
              <a:lnSpc>
                <a:spcPct val="120000"/>
              </a:lnSpc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  </a:t>
            </a:r>
            <a:r>
              <a:rPr kumimoji="0" lang="en-US" altLang="zh-TW" i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state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:= WANTED;</a:t>
            </a:r>
          </a:p>
          <a:p>
            <a:pPr lvl="0">
              <a:lnSpc>
                <a:spcPct val="120000"/>
              </a:lnSpc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 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If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(Holder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≠ nil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){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marL="640080" lvl="1" indent="-274320">
              <a:buClr>
                <a:srgbClr val="94B6D2"/>
              </a:buClr>
              <a:buSzPct val="70000"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send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a </a:t>
            </a:r>
            <a:r>
              <a:rPr kumimoji="0" lang="en-US" altLang="zh-TW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request token (</a:t>
            </a:r>
            <a:r>
              <a:rPr kumimoji="0" lang="en-US" altLang="zh-TW" dirty="0" err="1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i</a:t>
            </a:r>
            <a:r>
              <a:rPr kumimoji="0" lang="en-US" altLang="zh-TW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)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to </a:t>
            </a:r>
            <a:r>
              <a:rPr kumimoji="0" lang="en-US" altLang="zh-TW" i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Holder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</a:t>
            </a:r>
          </a:p>
          <a:p>
            <a:pPr marL="640080" lvl="1" indent="-274320">
              <a:buClr>
                <a:srgbClr val="94B6D2"/>
              </a:buClr>
              <a:buSzPct val="70000"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Holder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nil;</a:t>
            </a:r>
          </a:p>
          <a:p>
            <a:pPr marL="182880" indent="-274320">
              <a:buClr>
                <a:srgbClr val="94B6D2"/>
              </a:buClr>
              <a:buSzPct val="70000"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}else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marL="640080" lvl="1" indent="-274320">
              <a:buClr>
                <a:srgbClr val="94B6D2"/>
              </a:buClr>
              <a:buSzPct val="70000"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	</a:t>
            </a:r>
            <a:r>
              <a:rPr kumimoji="0" lang="en-US" altLang="zh-TW" i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state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IN-CS;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  <a:sym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3597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399802"/>
            <a:ext cx="7772400" cy="940966"/>
          </a:xfrm>
        </p:spPr>
        <p:txBody>
          <a:bodyPr/>
          <a:lstStyle/>
          <a:p>
            <a:r>
              <a:rPr lang="en-US" altLang="zh-TW" dirty="0" smtClean="0"/>
              <a:t>Path Compression in MSP Tree (2)</a:t>
            </a:r>
            <a:endParaRPr lang="zh-TW" altLang="en-US" dirty="0"/>
          </a:p>
        </p:txBody>
      </p:sp>
      <p:sp>
        <p:nvSpPr>
          <p:cNvPr id="4" name="文字方塊 3"/>
          <p:cNvSpPr txBox="1"/>
          <p:nvPr/>
        </p:nvSpPr>
        <p:spPr>
          <a:xfrm>
            <a:off x="35496" y="1916832"/>
            <a:ext cx="482453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1" fontAlgn="auto" hangingPunct="1"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On receiving a </a:t>
            </a:r>
            <a:r>
              <a:rPr kumimoji="0" lang="en-US" altLang="zh-TW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request </a:t>
            </a:r>
            <a:r>
              <a:rPr kumimoji="0" lang="en-US" altLang="zh-TW" sz="2000" b="1" dirty="0" smtClean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token(j) </a:t>
            </a: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lvl="0">
              <a:buClr>
                <a:srgbClr val="DD8047"/>
              </a:buClr>
              <a:buSzPct val="6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if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(Holder == nil) {</a:t>
            </a:r>
          </a:p>
          <a:p>
            <a:pPr lvl="0">
              <a:buClr>
                <a:srgbClr val="DD8047"/>
              </a:buClr>
              <a:buSzPct val="6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   if (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state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== WANITED or 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state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== IN-CS)</a:t>
            </a:r>
          </a:p>
          <a:p>
            <a:pPr lvl="0">
              <a:buClr>
                <a:srgbClr val="DD8047"/>
              </a:buClr>
              <a:buSzPct val="6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       </a:t>
            </a:r>
            <a:r>
              <a:rPr kumimoji="0" lang="en-US" altLang="zh-TW" i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n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ext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j;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marL="640080" lvl="1" indent="-274320">
              <a:buClr>
                <a:srgbClr val="94B6D2"/>
              </a:buClr>
              <a:buSzPct val="70000"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} else {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marL="640080" lvl="1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 send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a </a:t>
            </a:r>
            <a:r>
              <a:rPr kumimoji="0" lang="en-US" altLang="zh-TW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token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message to </a:t>
            </a:r>
            <a:r>
              <a:rPr kumimoji="0" lang="en-US" altLang="zh-TW" dirty="0" err="1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p</a:t>
            </a:r>
            <a:r>
              <a:rPr kumimoji="0" lang="en-US" altLang="zh-TW" baseline="-25000" dirty="0" err="1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j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</a:t>
            </a:r>
          </a:p>
          <a:p>
            <a:pPr marL="640080" lvl="1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 </a:t>
            </a:r>
            <a:r>
              <a:rPr kumimoji="0" lang="en-US" altLang="zh-TW" i="1" dirty="0" err="1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HaveToken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:= False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</a:t>
            </a:r>
          </a:p>
          <a:p>
            <a:pPr marL="640080" lvl="1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}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marL="182880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} else {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marL="640080" lvl="1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send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a </a:t>
            </a:r>
            <a:r>
              <a:rPr kumimoji="0" lang="en-US" altLang="zh-TW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request </a:t>
            </a:r>
            <a:r>
              <a:rPr kumimoji="0" lang="en-US" altLang="zh-TW" dirty="0" smtClean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token(</a:t>
            </a:r>
            <a:r>
              <a:rPr kumimoji="0" lang="en-US" altLang="zh-TW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j</a:t>
            </a:r>
            <a:r>
              <a:rPr kumimoji="0" lang="en-US" altLang="zh-TW" dirty="0" smtClean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)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message to </a:t>
            </a:r>
            <a:r>
              <a:rPr kumimoji="0" lang="en-US" altLang="zh-TW" i="1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Holder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</a:t>
            </a:r>
          </a:p>
          <a:p>
            <a:pPr marL="182880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 };</a:t>
            </a:r>
          </a:p>
          <a:p>
            <a:pPr marL="182880" indent="-274320">
              <a:buClr>
                <a:srgbClr val="94B6D2"/>
              </a:buClr>
              <a:buSzPct val="70000"/>
              <a:defRPr/>
            </a:pP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  <a:sym typeface="Times" panose="02020603050405020304" pitchFamily="18" charset="0"/>
              </a:rPr>
              <a:t>  Holder := j;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  <a:sym typeface="Times" panose="02020603050405020304" pitchFamily="18" charset="0"/>
            </a:endParaRPr>
          </a:p>
        </p:txBody>
      </p:sp>
      <p:sp>
        <p:nvSpPr>
          <p:cNvPr id="5" name="文字方塊 4"/>
          <p:cNvSpPr txBox="1"/>
          <p:nvPr/>
        </p:nvSpPr>
        <p:spPr>
          <a:xfrm>
            <a:off x="4849688" y="1916832"/>
            <a:ext cx="4258816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 exit the critical section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</a:p>
          <a:p>
            <a:r>
              <a:rPr kumimoji="0" lang="en-US" altLang="zh-TW" b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b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state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RELEASED;</a:t>
            </a:r>
          </a:p>
          <a:p>
            <a:r>
              <a:rPr kumimoji="0" lang="en-US" altLang="zh-TW" b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b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If (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next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≠ 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nil ){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send 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a </a:t>
            </a:r>
            <a:r>
              <a:rPr kumimoji="0" lang="en-US" altLang="zh-TW" dirty="0">
                <a:solidFill>
                  <a:srgbClr val="FF0000"/>
                </a:solidFill>
                <a:latin typeface="Tw Cen MT"/>
                <a:ea typeface="微軟正黑體" panose="020B0604030504040204" pitchFamily="34" charset="-120"/>
              </a:rPr>
              <a:t>token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message to 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next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</a:t>
            </a:r>
            <a:endParaRPr kumimoji="0" lang="en-US" altLang="zh-TW" dirty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lvl="1"/>
            <a:r>
              <a:rPr kumimoji="0" lang="en-US" altLang="zh-TW" i="1" dirty="0" err="1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HaveToken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False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; </a:t>
            </a:r>
            <a:endParaRPr kumimoji="0" lang="en-US" altLang="zh-TW" dirty="0" smtClean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  <a:p>
            <a:pPr lvl="1">
              <a:buNone/>
            </a:pP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next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nil;</a:t>
            </a:r>
          </a:p>
          <a:p>
            <a:pPr lvl="1">
              <a:buNone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}</a:t>
            </a:r>
          </a:p>
        </p:txBody>
      </p:sp>
      <p:sp>
        <p:nvSpPr>
          <p:cNvPr id="6" name="文字方塊 5"/>
          <p:cNvSpPr txBox="1"/>
          <p:nvPr/>
        </p:nvSpPr>
        <p:spPr>
          <a:xfrm>
            <a:off x="4932040" y="4440628"/>
            <a:ext cx="375476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1" fontAlgn="auto" hangingPunct="1">
              <a:spcBef>
                <a:spcPts val="700"/>
              </a:spcBef>
              <a:spcAft>
                <a:spcPts val="0"/>
              </a:spcAft>
              <a:buClr>
                <a:srgbClr val="DD8047"/>
              </a:buClr>
              <a:buSzPct val="60000"/>
              <a:defRPr/>
            </a:pP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Upon receiving a </a:t>
            </a:r>
            <a:r>
              <a:rPr kumimoji="0" lang="en-US" altLang="zh-TW" sz="2000" b="1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token</a:t>
            </a:r>
            <a:r>
              <a:rPr kumimoji="0" lang="en-US" altLang="zh-TW" sz="2000" b="1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 at p</a:t>
            </a:r>
            <a:r>
              <a:rPr kumimoji="0" lang="en-US" altLang="zh-TW" sz="2000" b="1" baseline="-25000" dirty="0">
                <a:solidFill>
                  <a:srgbClr val="00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</a:t>
            </a:r>
          </a:p>
          <a:p>
            <a:pPr lvl="1">
              <a:buNone/>
            </a:pPr>
            <a:r>
              <a:rPr kumimoji="0" lang="en-US" altLang="zh-TW" i="1" dirty="0" err="1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HaveToken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True;</a:t>
            </a:r>
          </a:p>
          <a:p>
            <a:pPr lvl="1">
              <a:buNone/>
            </a:pP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if (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state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== WANTED)</a:t>
            </a:r>
          </a:p>
          <a:p>
            <a:r>
              <a:rPr kumimoji="0" lang="en-US" altLang="zh-TW" i="1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</a:t>
            </a:r>
            <a:r>
              <a:rPr kumimoji="0" lang="en-US" altLang="zh-TW" i="1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         state</a:t>
            </a:r>
            <a:r>
              <a:rPr kumimoji="0" lang="en-US" altLang="zh-TW" dirty="0" smtClean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 := IN-CS;</a:t>
            </a:r>
            <a:r>
              <a:rPr kumimoji="0" lang="en-US" altLang="zh-TW" dirty="0">
                <a:solidFill>
                  <a:prstClr val="black"/>
                </a:solidFill>
                <a:latin typeface="Tw Cen MT"/>
                <a:ea typeface="微軟正黑體" panose="020B0604030504040204" pitchFamily="34" charset="-120"/>
              </a:rPr>
              <a:t>	</a:t>
            </a:r>
            <a:endParaRPr kumimoji="0" lang="en-US" altLang="zh-TW" dirty="0" smtClean="0">
              <a:solidFill>
                <a:prstClr val="black"/>
              </a:solidFill>
              <a:latin typeface="Tw Cen MT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024361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188641"/>
            <a:ext cx="3832736" cy="201622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21" y="2348880"/>
            <a:ext cx="3804865" cy="2016224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604" y="4509120"/>
            <a:ext cx="3811340" cy="2099234"/>
          </a:xfrm>
          <a:prstGeom prst="rect">
            <a:avLst/>
          </a:prstGeom>
        </p:spPr>
      </p:pic>
      <p:sp>
        <p:nvSpPr>
          <p:cNvPr id="9" name="文字方塊 8"/>
          <p:cNvSpPr txBox="1"/>
          <p:nvPr/>
        </p:nvSpPr>
        <p:spPr>
          <a:xfrm>
            <a:off x="4067944" y="548680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1. Initially, 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has the </a:t>
            </a:r>
            <a:r>
              <a:rPr lang="en-US" altLang="zh-TW" dirty="0" smtClean="0">
                <a:solidFill>
                  <a:srgbClr val="FF0000"/>
                </a:solidFill>
              </a:rPr>
              <a:t>token</a:t>
            </a:r>
            <a:r>
              <a:rPr lang="en-US" altLang="zh-TW" dirty="0" smtClean="0"/>
              <a:t> and is the </a:t>
            </a:r>
            <a:r>
              <a:rPr lang="en-US" altLang="zh-TW" dirty="0" smtClean="0">
                <a:solidFill>
                  <a:srgbClr val="FF0000"/>
                </a:solidFill>
              </a:rPr>
              <a:t>root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2. All others have </a:t>
            </a:r>
            <a:r>
              <a:rPr lang="en-US" altLang="zh-TW" dirty="0" smtClean="0">
                <a:solidFill>
                  <a:srgbClr val="FF0000"/>
                </a:solidFill>
              </a:rPr>
              <a:t>Holders</a:t>
            </a:r>
            <a:r>
              <a:rPr lang="en-US" altLang="zh-TW" dirty="0" smtClean="0"/>
              <a:t> pointing to 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.</a:t>
            </a:r>
            <a:endParaRPr lang="zh-TW" altLang="en-US" dirty="0"/>
          </a:p>
        </p:txBody>
      </p:sp>
      <p:sp>
        <p:nvSpPr>
          <p:cNvPr id="10" name="文字方塊 9"/>
          <p:cNvSpPr txBox="1"/>
          <p:nvPr/>
        </p:nvSpPr>
        <p:spPr>
          <a:xfrm>
            <a:off x="4084256" y="2348880"/>
            <a:ext cx="50597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1. 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wants to enter CS, sends a request (2) to its Holder (P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), and sets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to nil.</a:t>
            </a:r>
          </a:p>
          <a:p>
            <a:r>
              <a:rPr lang="en-US" altLang="zh-TW" dirty="0" smtClean="0"/>
              <a:t>2. 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sends the </a:t>
            </a:r>
            <a:r>
              <a:rPr lang="en-US" altLang="zh-TW" dirty="0" smtClean="0">
                <a:solidFill>
                  <a:srgbClr val="FF0000"/>
                </a:solidFill>
              </a:rPr>
              <a:t>token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,sets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3. 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receives the </a:t>
            </a:r>
            <a:r>
              <a:rPr lang="en-US" altLang="zh-TW" dirty="0" smtClean="0">
                <a:solidFill>
                  <a:srgbClr val="FF0000"/>
                </a:solidFill>
              </a:rPr>
              <a:t>token</a:t>
            </a:r>
            <a:r>
              <a:rPr lang="en-US" altLang="zh-TW" dirty="0" smtClean="0"/>
              <a:t> and enter CS.</a:t>
            </a:r>
            <a:endParaRPr lang="zh-TW" altLang="en-US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4084256" y="4509120"/>
            <a:ext cx="50597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1. 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wants to enter CS, sends a request (3) to its Holder (P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), and sets its Holder to nil.</a:t>
            </a:r>
          </a:p>
          <a:p>
            <a:r>
              <a:rPr lang="en-US" altLang="zh-TW" dirty="0" smtClean="0"/>
              <a:t>2. </a:t>
            </a:r>
            <a:r>
              <a:rPr lang="en-US" altLang="zh-TW" dirty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forward a request (3) to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(P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) and sets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3. 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receives a request (3), sets its </a:t>
            </a:r>
            <a:r>
              <a:rPr lang="en-US" altLang="zh-TW" dirty="0" smtClean="0">
                <a:solidFill>
                  <a:srgbClr val="FF0000"/>
                </a:solidFill>
              </a:rPr>
              <a:t>next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, and sets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also.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6620264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3" y="260649"/>
            <a:ext cx="3822933" cy="2088232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18" y="2708920"/>
            <a:ext cx="3833182" cy="2160240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085100" y="476672"/>
            <a:ext cx="50589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wants to enter CS, sends a request (4) to its Holder P</a:t>
            </a:r>
            <a:r>
              <a:rPr lang="en-US" altLang="zh-TW" baseline="-25000" dirty="0" smtClean="0"/>
              <a:t>1, </a:t>
            </a:r>
            <a:r>
              <a:rPr lang="en-US" altLang="zh-TW" dirty="0" smtClean="0"/>
              <a:t>and sets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to nil.</a:t>
            </a:r>
          </a:p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1</a:t>
            </a:r>
            <a:r>
              <a:rPr lang="en-US" altLang="zh-TW" dirty="0" smtClean="0"/>
              <a:t> forwards a request (4) to its Holder (P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) and sets its Holder to P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 receives a request (4), sets its </a:t>
            </a:r>
            <a:r>
              <a:rPr lang="en-US" altLang="zh-TW" dirty="0" smtClean="0">
                <a:solidFill>
                  <a:srgbClr val="FF0000"/>
                </a:solidFill>
              </a:rPr>
              <a:t>next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, and sets its </a:t>
            </a:r>
            <a:r>
              <a:rPr lang="en-US" altLang="zh-TW" dirty="0" smtClean="0">
                <a:solidFill>
                  <a:srgbClr val="FF0000"/>
                </a:solidFill>
              </a:rPr>
              <a:t>Holder</a:t>
            </a:r>
            <a:r>
              <a:rPr lang="en-US" altLang="zh-TW" dirty="0" smtClean="0"/>
              <a:t> to P</a:t>
            </a:r>
            <a:r>
              <a:rPr lang="en-US" altLang="zh-TW" baseline="-25000" dirty="0" smtClean="0"/>
              <a:t>4</a:t>
            </a:r>
            <a:r>
              <a:rPr lang="en-US" altLang="zh-TW" dirty="0" smtClean="0"/>
              <a:t> also. </a:t>
            </a:r>
            <a:endParaRPr lang="zh-TW" altLang="en-US" dirty="0"/>
          </a:p>
        </p:txBody>
      </p:sp>
      <p:sp>
        <p:nvSpPr>
          <p:cNvPr id="9" name="文字方塊 8"/>
          <p:cNvSpPr txBox="1"/>
          <p:nvPr/>
        </p:nvSpPr>
        <p:spPr>
          <a:xfrm>
            <a:off x="4283968" y="2852936"/>
            <a:ext cx="4752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 exits CS, sends the </a:t>
            </a:r>
            <a:r>
              <a:rPr lang="en-US" altLang="zh-TW" dirty="0" smtClean="0">
                <a:solidFill>
                  <a:srgbClr val="FF0000"/>
                </a:solidFill>
              </a:rPr>
              <a:t>token</a:t>
            </a:r>
            <a:r>
              <a:rPr lang="en-US" altLang="zh-TW" dirty="0" smtClean="0"/>
              <a:t> to its </a:t>
            </a:r>
            <a:r>
              <a:rPr lang="en-US" altLang="zh-TW" dirty="0" smtClean="0">
                <a:solidFill>
                  <a:srgbClr val="FF0000"/>
                </a:solidFill>
              </a:rPr>
              <a:t>next</a:t>
            </a:r>
            <a:r>
              <a:rPr lang="en-US" altLang="zh-TW" dirty="0" smtClean="0"/>
              <a:t> (P</a:t>
            </a:r>
            <a:r>
              <a:rPr lang="en-US" altLang="zh-TW" baseline="-25000" dirty="0" smtClean="0"/>
              <a:t>3</a:t>
            </a:r>
            <a:r>
              <a:rPr lang="en-US" altLang="zh-TW" dirty="0" smtClean="0"/>
              <a:t>), and sets its </a:t>
            </a:r>
            <a:r>
              <a:rPr lang="en-US" altLang="zh-TW" dirty="0" smtClean="0">
                <a:solidFill>
                  <a:srgbClr val="FF0000"/>
                </a:solidFill>
              </a:rPr>
              <a:t>next</a:t>
            </a:r>
            <a:r>
              <a:rPr lang="en-US" altLang="zh-TW" dirty="0" smtClean="0"/>
              <a:t> to nil.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702607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Fault Tolerant DME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75792"/>
            <a:ext cx="8928992" cy="5365576"/>
          </a:xfrm>
        </p:spPr>
        <p:txBody>
          <a:bodyPr/>
          <a:lstStyle/>
          <a:p>
            <a:r>
              <a:rPr lang="en-US" altLang="zh-TW" dirty="0" smtClean="0"/>
              <a:t>Both token passing </a:t>
            </a:r>
            <a:r>
              <a:rPr lang="en-US" altLang="zh-TW" dirty="0"/>
              <a:t>based (</a:t>
            </a:r>
            <a:r>
              <a:rPr lang="en-US" altLang="zh-TW" dirty="0" smtClean="0"/>
              <a:t>Suzuki, Raymond</a:t>
            </a:r>
            <a:r>
              <a:rPr lang="en-US" altLang="zh-TW" dirty="0"/>
              <a:t>, </a:t>
            </a:r>
            <a:r>
              <a:rPr lang="en-US" altLang="zh-TW" dirty="0" smtClean="0"/>
              <a:t>Naimia, …) and quorum based (</a:t>
            </a:r>
            <a:r>
              <a:rPr lang="en-US" altLang="zh-TW" dirty="0" err="1" smtClean="0"/>
              <a:t>Ricart</a:t>
            </a:r>
            <a:r>
              <a:rPr lang="en-US" altLang="zh-TW" dirty="0"/>
              <a:t>, </a:t>
            </a:r>
            <a:r>
              <a:rPr lang="en-US" altLang="zh-TW" dirty="0" err="1" smtClean="0"/>
              <a:t>Maekawa</a:t>
            </a:r>
            <a:r>
              <a:rPr lang="en-US" altLang="zh-TW" dirty="0" smtClean="0"/>
              <a:t>, Sanders, …)  DME algorithms need to handle failures with special cares.</a:t>
            </a:r>
          </a:p>
          <a:p>
            <a:r>
              <a:rPr lang="en-US" altLang="zh-TW" dirty="0" smtClean="0"/>
              <a:t>Agrawal and </a:t>
            </a:r>
            <a:r>
              <a:rPr lang="en-US" altLang="zh-TW" dirty="0" err="1" smtClean="0"/>
              <a:t>Abbadi</a:t>
            </a:r>
            <a:r>
              <a:rPr lang="en-US" altLang="zh-TW" dirty="0" smtClean="0"/>
              <a:t> proposed a mechanism to dynamically create quorums for processes in a DS when failures occur.</a:t>
            </a:r>
          </a:p>
          <a:p>
            <a:pPr lvl="1"/>
            <a:r>
              <a:rPr lang="en-US" altLang="zh-TW" dirty="0"/>
              <a:t>A coterie </a:t>
            </a:r>
            <a:r>
              <a:rPr lang="en-US" altLang="zh-TW" dirty="0" smtClean="0"/>
              <a:t>is a set </a:t>
            </a:r>
            <a:r>
              <a:rPr lang="en-US" altLang="zh-TW" dirty="0"/>
              <a:t>of sets with the property that any two members of a coterie have </a:t>
            </a:r>
            <a:r>
              <a:rPr lang="en-US" altLang="zh-TW" dirty="0" smtClean="0"/>
              <a:t>a nonempty intersection</a:t>
            </a:r>
            <a:r>
              <a:rPr lang="en-US" altLang="zh-TW" dirty="0"/>
              <a:t>.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A DS is organized as a logical binary tree.</a:t>
            </a:r>
          </a:p>
          <a:p>
            <a:pPr lvl="2"/>
            <a:r>
              <a:rPr lang="en-US" altLang="zh-TW" dirty="0" smtClean="0"/>
              <a:t>Each node in the tree is representing a process in the DS.</a:t>
            </a:r>
          </a:p>
          <a:p>
            <a:pPr lvl="2"/>
            <a:r>
              <a:rPr lang="en-US" altLang="zh-TW" dirty="0" smtClean="0"/>
              <a:t>A valid quorum is a path from any leave node to the root.</a:t>
            </a:r>
          </a:p>
          <a:p>
            <a:pPr lvl="2"/>
            <a:r>
              <a:rPr lang="en-US" altLang="zh-TW" dirty="0" smtClean="0"/>
              <a:t>If a node S fails, then any valid quorum Q which contains S can be adjusted to Q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where Q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= Q-{S}+LQ</a:t>
            </a:r>
            <a:r>
              <a:rPr lang="en-US" altLang="zh-TW" baseline="-25000" dirty="0" smtClean="0"/>
              <a:t>S</a:t>
            </a:r>
            <a:r>
              <a:rPr lang="en-US" altLang="zh-TW" dirty="0" smtClean="0"/>
              <a:t>+RQ</a:t>
            </a:r>
            <a:r>
              <a:rPr lang="en-US" altLang="zh-TW" baseline="-25000" dirty="0" smtClean="0"/>
              <a:t>S</a:t>
            </a:r>
            <a:r>
              <a:rPr lang="en-US" altLang="zh-TW" dirty="0" smtClean="0"/>
              <a:t>. </a:t>
            </a:r>
          </a:p>
          <a:p>
            <a:pPr lvl="2"/>
            <a:r>
              <a:rPr lang="en-US" altLang="zh-TW" dirty="0" smtClean="0"/>
              <a:t>LQs and RQs are any valid quorum rooted by left and right children of S respectively.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992937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07306"/>
            <a:ext cx="7772400" cy="833462"/>
          </a:xfrm>
        </p:spPr>
        <p:txBody>
          <a:bodyPr/>
          <a:lstStyle/>
          <a:p>
            <a:pPr algn="ctr"/>
            <a:r>
              <a:rPr lang="en-US" altLang="zh-TW" dirty="0" smtClean="0"/>
              <a:t>An example of 15 nodes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340768"/>
            <a:ext cx="8496944" cy="4572000"/>
          </a:xfrm>
        </p:spPr>
        <p:txBody>
          <a:bodyPr/>
          <a:lstStyle/>
          <a:p>
            <a:r>
              <a:rPr lang="en-US" altLang="zh-TW" dirty="0"/>
              <a:t>8 possible </a:t>
            </a:r>
            <a:r>
              <a:rPr lang="en-US" altLang="zh-TW" dirty="0" smtClean="0"/>
              <a:t>valid quorums are</a:t>
            </a:r>
          </a:p>
          <a:p>
            <a:pPr lvl="1"/>
            <a:r>
              <a:rPr lang="en-US" altLang="zh-TW" dirty="0" smtClean="0"/>
              <a:t>root-leaf </a:t>
            </a:r>
            <a:r>
              <a:rPr lang="en-US" altLang="zh-TW" dirty="0"/>
              <a:t>paths: </a:t>
            </a:r>
            <a:r>
              <a:rPr lang="en-US" altLang="zh-TW" dirty="0" smtClean="0"/>
              <a:t>1-2-4-8, 1-2-4-9</a:t>
            </a:r>
            <a:r>
              <a:rPr lang="en-US" altLang="zh-TW" dirty="0"/>
              <a:t>, 1-2-5-10, 1-2-5-11, </a:t>
            </a:r>
            <a:endParaRPr lang="en-US" altLang="zh-TW" dirty="0" smtClean="0"/>
          </a:p>
          <a:p>
            <a:pPr marL="319088" lvl="1" indent="0">
              <a:buNone/>
            </a:pPr>
            <a:r>
              <a:rPr lang="en-US" altLang="zh-TW" dirty="0" smtClean="0"/>
              <a:t>                          1-3-6-12</a:t>
            </a:r>
            <a:r>
              <a:rPr lang="en-US" altLang="zh-TW" dirty="0"/>
              <a:t>, </a:t>
            </a:r>
            <a:r>
              <a:rPr lang="en-US" altLang="zh-TW" dirty="0" smtClean="0"/>
              <a:t>1-3-6-13</a:t>
            </a:r>
            <a:r>
              <a:rPr lang="en-US" altLang="zh-TW" dirty="0"/>
              <a:t>, 1-3-7-14 and 1-3-7-15.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399" y="2810160"/>
            <a:ext cx="7441201" cy="38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741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Fault Tolerant Properties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79512" y="1447800"/>
                <a:ext cx="8784976" cy="5149552"/>
              </a:xfrm>
            </p:spPr>
            <p:txBody>
              <a:bodyPr/>
              <a:lstStyle/>
              <a:p>
                <a:r>
                  <a:rPr lang="en-US" altLang="zh-TW" dirty="0"/>
                  <a:t>If any site fails, the </a:t>
                </a:r>
                <a:r>
                  <a:rPr lang="en-US" altLang="zh-TW" dirty="0" smtClean="0"/>
                  <a:t>quorums containing that site are adjusted by two </a:t>
                </a:r>
                <a:r>
                  <a:rPr lang="en-US" altLang="zh-TW" dirty="0"/>
                  <a:t>possible </a:t>
                </a:r>
                <a:r>
                  <a:rPr lang="en-US" altLang="zh-TW" dirty="0" smtClean="0"/>
                  <a:t>paths starting </a:t>
                </a:r>
                <a:r>
                  <a:rPr lang="en-US" altLang="zh-TW" dirty="0"/>
                  <a:t>from the </a:t>
                </a:r>
                <a:r>
                  <a:rPr lang="en-US" altLang="zh-TW" dirty="0" smtClean="0"/>
                  <a:t>site</a:t>
                </a:r>
                <a:r>
                  <a:rPr lang="en-US" altLang="zh-TW" dirty="0" smtClean="0">
                    <a:latin typeface="新細明體" panose="02020500000000000000" pitchFamily="18" charset="-120"/>
                    <a:ea typeface="新細明體" panose="02020500000000000000" pitchFamily="18" charset="-120"/>
                  </a:rPr>
                  <a:t>'</a:t>
                </a:r>
                <a:r>
                  <a:rPr lang="en-US" altLang="zh-TW" dirty="0" smtClean="0"/>
                  <a:t>s </a:t>
                </a:r>
                <a:r>
                  <a:rPr lang="en-US" altLang="zh-TW" dirty="0"/>
                  <a:t>two children and ending in leaf nodes.</a:t>
                </a:r>
              </a:p>
              <a:p>
                <a:r>
                  <a:rPr lang="en-US" altLang="zh-TW" dirty="0" smtClean="0"/>
                  <a:t>When </a:t>
                </a:r>
                <a:r>
                  <a:rPr lang="en-US" altLang="zh-TW" dirty="0"/>
                  <a:t>node 3 fails</a:t>
                </a:r>
                <a:r>
                  <a:rPr lang="en-US" altLang="zh-TW" dirty="0" smtClean="0"/>
                  <a:t>, quorums are adjusted as following: </a:t>
                </a:r>
              </a:p>
              <a:p>
                <a:pPr lvl="1"/>
                <a:r>
                  <a:rPr lang="en-US" altLang="zh-TW" dirty="0" smtClean="0"/>
                  <a:t>The </a:t>
                </a:r>
                <a:r>
                  <a:rPr lang="en-US" altLang="zh-TW" dirty="0"/>
                  <a:t>possible paths starting from child 6 are 6-12 and 6-13, and from child 7 are 7-14 and 7-15.</a:t>
                </a:r>
              </a:p>
              <a:p>
                <a:pPr lvl="1"/>
                <a:r>
                  <a:rPr lang="en-US" altLang="zh-TW" dirty="0"/>
                  <a:t>Thus, the new valid 8 quorums are:</a:t>
                </a:r>
              </a:p>
              <a:p>
                <a:pPr marL="593725" lvl="2" indent="0">
                  <a:buNone/>
                </a:pPr>
                <a:r>
                  <a:rPr lang="en-US" altLang="zh-TW" dirty="0"/>
                  <a:t>{1,2,4,8},{1,2,4,9},{1,2,5,10}, {1,2,5,11},</a:t>
                </a:r>
                <a:endParaRPr lang="zh-TW" altLang="en-US" dirty="0"/>
              </a:p>
              <a:p>
                <a:pPr marL="593725" lvl="2" indent="0">
                  <a:buNone/>
                </a:pPr>
                <a:r>
                  <a:rPr lang="en-US" altLang="zh-TW" dirty="0"/>
                  <a:t>{1,6,12,7,14}, {1,6,12,7,15}, {1,6,13,7,14}, {1,6,13,7,15}, </a:t>
                </a:r>
              </a:p>
              <a:p>
                <a:r>
                  <a:rPr lang="en-US" altLang="zh-TW" dirty="0" smtClean="0"/>
                  <a:t>It can </a:t>
                </a:r>
                <a:r>
                  <a:rPr lang="en-US" altLang="zh-TW" dirty="0"/>
                  <a:t>tolerate up to </a:t>
                </a:r>
                <a:r>
                  <a:rPr lang="en-US" altLang="zh-TW" dirty="0" smtClean="0"/>
                  <a:t>N-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altLang="zh-TW" dirty="0"/>
                          <m:t>log</m:t>
                        </m:r>
                        <m:r>
                          <m:rPr>
                            <m:nor/>
                          </m:rPr>
                          <a:rPr lang="en-US" altLang="zh-TW" dirty="0"/>
                          <m:t>2</m:t>
                        </m:r>
                        <m:r>
                          <m:rPr>
                            <m:nor/>
                          </m:rPr>
                          <a:rPr lang="en-US" altLang="zh-TW" dirty="0"/>
                          <m:t>N</m:t>
                        </m:r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node failures and still form a tree quorum.</a:t>
                </a:r>
              </a:p>
              <a:p>
                <a:r>
                  <a:rPr lang="en-US" altLang="zh-TW" dirty="0"/>
                  <a:t>Nodes 1, 2, 4, 8 can </a:t>
                </a:r>
                <a:r>
                  <a:rPr lang="en-US" altLang="zh-TW" dirty="0" smtClean="0"/>
                  <a:t>form </a:t>
                </a:r>
                <a:r>
                  <a:rPr lang="en-US" altLang="zh-TW" dirty="0"/>
                  <a:t>a quorum when all other nodes fail.</a:t>
                </a:r>
              </a:p>
              <a:p>
                <a:endParaRPr lang="en-US" altLang="zh-TW" dirty="0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9512" y="1447800"/>
                <a:ext cx="8784976" cy="5149552"/>
              </a:xfrm>
              <a:blipFill>
                <a:blip r:embed="rId2"/>
                <a:stretch>
                  <a:fillRect l="-693" t="-1066" b="-130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068416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9552" y="543818"/>
            <a:ext cx="8208912" cy="796950"/>
          </a:xfrm>
        </p:spPr>
        <p:txBody>
          <a:bodyPr/>
          <a:lstStyle/>
          <a:p>
            <a:pPr algn="ctr"/>
            <a:r>
              <a:rPr lang="en-US" altLang="zh-TW" dirty="0"/>
              <a:t>Leader </a:t>
            </a:r>
            <a:r>
              <a:rPr lang="en-US" altLang="zh-TW" dirty="0" smtClean="0"/>
              <a:t>Elections (LE) </a:t>
            </a:r>
            <a:r>
              <a:rPr lang="en-US" altLang="zh-TW" dirty="0"/>
              <a:t>in </a:t>
            </a:r>
            <a:r>
              <a:rPr lang="en-US" altLang="zh-TW" dirty="0" smtClean="0"/>
              <a:t>DSs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340768"/>
            <a:ext cx="9036496" cy="5221560"/>
          </a:xfrm>
        </p:spPr>
        <p:txBody>
          <a:bodyPr/>
          <a:lstStyle/>
          <a:p>
            <a:r>
              <a:rPr lang="en-US" altLang="zh-TW" dirty="0"/>
              <a:t>In a DS, </a:t>
            </a:r>
            <a:r>
              <a:rPr lang="en-US" altLang="zh-TW" dirty="0" smtClean="0"/>
              <a:t>it is a common practice to designate </a:t>
            </a:r>
            <a:r>
              <a:rPr lang="en-US" altLang="zh-TW" dirty="0"/>
              <a:t>a process (a leader) as the coordinator of some forthcoming </a:t>
            </a:r>
            <a:r>
              <a:rPr lang="en-US" altLang="zh-TW" dirty="0" smtClean="0"/>
              <a:t>task.</a:t>
            </a:r>
            <a:endParaRPr lang="en-US" altLang="zh-TW" dirty="0"/>
          </a:p>
          <a:p>
            <a:pPr lvl="1"/>
            <a:r>
              <a:rPr lang="en-US" altLang="zh-TW" dirty="0"/>
              <a:t>In the central-server DME algorithm, the server is chosen from the processes p</a:t>
            </a:r>
            <a:r>
              <a:rPr lang="en-US" altLang="zh-TW" baseline="-25000" dirty="0"/>
              <a:t>i</a:t>
            </a:r>
            <a:r>
              <a:rPr lang="en-US" altLang="zh-TW" dirty="0"/>
              <a:t>, (</a:t>
            </a:r>
            <a:r>
              <a:rPr lang="en-US" altLang="zh-TW" dirty="0" err="1"/>
              <a:t>i</a:t>
            </a:r>
            <a:r>
              <a:rPr lang="en-US" altLang="zh-TW" dirty="0"/>
              <a:t> = 1, 2, …, N) that need to use the CS.</a:t>
            </a:r>
          </a:p>
          <a:p>
            <a:r>
              <a:rPr lang="en-US" altLang="zh-TW" dirty="0"/>
              <a:t>Assume that a unique priority number is associated with each active process in the system, and assume that the priority number of process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 </a:t>
            </a:r>
            <a:r>
              <a:rPr lang="en-US" altLang="zh-TW" dirty="0"/>
              <a:t>is </a:t>
            </a:r>
            <a:r>
              <a:rPr lang="en-US" altLang="zh-TW" dirty="0" err="1"/>
              <a:t>i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The new coordinator </a:t>
            </a:r>
            <a:r>
              <a:rPr lang="en-US" altLang="zh-TW" dirty="0"/>
              <a:t>is </a:t>
            </a:r>
            <a:r>
              <a:rPr lang="en-US" altLang="zh-TW" dirty="0" smtClean="0"/>
              <a:t>the </a:t>
            </a:r>
            <a:r>
              <a:rPr lang="en-US" altLang="zh-TW" dirty="0"/>
              <a:t>process with the largest priority number.  </a:t>
            </a:r>
          </a:p>
          <a:p>
            <a:r>
              <a:rPr lang="en-US" altLang="zh-TW" dirty="0"/>
              <a:t>When a coordinator fails, the </a:t>
            </a:r>
            <a:r>
              <a:rPr lang="en-US" altLang="zh-TW" dirty="0" smtClean="0"/>
              <a:t>active </a:t>
            </a:r>
            <a:r>
              <a:rPr lang="en-US" altLang="zh-TW" dirty="0"/>
              <a:t>process with the largest priority </a:t>
            </a:r>
            <a:r>
              <a:rPr lang="en-US" altLang="zh-TW" dirty="0" smtClean="0"/>
              <a:t>number must be elected as the new leader.</a:t>
            </a:r>
            <a:endParaRPr lang="en-US" altLang="zh-TW" dirty="0"/>
          </a:p>
          <a:p>
            <a:r>
              <a:rPr lang="en-US" altLang="zh-TW" dirty="0"/>
              <a:t>Two algorithms, the </a:t>
            </a:r>
            <a:r>
              <a:rPr lang="en-US" altLang="zh-TW" dirty="0">
                <a:solidFill>
                  <a:srgbClr val="FF0000"/>
                </a:solidFill>
              </a:rPr>
              <a:t>bully</a:t>
            </a:r>
            <a:r>
              <a:rPr lang="en-US" altLang="zh-TW" dirty="0"/>
              <a:t> algorithm and a </a:t>
            </a:r>
            <a:r>
              <a:rPr lang="en-US" altLang="zh-TW" dirty="0">
                <a:solidFill>
                  <a:srgbClr val="FF0000"/>
                </a:solidFill>
              </a:rPr>
              <a:t>ring</a:t>
            </a:r>
            <a:r>
              <a:rPr lang="en-US" altLang="zh-TW" dirty="0"/>
              <a:t> algorithm, can be used to elect a new coordinator in case of failures.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8300270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The Bully LE Algorithm (1)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47800"/>
            <a:ext cx="9036496" cy="5410200"/>
          </a:xfrm>
        </p:spPr>
        <p:txBody>
          <a:bodyPr/>
          <a:lstStyle/>
          <a:p>
            <a:r>
              <a:rPr lang="en-US" altLang="zh-TW" dirty="0" smtClean="0"/>
              <a:t>It is assumed that </a:t>
            </a:r>
            <a:r>
              <a:rPr lang="en-US" altLang="zh-TW" dirty="0"/>
              <a:t>every process can send a message to </a:t>
            </a:r>
            <a:r>
              <a:rPr lang="en-US" altLang="zh-TW" dirty="0" smtClean="0"/>
              <a:t>all </a:t>
            </a:r>
            <a:r>
              <a:rPr lang="en-US" altLang="zh-TW" dirty="0"/>
              <a:t>other </a:t>
            </a:r>
            <a:r>
              <a:rPr lang="en-US" altLang="zh-TW" dirty="0" smtClean="0"/>
              <a:t>processes </a:t>
            </a:r>
            <a:r>
              <a:rPr lang="en-US" altLang="zh-TW" dirty="0"/>
              <a:t>in the </a:t>
            </a:r>
            <a:r>
              <a:rPr lang="en-US" altLang="zh-TW" dirty="0" smtClean="0"/>
              <a:t>system</a:t>
            </a:r>
            <a:r>
              <a:rPr lang="en-US" altLang="zh-TW" dirty="0"/>
              <a:t>.</a:t>
            </a:r>
          </a:p>
          <a:p>
            <a:r>
              <a:rPr lang="en-US" altLang="zh-TW" dirty="0"/>
              <a:t>If process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sends a request that is not answered by the coordinator within a </a:t>
            </a:r>
            <a:r>
              <a:rPr lang="en-US" altLang="zh-TW" dirty="0" smtClean="0"/>
              <a:t>predefined time </a:t>
            </a:r>
            <a:r>
              <a:rPr lang="en-US" altLang="zh-TW" dirty="0"/>
              <a:t>interval T,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coordinator is assumed to have failed. </a:t>
            </a:r>
          </a:p>
          <a:p>
            <a:r>
              <a:rPr lang="en-US" altLang="zh-TW" dirty="0" smtClean="0"/>
              <a:t>The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then tries </a:t>
            </a:r>
            <a:r>
              <a:rPr lang="en-US" altLang="zh-TW" dirty="0"/>
              <a:t>to elect itself as the new coordinator.</a:t>
            </a:r>
          </a:p>
          <a:p>
            <a:pPr lvl="1"/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sends an </a:t>
            </a:r>
            <a:r>
              <a:rPr lang="en-US" altLang="zh-TW" dirty="0" smtClean="0">
                <a:solidFill>
                  <a:srgbClr val="FF0000"/>
                </a:solidFill>
              </a:rPr>
              <a:t>election(</a:t>
            </a:r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 </a:t>
            </a:r>
            <a:r>
              <a:rPr lang="en-US" altLang="zh-TW" dirty="0"/>
              <a:t>message to every process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with a higher priority number than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and </a:t>
            </a:r>
            <a:r>
              <a:rPr lang="en-US" altLang="zh-TW" dirty="0"/>
              <a:t>waits for </a:t>
            </a:r>
            <a:r>
              <a:rPr lang="en-US" altLang="zh-TW" dirty="0" smtClean="0"/>
              <a:t>a </a:t>
            </a:r>
            <a:r>
              <a:rPr lang="en-US" altLang="zh-TW" dirty="0" smtClean="0">
                <a:solidFill>
                  <a:srgbClr val="FF0000"/>
                </a:solidFill>
              </a:rPr>
              <a:t>response</a:t>
            </a:r>
            <a:r>
              <a:rPr lang="en-US" altLang="zh-TW" dirty="0" smtClean="0"/>
              <a:t> </a:t>
            </a:r>
            <a:r>
              <a:rPr lang="en-US" altLang="zh-TW" dirty="0"/>
              <a:t>within T.</a:t>
            </a:r>
          </a:p>
          <a:p>
            <a:pPr lvl="1"/>
            <a:r>
              <a:rPr lang="en-US" altLang="zh-TW" dirty="0"/>
              <a:t>If </a:t>
            </a:r>
            <a:r>
              <a:rPr lang="en-US" altLang="zh-TW" dirty="0">
                <a:solidFill>
                  <a:srgbClr val="FF0000"/>
                </a:solidFill>
              </a:rPr>
              <a:t>no response </a:t>
            </a:r>
            <a:r>
              <a:rPr lang="en-US" altLang="zh-TW" dirty="0"/>
              <a:t>within T, </a:t>
            </a:r>
          </a:p>
          <a:p>
            <a:pPr lvl="2"/>
            <a:r>
              <a:rPr lang="en-US" altLang="zh-TW" dirty="0"/>
              <a:t>i</a:t>
            </a:r>
            <a:r>
              <a:rPr lang="en-US" altLang="zh-TW" dirty="0" smtClean="0"/>
              <a:t>t </a:t>
            </a:r>
            <a:r>
              <a:rPr lang="en-US" altLang="zh-TW" dirty="0"/>
              <a:t>is assumed that all processes with </a:t>
            </a:r>
            <a:r>
              <a:rPr lang="en-US" altLang="zh-TW" dirty="0" smtClean="0"/>
              <a:t>higher priority </a:t>
            </a:r>
            <a:r>
              <a:rPr lang="en-US" altLang="zh-TW" dirty="0"/>
              <a:t>have failed. </a:t>
            </a:r>
          </a:p>
          <a:p>
            <a:pPr lvl="2"/>
            <a:r>
              <a:rPr lang="en-US" altLang="zh-TW" dirty="0" smtClean="0"/>
              <a:t>The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then elects </a:t>
            </a:r>
            <a:r>
              <a:rPr lang="en-US" altLang="zh-TW" dirty="0"/>
              <a:t>itself as the new </a:t>
            </a:r>
            <a:r>
              <a:rPr lang="en-US" altLang="zh-TW" dirty="0" smtClean="0"/>
              <a:t>coordinator</a:t>
            </a:r>
            <a:r>
              <a:rPr lang="en-US" altLang="zh-TW" dirty="0"/>
              <a:t> </a:t>
            </a:r>
            <a:r>
              <a:rPr lang="en-US" altLang="zh-TW" dirty="0" smtClean="0"/>
              <a:t>and sends </a:t>
            </a:r>
            <a:r>
              <a:rPr lang="en-US" altLang="zh-TW" dirty="0" smtClean="0">
                <a:solidFill>
                  <a:srgbClr val="FF0000"/>
                </a:solidFill>
              </a:rPr>
              <a:t>coordinator(</a:t>
            </a:r>
            <a:r>
              <a:rPr lang="en-US" altLang="zh-TW" dirty="0" err="1" smtClean="0">
                <a:solidFill>
                  <a:srgbClr val="FF0000"/>
                </a:solidFill>
              </a:rPr>
              <a:t>i</a:t>
            </a:r>
            <a:r>
              <a:rPr lang="en-US" altLang="zh-TW" dirty="0" smtClean="0">
                <a:solidFill>
                  <a:srgbClr val="FF0000"/>
                </a:solidFill>
              </a:rPr>
              <a:t>)</a:t>
            </a:r>
            <a:r>
              <a:rPr lang="en-US" altLang="zh-TW" dirty="0" smtClean="0"/>
              <a:t> to all processes.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09064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The Bully </a:t>
            </a:r>
            <a:r>
              <a:rPr lang="en-US" altLang="zh-TW" dirty="0" smtClean="0"/>
              <a:t>LE Algorithm (2)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40768"/>
            <a:ext cx="8928992" cy="5437584"/>
          </a:xfrm>
        </p:spPr>
        <p:txBody>
          <a:bodyPr/>
          <a:lstStyle/>
          <a:p>
            <a:pPr lvl="1"/>
            <a:r>
              <a:rPr lang="en-US" altLang="zh-TW" dirty="0"/>
              <a:t>If </a:t>
            </a:r>
            <a:r>
              <a:rPr lang="en-US" altLang="zh-TW" dirty="0" smtClean="0"/>
              <a:t>a response is </a:t>
            </a:r>
            <a:r>
              <a:rPr lang="en-US" altLang="zh-TW" dirty="0"/>
              <a:t>received,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begins a time interval </a:t>
            </a:r>
            <a:r>
              <a:rPr lang="en-US" altLang="zh-TW" dirty="0" smtClean="0"/>
              <a:t>T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 and</a:t>
            </a:r>
            <a:r>
              <a:rPr lang="en-US" altLang="zh-TW" dirty="0" smtClean="0"/>
              <a:t> waits for a </a:t>
            </a:r>
            <a:r>
              <a:rPr lang="en-US" altLang="zh-TW" dirty="0" smtClean="0">
                <a:solidFill>
                  <a:srgbClr val="FF0000"/>
                </a:solidFill>
              </a:rPr>
              <a:t>coordinator(?)</a:t>
            </a:r>
            <a:r>
              <a:rPr lang="en-US" altLang="zh-TW" dirty="0" smtClean="0"/>
              <a:t> message.</a:t>
            </a:r>
            <a:endParaRPr lang="en-US" altLang="zh-TW" dirty="0"/>
          </a:p>
          <a:p>
            <a:pPr lvl="2"/>
            <a:r>
              <a:rPr lang="en-US" altLang="zh-TW" dirty="0"/>
              <a:t>If no </a:t>
            </a:r>
            <a:r>
              <a:rPr lang="en-US" altLang="zh-TW" dirty="0" smtClean="0">
                <a:solidFill>
                  <a:srgbClr val="FF0000"/>
                </a:solidFill>
              </a:rPr>
              <a:t>coordinator(?) </a:t>
            </a:r>
            <a:r>
              <a:rPr lang="en-US" altLang="zh-TW" dirty="0" smtClean="0"/>
              <a:t>message </a:t>
            </a:r>
            <a:r>
              <a:rPr lang="en-US" altLang="zh-TW" dirty="0"/>
              <a:t>is </a:t>
            </a:r>
            <a:r>
              <a:rPr lang="en-US" altLang="zh-TW" dirty="0" smtClean="0"/>
              <a:t>received </a:t>
            </a:r>
            <a:r>
              <a:rPr lang="en-US" altLang="zh-TW" dirty="0"/>
              <a:t>within </a:t>
            </a:r>
            <a:r>
              <a:rPr lang="en-US" altLang="zh-TW" dirty="0" smtClean="0"/>
              <a:t>T</a:t>
            </a:r>
            <a:r>
              <a:rPr lang="en-US" altLang="zh-TW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'</a:t>
            </a:r>
            <a:r>
              <a:rPr lang="en-US" altLang="zh-TW" dirty="0" smtClean="0"/>
              <a:t>, </a:t>
            </a:r>
            <a:endParaRPr lang="en-US" altLang="zh-TW" dirty="0"/>
          </a:p>
          <a:p>
            <a:pPr lvl="3"/>
            <a:r>
              <a:rPr lang="en-US" altLang="zh-TW" dirty="0"/>
              <a:t>i</a:t>
            </a:r>
            <a:r>
              <a:rPr lang="en-US" altLang="zh-TW" dirty="0" smtClean="0"/>
              <a:t>t </a:t>
            </a:r>
            <a:r>
              <a:rPr lang="en-US" altLang="zh-TW" dirty="0"/>
              <a:t>is assumed that the process with a higher number has failed.</a:t>
            </a:r>
          </a:p>
          <a:p>
            <a:pPr lvl="3"/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should </a:t>
            </a:r>
            <a:r>
              <a:rPr lang="en-US" altLang="zh-TW" dirty="0">
                <a:solidFill>
                  <a:srgbClr val="FF0000"/>
                </a:solidFill>
              </a:rPr>
              <a:t>restart</a:t>
            </a:r>
            <a:r>
              <a:rPr lang="en-US" altLang="zh-TW" dirty="0"/>
              <a:t> the </a:t>
            </a:r>
            <a:r>
              <a:rPr lang="en-US" altLang="zh-TW" dirty="0" smtClean="0"/>
              <a:t>leader election algorithm </a:t>
            </a:r>
            <a:r>
              <a:rPr lang="en-US" altLang="zh-TW" dirty="0"/>
              <a:t>again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If 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is not the </a:t>
            </a:r>
            <a:r>
              <a:rPr lang="en-US" altLang="zh-TW" dirty="0" smtClean="0"/>
              <a:t>current coordinator</a:t>
            </a:r>
            <a:r>
              <a:rPr lang="en-US" altLang="zh-TW" dirty="0"/>
              <a:t>, </a:t>
            </a:r>
            <a:r>
              <a:rPr lang="en-US" altLang="zh-TW" dirty="0" smtClean="0"/>
              <a:t>then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may receive one of the following two messages from process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/>
              <a:t>.</a:t>
            </a:r>
          </a:p>
          <a:p>
            <a:pPr lvl="1"/>
            <a:r>
              <a:rPr lang="en-US" altLang="zh-TW" dirty="0" smtClean="0"/>
              <a:t>If receiving a </a:t>
            </a:r>
            <a:r>
              <a:rPr lang="en-US" altLang="zh-TW" dirty="0" smtClean="0">
                <a:solidFill>
                  <a:srgbClr val="FF0000"/>
                </a:solidFill>
              </a:rPr>
              <a:t>coordinator(j) </a:t>
            </a:r>
            <a:r>
              <a:rPr lang="en-US" altLang="zh-TW" dirty="0" smtClean="0"/>
              <a:t>message and (j </a:t>
            </a:r>
            <a:r>
              <a:rPr lang="en-US" altLang="zh-TW" dirty="0"/>
              <a:t>&gt; </a:t>
            </a:r>
            <a:r>
              <a:rPr lang="en-US" altLang="zh-TW" dirty="0" err="1"/>
              <a:t>i</a:t>
            </a:r>
            <a:r>
              <a:rPr lang="en-US" altLang="zh-TW" dirty="0" smtClean="0"/>
              <a:t>),  </a:t>
            </a:r>
            <a:endParaRPr lang="en-US" altLang="zh-TW" dirty="0"/>
          </a:p>
          <a:p>
            <a:pPr lvl="2"/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records </a:t>
            </a:r>
            <a:r>
              <a:rPr lang="en-US" altLang="zh-TW" dirty="0" smtClean="0"/>
              <a:t>that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is the new coordinator.</a:t>
            </a:r>
            <a:endParaRPr lang="en-US" altLang="zh-TW" dirty="0"/>
          </a:p>
          <a:p>
            <a:pPr lvl="1"/>
            <a:r>
              <a:rPr lang="en-US" altLang="zh-TW" dirty="0" smtClean="0"/>
              <a:t>If receiving an </a:t>
            </a:r>
            <a:r>
              <a:rPr lang="en-US" altLang="zh-TW" dirty="0" smtClean="0">
                <a:solidFill>
                  <a:srgbClr val="FF0000"/>
                </a:solidFill>
              </a:rPr>
              <a:t>election(j)</a:t>
            </a:r>
            <a:r>
              <a:rPr lang="en-US" altLang="zh-TW" dirty="0" smtClean="0"/>
              <a:t> message and (j </a:t>
            </a:r>
            <a:r>
              <a:rPr lang="en-US" altLang="zh-TW" dirty="0"/>
              <a:t>&lt; </a:t>
            </a:r>
            <a:r>
              <a:rPr lang="en-US" altLang="zh-TW" dirty="0" err="1"/>
              <a:t>i</a:t>
            </a:r>
            <a:r>
              <a:rPr lang="en-US" altLang="zh-TW" dirty="0" smtClean="0"/>
              <a:t>): </a:t>
            </a:r>
            <a:endParaRPr lang="en-US" altLang="zh-TW" dirty="0"/>
          </a:p>
          <a:p>
            <a:pPr lvl="2"/>
            <a:r>
              <a:rPr lang="en-US" altLang="zh-TW" dirty="0" smtClean="0"/>
              <a:t>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sends a response to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j</a:t>
            </a:r>
            <a:r>
              <a:rPr lang="en-US" altLang="zh-TW" dirty="0" smtClean="0"/>
              <a:t> </a:t>
            </a:r>
            <a:r>
              <a:rPr lang="en-US" altLang="zh-TW" dirty="0"/>
              <a:t>and begins its own election </a:t>
            </a:r>
            <a:r>
              <a:rPr lang="en-US" altLang="zh-TW" dirty="0" smtClean="0"/>
              <a:t>algorithm if p</a:t>
            </a:r>
            <a:r>
              <a:rPr lang="en-US" altLang="zh-TW" baseline="-25000" dirty="0" smtClean="0"/>
              <a:t>i</a:t>
            </a:r>
            <a:r>
              <a:rPr lang="en-US" altLang="zh-TW" dirty="0" smtClean="0"/>
              <a:t> </a:t>
            </a:r>
            <a:r>
              <a:rPr lang="en-US" altLang="zh-TW" dirty="0"/>
              <a:t>has not already initiated such an election</a:t>
            </a:r>
            <a:r>
              <a:rPr lang="en-US" altLang="zh-TW" dirty="0" smtClean="0"/>
              <a:t>.</a:t>
            </a:r>
          </a:p>
          <a:p>
            <a:r>
              <a:rPr lang="en-US" altLang="zh-TW" dirty="0" smtClean="0"/>
              <a:t>After recovery, a process immediately calls a new election if it has higher priority number than the current leader.</a:t>
            </a:r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94617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92" y="692696"/>
            <a:ext cx="8754615" cy="2847079"/>
          </a:xfrm>
          <a:prstGeom prst="rect">
            <a:avLst/>
          </a:prstGeom>
        </p:spPr>
      </p:pic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78" y="3828378"/>
            <a:ext cx="5840474" cy="2840982"/>
          </a:xfrm>
          <a:prstGeom prst="rect">
            <a:avLst/>
          </a:prstGeom>
        </p:spPr>
      </p:pic>
      <p:sp>
        <p:nvSpPr>
          <p:cNvPr id="7" name="文字方塊 6"/>
          <p:cNvSpPr txBox="1"/>
          <p:nvPr/>
        </p:nvSpPr>
        <p:spPr>
          <a:xfrm>
            <a:off x="6084168" y="4149080"/>
            <a:ext cx="30598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1. P4 calls </a:t>
            </a:r>
            <a:r>
              <a:rPr lang="en-US" altLang="zh-TW" dirty="0"/>
              <a:t>an </a:t>
            </a:r>
            <a:r>
              <a:rPr lang="en-US" altLang="zh-TW" dirty="0" smtClean="0"/>
              <a:t>election.</a:t>
            </a:r>
          </a:p>
          <a:p>
            <a:r>
              <a:rPr lang="en-US" altLang="zh-TW" dirty="0" smtClean="0"/>
              <a:t>2. P5 </a:t>
            </a:r>
            <a:r>
              <a:rPr lang="en-US" altLang="zh-TW" dirty="0"/>
              <a:t>and </a:t>
            </a:r>
            <a:r>
              <a:rPr lang="en-US" altLang="zh-TW" dirty="0" smtClean="0"/>
              <a:t>P6 respond to stop P4.</a:t>
            </a:r>
          </a:p>
          <a:p>
            <a:r>
              <a:rPr lang="en-US" altLang="zh-TW" dirty="0" smtClean="0"/>
              <a:t>3. Both P5 </a:t>
            </a:r>
            <a:r>
              <a:rPr lang="en-US" altLang="zh-TW" dirty="0"/>
              <a:t>and </a:t>
            </a:r>
            <a:r>
              <a:rPr lang="en-US" altLang="zh-TW" dirty="0" smtClean="0"/>
              <a:t>P6 call </a:t>
            </a:r>
            <a:r>
              <a:rPr lang="en-US" altLang="zh-TW" dirty="0"/>
              <a:t>an </a:t>
            </a:r>
            <a:r>
              <a:rPr lang="en-US" altLang="zh-TW" dirty="0" smtClean="0"/>
              <a:t>election.</a:t>
            </a:r>
          </a:p>
          <a:p>
            <a:r>
              <a:rPr lang="en-US" altLang="zh-TW" dirty="0" smtClean="0"/>
              <a:t>4. P6 responds to stop P5.</a:t>
            </a:r>
          </a:p>
          <a:p>
            <a:r>
              <a:rPr lang="en-US" altLang="zh-TW" dirty="0"/>
              <a:t>5</a:t>
            </a:r>
            <a:r>
              <a:rPr lang="en-US" altLang="zh-TW" dirty="0" smtClean="0"/>
              <a:t>. P6 </a:t>
            </a:r>
            <a:r>
              <a:rPr lang="en-US" altLang="zh-TW" dirty="0"/>
              <a:t>wins and tells </a:t>
            </a:r>
            <a:r>
              <a:rPr lang="en-US" altLang="zh-TW" dirty="0" smtClean="0"/>
              <a:t>everyone.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1115616" y="188640"/>
            <a:ext cx="69127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/>
              <a:t>A Bully </a:t>
            </a:r>
            <a:r>
              <a:rPr lang="en-US" altLang="zh-TW" sz="2400" b="1" dirty="0"/>
              <a:t>Algorithm Example 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664109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Bully Algorithm Properties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23528" y="1447800"/>
            <a:ext cx="8568952" cy="4572000"/>
          </a:xfrm>
        </p:spPr>
        <p:txBody>
          <a:bodyPr/>
          <a:lstStyle/>
          <a:p>
            <a:r>
              <a:rPr lang="en-US" altLang="zh-TW" dirty="0"/>
              <a:t>Assume </a:t>
            </a:r>
            <a:r>
              <a:rPr lang="en-US" altLang="zh-TW" dirty="0" smtClean="0"/>
              <a:t>there are N processes.</a:t>
            </a:r>
            <a:endParaRPr lang="en-US" altLang="zh-TW" dirty="0"/>
          </a:p>
          <a:p>
            <a:pPr lvl="1"/>
            <a:r>
              <a:rPr lang="en-US" altLang="zh-TW" dirty="0" smtClean="0"/>
              <a:t>Worst </a:t>
            </a:r>
            <a:r>
              <a:rPr lang="en-US" altLang="zh-TW" dirty="0"/>
              <a:t>Case:</a:t>
            </a:r>
          </a:p>
          <a:p>
            <a:pPr lvl="2"/>
            <a:r>
              <a:rPr lang="en-US" altLang="zh-TW" dirty="0" smtClean="0"/>
              <a:t>The lowest priority </a:t>
            </a:r>
            <a:r>
              <a:rPr lang="en-US" altLang="zh-TW" dirty="0"/>
              <a:t>process initiates </a:t>
            </a:r>
            <a:r>
              <a:rPr lang="en-US" altLang="zh-TW" dirty="0" smtClean="0"/>
              <a:t>election.</a:t>
            </a:r>
            <a:endParaRPr lang="en-US" altLang="zh-TW" dirty="0"/>
          </a:p>
          <a:p>
            <a:pPr lvl="2"/>
            <a:r>
              <a:rPr lang="en-US" altLang="zh-TW" dirty="0" smtClean="0"/>
              <a:t>It requires O(N</a:t>
            </a:r>
            <a:r>
              <a:rPr lang="en-US" altLang="zh-TW" baseline="30000" dirty="0" smtClean="0"/>
              <a:t>2</a:t>
            </a:r>
            <a:r>
              <a:rPr lang="en-US" altLang="zh-TW" dirty="0"/>
              <a:t>) messages</a:t>
            </a:r>
          </a:p>
          <a:p>
            <a:pPr lvl="1"/>
            <a:r>
              <a:rPr lang="en-US" altLang="zh-TW" dirty="0"/>
              <a:t> Best Case:</a:t>
            </a:r>
          </a:p>
          <a:p>
            <a:pPr lvl="2"/>
            <a:r>
              <a:rPr lang="en-US" altLang="zh-TW" dirty="0" smtClean="0"/>
              <a:t>The eventual </a:t>
            </a:r>
            <a:r>
              <a:rPr lang="en-US" altLang="zh-TW" dirty="0"/>
              <a:t>leader initiates </a:t>
            </a:r>
            <a:r>
              <a:rPr lang="en-US" altLang="zh-TW" dirty="0" smtClean="0"/>
              <a:t>election.</a:t>
            </a:r>
            <a:endParaRPr lang="en-US" altLang="zh-TW" dirty="0"/>
          </a:p>
          <a:p>
            <a:pPr lvl="2"/>
            <a:r>
              <a:rPr lang="en-US" altLang="zh-TW" dirty="0" smtClean="0"/>
              <a:t>It requires O(N) </a:t>
            </a:r>
            <a:r>
              <a:rPr lang="en-US" altLang="zh-TW" dirty="0"/>
              <a:t>messages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92433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Ring LE Algorithm (1)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1520" y="1447800"/>
                <a:ext cx="8640960" cy="5077544"/>
              </a:xfrm>
            </p:spPr>
            <p:txBody>
              <a:bodyPr/>
              <a:lstStyle/>
              <a:p>
                <a:r>
                  <a:rPr lang="en-US" altLang="zh-TW" dirty="0" smtClean="0"/>
                  <a:t>A DS can be </a:t>
                </a:r>
                <a:r>
                  <a:rPr lang="en-US" altLang="zh-TW" dirty="0"/>
                  <a:t>organized as a </a:t>
                </a:r>
                <a:r>
                  <a:rPr lang="en-US" altLang="zh-TW" dirty="0" smtClean="0"/>
                  <a:t>ring logically or physically.</a:t>
                </a:r>
                <a:endParaRPr lang="en-US" altLang="zh-TW" dirty="0"/>
              </a:p>
              <a:p>
                <a:r>
                  <a:rPr lang="en-US" altLang="zh-TW" dirty="0"/>
                  <a:t>Each process </a:t>
                </a:r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can send messages to its right neighbor </a:t>
                </a:r>
                <a:r>
                  <a:rPr lang="en-US" altLang="zh-TW" dirty="0"/>
                  <a:t>process in the ring, </a:t>
                </a:r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(i+1 </a:t>
                </a:r>
                <a:r>
                  <a:rPr lang="en-US" altLang="zh-TW" baseline="-25000" dirty="0"/>
                  <a:t>mod N</a:t>
                </a:r>
                <a:r>
                  <a:rPr lang="en-US" altLang="zh-TW" baseline="-25000" dirty="0" smtClean="0"/>
                  <a:t>)</a:t>
                </a:r>
                <a:r>
                  <a:rPr lang="en-US" altLang="zh-TW" dirty="0" smtClean="0"/>
                  <a:t>. </a:t>
                </a:r>
                <a:endParaRPr lang="en-US" altLang="zh-TW" dirty="0"/>
              </a:p>
              <a:p>
                <a:r>
                  <a:rPr lang="en-US" altLang="zh-TW" dirty="0"/>
                  <a:t>Each process maintains an active </a:t>
                </a:r>
                <a:r>
                  <a:rPr lang="en-US" altLang="zh-TW" dirty="0" smtClean="0"/>
                  <a:t>list (AC).</a:t>
                </a:r>
              </a:p>
              <a:p>
                <a:pPr lvl="1"/>
                <a:r>
                  <a:rPr lang="en-US" altLang="zh-TW" dirty="0" smtClean="0"/>
                  <a:t>The AC will contain the </a:t>
                </a:r>
                <a:r>
                  <a:rPr lang="en-US" altLang="zh-TW" dirty="0"/>
                  <a:t>priority numbers of </a:t>
                </a:r>
                <a:r>
                  <a:rPr lang="en-US" altLang="zh-TW" dirty="0" smtClean="0"/>
                  <a:t>all active </a:t>
                </a:r>
                <a:r>
                  <a:rPr lang="en-US" altLang="zh-TW" dirty="0"/>
                  <a:t>processes in the system when the </a:t>
                </a:r>
                <a:r>
                  <a:rPr lang="en-US" altLang="zh-TW" dirty="0" smtClean="0"/>
                  <a:t>election terminates.</a:t>
                </a:r>
                <a:endParaRPr lang="en-US" altLang="zh-TW" dirty="0"/>
              </a:p>
              <a:p>
                <a:r>
                  <a:rPr lang="en-US" altLang="zh-TW" dirty="0"/>
                  <a:t>If process </a:t>
                </a:r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detects a coordinator failure, </a:t>
                </a:r>
              </a:p>
              <a:p>
                <a:pPr lvl="1"/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first creates </a:t>
                </a:r>
                <a:r>
                  <a:rPr lang="en-US" altLang="zh-TW" dirty="0"/>
                  <a:t>a new </a:t>
                </a:r>
                <a:r>
                  <a:rPr lang="en-US" altLang="zh-TW" dirty="0" smtClean="0"/>
                  <a:t>AC and sets AC :=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altLang="zh-TW" dirty="0" smtClean="0"/>
                  <a:t>.  </a:t>
                </a:r>
                <a:endParaRPr lang="en-US" altLang="zh-TW" dirty="0"/>
              </a:p>
              <a:p>
                <a:pPr lvl="1"/>
                <a:r>
                  <a:rPr lang="en-US" altLang="zh-TW" dirty="0"/>
                  <a:t>It then sends a message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elect(</a:t>
                </a:r>
                <a:r>
                  <a:rPr lang="en-US" altLang="zh-TW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dirty="0"/>
                  <a:t> to its right </a:t>
                </a:r>
                <a:r>
                  <a:rPr lang="en-US" altLang="zh-TW" dirty="0" smtClean="0"/>
                  <a:t>neighbor.</a:t>
                </a:r>
              </a:p>
              <a:p>
                <a:pPr lvl="1"/>
                <a:r>
                  <a:rPr lang="en-US" altLang="zh-TW" dirty="0" smtClean="0"/>
                  <a:t>It also sets AC := AC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</m:d>
                  </m:oMath>
                </a14:m>
                <a:r>
                  <a:rPr lang="en-US" altLang="zh-TW" dirty="0" smtClean="0"/>
                  <a:t>.</a:t>
                </a:r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1520" y="1447800"/>
                <a:ext cx="8640960" cy="5077544"/>
              </a:xfrm>
              <a:blipFill>
                <a:blip r:embed="rId2"/>
                <a:stretch>
                  <a:fillRect l="-705" t="-1202" r="-84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15479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The Ring LE Algorithm </a:t>
            </a:r>
            <a:r>
              <a:rPr lang="en-US" altLang="zh-TW" dirty="0" smtClean="0"/>
              <a:t>(2)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0" y="1447800"/>
                <a:ext cx="9144000" cy="5221560"/>
              </a:xfrm>
            </p:spPr>
            <p:txBody>
              <a:bodyPr/>
              <a:lstStyle/>
              <a:p>
                <a:r>
                  <a:rPr lang="en-US" altLang="zh-TW" sz="2400" dirty="0" smtClean="0"/>
                  <a:t>If P</a:t>
                </a:r>
                <a:r>
                  <a:rPr lang="en-US" altLang="zh-TW" sz="2400" baseline="-25000" dirty="0" smtClean="0"/>
                  <a:t>i</a:t>
                </a:r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receives a message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elect(j</a:t>
                </a:r>
                <a:r>
                  <a:rPr lang="en-US" altLang="zh-TW" sz="2400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sz="2400" dirty="0" smtClean="0"/>
                  <a:t>, </a:t>
                </a:r>
                <a:r>
                  <a:rPr lang="en-US" altLang="zh-TW" sz="2400" dirty="0"/>
                  <a:t>it must respond in one of </a:t>
                </a:r>
                <a:r>
                  <a:rPr lang="en-US" altLang="zh-TW" sz="2400" dirty="0" smtClean="0"/>
                  <a:t>3 </a:t>
                </a:r>
                <a:r>
                  <a:rPr lang="en-US" altLang="zh-TW" sz="2400" dirty="0"/>
                  <a:t>ways:</a:t>
                </a:r>
              </a:p>
              <a:p>
                <a:pPr lvl="1"/>
                <a:r>
                  <a:rPr lang="en-US" altLang="zh-TW" sz="2200" dirty="0"/>
                  <a:t>If this is the first elect message it has seen or sent, </a:t>
                </a:r>
              </a:p>
              <a:p>
                <a:pPr lvl="2"/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creates a new </a:t>
                </a:r>
                <a:r>
                  <a:rPr lang="en-US" altLang="zh-TW" dirty="0" smtClean="0"/>
                  <a:t>AC and sets AC :=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dirty="0" smtClean="0"/>
                  <a:t>.  </a:t>
                </a:r>
                <a:endParaRPr lang="en-US" altLang="zh-TW" dirty="0"/>
              </a:p>
              <a:p>
                <a:pPr lvl="2"/>
                <a:r>
                  <a:rPr lang="en-US" altLang="zh-TW" dirty="0"/>
                  <a:t>It then sends the message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elect(</a:t>
                </a:r>
                <a:r>
                  <a:rPr lang="en-US" altLang="zh-TW" dirty="0" err="1">
                    <a:solidFill>
                      <a:srgbClr val="FF0000"/>
                    </a:solidFill>
                  </a:rPr>
                  <a:t>i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dirty="0" smtClean="0"/>
                  <a:t> and </a:t>
                </a:r>
                <a:r>
                  <a:rPr lang="en-US" altLang="zh-TW" dirty="0"/>
                  <a:t>the message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elect(j</a:t>
                </a:r>
                <a:r>
                  <a:rPr lang="en-US" altLang="zh-TW" dirty="0" smtClean="0">
                    <a:solidFill>
                      <a:srgbClr val="FF0000"/>
                    </a:solidFill>
                  </a:rPr>
                  <a:t>)</a:t>
                </a:r>
                <a:r>
                  <a:rPr lang="en-US" altLang="zh-TW" dirty="0" smtClean="0"/>
                  <a:t> to its right neighbor.</a:t>
                </a:r>
                <a:endParaRPr lang="en-US" altLang="zh-TW" dirty="0"/>
              </a:p>
              <a:p>
                <a:pPr lvl="1"/>
                <a:r>
                  <a:rPr lang="en-US" altLang="zh-TW" sz="2200" dirty="0"/>
                  <a:t>If this is not the first elect message it has seen or sent and </a:t>
                </a:r>
                <a:r>
                  <a:rPr lang="en-US" altLang="zh-TW" sz="2200" dirty="0" err="1"/>
                  <a:t>i</a:t>
                </a:r>
                <a:r>
                  <a:rPr lang="en-US" altLang="zh-TW" sz="2200" dirty="0"/>
                  <a:t> </a:t>
                </a:r>
                <a:r>
                  <a:rPr lang="en-US" altLang="zh-TW" sz="2200" dirty="0" smtClean="0">
                    <a:latin typeface="新細明體" panose="02020500000000000000" pitchFamily="18" charset="-120"/>
                    <a:ea typeface="新細明體" panose="02020500000000000000" pitchFamily="18" charset="-120"/>
                  </a:rPr>
                  <a:t>≠</a:t>
                </a:r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j, </a:t>
                </a:r>
              </a:p>
              <a:p>
                <a:pPr lvl="2"/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sets AC := AC 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e>
                    </m:d>
                  </m:oMath>
                </a14:m>
                <a:r>
                  <a:rPr lang="en-US" altLang="zh-TW" dirty="0" smtClean="0"/>
                  <a:t> </a:t>
                </a:r>
                <a:r>
                  <a:rPr lang="en-US" altLang="zh-TW" dirty="0"/>
                  <a:t>and forwards the message </a:t>
                </a:r>
                <a:r>
                  <a:rPr lang="en-US" altLang="zh-TW" dirty="0">
                    <a:solidFill>
                      <a:srgbClr val="FF0000"/>
                    </a:solidFill>
                  </a:rPr>
                  <a:t>elect(j) </a:t>
                </a:r>
                <a:r>
                  <a:rPr lang="en-US" altLang="zh-TW" dirty="0"/>
                  <a:t>to its right neighbor.</a:t>
                </a:r>
              </a:p>
              <a:p>
                <a:pPr lvl="1"/>
                <a:r>
                  <a:rPr lang="en-US" altLang="zh-TW" sz="2200" dirty="0"/>
                  <a:t>If </a:t>
                </a:r>
                <a:r>
                  <a:rPr lang="en-US" altLang="zh-TW" sz="2200" dirty="0" err="1"/>
                  <a:t>i</a:t>
                </a:r>
                <a:r>
                  <a:rPr lang="en-US" altLang="zh-TW" sz="2200" dirty="0"/>
                  <a:t> </a:t>
                </a:r>
                <a:r>
                  <a:rPr lang="en-US" altLang="zh-TW" sz="2200" dirty="0" smtClean="0"/>
                  <a:t>== </a:t>
                </a:r>
                <a:r>
                  <a:rPr lang="en-US" altLang="zh-TW" sz="2200" dirty="0"/>
                  <a:t>j, then </a:t>
                </a:r>
                <a:r>
                  <a:rPr lang="en-US" altLang="zh-TW" sz="2200" dirty="0" smtClean="0"/>
                  <a:t>P</a:t>
                </a:r>
                <a:r>
                  <a:rPr lang="en-US" altLang="zh-TW" sz="2200" baseline="-25000" dirty="0" smtClean="0"/>
                  <a:t>i</a:t>
                </a:r>
                <a:r>
                  <a:rPr lang="en-US" altLang="zh-TW" sz="2200" dirty="0" smtClean="0"/>
                  <a:t> </a:t>
                </a:r>
                <a:r>
                  <a:rPr lang="en-US" altLang="zh-TW" sz="2200" dirty="0"/>
                  <a:t>receives its own elect message elect(</a:t>
                </a:r>
                <a:r>
                  <a:rPr lang="en-US" altLang="zh-TW" sz="2200" dirty="0" err="1"/>
                  <a:t>i</a:t>
                </a:r>
                <a:r>
                  <a:rPr lang="en-US" altLang="zh-TW" sz="2200" dirty="0"/>
                  <a:t>) back. </a:t>
                </a:r>
              </a:p>
              <a:p>
                <a:pPr lvl="2"/>
                <a:r>
                  <a:rPr lang="en-US" altLang="zh-TW" dirty="0"/>
                  <a:t>The </a:t>
                </a:r>
                <a:r>
                  <a:rPr lang="en-US" altLang="zh-TW" dirty="0" smtClean="0"/>
                  <a:t>AC of 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now contains </a:t>
                </a:r>
                <a:r>
                  <a:rPr lang="en-US" altLang="zh-TW" dirty="0"/>
                  <a:t>all the active processes in the system.</a:t>
                </a:r>
              </a:p>
              <a:p>
                <a:pPr lvl="2"/>
                <a:r>
                  <a:rPr lang="en-US" altLang="zh-TW" dirty="0" smtClean="0"/>
                  <a:t>P</a:t>
                </a:r>
                <a:r>
                  <a:rPr lang="en-US" altLang="zh-TW" baseline="-25000" dirty="0" smtClean="0"/>
                  <a:t>i</a:t>
                </a:r>
                <a:r>
                  <a:rPr lang="en-US" altLang="zh-TW" dirty="0" smtClean="0"/>
                  <a:t> </a:t>
                </a:r>
                <a:r>
                  <a:rPr lang="en-US" altLang="zh-TW" dirty="0"/>
                  <a:t>can now determine the new coordinator </a:t>
                </a:r>
                <a:r>
                  <a:rPr lang="en-US" altLang="zh-TW" dirty="0" smtClean="0"/>
                  <a:t>process and send a message leader(k). </a:t>
                </a:r>
              </a:p>
              <a:p>
                <a:r>
                  <a:rPr lang="en-US" altLang="zh-TW" sz="2400" dirty="0"/>
                  <a:t>If </a:t>
                </a:r>
                <a:r>
                  <a:rPr lang="en-US" altLang="zh-TW" sz="2400" dirty="0" smtClean="0"/>
                  <a:t>P</a:t>
                </a:r>
                <a:r>
                  <a:rPr lang="en-US" altLang="zh-TW" sz="2400" baseline="-25000" dirty="0" smtClean="0"/>
                  <a:t>i</a:t>
                </a:r>
                <a:r>
                  <a:rPr lang="en-US" altLang="zh-TW" sz="2400" dirty="0" smtClean="0"/>
                  <a:t> </a:t>
                </a:r>
                <a:r>
                  <a:rPr lang="en-US" altLang="zh-TW" sz="2400" dirty="0"/>
                  <a:t>receives a message </a:t>
                </a:r>
                <a:r>
                  <a:rPr lang="en-US" altLang="zh-TW" sz="2400" dirty="0" smtClean="0"/>
                  <a:t>leader(k), </a:t>
                </a:r>
                <a:r>
                  <a:rPr lang="en-US" altLang="zh-TW" sz="2400" dirty="0"/>
                  <a:t>it must respond in one of </a:t>
                </a:r>
                <a:r>
                  <a:rPr lang="en-US" altLang="zh-TW" sz="2400" dirty="0" smtClean="0"/>
                  <a:t>2 </a:t>
                </a:r>
                <a:r>
                  <a:rPr lang="en-US" altLang="zh-TW" sz="2400" dirty="0"/>
                  <a:t>ways</a:t>
                </a:r>
                <a:r>
                  <a:rPr lang="en-US" altLang="zh-TW" sz="2400" dirty="0" smtClean="0"/>
                  <a:t>:</a:t>
                </a:r>
              </a:p>
              <a:p>
                <a:pPr lvl="1"/>
                <a:r>
                  <a:rPr lang="en-US" altLang="zh-TW" sz="2200" dirty="0" smtClean="0"/>
                  <a:t>If it is new to P</a:t>
                </a:r>
                <a:r>
                  <a:rPr lang="en-US" altLang="zh-TW" sz="2200" baseline="-25000" dirty="0" smtClean="0"/>
                  <a:t>i</a:t>
                </a:r>
                <a:r>
                  <a:rPr lang="en-US" altLang="zh-TW" sz="2200" dirty="0" smtClean="0"/>
                  <a:t>, then it sets </a:t>
                </a:r>
                <a:r>
                  <a:rPr lang="en-US" altLang="zh-TW" sz="2200" dirty="0" err="1" smtClean="0"/>
                  <a:t>P</a:t>
                </a:r>
                <a:r>
                  <a:rPr lang="en-US" altLang="zh-TW" sz="2200" baseline="-25000" dirty="0" err="1" smtClean="0"/>
                  <a:t>k</a:t>
                </a:r>
                <a:r>
                  <a:rPr lang="en-US" altLang="zh-TW" sz="2200" dirty="0" smtClean="0"/>
                  <a:t> as the new leader and sends leader(k) to its right neighbor.</a:t>
                </a:r>
              </a:p>
              <a:p>
                <a:pPr lvl="1"/>
                <a:r>
                  <a:rPr lang="en-US" altLang="zh-TW" sz="2200" dirty="0" smtClean="0"/>
                  <a:t>Otherwise, it stops the election process.</a:t>
                </a:r>
                <a:endParaRPr lang="en-US" altLang="zh-TW" sz="2200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7800"/>
                <a:ext cx="9144000" cy="5221560"/>
              </a:xfrm>
              <a:blipFill>
                <a:blip r:embed="rId2"/>
                <a:stretch>
                  <a:fillRect l="-467" t="-935" r="-200" b="-29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50092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0040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Ring Algorithm </a:t>
            </a:r>
            <a:r>
              <a:rPr lang="en-US" altLang="zh-TW" dirty="0"/>
              <a:t>Properties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519808"/>
            <a:ext cx="8928992" cy="3565376"/>
          </a:xfrm>
        </p:spPr>
        <p:txBody>
          <a:bodyPr/>
          <a:lstStyle/>
          <a:p>
            <a:r>
              <a:rPr lang="en-US" altLang="zh-TW" dirty="0"/>
              <a:t>If only 1 process initiates election:</a:t>
            </a:r>
          </a:p>
          <a:p>
            <a:pPr lvl="1"/>
            <a:r>
              <a:rPr lang="en-US" altLang="zh-TW" dirty="0" smtClean="0"/>
              <a:t>It requires 2N messages.</a:t>
            </a:r>
          </a:p>
          <a:p>
            <a:pPr lvl="1"/>
            <a:r>
              <a:rPr lang="en-US" altLang="zh-TW" dirty="0" smtClean="0"/>
              <a:t>N for elect and N for leader.</a:t>
            </a:r>
            <a:endParaRPr lang="en-US" altLang="zh-TW" dirty="0"/>
          </a:p>
          <a:p>
            <a:r>
              <a:rPr lang="en-US" altLang="zh-TW" dirty="0" smtClean="0"/>
              <a:t>Two </a:t>
            </a:r>
            <a:r>
              <a:rPr lang="en-US" altLang="zh-TW" dirty="0"/>
              <a:t>or more processes might simultaneously initiate </a:t>
            </a:r>
            <a:r>
              <a:rPr lang="en-US" altLang="zh-TW" dirty="0" smtClean="0"/>
              <a:t>elections.</a:t>
            </a:r>
            <a:endParaRPr lang="en-US" altLang="zh-TW" dirty="0"/>
          </a:p>
          <a:p>
            <a:pPr lvl="1"/>
            <a:r>
              <a:rPr lang="en-US" altLang="zh-TW" dirty="0" smtClean="0"/>
              <a:t>It is ensured that the same leader will be elected.</a:t>
            </a:r>
            <a:endParaRPr lang="en-US" altLang="zh-TW" dirty="0"/>
          </a:p>
          <a:p>
            <a:pPr lvl="1"/>
            <a:r>
              <a:rPr lang="en-US" altLang="zh-TW" dirty="0" smtClean="0"/>
              <a:t>The total messages may vary from (k+1)N to 2kN if there are k processes initiating election in the same time.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447569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615826"/>
            <a:ext cx="7772400" cy="724942"/>
          </a:xfrm>
        </p:spPr>
        <p:txBody>
          <a:bodyPr/>
          <a:lstStyle/>
          <a:p>
            <a:pPr algn="ctr"/>
            <a:r>
              <a:rPr lang="en-US" altLang="zh-TW" dirty="0" smtClean="0"/>
              <a:t>A Ring Algorithm Example 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P4 initiates the election.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95" y="2276872"/>
            <a:ext cx="4434813" cy="381642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361" y="2276872"/>
            <a:ext cx="4050127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9374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55576" y="543818"/>
            <a:ext cx="7772400" cy="796950"/>
          </a:xfrm>
        </p:spPr>
        <p:txBody>
          <a:bodyPr/>
          <a:lstStyle/>
          <a:p>
            <a:pPr algn="ctr"/>
            <a:r>
              <a:rPr lang="en-US" altLang="zh-TW" dirty="0" smtClean="0"/>
              <a:t>Deadlocks in Distributed Systems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328592"/>
          </a:xfrm>
        </p:spPr>
        <p:txBody>
          <a:bodyPr/>
          <a:lstStyle/>
          <a:p>
            <a:r>
              <a:rPr lang="en-US" altLang="zh-TW" dirty="0"/>
              <a:t>Deadlocks in </a:t>
            </a:r>
            <a:r>
              <a:rPr lang="en-US" altLang="zh-TW" dirty="0" smtClean="0"/>
              <a:t>a DS </a:t>
            </a:r>
            <a:r>
              <a:rPr lang="en-US" altLang="zh-TW" dirty="0"/>
              <a:t>are similar to deadlocks </a:t>
            </a:r>
            <a:r>
              <a:rPr lang="en-US" altLang="zh-TW" dirty="0" smtClean="0"/>
              <a:t>in a computer. </a:t>
            </a:r>
            <a:endParaRPr lang="en-US" altLang="zh-TW" dirty="0"/>
          </a:p>
          <a:p>
            <a:pPr lvl="1"/>
            <a:r>
              <a:rPr lang="en-US" altLang="zh-TW" dirty="0" smtClean="0"/>
              <a:t>They </a:t>
            </a:r>
            <a:r>
              <a:rPr lang="en-US" altLang="zh-TW" dirty="0"/>
              <a:t>are harder to avoid, prevent or even </a:t>
            </a:r>
            <a:r>
              <a:rPr lang="en-US" altLang="zh-TW" dirty="0" smtClean="0"/>
              <a:t>detect in a DS.</a:t>
            </a:r>
            <a:endParaRPr lang="en-US" altLang="zh-TW" dirty="0"/>
          </a:p>
          <a:p>
            <a:pPr lvl="1"/>
            <a:r>
              <a:rPr lang="en-US" altLang="zh-TW" dirty="0" smtClean="0"/>
              <a:t>They </a:t>
            </a:r>
            <a:r>
              <a:rPr lang="en-US" altLang="zh-TW" dirty="0"/>
              <a:t>are hard to </a:t>
            </a:r>
            <a:r>
              <a:rPr lang="en-US" altLang="zh-TW" dirty="0" smtClean="0"/>
              <a:t>recover </a:t>
            </a:r>
            <a:r>
              <a:rPr lang="en-US" altLang="zh-TW" dirty="0"/>
              <a:t>because all relevant information is scattered over many machines</a:t>
            </a:r>
            <a:r>
              <a:rPr lang="en-US" altLang="zh-TW" dirty="0" smtClean="0"/>
              <a:t>.</a:t>
            </a:r>
          </a:p>
          <a:p>
            <a:r>
              <a:rPr lang="en-US" altLang="zh-TW" dirty="0"/>
              <a:t>A deadlock </a:t>
            </a:r>
            <a:r>
              <a:rPr lang="en-US" altLang="zh-TW" dirty="0" smtClean="0"/>
              <a:t>can </a:t>
            </a:r>
            <a:r>
              <a:rPr lang="en-US" altLang="zh-TW" dirty="0"/>
              <a:t>arise if and only if all of the following conditions hold simultaneously in a system:</a:t>
            </a:r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Mutual </a:t>
            </a:r>
            <a:r>
              <a:rPr lang="en-US" altLang="zh-TW" dirty="0" smtClean="0">
                <a:solidFill>
                  <a:srgbClr val="FF0000"/>
                </a:solidFill>
              </a:rPr>
              <a:t>Exclusion</a:t>
            </a:r>
            <a:r>
              <a:rPr lang="en-US" altLang="zh-TW" dirty="0" smtClean="0"/>
              <a:t>: </a:t>
            </a:r>
          </a:p>
          <a:p>
            <a:pPr lvl="2"/>
            <a:r>
              <a:rPr lang="en-US" altLang="zh-TW" dirty="0" smtClean="0"/>
              <a:t>Each resource has only one copy and can only be accessed exclusively.</a:t>
            </a:r>
            <a:endParaRPr lang="en-US" altLang="zh-TW" dirty="0"/>
          </a:p>
          <a:p>
            <a:pPr lvl="1"/>
            <a:r>
              <a:rPr lang="en-US" altLang="zh-TW" dirty="0">
                <a:solidFill>
                  <a:srgbClr val="FF0000"/>
                </a:solidFill>
              </a:rPr>
              <a:t>Hold</a:t>
            </a:r>
            <a:r>
              <a:rPr lang="en-US" altLang="zh-TW" dirty="0"/>
              <a:t> </a:t>
            </a:r>
            <a:r>
              <a:rPr lang="en-US" altLang="zh-TW" dirty="0" smtClean="0"/>
              <a:t>some resources </a:t>
            </a:r>
            <a:r>
              <a:rPr lang="en-US" altLang="zh-TW" dirty="0" smtClean="0">
                <a:solidFill>
                  <a:srgbClr val="FF0000"/>
                </a:solidFill>
              </a:rPr>
              <a:t>and </a:t>
            </a:r>
            <a:r>
              <a:rPr lang="en-US" altLang="zh-TW" dirty="0">
                <a:solidFill>
                  <a:srgbClr val="FF0000"/>
                </a:solidFill>
              </a:rPr>
              <a:t>Wait</a:t>
            </a:r>
            <a:r>
              <a:rPr lang="en-US" altLang="zh-TW" dirty="0"/>
              <a:t> </a:t>
            </a:r>
            <a:r>
              <a:rPr lang="en-US" altLang="zh-TW" dirty="0" smtClean="0"/>
              <a:t>some others.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No</a:t>
            </a:r>
            <a:r>
              <a:rPr lang="en-US" altLang="zh-TW" dirty="0">
                <a:solidFill>
                  <a:srgbClr val="FF0000"/>
                </a:solidFill>
              </a:rPr>
              <a:t> </a:t>
            </a:r>
            <a:r>
              <a:rPr lang="en-US" altLang="zh-TW" dirty="0" smtClean="0">
                <a:solidFill>
                  <a:srgbClr val="FF0000"/>
                </a:solidFill>
              </a:rPr>
              <a:t>Preemption</a:t>
            </a:r>
            <a:r>
              <a:rPr lang="en-US" altLang="zh-TW" dirty="0" smtClean="0"/>
              <a:t>:</a:t>
            </a:r>
          </a:p>
          <a:p>
            <a:pPr lvl="2"/>
            <a:r>
              <a:rPr lang="en-US" altLang="zh-TW" dirty="0" smtClean="0"/>
              <a:t>Resources can not </a:t>
            </a:r>
            <a:r>
              <a:rPr lang="en-US" altLang="zh-TW" dirty="0"/>
              <a:t>be forcibly </a:t>
            </a:r>
            <a:r>
              <a:rPr lang="en-US" altLang="zh-TW" dirty="0" smtClean="0"/>
              <a:t>revoked from </a:t>
            </a:r>
            <a:r>
              <a:rPr lang="en-US" altLang="zh-TW" dirty="0"/>
              <a:t>a </a:t>
            </a:r>
            <a:r>
              <a:rPr lang="en-US" altLang="zh-TW" dirty="0" smtClean="0"/>
              <a:t>holding process.</a:t>
            </a:r>
          </a:p>
          <a:p>
            <a:pPr lvl="1"/>
            <a:r>
              <a:rPr lang="en-US" altLang="zh-TW" dirty="0" smtClean="0">
                <a:solidFill>
                  <a:srgbClr val="FF0000"/>
                </a:solidFill>
              </a:rPr>
              <a:t>Circular Wait</a:t>
            </a:r>
            <a:r>
              <a:rPr lang="en-US" altLang="zh-TW" dirty="0" smtClean="0"/>
              <a:t>:</a:t>
            </a:r>
          </a:p>
          <a:p>
            <a:pPr lvl="2"/>
            <a:r>
              <a:rPr lang="en-US" altLang="zh-TW" dirty="0" smtClean="0"/>
              <a:t>There is a closed hold and wait cycle existed.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898889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/>
              <a:t>Strategies to Handle </a:t>
            </a:r>
            <a:r>
              <a:rPr lang="en-US" altLang="zh-TW" dirty="0" smtClean="0"/>
              <a:t>Deadlocks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5077544"/>
          </a:xfrm>
        </p:spPr>
        <p:txBody>
          <a:bodyPr/>
          <a:lstStyle/>
          <a:p>
            <a:r>
              <a:rPr lang="en-US" altLang="zh-TW" dirty="0"/>
              <a:t>Detection </a:t>
            </a:r>
            <a:r>
              <a:rPr lang="en-US" altLang="zh-TW" dirty="0" smtClean="0"/>
              <a:t>and Recovery</a:t>
            </a:r>
            <a:endParaRPr lang="en-US" altLang="zh-TW" dirty="0"/>
          </a:p>
          <a:p>
            <a:pPr lvl="1"/>
            <a:r>
              <a:rPr lang="en-US" altLang="zh-TW" dirty="0"/>
              <a:t>L</a:t>
            </a:r>
            <a:r>
              <a:rPr lang="en-US" altLang="zh-TW" dirty="0" smtClean="0"/>
              <a:t>et </a:t>
            </a:r>
            <a:r>
              <a:rPr lang="en-US" altLang="zh-TW" dirty="0"/>
              <a:t>deadlocks occur, detect them, and try to </a:t>
            </a:r>
            <a:r>
              <a:rPr lang="en-US" altLang="zh-TW" dirty="0" smtClean="0"/>
              <a:t>recover.</a:t>
            </a:r>
          </a:p>
          <a:p>
            <a:r>
              <a:rPr lang="en-US" altLang="zh-TW" dirty="0"/>
              <a:t>Prevention </a:t>
            </a:r>
          </a:p>
          <a:p>
            <a:pPr lvl="1"/>
            <a:r>
              <a:rPr lang="en-US" altLang="zh-TW" dirty="0" smtClean="0"/>
              <a:t>Systematically </a:t>
            </a:r>
            <a:r>
              <a:rPr lang="en-US" altLang="zh-TW" dirty="0"/>
              <a:t>make deadlocks </a:t>
            </a:r>
            <a:r>
              <a:rPr lang="en-US" altLang="zh-TW" dirty="0" smtClean="0"/>
              <a:t>impossible to happen.</a:t>
            </a:r>
          </a:p>
          <a:p>
            <a:pPr lvl="2"/>
            <a:r>
              <a:rPr lang="en-US" altLang="zh-TW" dirty="0" smtClean="0"/>
              <a:t>Make one of 4 necessary conditions impossible.</a:t>
            </a:r>
          </a:p>
          <a:p>
            <a:pPr lvl="2"/>
            <a:r>
              <a:rPr lang="en-US" altLang="zh-TW" dirty="0" smtClean="0"/>
              <a:t>Best possible mechanism is to define </a:t>
            </a:r>
            <a:r>
              <a:rPr lang="en-US" altLang="zh-TW" dirty="0"/>
              <a:t>a linear ordering of </a:t>
            </a:r>
            <a:r>
              <a:rPr lang="en-US" altLang="zh-TW" dirty="0" smtClean="0"/>
              <a:t>resources and processes requesting resources according to the linear order.</a:t>
            </a:r>
          </a:p>
          <a:p>
            <a:r>
              <a:rPr lang="en-US" altLang="zh-TW" dirty="0"/>
              <a:t>Avoidance </a:t>
            </a:r>
          </a:p>
          <a:p>
            <a:pPr lvl="1"/>
            <a:r>
              <a:rPr lang="en-US" altLang="zh-TW" dirty="0" smtClean="0"/>
              <a:t>Avoid </a:t>
            </a:r>
            <a:r>
              <a:rPr lang="en-US" altLang="zh-TW" dirty="0"/>
              <a:t>deadlocks by allocating resources </a:t>
            </a:r>
            <a:r>
              <a:rPr lang="en-US" altLang="zh-TW" dirty="0" smtClean="0"/>
              <a:t>carefully.</a:t>
            </a:r>
          </a:p>
          <a:p>
            <a:pPr lvl="2"/>
            <a:r>
              <a:rPr lang="en-US" altLang="zh-TW" dirty="0"/>
              <a:t>Do not start a process if its demands might lead to </a:t>
            </a:r>
            <a:r>
              <a:rPr lang="en-US" altLang="zh-TW" dirty="0" smtClean="0"/>
              <a:t>deadlock.</a:t>
            </a:r>
            <a:endParaRPr lang="en-US" altLang="zh-TW" dirty="0"/>
          </a:p>
          <a:p>
            <a:pPr lvl="2"/>
            <a:r>
              <a:rPr lang="en-US" altLang="zh-TW" dirty="0"/>
              <a:t>Do not grant an incremental resource request to a process if this allocation might lead to </a:t>
            </a:r>
            <a:r>
              <a:rPr lang="en-US" altLang="zh-TW" dirty="0" smtClean="0"/>
              <a:t>deadlock.</a:t>
            </a:r>
            <a:endParaRPr lang="en-US" altLang="zh-TW" dirty="0"/>
          </a:p>
          <a:p>
            <a:pPr lvl="2"/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850762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9208" y="471810"/>
            <a:ext cx="8147248" cy="868958"/>
          </a:xfrm>
        </p:spPr>
        <p:txBody>
          <a:bodyPr/>
          <a:lstStyle/>
          <a:p>
            <a:pPr algn="ctr"/>
            <a:r>
              <a:rPr lang="en-US" altLang="zh-TW" dirty="0" smtClean="0"/>
              <a:t>A Central Server Deadlock Detection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496" y="1447800"/>
            <a:ext cx="9108504" cy="5077544"/>
          </a:xfrm>
        </p:spPr>
        <p:txBody>
          <a:bodyPr/>
          <a:lstStyle/>
          <a:p>
            <a:r>
              <a:rPr lang="en-US" altLang="zh-TW" dirty="0"/>
              <a:t>Each </a:t>
            </a:r>
            <a:r>
              <a:rPr lang="en-US" altLang="zh-TW" dirty="0" smtClean="0"/>
              <a:t>host </a:t>
            </a:r>
            <a:r>
              <a:rPr lang="en-US" altLang="zh-TW" dirty="0"/>
              <a:t>keeps a </a:t>
            </a:r>
            <a:r>
              <a:rPr lang="en-US" altLang="zh-TW" dirty="0">
                <a:solidFill>
                  <a:srgbClr val="FF0000"/>
                </a:solidFill>
              </a:rPr>
              <a:t>local wait-for</a:t>
            </a:r>
            <a:r>
              <a:rPr lang="en-US" altLang="zh-TW" dirty="0"/>
              <a:t> </a:t>
            </a:r>
            <a:r>
              <a:rPr lang="en-US" altLang="zh-TW" dirty="0" smtClean="0">
                <a:solidFill>
                  <a:srgbClr val="FF0000"/>
                </a:solidFill>
              </a:rPr>
              <a:t>graph</a:t>
            </a:r>
            <a:r>
              <a:rPr lang="en-US" altLang="zh-TW" dirty="0" smtClean="0"/>
              <a:t> (LWFG</a:t>
            </a:r>
            <a:r>
              <a:rPr lang="en-US" altLang="zh-TW" dirty="0"/>
              <a:t>) </a:t>
            </a:r>
            <a:r>
              <a:rPr lang="en-US" altLang="zh-TW" dirty="0" smtClean="0"/>
              <a:t>.  </a:t>
            </a:r>
          </a:p>
          <a:p>
            <a:pPr lvl="1"/>
            <a:r>
              <a:rPr lang="en-US" altLang="zh-TW" dirty="0" smtClean="0"/>
              <a:t>The </a:t>
            </a:r>
            <a:r>
              <a:rPr lang="en-US" altLang="zh-TW" dirty="0"/>
              <a:t>nodes of the graph </a:t>
            </a:r>
            <a:r>
              <a:rPr lang="en-US" altLang="zh-TW" dirty="0" smtClean="0"/>
              <a:t>are </a:t>
            </a:r>
            <a:r>
              <a:rPr lang="en-US" altLang="zh-TW" dirty="0"/>
              <a:t>the processes that are currently </a:t>
            </a:r>
            <a:r>
              <a:rPr lang="en-US" altLang="zh-TW" dirty="0" smtClean="0"/>
              <a:t>holding </a:t>
            </a:r>
            <a:r>
              <a:rPr lang="en-US" altLang="zh-TW" dirty="0"/>
              <a:t>or requesting </a:t>
            </a:r>
            <a:r>
              <a:rPr lang="en-US" altLang="zh-TW" dirty="0" smtClean="0"/>
              <a:t>any of resources managed by the host.</a:t>
            </a:r>
            <a:endParaRPr lang="en-US" altLang="zh-TW" dirty="0"/>
          </a:p>
          <a:p>
            <a:r>
              <a:rPr lang="en-US" altLang="zh-TW" dirty="0"/>
              <a:t>A </a:t>
            </a:r>
            <a:r>
              <a:rPr lang="en-US" altLang="zh-TW" dirty="0">
                <a:solidFill>
                  <a:srgbClr val="FF0000"/>
                </a:solidFill>
              </a:rPr>
              <a:t>global wait-for graph</a:t>
            </a:r>
            <a:r>
              <a:rPr lang="en-US" altLang="zh-TW" dirty="0"/>
              <a:t> </a:t>
            </a:r>
            <a:r>
              <a:rPr lang="en-US" altLang="zh-TW" dirty="0" smtClean="0"/>
              <a:t>(GWFG) is managed by </a:t>
            </a:r>
            <a:r>
              <a:rPr lang="en-US" altLang="zh-TW" dirty="0"/>
              <a:t>a </a:t>
            </a:r>
            <a:r>
              <a:rPr lang="en-US" altLang="zh-TW" dirty="0" smtClean="0"/>
              <a:t>central server.</a:t>
            </a:r>
          </a:p>
          <a:p>
            <a:pPr lvl="1"/>
            <a:r>
              <a:rPr lang="en-US" altLang="zh-TW" dirty="0" smtClean="0"/>
              <a:t>This </a:t>
            </a:r>
            <a:r>
              <a:rPr lang="en-US" altLang="zh-TW" dirty="0"/>
              <a:t>graph is the union of all local wait-for graphs. </a:t>
            </a:r>
          </a:p>
          <a:p>
            <a:r>
              <a:rPr lang="en-US" altLang="zh-TW" dirty="0"/>
              <a:t>There are three different options </a:t>
            </a:r>
            <a:r>
              <a:rPr lang="en-US" altLang="zh-TW" dirty="0" smtClean="0"/>
              <a:t>for constructing </a:t>
            </a:r>
            <a:r>
              <a:rPr lang="en-US" altLang="zh-TW" dirty="0"/>
              <a:t>the </a:t>
            </a:r>
            <a:r>
              <a:rPr lang="en-US" altLang="zh-TW" dirty="0" smtClean="0"/>
              <a:t>GWFG:</a:t>
            </a:r>
            <a:endParaRPr lang="en-US" altLang="zh-TW" dirty="0"/>
          </a:p>
          <a:p>
            <a:pPr lvl="1"/>
            <a:r>
              <a:rPr lang="en-US" altLang="zh-TW" dirty="0" smtClean="0"/>
              <a:t>Whenever </a:t>
            </a:r>
            <a:r>
              <a:rPr lang="en-US" altLang="zh-TW" dirty="0"/>
              <a:t>a new edge is inserted or removed in one of the </a:t>
            </a:r>
            <a:r>
              <a:rPr lang="en-US" altLang="zh-TW" dirty="0" smtClean="0"/>
              <a:t>LWFG.</a:t>
            </a:r>
            <a:endParaRPr lang="en-US" altLang="zh-TW" dirty="0"/>
          </a:p>
          <a:p>
            <a:pPr lvl="1"/>
            <a:r>
              <a:rPr lang="en-US" altLang="zh-TW" dirty="0" smtClean="0"/>
              <a:t>Periodically or </a:t>
            </a:r>
            <a:r>
              <a:rPr lang="en-US" altLang="zh-TW" dirty="0"/>
              <a:t>when a number of changes have occurred in a </a:t>
            </a:r>
            <a:r>
              <a:rPr lang="en-US" altLang="zh-TW" dirty="0" smtClean="0"/>
              <a:t>LWFG.</a:t>
            </a:r>
            <a:endParaRPr lang="en-US" altLang="zh-TW" dirty="0"/>
          </a:p>
          <a:p>
            <a:pPr lvl="1"/>
            <a:r>
              <a:rPr lang="en-US" altLang="zh-TW" dirty="0" smtClean="0"/>
              <a:t>Whenever </a:t>
            </a:r>
            <a:r>
              <a:rPr lang="en-US" altLang="zh-TW" dirty="0"/>
              <a:t>the </a:t>
            </a:r>
            <a:r>
              <a:rPr lang="en-US" altLang="zh-TW" dirty="0" smtClean="0"/>
              <a:t>central server </a:t>
            </a:r>
            <a:r>
              <a:rPr lang="en-US" altLang="zh-TW" dirty="0"/>
              <a:t>needs to invoke the </a:t>
            </a:r>
            <a:r>
              <a:rPr lang="en-US" altLang="zh-TW" dirty="0" smtClean="0"/>
              <a:t>deadlock detection </a:t>
            </a:r>
            <a:r>
              <a:rPr lang="en-US" altLang="zh-TW" dirty="0"/>
              <a:t>algorithm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r>
              <a:rPr lang="en-US" altLang="zh-TW" dirty="0" smtClean="0"/>
              <a:t>The GWFG may contain </a:t>
            </a:r>
            <a:r>
              <a:rPr lang="en-US" altLang="zh-TW" dirty="0" smtClean="0">
                <a:solidFill>
                  <a:srgbClr val="FF0000"/>
                </a:solidFill>
              </a:rPr>
              <a:t>false cycles</a:t>
            </a:r>
            <a:r>
              <a:rPr lang="en-US" altLang="zh-TW" dirty="0" smtClean="0"/>
              <a:t>.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9207805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06044"/>
            <a:ext cx="2863818" cy="2470417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4214942"/>
            <a:ext cx="5407063" cy="245441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2080" y="1169036"/>
            <a:ext cx="2834920" cy="2475988"/>
          </a:xfrm>
          <a:prstGeom prst="rect">
            <a:avLst/>
          </a:prstGeom>
        </p:spPr>
      </p:pic>
      <p:sp>
        <p:nvSpPr>
          <p:cNvPr id="10" name="文字方塊 9"/>
          <p:cNvSpPr txBox="1"/>
          <p:nvPr/>
        </p:nvSpPr>
        <p:spPr>
          <a:xfrm>
            <a:off x="1115616" y="260648"/>
            <a:ext cx="65527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b="1" dirty="0" smtClean="0"/>
              <a:t>Two LWFGs and their corresponding GWFG</a:t>
            </a:r>
            <a:endParaRPr lang="zh-TW" altLang="en-US" sz="2400" b="1" dirty="0"/>
          </a:p>
        </p:txBody>
      </p:sp>
      <p:sp>
        <p:nvSpPr>
          <p:cNvPr id="11" name="文字方塊 10"/>
          <p:cNvSpPr txBox="1"/>
          <p:nvPr/>
        </p:nvSpPr>
        <p:spPr>
          <a:xfrm>
            <a:off x="1132118" y="836712"/>
            <a:ext cx="279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LWFG of host A</a:t>
            </a:r>
            <a:endParaRPr lang="zh-TW" altLang="en-US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5308582" y="827420"/>
            <a:ext cx="2791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LWFG of host B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1122079" y="385175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 smtClean="0"/>
              <a:t>The combined GWFG</a:t>
            </a:r>
            <a:endParaRPr lang="zh-TW" altLang="en-US" dirty="0"/>
          </a:p>
        </p:txBody>
      </p:sp>
      <p:sp>
        <p:nvSpPr>
          <p:cNvPr id="15" name="橢圓 14"/>
          <p:cNvSpPr/>
          <p:nvPr/>
        </p:nvSpPr>
        <p:spPr>
          <a:xfrm>
            <a:off x="6470816" y="2276872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3787103" y="5375340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2331501" y="1453347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3347864" y="2136089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269738" y="2276872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/>
          <p:cNvSpPr txBox="1"/>
          <p:nvPr/>
        </p:nvSpPr>
        <p:spPr>
          <a:xfrm>
            <a:off x="2331501" y="1457913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R1</a:t>
            </a:r>
            <a:endParaRPr lang="zh-TW" altLang="en-US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3311860" y="2140655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R2</a:t>
            </a:r>
            <a:endParaRPr lang="zh-TW" altLang="en-US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259632" y="2276872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R3</a:t>
            </a:r>
            <a:endParaRPr lang="zh-TW" altLang="en-US" dirty="0"/>
          </a:p>
        </p:txBody>
      </p:sp>
      <p:sp>
        <p:nvSpPr>
          <p:cNvPr id="23" name="文字方塊 22"/>
          <p:cNvSpPr txBox="1"/>
          <p:nvPr/>
        </p:nvSpPr>
        <p:spPr>
          <a:xfrm>
            <a:off x="6516216" y="140120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R4</a:t>
            </a:r>
            <a:endParaRPr lang="zh-TW" altLang="en-US" dirty="0"/>
          </a:p>
        </p:txBody>
      </p:sp>
      <p:sp>
        <p:nvSpPr>
          <p:cNvPr id="24" name="文字方塊 23"/>
          <p:cNvSpPr txBox="1"/>
          <p:nvPr/>
        </p:nvSpPr>
        <p:spPr>
          <a:xfrm>
            <a:off x="6439348" y="2283581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R5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5652120" y="4509120"/>
            <a:ext cx="34918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1. P2 in host A and P3 in host B.</a:t>
            </a:r>
          </a:p>
          <a:p>
            <a:r>
              <a:rPr lang="en-US" altLang="zh-TW" dirty="0" smtClean="0"/>
              <a:t>2. P2 release(R4) then </a:t>
            </a:r>
            <a:r>
              <a:rPr lang="en-US" altLang="zh-TW" dirty="0" err="1" smtClean="0"/>
              <a:t>req</a:t>
            </a:r>
            <a:r>
              <a:rPr lang="en-US" altLang="zh-TW" dirty="0" smtClean="0"/>
              <a:t>(R2).</a:t>
            </a:r>
          </a:p>
          <a:p>
            <a:r>
              <a:rPr lang="en-US" altLang="zh-TW" dirty="0" smtClean="0"/>
              <a:t>3. Host B reports its LWFG before receiving release(R4).</a:t>
            </a:r>
          </a:p>
          <a:p>
            <a:endParaRPr lang="en-US" altLang="zh-TW" dirty="0"/>
          </a:p>
          <a:p>
            <a:r>
              <a:rPr lang="en-US" altLang="zh-TW" dirty="0" smtClean="0"/>
              <a:t>The GWFG contains a false cycle of P2</a:t>
            </a:r>
            <a:r>
              <a:rPr lang="en-US" altLang="zh-TW" dirty="0" smtClean="0">
                <a:latin typeface="新細明體" panose="02020500000000000000" pitchFamily="18" charset="-120"/>
              </a:rPr>
              <a:t>→</a:t>
            </a:r>
            <a:r>
              <a:rPr lang="en-US" altLang="zh-TW" dirty="0" smtClean="0"/>
              <a:t>P3</a:t>
            </a:r>
            <a:r>
              <a:rPr lang="en-US" altLang="zh-TW" dirty="0" smtClean="0">
                <a:latin typeface="新細明體" panose="02020500000000000000" pitchFamily="18" charset="-120"/>
              </a:rPr>
              <a:t>→</a:t>
            </a:r>
            <a:r>
              <a:rPr lang="en-US" altLang="zh-TW" dirty="0" smtClean="0"/>
              <a:t>P4</a:t>
            </a:r>
            <a:r>
              <a:rPr lang="en-US" altLang="zh-TW" dirty="0" smtClean="0">
                <a:latin typeface="新細明體" panose="02020500000000000000" pitchFamily="18" charset="-120"/>
              </a:rPr>
              <a:t>→</a:t>
            </a:r>
            <a:r>
              <a:rPr lang="en-US" altLang="zh-TW" dirty="0" smtClean="0"/>
              <a:t>P2</a:t>
            </a:r>
            <a:endParaRPr lang="zh-TW" altLang="en-US" dirty="0"/>
          </a:p>
        </p:txBody>
      </p:sp>
      <p:sp>
        <p:nvSpPr>
          <p:cNvPr id="26" name="文字方塊 25"/>
          <p:cNvSpPr txBox="1"/>
          <p:nvPr/>
        </p:nvSpPr>
        <p:spPr>
          <a:xfrm>
            <a:off x="3948316" y="441011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R4</a:t>
            </a:r>
            <a:endParaRPr lang="zh-TW" altLang="en-US" dirty="0"/>
          </a:p>
        </p:txBody>
      </p:sp>
      <p:sp>
        <p:nvSpPr>
          <p:cNvPr id="27" name="橢圓 26"/>
          <p:cNvSpPr/>
          <p:nvPr/>
        </p:nvSpPr>
        <p:spPr>
          <a:xfrm>
            <a:off x="6542824" y="1398918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8" name="橢圓 27"/>
          <p:cNvSpPr/>
          <p:nvPr/>
        </p:nvSpPr>
        <p:spPr>
          <a:xfrm>
            <a:off x="3984320" y="4405552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697448" y="51352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R2</a:t>
            </a:r>
            <a:endParaRPr lang="zh-TW" altLang="en-US" dirty="0"/>
          </a:p>
        </p:txBody>
      </p:sp>
      <p:sp>
        <p:nvSpPr>
          <p:cNvPr id="30" name="橢圓 29"/>
          <p:cNvSpPr/>
          <p:nvPr/>
        </p:nvSpPr>
        <p:spPr>
          <a:xfrm>
            <a:off x="2733452" y="5130642"/>
            <a:ext cx="432048" cy="37389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文字方塊 30"/>
          <p:cNvSpPr txBox="1"/>
          <p:nvPr/>
        </p:nvSpPr>
        <p:spPr>
          <a:xfrm>
            <a:off x="3770255" y="5375340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R5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2080680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008" y="548680"/>
            <a:ext cx="9036496" cy="792088"/>
          </a:xfrm>
        </p:spPr>
        <p:txBody>
          <a:bodyPr/>
          <a:lstStyle/>
          <a:p>
            <a:pPr algn="ctr"/>
            <a:r>
              <a:rPr lang="en-US" altLang="zh-TW" dirty="0"/>
              <a:t>The False Cycle </a:t>
            </a:r>
            <a:r>
              <a:rPr lang="en-US" altLang="zh-TW" dirty="0" smtClean="0"/>
              <a:t>Free Deadlock </a:t>
            </a:r>
            <a:r>
              <a:rPr lang="en-US" altLang="zh-TW" dirty="0"/>
              <a:t>Detection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331168"/>
            <a:ext cx="8928992" cy="5410200"/>
          </a:xfrm>
        </p:spPr>
        <p:txBody>
          <a:bodyPr/>
          <a:lstStyle/>
          <a:p>
            <a:r>
              <a:rPr lang="en-US" altLang="zh-TW" sz="2400" dirty="0"/>
              <a:t>Append </a:t>
            </a:r>
            <a:r>
              <a:rPr lang="en-US" altLang="zh-TW" sz="2400" dirty="0" smtClean="0">
                <a:solidFill>
                  <a:srgbClr val="FF0000"/>
                </a:solidFill>
              </a:rPr>
              <a:t>timestamps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to </a:t>
            </a:r>
            <a:r>
              <a:rPr lang="en-US" altLang="zh-TW" sz="2400" dirty="0" smtClean="0"/>
              <a:t>resource requests among different hosts.</a:t>
            </a:r>
            <a:endParaRPr lang="en-US" altLang="zh-TW" sz="2400" dirty="0"/>
          </a:p>
          <a:p>
            <a:r>
              <a:rPr lang="en-US" altLang="zh-TW" sz="2400" dirty="0"/>
              <a:t>When </a:t>
            </a:r>
            <a:r>
              <a:rPr lang="en-US" altLang="zh-TW" sz="2400" dirty="0" smtClean="0"/>
              <a:t>process P</a:t>
            </a:r>
            <a:r>
              <a:rPr lang="en-US" altLang="zh-TW" sz="2400" baseline="-25000" dirty="0" smtClean="0"/>
              <a:t>i</a:t>
            </a:r>
            <a:r>
              <a:rPr lang="en-US" altLang="zh-TW" sz="2400" dirty="0" smtClean="0"/>
              <a:t> of host </a:t>
            </a:r>
            <a:r>
              <a:rPr lang="en-US" altLang="zh-TW" sz="2400" dirty="0"/>
              <a:t>A, requests a </a:t>
            </a:r>
            <a:r>
              <a:rPr lang="en-US" altLang="zh-TW" sz="2400" dirty="0" smtClean="0"/>
              <a:t>resource (at host B) </a:t>
            </a:r>
            <a:r>
              <a:rPr lang="en-US" altLang="zh-TW" sz="2400" dirty="0"/>
              <a:t>held by process </a:t>
            </a:r>
            <a:r>
              <a:rPr lang="en-US" altLang="zh-TW" sz="2400" dirty="0" err="1"/>
              <a:t>P</a:t>
            </a:r>
            <a:r>
              <a:rPr lang="en-US" altLang="zh-TW" sz="2400" baseline="-25000" dirty="0" err="1"/>
              <a:t>j</a:t>
            </a:r>
            <a:r>
              <a:rPr lang="en-US" altLang="zh-TW" sz="2400" dirty="0"/>
              <a:t>, </a:t>
            </a:r>
            <a:r>
              <a:rPr lang="en-US" altLang="zh-TW" sz="2400" dirty="0" smtClean="0"/>
              <a:t>a </a:t>
            </a:r>
            <a:r>
              <a:rPr lang="en-US" altLang="zh-TW" sz="2400" dirty="0"/>
              <a:t>request message with timestamp TS is sent.</a:t>
            </a:r>
          </a:p>
          <a:p>
            <a:pPr lvl="1"/>
            <a:r>
              <a:rPr lang="en-US" altLang="zh-TW" sz="2000" dirty="0"/>
              <a:t>The edge P</a:t>
            </a:r>
            <a:r>
              <a:rPr lang="en-US" altLang="zh-TW" sz="2000" baseline="-25000" dirty="0"/>
              <a:t>i</a:t>
            </a:r>
            <a:r>
              <a:rPr lang="en-US" altLang="zh-TW" sz="2000" dirty="0"/>
              <a:t> 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sz="2000" dirty="0" smtClean="0"/>
              <a:t> </a:t>
            </a:r>
            <a:r>
              <a:rPr lang="en-US" altLang="zh-TW" sz="2000" dirty="0" err="1"/>
              <a:t>P</a:t>
            </a:r>
            <a:r>
              <a:rPr lang="en-US" altLang="zh-TW" sz="2000" baseline="-25000" dirty="0" err="1"/>
              <a:t>j</a:t>
            </a:r>
            <a:r>
              <a:rPr lang="en-US" altLang="zh-TW" sz="2000" dirty="0"/>
              <a:t> with the label TS is inserted in the </a:t>
            </a:r>
            <a:r>
              <a:rPr lang="en-US" altLang="zh-TW" sz="2000" dirty="0" smtClean="0"/>
              <a:t>LWGF </a:t>
            </a:r>
            <a:r>
              <a:rPr lang="en-US" altLang="zh-TW" sz="2000" dirty="0"/>
              <a:t>of </a:t>
            </a:r>
            <a:r>
              <a:rPr lang="en-US" altLang="zh-TW" sz="2000" dirty="0" smtClean="0"/>
              <a:t>host A</a:t>
            </a:r>
            <a:r>
              <a:rPr lang="en-US" altLang="zh-TW" sz="2000" dirty="0"/>
              <a:t>.</a:t>
            </a:r>
          </a:p>
          <a:p>
            <a:pPr lvl="1"/>
            <a:r>
              <a:rPr lang="en-US" altLang="zh-TW" sz="2000" dirty="0"/>
              <a:t>The edge is inserted in the </a:t>
            </a:r>
            <a:r>
              <a:rPr lang="en-US" altLang="zh-TW" sz="2000" dirty="0" smtClean="0"/>
              <a:t>LWFG </a:t>
            </a:r>
            <a:r>
              <a:rPr lang="en-US" altLang="zh-TW" sz="2000" dirty="0"/>
              <a:t>of </a:t>
            </a:r>
            <a:r>
              <a:rPr lang="en-US" altLang="zh-TW" sz="2000" dirty="0" smtClean="0"/>
              <a:t>host B </a:t>
            </a:r>
            <a:r>
              <a:rPr lang="en-US" altLang="zh-TW" sz="2000" dirty="0"/>
              <a:t>only if B has received the request message and cannot immediately grant the requested resource</a:t>
            </a:r>
            <a:r>
              <a:rPr lang="en-US" altLang="zh-TW" sz="2000" dirty="0" smtClean="0"/>
              <a:t>.</a:t>
            </a:r>
          </a:p>
          <a:p>
            <a:r>
              <a:rPr lang="en-US" altLang="zh-TW" sz="2400" dirty="0" smtClean="0"/>
              <a:t>To construct the GWFG:</a:t>
            </a:r>
          </a:p>
          <a:p>
            <a:pPr lvl="1"/>
            <a:r>
              <a:rPr lang="en-US" altLang="zh-TW" sz="2000" dirty="0" smtClean="0"/>
              <a:t>The </a:t>
            </a:r>
            <a:r>
              <a:rPr lang="en-US" altLang="zh-TW" sz="2000" dirty="0"/>
              <a:t>coordinator sends </a:t>
            </a:r>
            <a:r>
              <a:rPr lang="en-US" altLang="zh-TW" sz="2000" dirty="0" smtClean="0"/>
              <a:t>a </a:t>
            </a:r>
            <a:r>
              <a:rPr lang="en-US" altLang="zh-TW" sz="2000" dirty="0" smtClean="0">
                <a:solidFill>
                  <a:srgbClr val="FF0000"/>
                </a:solidFill>
              </a:rPr>
              <a:t>start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message to each site in the system.</a:t>
            </a:r>
          </a:p>
          <a:p>
            <a:pPr lvl="1"/>
            <a:r>
              <a:rPr lang="en-US" altLang="zh-TW" sz="2000" dirty="0" smtClean="0"/>
              <a:t>On </a:t>
            </a:r>
            <a:r>
              <a:rPr lang="en-US" altLang="zh-TW" sz="2000" dirty="0"/>
              <a:t>receiving </a:t>
            </a:r>
            <a:r>
              <a:rPr lang="en-US" altLang="zh-TW" sz="2000" dirty="0" smtClean="0"/>
              <a:t>the </a:t>
            </a:r>
            <a:r>
              <a:rPr lang="en-US" altLang="zh-TW" sz="2000" dirty="0" smtClean="0">
                <a:solidFill>
                  <a:srgbClr val="FF0000"/>
                </a:solidFill>
              </a:rPr>
              <a:t>start</a:t>
            </a:r>
            <a:r>
              <a:rPr lang="en-US" altLang="zh-TW" sz="2000" dirty="0" smtClean="0"/>
              <a:t> message</a:t>
            </a:r>
            <a:r>
              <a:rPr lang="en-US" altLang="zh-TW" sz="2000" dirty="0"/>
              <a:t>, a </a:t>
            </a:r>
            <a:r>
              <a:rPr lang="en-US" altLang="zh-TW" sz="2000" dirty="0" smtClean="0"/>
              <a:t>host </a:t>
            </a:r>
            <a:r>
              <a:rPr lang="en-US" altLang="zh-TW" sz="2000" dirty="0"/>
              <a:t>sends its </a:t>
            </a:r>
            <a:r>
              <a:rPr lang="en-US" altLang="zh-TW" sz="2000" dirty="0" smtClean="0"/>
              <a:t>LWFG back.</a:t>
            </a:r>
            <a:endParaRPr lang="en-US" altLang="zh-TW" sz="2000" dirty="0"/>
          </a:p>
          <a:p>
            <a:pPr lvl="1"/>
            <a:r>
              <a:rPr lang="en-US" altLang="zh-TW" sz="2000" dirty="0" smtClean="0"/>
              <a:t>When all LWFGs are received, the coordinator </a:t>
            </a:r>
            <a:r>
              <a:rPr lang="en-US" altLang="zh-TW" sz="2000" dirty="0"/>
              <a:t>constructs </a:t>
            </a:r>
            <a:r>
              <a:rPr lang="en-US" altLang="zh-TW" sz="2000" dirty="0" smtClean="0"/>
              <a:t>the GWFG:</a:t>
            </a:r>
            <a:endParaRPr lang="en-US" altLang="zh-TW" sz="2000" dirty="0"/>
          </a:p>
          <a:p>
            <a:pPr lvl="2"/>
            <a:r>
              <a:rPr lang="en-US" altLang="zh-TW" sz="1800" dirty="0" smtClean="0"/>
              <a:t>The GWFG </a:t>
            </a:r>
            <a:r>
              <a:rPr lang="en-US" altLang="zh-TW" sz="1800" dirty="0"/>
              <a:t>contains a vertex for every process in the system.</a:t>
            </a:r>
          </a:p>
          <a:p>
            <a:pPr lvl="2"/>
            <a:r>
              <a:rPr lang="en-US" altLang="zh-TW" sz="1800" dirty="0" smtClean="0"/>
              <a:t>The GWFG </a:t>
            </a:r>
            <a:r>
              <a:rPr lang="en-US" altLang="zh-TW" sz="1800" dirty="0"/>
              <a:t>has an edge P</a:t>
            </a:r>
            <a:r>
              <a:rPr lang="en-US" altLang="zh-TW" sz="1800" baseline="-25000" dirty="0"/>
              <a:t>i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sz="1800" dirty="0" smtClean="0"/>
              <a:t> </a:t>
            </a:r>
            <a:r>
              <a:rPr lang="en-US" altLang="zh-TW" sz="1800" dirty="0" err="1"/>
              <a:t>P</a:t>
            </a:r>
            <a:r>
              <a:rPr lang="en-US" altLang="zh-TW" sz="1800" baseline="-25000" dirty="0" err="1"/>
              <a:t>j</a:t>
            </a:r>
            <a:r>
              <a:rPr lang="en-US" altLang="zh-TW" sz="1800" dirty="0"/>
              <a:t> if and only if</a:t>
            </a:r>
          </a:p>
          <a:p>
            <a:pPr lvl="3"/>
            <a:r>
              <a:rPr lang="en-US" altLang="zh-TW" sz="1800" dirty="0"/>
              <a:t>there is an edge P</a:t>
            </a:r>
            <a:r>
              <a:rPr lang="en-US" altLang="zh-TW" sz="1800" baseline="-25000" dirty="0"/>
              <a:t>i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sz="1800" dirty="0" smtClean="0"/>
              <a:t> </a:t>
            </a:r>
            <a:r>
              <a:rPr lang="en-US" altLang="zh-TW" sz="1800" dirty="0" err="1"/>
              <a:t>P</a:t>
            </a:r>
            <a:r>
              <a:rPr lang="en-US" altLang="zh-TW" sz="1800" baseline="-25000" dirty="0" err="1"/>
              <a:t>j</a:t>
            </a:r>
            <a:r>
              <a:rPr lang="en-US" altLang="zh-TW" sz="1800" dirty="0"/>
              <a:t> in one of the </a:t>
            </a:r>
            <a:r>
              <a:rPr lang="en-US" altLang="zh-TW" sz="1800" dirty="0" smtClean="0"/>
              <a:t>LWFGs</a:t>
            </a:r>
            <a:r>
              <a:rPr lang="en-US" altLang="zh-TW" sz="1800" dirty="0"/>
              <a:t>, or </a:t>
            </a:r>
          </a:p>
          <a:p>
            <a:pPr lvl="3"/>
            <a:r>
              <a:rPr lang="en-US" altLang="zh-TW" sz="1800" dirty="0"/>
              <a:t>an edge P</a:t>
            </a:r>
            <a:r>
              <a:rPr lang="en-US" altLang="zh-TW" sz="1800" baseline="-25000" dirty="0"/>
              <a:t>i</a:t>
            </a:r>
            <a:r>
              <a:rPr lang="en-US" altLang="zh-TW" sz="1800" dirty="0"/>
              <a:t> </a:t>
            </a:r>
            <a:r>
              <a:rPr lang="en-US" altLang="zh-TW" sz="18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→</a:t>
            </a:r>
            <a:r>
              <a:rPr lang="en-US" altLang="zh-TW" sz="1800" dirty="0" smtClean="0"/>
              <a:t> </a:t>
            </a:r>
            <a:r>
              <a:rPr lang="en-US" altLang="zh-TW" sz="1800" dirty="0" err="1"/>
              <a:t>P</a:t>
            </a:r>
            <a:r>
              <a:rPr lang="en-US" altLang="zh-TW" sz="1800" baseline="-25000" dirty="0" err="1"/>
              <a:t>j</a:t>
            </a:r>
            <a:r>
              <a:rPr lang="en-US" altLang="zh-TW" sz="1800" dirty="0"/>
              <a:t> with </a:t>
            </a:r>
            <a:r>
              <a:rPr lang="en-US" altLang="zh-TW" sz="1800" dirty="0" smtClean="0"/>
              <a:t>a </a:t>
            </a:r>
            <a:r>
              <a:rPr lang="en-US" altLang="zh-TW" sz="1800" dirty="0"/>
              <a:t>label TS appears in more than one </a:t>
            </a:r>
            <a:r>
              <a:rPr lang="en-US" altLang="zh-TW" sz="1800" dirty="0" smtClean="0"/>
              <a:t>LWFGs. </a:t>
            </a:r>
            <a:endParaRPr lang="en-US" altLang="zh-TW" sz="1800" dirty="0"/>
          </a:p>
          <a:p>
            <a:pPr lvl="2"/>
            <a:r>
              <a:rPr lang="en-US" altLang="zh-TW" sz="1800" dirty="0"/>
              <a:t>If the </a:t>
            </a:r>
            <a:r>
              <a:rPr lang="en-US" altLang="zh-TW" sz="1800" dirty="0" smtClean="0"/>
              <a:t>GWFG </a:t>
            </a:r>
            <a:r>
              <a:rPr lang="en-US" altLang="zh-TW" sz="1800" dirty="0"/>
              <a:t>contains a </a:t>
            </a:r>
            <a:r>
              <a:rPr lang="en-US" altLang="zh-TW" sz="1800" dirty="0" smtClean="0"/>
              <a:t>cycle, it implies a deadlock.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39593358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71810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The Fully Distributed DD Algorithm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504" y="1447800"/>
            <a:ext cx="8856984" cy="5077544"/>
          </a:xfrm>
        </p:spPr>
        <p:txBody>
          <a:bodyPr/>
          <a:lstStyle/>
          <a:p>
            <a:r>
              <a:rPr lang="en-US" altLang="zh-TW" dirty="0"/>
              <a:t>All </a:t>
            </a:r>
            <a:r>
              <a:rPr lang="en-US" altLang="zh-TW" dirty="0" smtClean="0"/>
              <a:t>hosts </a:t>
            </a:r>
            <a:r>
              <a:rPr lang="en-US" altLang="zh-TW" dirty="0"/>
              <a:t>share </a:t>
            </a:r>
            <a:r>
              <a:rPr lang="en-US" altLang="zh-TW" dirty="0" smtClean="0"/>
              <a:t>the same </a:t>
            </a:r>
            <a:r>
              <a:rPr lang="en-US" altLang="zh-TW" dirty="0"/>
              <a:t>responsibility for detecting deadlock.</a:t>
            </a:r>
          </a:p>
          <a:p>
            <a:r>
              <a:rPr lang="en-US" altLang="zh-TW" dirty="0"/>
              <a:t>Every </a:t>
            </a:r>
            <a:r>
              <a:rPr lang="en-US" altLang="zh-TW" dirty="0" smtClean="0"/>
              <a:t>host </a:t>
            </a:r>
            <a:r>
              <a:rPr lang="en-US" altLang="zh-TW" dirty="0"/>
              <a:t>constructs </a:t>
            </a:r>
            <a:r>
              <a:rPr lang="en-US" altLang="zh-TW" dirty="0" smtClean="0"/>
              <a:t>an </a:t>
            </a:r>
            <a:r>
              <a:rPr lang="en-US" altLang="zh-TW" dirty="0" smtClean="0">
                <a:solidFill>
                  <a:srgbClr val="FF0000"/>
                </a:solidFill>
              </a:rPr>
              <a:t>augmented </a:t>
            </a:r>
            <a:r>
              <a:rPr lang="en-US" altLang="zh-TW" dirty="0">
                <a:solidFill>
                  <a:srgbClr val="FF0000"/>
                </a:solidFill>
              </a:rPr>
              <a:t>wait-for graph </a:t>
            </a:r>
            <a:r>
              <a:rPr lang="en-US" altLang="zh-TW" dirty="0" smtClean="0"/>
              <a:t>(AWFG) that </a:t>
            </a:r>
            <a:r>
              <a:rPr lang="en-US" altLang="zh-TW" dirty="0"/>
              <a:t>represents a part of the </a:t>
            </a:r>
            <a:r>
              <a:rPr lang="en-US" altLang="zh-TW" dirty="0" smtClean="0"/>
              <a:t>GWFG.</a:t>
            </a:r>
            <a:endParaRPr lang="en-US" altLang="zh-TW" dirty="0"/>
          </a:p>
          <a:p>
            <a:r>
              <a:rPr lang="en-US" altLang="zh-TW" dirty="0" smtClean="0"/>
              <a:t>One </a:t>
            </a:r>
            <a:r>
              <a:rPr lang="en-US" altLang="zh-TW" dirty="0"/>
              <a:t>additional node </a:t>
            </a:r>
            <a:r>
              <a:rPr lang="en-US" altLang="zh-TW" dirty="0" err="1"/>
              <a:t>P</a:t>
            </a:r>
            <a:r>
              <a:rPr lang="en-US" altLang="zh-TW" baseline="-25000" dirty="0" err="1"/>
              <a:t>ex</a:t>
            </a:r>
            <a:r>
              <a:rPr lang="en-US" altLang="zh-TW" dirty="0"/>
              <a:t> </a:t>
            </a:r>
            <a:r>
              <a:rPr lang="en-US" altLang="zh-TW" dirty="0" smtClean="0"/>
              <a:t>is added to the LWFG </a:t>
            </a:r>
            <a:r>
              <a:rPr lang="en-US" altLang="zh-TW" dirty="0"/>
              <a:t>for representing all external </a:t>
            </a:r>
            <a:r>
              <a:rPr lang="en-US" altLang="zh-TW" dirty="0" smtClean="0"/>
              <a:t>events to form the AWFG.</a:t>
            </a:r>
            <a:endParaRPr lang="en-US" altLang="zh-TW" dirty="0"/>
          </a:p>
          <a:p>
            <a:r>
              <a:rPr lang="en-US" altLang="zh-TW" dirty="0"/>
              <a:t>If </a:t>
            </a:r>
            <a:r>
              <a:rPr lang="en-US" altLang="zh-TW" dirty="0" smtClean="0"/>
              <a:t>an AWFG </a:t>
            </a:r>
            <a:r>
              <a:rPr lang="en-US" altLang="zh-TW" dirty="0"/>
              <a:t>contains a cycle that does not involve node </a:t>
            </a:r>
            <a:r>
              <a:rPr lang="en-US" altLang="zh-TW" dirty="0" err="1"/>
              <a:t>P</a:t>
            </a:r>
            <a:r>
              <a:rPr lang="en-US" altLang="zh-TW" baseline="-25000" dirty="0" err="1"/>
              <a:t>ex</a:t>
            </a:r>
            <a:r>
              <a:rPr lang="en-US" altLang="zh-TW" dirty="0"/>
              <a:t>, then the system is in a deadlock state.</a:t>
            </a:r>
          </a:p>
          <a:p>
            <a:r>
              <a:rPr lang="en-US" altLang="zh-TW" dirty="0"/>
              <a:t>A cycle involving </a:t>
            </a:r>
            <a:r>
              <a:rPr lang="en-US" altLang="zh-TW" dirty="0" err="1"/>
              <a:t>P</a:t>
            </a:r>
            <a:r>
              <a:rPr lang="en-US" altLang="zh-TW" baseline="-25000" dirty="0" err="1"/>
              <a:t>ex</a:t>
            </a:r>
            <a:r>
              <a:rPr lang="en-US" altLang="zh-TW" dirty="0"/>
              <a:t> implies the possibility of a deadlock.  </a:t>
            </a:r>
          </a:p>
          <a:p>
            <a:r>
              <a:rPr lang="en-US" altLang="zh-TW" dirty="0"/>
              <a:t>To ascertain whether a deadlock does exist, </a:t>
            </a:r>
            <a:r>
              <a:rPr lang="en-US" altLang="zh-TW" dirty="0" smtClean="0"/>
              <a:t>an AWFG containing a cycle with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ex</a:t>
            </a:r>
            <a:r>
              <a:rPr lang="en-US" altLang="zh-TW" dirty="0" smtClean="0"/>
              <a:t> must be propagated to other hosts for checking whether a real cycle existed.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160300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圖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548680"/>
            <a:ext cx="2834886" cy="2475191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4" y="578297"/>
            <a:ext cx="4140957" cy="2483467"/>
          </a:xfrm>
          <a:prstGeom prst="rect">
            <a:avLst/>
          </a:prstGeom>
        </p:spPr>
      </p:pic>
      <p:sp>
        <p:nvSpPr>
          <p:cNvPr id="8" name="文字方塊 7"/>
          <p:cNvSpPr txBox="1"/>
          <p:nvPr/>
        </p:nvSpPr>
        <p:spPr>
          <a:xfrm>
            <a:off x="467812" y="116632"/>
            <a:ext cx="3384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/>
              <a:t>The AWFGs of host A</a:t>
            </a:r>
            <a:endParaRPr lang="zh-TW" altLang="en-US" sz="2400" dirty="0"/>
          </a:p>
        </p:txBody>
      </p:sp>
      <p:sp>
        <p:nvSpPr>
          <p:cNvPr id="9" name="文字方塊 8"/>
          <p:cNvSpPr txBox="1"/>
          <p:nvPr/>
        </p:nvSpPr>
        <p:spPr>
          <a:xfrm>
            <a:off x="4932308" y="116632"/>
            <a:ext cx="33841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400" dirty="0" smtClean="0"/>
              <a:t>The AWFGs of host B</a:t>
            </a:r>
            <a:endParaRPr lang="zh-TW" altLang="en-US" sz="2400" dirty="0"/>
          </a:p>
        </p:txBody>
      </p:sp>
      <p:pic>
        <p:nvPicPr>
          <p:cNvPr id="12" name="圖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1640" y="692696"/>
            <a:ext cx="579170" cy="493819"/>
          </a:xfrm>
          <a:prstGeom prst="rect">
            <a:avLst/>
          </a:prstGeom>
        </p:spPr>
      </p:pic>
      <p:pic>
        <p:nvPicPr>
          <p:cNvPr id="13" name="圖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227" y="1700808"/>
            <a:ext cx="579170" cy="499915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3344" y="1539977"/>
            <a:ext cx="579170" cy="493819"/>
          </a:xfrm>
          <a:prstGeom prst="rect">
            <a:avLst/>
          </a:prstGeom>
        </p:spPr>
      </p:pic>
      <p:pic>
        <p:nvPicPr>
          <p:cNvPr id="15" name="圖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6216" y="819774"/>
            <a:ext cx="579170" cy="493819"/>
          </a:xfrm>
          <a:prstGeom prst="rect">
            <a:avLst/>
          </a:prstGeom>
        </p:spPr>
      </p:pic>
      <p:pic>
        <p:nvPicPr>
          <p:cNvPr id="16" name="圖片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0631" y="1773409"/>
            <a:ext cx="579170" cy="499915"/>
          </a:xfrm>
          <a:prstGeom prst="rect">
            <a:avLst/>
          </a:prstGeom>
        </p:spPr>
      </p:pic>
      <p:sp>
        <p:nvSpPr>
          <p:cNvPr id="17" name="橢圓 16"/>
          <p:cNvSpPr/>
          <p:nvPr/>
        </p:nvSpPr>
        <p:spPr>
          <a:xfrm>
            <a:off x="7308303" y="634636"/>
            <a:ext cx="633023" cy="67895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2139704" y="2256681"/>
            <a:ext cx="720080" cy="72008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178228" y="548681"/>
            <a:ext cx="579170" cy="792088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橢圓 19"/>
          <p:cNvSpPr/>
          <p:nvPr/>
        </p:nvSpPr>
        <p:spPr>
          <a:xfrm>
            <a:off x="2213344" y="578297"/>
            <a:ext cx="630464" cy="76247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107504" y="2276872"/>
            <a:ext cx="720080" cy="718604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文字方塊 22"/>
          <p:cNvSpPr txBox="1"/>
          <p:nvPr/>
        </p:nvSpPr>
        <p:spPr>
          <a:xfrm>
            <a:off x="107504" y="3573016"/>
            <a:ext cx="48248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1. Since the AWFG of A has a cycle involving </a:t>
            </a:r>
            <a:r>
              <a:rPr lang="en-US" altLang="zh-TW" dirty="0" err="1" smtClean="0"/>
              <a:t>P</a:t>
            </a:r>
            <a:r>
              <a:rPr lang="en-US" altLang="zh-TW" baseline="-25000" dirty="0" err="1" smtClean="0"/>
              <a:t>ex</a:t>
            </a:r>
            <a:r>
              <a:rPr lang="en-US" altLang="zh-TW" dirty="0" smtClean="0"/>
              <a:t>, host A sends the cycle to host B.</a:t>
            </a:r>
          </a:p>
          <a:p>
            <a:endParaRPr lang="en-US" altLang="zh-TW" dirty="0" smtClean="0"/>
          </a:p>
          <a:p>
            <a:r>
              <a:rPr lang="en-US" altLang="zh-TW" dirty="0" smtClean="0"/>
              <a:t>2. Host B updates its AWFG from the cycle and detects a real cycle P</a:t>
            </a:r>
            <a:r>
              <a:rPr lang="en-US" altLang="zh-TW" baseline="-25000" dirty="0" smtClean="0"/>
              <a:t>2</a:t>
            </a:r>
            <a:r>
              <a:rPr lang="en-US" altLang="zh-TW" dirty="0" smtClean="0">
                <a:latin typeface="新細明體" panose="02020500000000000000" pitchFamily="18" charset="-120"/>
              </a:rPr>
              <a:t>→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3</a:t>
            </a:r>
            <a:r>
              <a:rPr lang="en-US" altLang="zh-TW" dirty="0" smtClean="0">
                <a:latin typeface="新細明體" panose="02020500000000000000" pitchFamily="18" charset="-120"/>
              </a:rPr>
              <a:t>→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4</a:t>
            </a:r>
            <a:r>
              <a:rPr lang="en-US" altLang="zh-TW" dirty="0" smtClean="0">
                <a:latin typeface="新細明體" panose="02020500000000000000" pitchFamily="18" charset="-120"/>
              </a:rPr>
              <a:t>→</a:t>
            </a:r>
            <a:r>
              <a:rPr lang="en-US" altLang="zh-TW" dirty="0" smtClean="0"/>
              <a:t>P</a:t>
            </a:r>
            <a:r>
              <a:rPr lang="en-US" altLang="zh-TW" baseline="-25000" dirty="0" smtClean="0"/>
              <a:t>2</a:t>
            </a:r>
            <a:r>
              <a:rPr lang="en-US" altLang="zh-TW" dirty="0" smtClean="0"/>
              <a:t>.</a:t>
            </a:r>
          </a:p>
          <a:p>
            <a:endParaRPr lang="zh-TW" altLang="en-US" dirty="0"/>
          </a:p>
        </p:txBody>
      </p:sp>
      <p:pic>
        <p:nvPicPr>
          <p:cNvPr id="24" name="圖片 2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9920" y="4005064"/>
            <a:ext cx="3184591" cy="2520280"/>
          </a:xfrm>
          <a:prstGeom prst="rect">
            <a:avLst/>
          </a:prstGeom>
        </p:spPr>
      </p:pic>
      <p:sp>
        <p:nvSpPr>
          <p:cNvPr id="25" name="矩形 24"/>
          <p:cNvSpPr/>
          <p:nvPr/>
        </p:nvSpPr>
        <p:spPr>
          <a:xfrm>
            <a:off x="2053541" y="476672"/>
            <a:ext cx="2374443" cy="2664296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6" name="圖片 2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025" y="4172384"/>
            <a:ext cx="579170" cy="493819"/>
          </a:xfrm>
          <a:prstGeom prst="rect">
            <a:avLst/>
          </a:prstGeom>
        </p:spPr>
      </p:pic>
      <p:pic>
        <p:nvPicPr>
          <p:cNvPr id="27" name="圖片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7930" y="5051791"/>
            <a:ext cx="579170" cy="499915"/>
          </a:xfrm>
          <a:prstGeom prst="rect">
            <a:avLst/>
          </a:prstGeom>
          <a:ln>
            <a:noFill/>
          </a:ln>
        </p:spPr>
      </p:pic>
      <p:sp>
        <p:nvSpPr>
          <p:cNvPr id="28" name="橢圓 27"/>
          <p:cNvSpPr/>
          <p:nvPr/>
        </p:nvSpPr>
        <p:spPr>
          <a:xfrm>
            <a:off x="7596336" y="4005064"/>
            <a:ext cx="720080" cy="73529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29" name="圖片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29240" y="4941168"/>
            <a:ext cx="579170" cy="493819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0" name="橢圓 29"/>
          <p:cNvSpPr/>
          <p:nvPr/>
        </p:nvSpPr>
        <p:spPr>
          <a:xfrm>
            <a:off x="5220072" y="4005064"/>
            <a:ext cx="720080" cy="735296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199920" y="5733256"/>
            <a:ext cx="704362" cy="717382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/>
          <p:cNvSpPr txBox="1"/>
          <p:nvPr/>
        </p:nvSpPr>
        <p:spPr>
          <a:xfrm>
            <a:off x="5004049" y="3501008"/>
            <a:ext cx="3648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smtClean="0"/>
              <a:t>The modified AWFG of B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97552530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399802"/>
            <a:ext cx="7772400" cy="940966"/>
          </a:xfrm>
        </p:spPr>
        <p:txBody>
          <a:bodyPr/>
          <a:lstStyle/>
          <a:p>
            <a:pPr algn="ctr"/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412776"/>
            <a:ext cx="8784976" cy="5328592"/>
          </a:xfrm>
        </p:spPr>
        <p:txBody>
          <a:bodyPr/>
          <a:lstStyle/>
          <a:p>
            <a:r>
              <a:rPr lang="en-US" altLang="zh-TW" sz="2000" dirty="0"/>
              <a:t>Cristian, F., "Probabilistic Clock Synchronization," Distributed Computing, Vol. </a:t>
            </a:r>
            <a:r>
              <a:rPr lang="en-US" altLang="zh-TW" sz="2000" dirty="0" smtClean="0"/>
              <a:t>3, pp</a:t>
            </a:r>
            <a:r>
              <a:rPr lang="en-US" altLang="zh-TW" sz="2000" dirty="0"/>
              <a:t>. 146-158 (1989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 err="1"/>
              <a:t>Gusella</a:t>
            </a:r>
            <a:r>
              <a:rPr lang="en-US" altLang="zh-TW" sz="2000" dirty="0"/>
              <a:t>, R., and </a:t>
            </a:r>
            <a:r>
              <a:rPr lang="en-US" altLang="zh-TW" sz="2000" dirty="0" err="1"/>
              <a:t>Zatti</a:t>
            </a:r>
            <a:r>
              <a:rPr lang="en-US" altLang="zh-TW" sz="2000" dirty="0"/>
              <a:t>, S., "The Accuracy of the Clock </a:t>
            </a:r>
            <a:r>
              <a:rPr lang="en-US" altLang="zh-TW" sz="2000" dirty="0" smtClean="0"/>
              <a:t>Synchronization Achieved </a:t>
            </a:r>
            <a:r>
              <a:rPr lang="en-US" altLang="zh-TW" sz="2000" dirty="0"/>
              <a:t>by TEMPO in Berkeley UNIX 4.3BSD," IEEE </a:t>
            </a:r>
            <a:r>
              <a:rPr lang="en-US" altLang="zh-TW" sz="2000" dirty="0" smtClean="0"/>
              <a:t>Trans. </a:t>
            </a:r>
            <a:r>
              <a:rPr lang="en-US" altLang="zh-TW" sz="2000" dirty="0"/>
              <a:t>on </a:t>
            </a:r>
            <a:r>
              <a:rPr lang="en-US" altLang="zh-TW" sz="2000" dirty="0" smtClean="0"/>
              <a:t>SE, 15(7), </a:t>
            </a:r>
            <a:r>
              <a:rPr lang="en-US" altLang="zh-TW" sz="2000" dirty="0"/>
              <a:t>pp. 847-853 (1989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/>
              <a:t>Mills, D. L., "Internet Time Synchronization: The Network Time Protocol," </a:t>
            </a:r>
            <a:r>
              <a:rPr lang="en-US" altLang="zh-TW" sz="2000" dirty="0" smtClean="0"/>
              <a:t>IEEE Trans. </a:t>
            </a:r>
            <a:r>
              <a:rPr lang="en-US" altLang="zh-TW" sz="2000" dirty="0"/>
              <a:t>on </a:t>
            </a:r>
            <a:r>
              <a:rPr lang="en-US" altLang="zh-TW" sz="2000" dirty="0" smtClean="0"/>
              <a:t>Comm., 39(10), </a:t>
            </a:r>
            <a:r>
              <a:rPr lang="en-US" altLang="zh-TW" sz="2000" dirty="0"/>
              <a:t>pp. </a:t>
            </a:r>
            <a:r>
              <a:rPr lang="en-US" altLang="zh-TW" sz="2000" dirty="0" smtClean="0"/>
              <a:t>1482-1493 </a:t>
            </a:r>
            <a:r>
              <a:rPr lang="en-US" altLang="zh-TW" sz="2000" dirty="0"/>
              <a:t>(1991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 err="1"/>
              <a:t>Lamport</a:t>
            </a:r>
            <a:r>
              <a:rPr lang="en-US" altLang="zh-TW" sz="2000" dirty="0"/>
              <a:t>, L., "Time, Clocks, and the Ordering of Events in a Distributed </a:t>
            </a:r>
            <a:r>
              <a:rPr lang="en-US" altLang="zh-TW" sz="2000" dirty="0" smtClean="0"/>
              <a:t>System,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/>
              <a:t> CACM</a:t>
            </a:r>
            <a:r>
              <a:rPr lang="en-US" altLang="zh-TW" sz="2000" dirty="0"/>
              <a:t>, </a:t>
            </a:r>
            <a:r>
              <a:rPr lang="en-US" altLang="zh-TW" sz="2000" dirty="0" smtClean="0"/>
              <a:t>21(7), </a:t>
            </a:r>
            <a:r>
              <a:rPr lang="en-US" altLang="zh-TW" sz="2000" dirty="0"/>
              <a:t>pp. 558-565 (1978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/>
              <a:t>Mattern, F</a:t>
            </a:r>
            <a:r>
              <a:rPr lang="en-US" altLang="zh-TW" sz="2000" dirty="0" smtClean="0"/>
              <a:t>., 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/>
              <a:t>Virtual </a:t>
            </a:r>
            <a:r>
              <a:rPr lang="en-US" altLang="zh-TW" sz="2000" dirty="0"/>
              <a:t>time and global states in distributed </a:t>
            </a:r>
            <a:r>
              <a:rPr lang="en-US" altLang="zh-TW" sz="2000" dirty="0" smtClean="0"/>
              <a:t>systems,</a:t>
            </a:r>
            <a:r>
              <a:rPr lang="en-US" altLang="zh-TW" sz="2000" dirty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 i</a:t>
            </a:r>
            <a:r>
              <a:rPr lang="en-US" altLang="zh-TW" sz="2000" dirty="0" smtClean="0"/>
              <a:t>n Proc. </a:t>
            </a:r>
            <a:r>
              <a:rPr lang="en-US" altLang="zh-TW" sz="2000" dirty="0"/>
              <a:t>of the Workshop on Parallel and </a:t>
            </a:r>
            <a:r>
              <a:rPr lang="en-US" altLang="zh-TW" sz="2000" dirty="0" smtClean="0"/>
              <a:t>Distributed Algorithms</a:t>
            </a:r>
            <a:r>
              <a:rPr lang="en-US" altLang="zh-TW" sz="2000" dirty="0"/>
              <a:t>, Amsterdam, North-Holland, pp. </a:t>
            </a:r>
            <a:r>
              <a:rPr lang="en-US" altLang="zh-TW" sz="2000" dirty="0" smtClean="0"/>
              <a:t>215–226 (1989).</a:t>
            </a:r>
          </a:p>
          <a:p>
            <a:r>
              <a:rPr lang="en-US" altLang="zh-TW" sz="2000" dirty="0" err="1" smtClean="0"/>
              <a:t>Fidge</a:t>
            </a:r>
            <a:r>
              <a:rPr lang="en-US" altLang="zh-TW" sz="2000" dirty="0"/>
              <a:t>, C., "Logical Time in Distributed Computing Systems," IEEE Computer, </a:t>
            </a:r>
            <a:r>
              <a:rPr lang="en-US" altLang="zh-TW" sz="2000" dirty="0" smtClean="0"/>
              <a:t>Vol. 24</a:t>
            </a:r>
            <a:r>
              <a:rPr lang="en-US" altLang="zh-TW" sz="2000" dirty="0"/>
              <a:t>, pp. 28-33 (1991</a:t>
            </a:r>
            <a:r>
              <a:rPr lang="en-US" altLang="zh-TW" sz="2000" dirty="0" smtClean="0"/>
              <a:t>).</a:t>
            </a:r>
          </a:p>
          <a:p>
            <a:r>
              <a:rPr lang="en-US" altLang="zh-TW" sz="2000" dirty="0" smtClean="0"/>
              <a:t>Ricart, G. and </a:t>
            </a:r>
            <a:r>
              <a:rPr lang="en-US" altLang="zh-TW" sz="2000" dirty="0" err="1" smtClean="0"/>
              <a:t>Agrawala</a:t>
            </a:r>
            <a:r>
              <a:rPr lang="en-US" altLang="zh-TW" sz="2000" dirty="0" smtClean="0"/>
              <a:t>, A.K., 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/>
              <a:t>An </a:t>
            </a:r>
            <a:r>
              <a:rPr lang="en-US" altLang="zh-TW" sz="2000" dirty="0"/>
              <a:t>optimal algorithm for mutual exclusion in computer </a:t>
            </a:r>
            <a:r>
              <a:rPr lang="en-US" altLang="zh-TW" sz="2000" dirty="0" smtClean="0"/>
              <a:t>networks,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/>
              <a:t> CACM, 24(1), pp. 9-17 (1981).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6716061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References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107504" y="1375792"/>
                <a:ext cx="8856984" cy="5365576"/>
              </a:xfrm>
            </p:spPr>
            <p:txBody>
              <a:bodyPr/>
              <a:lstStyle/>
              <a:p>
                <a:r>
                  <a:rPr lang="en-US" altLang="zh-TW" sz="2000" dirty="0" err="1" smtClean="0"/>
                  <a:t>Maekawa</a:t>
                </a:r>
                <a:r>
                  <a:rPr lang="en-US" altLang="zh-TW" sz="2000" dirty="0" smtClean="0"/>
                  <a:t>, M., </a:t>
                </a:r>
                <a:r>
                  <a:rPr lang="en-US" altLang="zh-TW" sz="2000" dirty="0" smtClean="0">
                    <a:latin typeface="新細明體" panose="02020500000000000000" pitchFamily="18" charset="-120"/>
                    <a:ea typeface="新細明體" panose="02020500000000000000" pitchFamily="18" charset="-120"/>
                  </a:rPr>
                  <a:t>"</a:t>
                </a:r>
                <a:r>
                  <a:rPr lang="en-US" altLang="zh-TW" sz="2000" dirty="0" smtClean="0"/>
                  <a:t>A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𝑁</m:t>
                        </m:r>
                      </m:e>
                    </m:rad>
                    <m:r>
                      <a:rPr lang="en-US" altLang="zh-TW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sz="2000" dirty="0" smtClean="0"/>
                  <a:t>algorithm </a:t>
                </a:r>
                <a:r>
                  <a:rPr lang="en-US" altLang="zh-TW" sz="2000" dirty="0"/>
                  <a:t>for mutual exclusion in decentralized systems</a:t>
                </a:r>
                <a:r>
                  <a:rPr lang="en-US" altLang="zh-TW" sz="2000" dirty="0" smtClean="0"/>
                  <a:t>,</a:t>
                </a:r>
                <a:r>
                  <a:rPr lang="en-US" altLang="zh-TW" sz="2000" dirty="0" smtClean="0">
                    <a:latin typeface="新細明體" panose="02020500000000000000" pitchFamily="18" charset="-120"/>
                    <a:ea typeface="新細明體" panose="02020500000000000000" pitchFamily="18" charset="-120"/>
                  </a:rPr>
                  <a:t>"</a:t>
                </a:r>
                <a:r>
                  <a:rPr lang="en-US" altLang="zh-TW" sz="2000" dirty="0" smtClean="0"/>
                  <a:t> </a:t>
                </a:r>
                <a:r>
                  <a:rPr lang="en-US" altLang="zh-TW" sz="2000" dirty="0"/>
                  <a:t>ACM </a:t>
                </a:r>
                <a:r>
                  <a:rPr lang="en-US" altLang="zh-TW" sz="2000" dirty="0" smtClean="0"/>
                  <a:t>Trans. </a:t>
                </a:r>
                <a:r>
                  <a:rPr lang="en-US" altLang="zh-TW" sz="2000" dirty="0"/>
                  <a:t>on Computer Systems, </a:t>
                </a:r>
                <a:r>
                  <a:rPr lang="en-US" altLang="zh-TW" sz="2000" dirty="0" smtClean="0"/>
                  <a:t>3(2), </a:t>
                </a:r>
                <a:r>
                  <a:rPr lang="en-US" altLang="zh-TW" sz="2000" dirty="0"/>
                  <a:t>pp. </a:t>
                </a:r>
                <a:r>
                  <a:rPr lang="en-US" altLang="zh-TW" sz="2000" dirty="0" smtClean="0"/>
                  <a:t>145-159 (1985).</a:t>
                </a:r>
              </a:p>
              <a:p>
                <a:r>
                  <a:rPr lang="en-US" altLang="zh-TW" sz="2000" dirty="0"/>
                  <a:t>Sanders, B.A., "The information structure of distributed mutual exclusion algorithms," ACM Trans. on Computer Systems, 5(3), pp. 284-299 (1987).</a:t>
                </a:r>
              </a:p>
              <a:p>
                <a:r>
                  <a:rPr lang="en-US" altLang="zh-TW" sz="2000" dirty="0"/>
                  <a:t>Suzuki, I. and </a:t>
                </a:r>
                <a:r>
                  <a:rPr lang="en-US" altLang="zh-TW" sz="2000" dirty="0" err="1"/>
                  <a:t>Kasami</a:t>
                </a:r>
                <a:r>
                  <a:rPr lang="en-US" altLang="zh-TW" sz="2000" dirty="0"/>
                  <a:t>, T., "A distributed mutual exclusion algorithm," ACM Trans. on Computer Systems, 3(4), pp. 344-349 (1985). </a:t>
                </a:r>
              </a:p>
              <a:p>
                <a:r>
                  <a:rPr lang="en-US" altLang="zh-TW" sz="2000" dirty="0"/>
                  <a:t>Raymond, K., "A tree-based algorithm for distributed mutual exclusion," ACM Trans. on Computer Systems, 7(1), pp. 61-77 (1989).</a:t>
                </a:r>
              </a:p>
              <a:p>
                <a:r>
                  <a:rPr lang="en-US" altLang="zh-TW" sz="2000" dirty="0"/>
                  <a:t>Naimia, M., </a:t>
                </a:r>
                <a:r>
                  <a:rPr lang="en-US" altLang="zh-TW" sz="2000" dirty="0" err="1"/>
                  <a:t>Trehela</a:t>
                </a:r>
                <a:r>
                  <a:rPr lang="en-US" altLang="zh-TW" sz="2000" dirty="0"/>
                  <a:t>, M., and Arnold, A., "A Log (N) Distributed Mutual Exclusion Algorithm Based on Path Reversal," Journal of Parallel and Distributed Computing, 34(1), pp. 1-13, (1996).</a:t>
                </a:r>
              </a:p>
              <a:p>
                <a:r>
                  <a:rPr lang="en-US" altLang="zh-TW" sz="2000" dirty="0"/>
                  <a:t>Agrawal, D., and </a:t>
                </a:r>
                <a:r>
                  <a:rPr lang="en-US" altLang="zh-TW" sz="2000" dirty="0" err="1"/>
                  <a:t>Abbadi</a:t>
                </a:r>
                <a:r>
                  <a:rPr lang="en-US" altLang="zh-TW" sz="2000" dirty="0"/>
                  <a:t>, A.E., "An efficient and fault-tolerant solution for distributed mutual exclusion</a:t>
                </a:r>
                <a:r>
                  <a:rPr lang="en-US" altLang="zh-TW" sz="2000" dirty="0" smtClean="0"/>
                  <a:t>,</a:t>
                </a:r>
                <a:r>
                  <a:rPr lang="en-US" altLang="zh-TW" sz="2000" dirty="0" smtClean="0">
                    <a:latin typeface="新細明體" panose="02020500000000000000" pitchFamily="18" charset="-120"/>
                    <a:ea typeface="新細明體" panose="02020500000000000000" pitchFamily="18" charset="-120"/>
                  </a:rPr>
                  <a:t>"</a:t>
                </a:r>
                <a:r>
                  <a:rPr lang="en-US" altLang="zh-TW" sz="2000" dirty="0" smtClean="0"/>
                  <a:t> </a:t>
                </a:r>
                <a:r>
                  <a:rPr lang="en-US" altLang="zh-TW" sz="2000" dirty="0"/>
                  <a:t>ACM Trans. on Computer Systems, 9(1), pp. 1-20 (1991</a:t>
                </a:r>
                <a:r>
                  <a:rPr lang="en-US" altLang="zh-TW" sz="2000" dirty="0" smtClean="0"/>
                  <a:t>).</a:t>
                </a:r>
              </a:p>
              <a:p>
                <a:r>
                  <a:rPr lang="en-US" altLang="zh-TW" sz="2000" dirty="0" smtClean="0"/>
                  <a:t>Garcia-Molina, H. </a:t>
                </a:r>
                <a:r>
                  <a:rPr lang="en-US" altLang="zh-TW" sz="2000" dirty="0"/>
                  <a:t>and Barbara, D., How to assign votes in a distributed </a:t>
                </a:r>
                <a:r>
                  <a:rPr lang="en-US" altLang="zh-TW" sz="2000" dirty="0" smtClean="0"/>
                  <a:t>system, JACM, 32(4), pp. 841-860 (1985).</a:t>
                </a:r>
                <a:endParaRPr lang="en-US" altLang="zh-TW" sz="2000" dirty="0"/>
              </a:p>
              <a:p>
                <a:endParaRPr lang="en-US" altLang="zh-TW" sz="2000" dirty="0"/>
              </a:p>
              <a:p>
                <a:endParaRPr lang="en-US" altLang="zh-TW" sz="2000" dirty="0" smtClean="0"/>
              </a:p>
              <a:p>
                <a:endParaRPr lang="en-US" altLang="zh-TW" sz="2000" dirty="0" err="1" smtClean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7504" y="1375792"/>
                <a:ext cx="8856984" cy="5365576"/>
              </a:xfrm>
              <a:blipFill>
                <a:blip r:embed="rId2"/>
                <a:stretch>
                  <a:fillRect l="-275" t="-114" r="-551" b="-37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531288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83568" y="404664"/>
            <a:ext cx="7772400" cy="868958"/>
          </a:xfrm>
        </p:spPr>
        <p:txBody>
          <a:bodyPr/>
          <a:lstStyle/>
          <a:p>
            <a:pPr algn="ctr"/>
            <a:r>
              <a:rPr lang="en-US" altLang="zh-TW" dirty="0" smtClean="0"/>
              <a:t>References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1520" y="1447800"/>
            <a:ext cx="8640960" cy="4572000"/>
          </a:xfrm>
        </p:spPr>
        <p:txBody>
          <a:bodyPr/>
          <a:lstStyle/>
          <a:p>
            <a:r>
              <a:rPr lang="en-US" altLang="zh-TW" sz="2000" dirty="0"/>
              <a:t>Garcia-Molina, H</a:t>
            </a:r>
            <a:r>
              <a:rPr lang="en-US" altLang="zh-TW" sz="2000" dirty="0" smtClean="0"/>
              <a:t>., 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/>
              <a:t>Elections </a:t>
            </a:r>
            <a:r>
              <a:rPr lang="en-US" altLang="zh-TW" sz="2000" dirty="0"/>
              <a:t>in distributed computer </a:t>
            </a:r>
            <a:r>
              <a:rPr lang="en-US" altLang="zh-TW" sz="2000" dirty="0" smtClean="0"/>
              <a:t>systems,</a:t>
            </a:r>
            <a:r>
              <a:rPr lang="en-US" altLang="zh-TW" sz="2000" dirty="0" smtClean="0">
                <a:latin typeface="新細明體" panose="02020500000000000000" pitchFamily="18" charset="-120"/>
                <a:ea typeface="新細明體" panose="02020500000000000000" pitchFamily="18" charset="-120"/>
              </a:rPr>
              <a:t>"</a:t>
            </a:r>
            <a:r>
              <a:rPr lang="en-US" altLang="zh-TW" sz="2000" dirty="0" smtClean="0"/>
              <a:t> </a:t>
            </a:r>
            <a:r>
              <a:rPr lang="en-US" altLang="zh-TW" sz="2000" dirty="0"/>
              <a:t>IEEE Trans. on Computers, </a:t>
            </a:r>
            <a:r>
              <a:rPr lang="en-US" altLang="zh-TW" sz="2000" dirty="0" smtClean="0"/>
              <a:t>C-31(1), </a:t>
            </a:r>
            <a:r>
              <a:rPr lang="en-US" altLang="zh-TW" sz="2000" dirty="0"/>
              <a:t>pp. </a:t>
            </a:r>
            <a:r>
              <a:rPr lang="en-US" altLang="zh-TW" sz="2000" dirty="0" smtClean="0"/>
              <a:t>48–59 (1982).</a:t>
            </a:r>
            <a:endParaRPr lang="en-US" altLang="zh-TW" sz="2000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09248008"/>
      </p:ext>
    </p:extLst>
  </p:cSld>
  <p:clrMapOvr>
    <a:masterClrMapping/>
  </p:clrMapOvr>
</p:sld>
</file>

<file path=ppt/theme/theme1.xml><?xml version="1.0" encoding="utf-8"?>
<a:theme xmlns:a="http://schemas.openxmlformats.org/drawingml/2006/main" name="4_公正">
  <a:themeElements>
    <a:clrScheme name="4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4_公正">
      <a:majorFont>
        <a:latin typeface="Franklin Gothic Book"/>
        <a:ea typeface="新細明體"/>
        <a:cs typeface=""/>
      </a:majorFont>
      <a:minorFont>
        <a:latin typeface="Perpetu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4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5_公正">
  <a:themeElements>
    <a:clrScheme name="5_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5_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公正">
  <a:themeElements>
    <a:clrScheme name="公正 1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FFFFFF"/>
      </a:accent3>
      <a:accent4>
        <a:srgbClr val="000000"/>
      </a:accent4>
      <a:accent5>
        <a:srgbClr val="E6B1AB"/>
      </a:accent5>
      <a:accent6>
        <a:srgbClr val="8C281B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</a:majorFont>
      <a:minorFont>
        <a:latin typeface="Perpetu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公正 1">
        <a:dk1>
          <a:srgbClr val="000000"/>
        </a:dk1>
        <a:lt1>
          <a:srgbClr val="FFFFFF"/>
        </a:lt1>
        <a:dk2>
          <a:srgbClr val="696464"/>
        </a:dk2>
        <a:lt2>
          <a:srgbClr val="E9E5DC"/>
        </a:lt2>
        <a:accent1>
          <a:srgbClr val="D34817"/>
        </a:accent1>
        <a:accent2>
          <a:srgbClr val="9B2D1F"/>
        </a:accent2>
        <a:accent3>
          <a:srgbClr val="FFFFFF"/>
        </a:accent3>
        <a:accent4>
          <a:srgbClr val="000000"/>
        </a:accent4>
        <a:accent5>
          <a:srgbClr val="E6B1AB"/>
        </a:accent5>
        <a:accent6>
          <a:srgbClr val="8C281B"/>
        </a:accent6>
        <a:hlink>
          <a:srgbClr val="CC9900"/>
        </a:hlink>
        <a:folHlink>
          <a:srgbClr val="96A9A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24886</TotalTime>
  <Words>7549</Words>
  <Application>Microsoft Office PowerPoint</Application>
  <PresentationFormat>如螢幕大小 (4:3)</PresentationFormat>
  <Paragraphs>767</Paragraphs>
  <Slides>72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11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72</vt:i4>
      </vt:variant>
    </vt:vector>
  </HeadingPairs>
  <TitlesOfParts>
    <vt:vector size="86" baseType="lpstr">
      <vt:lpstr>微軟正黑體</vt:lpstr>
      <vt:lpstr>新細明體</vt:lpstr>
      <vt:lpstr>Arial</vt:lpstr>
      <vt:lpstr>Calibri</vt:lpstr>
      <vt:lpstr>Cambria Math</vt:lpstr>
      <vt:lpstr>Franklin Gothic Book</vt:lpstr>
      <vt:lpstr>Perpetua</vt:lpstr>
      <vt:lpstr>Times</vt:lpstr>
      <vt:lpstr>Times New Roman</vt:lpstr>
      <vt:lpstr>Tw Cen MT</vt:lpstr>
      <vt:lpstr>Wingdings 2</vt:lpstr>
      <vt:lpstr>4_公正</vt:lpstr>
      <vt:lpstr>5_公正</vt:lpstr>
      <vt:lpstr>公正</vt:lpstr>
      <vt:lpstr>Operating Systems Synchronization</vt:lpstr>
      <vt:lpstr>Distributed Synchronization</vt:lpstr>
      <vt:lpstr>Time and Clock in a DS</vt:lpstr>
      <vt:lpstr>Coordinated Universal Time</vt:lpstr>
      <vt:lpstr>Physical Clock Synchronization</vt:lpstr>
      <vt:lpstr>Timers and Clocks</vt:lpstr>
      <vt:lpstr>Clock Synchronization Algorithms</vt:lpstr>
      <vt:lpstr>The Cristian's Algorithm (1)</vt:lpstr>
      <vt:lpstr>Cristian's Algorithm (2)</vt:lpstr>
      <vt:lpstr>The Berkeley Algorithm</vt:lpstr>
      <vt:lpstr>The Network Time Protocol</vt:lpstr>
      <vt:lpstr>An Example of an NTP implementation</vt:lpstr>
      <vt:lpstr>The NTP Synchronization (1)</vt:lpstr>
      <vt:lpstr>The NTP Synchronization (2)</vt:lpstr>
      <vt:lpstr>Clock Offset Estimation in NTP </vt:lpstr>
      <vt:lpstr>Event Ordering</vt:lpstr>
      <vt:lpstr>Happened Before Relation</vt:lpstr>
      <vt:lpstr>Lamport's Logical Clock (1)</vt:lpstr>
      <vt:lpstr>Lamport's Logical Clock (2)</vt:lpstr>
      <vt:lpstr>Totally Ordered Logical Clocks</vt:lpstr>
      <vt:lpstr>The Vector Clock (1)</vt:lpstr>
      <vt:lpstr>The Vector Clock (2)</vt:lpstr>
      <vt:lpstr>The Vector Clock (2)</vt:lpstr>
      <vt:lpstr>Distributed Mutual Exclusion (DME)</vt:lpstr>
      <vt:lpstr>Algorithms for DME</vt:lpstr>
      <vt:lpstr>A Central Server DME Algorithm</vt:lpstr>
      <vt:lpstr>A Ring-Based DME Algorithm</vt:lpstr>
      <vt:lpstr>The Ricart and Agrawala's DME Algorithm</vt:lpstr>
      <vt:lpstr>PowerPoint 簡報</vt:lpstr>
      <vt:lpstr>Properties of the Ricart's Algorithm</vt:lpstr>
      <vt:lpstr>The Maekawa's DME Algorithm (1)</vt:lpstr>
      <vt:lpstr>The Maekawa's DME Algorithm (2)</vt:lpstr>
      <vt:lpstr>PowerPoint 簡報</vt:lpstr>
      <vt:lpstr>Deadlocks in Meakawa's Algorithm</vt:lpstr>
      <vt:lpstr>Deadlock Handling in Meakawa's Algorithm </vt:lpstr>
      <vt:lpstr>PowerPoint 簡報</vt:lpstr>
      <vt:lpstr>PowerPoint 簡報</vt:lpstr>
      <vt:lpstr>PowerPoint 簡報</vt:lpstr>
      <vt:lpstr>PowerPoint 簡報</vt:lpstr>
      <vt:lpstr>Token Based DME Algorithms</vt:lpstr>
      <vt:lpstr>PowerPoint 簡報</vt:lpstr>
      <vt:lpstr>Raymond's Tree-Based Algorithm (1) </vt:lpstr>
      <vt:lpstr>Raymond's Tree-Based Algorithm (2) </vt:lpstr>
      <vt:lpstr>PowerPoint 簡報</vt:lpstr>
      <vt:lpstr>Properties of Raymond's DME Algorithm</vt:lpstr>
      <vt:lpstr>An example of Raymond's DME Algorithm</vt:lpstr>
      <vt:lpstr>Path Compressing in MSP Tree (1)</vt:lpstr>
      <vt:lpstr>Path Compression in MSP Tree (2)</vt:lpstr>
      <vt:lpstr>PowerPoint 簡報</vt:lpstr>
      <vt:lpstr>PowerPoint 簡報</vt:lpstr>
      <vt:lpstr>A Fault Tolerant DME Algorithm</vt:lpstr>
      <vt:lpstr>An example of 15 nodes</vt:lpstr>
      <vt:lpstr>Fault Tolerant Properties</vt:lpstr>
      <vt:lpstr>Leader Elections (LE) in DSs</vt:lpstr>
      <vt:lpstr>The Bully LE Algorithm (1)</vt:lpstr>
      <vt:lpstr>The Bully LE Algorithm (2)</vt:lpstr>
      <vt:lpstr>PowerPoint 簡報</vt:lpstr>
      <vt:lpstr>The Bully Algorithm Properties</vt:lpstr>
      <vt:lpstr>The Ring LE Algorithm (1)</vt:lpstr>
      <vt:lpstr>The Ring LE Algorithm (2)</vt:lpstr>
      <vt:lpstr>The Ring Algorithm Properties</vt:lpstr>
      <vt:lpstr>A Ring Algorithm Example </vt:lpstr>
      <vt:lpstr>Deadlocks in Distributed Systems</vt:lpstr>
      <vt:lpstr>Strategies to Handle Deadlocks</vt:lpstr>
      <vt:lpstr>A Central Server Deadlock Detection</vt:lpstr>
      <vt:lpstr>PowerPoint 簡報</vt:lpstr>
      <vt:lpstr>The False Cycle Free Deadlock Detection</vt:lpstr>
      <vt:lpstr>The Fully Distributed DD Algorithm</vt:lpstr>
      <vt:lpstr>PowerPoint 簡報</vt:lpstr>
      <vt:lpstr>References</vt:lpstr>
      <vt:lpstr>References</vt:lpstr>
      <vt:lpstr>References</vt:lpstr>
    </vt:vector>
  </TitlesOfParts>
  <Company>she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she</dc:creator>
  <cp:lastModifiedBy>user</cp:lastModifiedBy>
  <cp:revision>363</cp:revision>
  <dcterms:created xsi:type="dcterms:W3CDTF">2009-09-21T01:12:33Z</dcterms:created>
  <dcterms:modified xsi:type="dcterms:W3CDTF">2024-05-15T00:53:53Z</dcterms:modified>
</cp:coreProperties>
</file>