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3" r:id="rId2"/>
    <p:sldMasterId id="2147483654" r:id="rId3"/>
  </p:sldMasterIdLst>
  <p:notesMasterIdLst>
    <p:notesMasterId r:id="rId75"/>
  </p:notesMasterIdLst>
  <p:sldIdLst>
    <p:sldId id="256" r:id="rId4"/>
    <p:sldId id="288" r:id="rId5"/>
    <p:sldId id="289" r:id="rId6"/>
    <p:sldId id="291" r:id="rId7"/>
    <p:sldId id="292" r:id="rId8"/>
    <p:sldId id="293" r:id="rId9"/>
    <p:sldId id="294" r:id="rId10"/>
    <p:sldId id="295" r:id="rId11"/>
    <p:sldId id="339" r:id="rId12"/>
    <p:sldId id="340" r:id="rId13"/>
    <p:sldId id="341" r:id="rId14"/>
    <p:sldId id="347" r:id="rId15"/>
    <p:sldId id="342" r:id="rId16"/>
    <p:sldId id="348" r:id="rId17"/>
    <p:sldId id="343" r:id="rId18"/>
    <p:sldId id="344" r:id="rId19"/>
    <p:sldId id="349" r:id="rId20"/>
    <p:sldId id="350" r:id="rId21"/>
    <p:sldId id="351" r:id="rId22"/>
    <p:sldId id="352" r:id="rId23"/>
    <p:sldId id="353" r:id="rId24"/>
    <p:sldId id="356" r:id="rId25"/>
    <p:sldId id="354" r:id="rId26"/>
    <p:sldId id="355" r:id="rId27"/>
    <p:sldId id="346" r:id="rId28"/>
    <p:sldId id="357" r:id="rId29"/>
    <p:sldId id="358" r:id="rId30"/>
    <p:sldId id="359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8412"/>
    <a:srgbClr val="D67A10"/>
    <a:srgbClr val="E48312"/>
    <a:srgbClr val="FF9900"/>
    <a:srgbClr val="064C80"/>
    <a:srgbClr val="66CCFF"/>
    <a:srgbClr val="00CCFF"/>
    <a:srgbClr val="71EEFF"/>
    <a:srgbClr val="00D3F0"/>
    <a:srgbClr val="07DE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FB8FC928-72EE-464F-BC38-B4632756C9EE}" type="datetimeFigureOut">
              <a:rPr lang="zh-TW" altLang="en-US"/>
              <a:pPr>
                <a:defRPr/>
              </a:pPr>
              <a:t>2024/5/8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676536-6B7D-46DE-95D7-3DD0ACF4DB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04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676536-6B7D-46DE-95D7-3DD0ACF4DB29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20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234239-67BE-427A-85E5-E3964545943C}" type="slidenum">
              <a:rPr lang="zh-TW" altLang="en-US" smtClean="0"/>
              <a:pPr>
                <a:defRPr/>
              </a:pPr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4624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234239-67BE-427A-85E5-E3964545943C}" type="slidenum">
              <a:rPr lang="zh-TW" altLang="en-US" smtClean="0"/>
              <a:pPr>
                <a:defRPr/>
              </a:pPr>
              <a:t>54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9813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B1B1-1809-4C5B-B10D-D56A7FED31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7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3C270-138C-42DF-BA7F-31BECF9A9D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5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C126F-E9D4-4779-B5E6-E6821E897C3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09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A61E-6E50-47C5-A571-1BEA1FBBB6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58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E5B3A-745C-4BDD-A569-4E3A2C766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31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72F18-AD83-40E9-AFC0-EAB75D45B4F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53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21CF-3A74-41EE-8645-B20E4A2056F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0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D5D20-8F2C-4DD5-AE70-A881BBC0AA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20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9C9D-1EC0-4BF1-9C08-0ED99A350A7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27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F71B1-7C88-4BC8-A518-24B159CE00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97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6C93A-7BBE-44E5-BDAB-7156FDE321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8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8D2B4-E862-438E-9790-CDD4659E5B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12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358C2-AF4F-4DA6-BDBC-2C6B60C74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3744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D52A-3251-4F2A-965A-68697340E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05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BFBC-5F56-4283-B299-4DE386FC81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49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16F7E-6462-4EBB-AC7C-57D2A1527BC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93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8F2A4-614B-4CDF-B57C-19AD2CC91C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2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8C1DE-C343-45A7-98A2-D4A0CA8D1B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143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438A-DA91-4030-A901-6756B18B2B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014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856F6-89E5-4EB4-8B94-2E384E0429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3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C0EB8-BC90-40E1-8EEA-0FC09F0EB4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900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B9F2-E97D-48AD-9AF0-363D7651E3C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517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4EAC2-EC43-4CA0-BCF9-B1DA03845B2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71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6F714-468D-45C8-A116-4CD3D030CE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1638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10860-0040-4170-9093-2398FA10A3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38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01254-25D6-439E-BDBC-326C8D468B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332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743E6-03A6-4062-A2F9-A8CB67EA79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67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56BC5-B4A1-4832-9556-DE3ECA9BC2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6153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2B0C5-6FC9-44D5-BF55-5F5C805708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0663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02423-93F9-4C8F-A1C5-744BE3352F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4320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D2BA9-7A74-4D25-A98B-BA166E1C76F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747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D71CD-6FCB-48D1-A58B-126B35190E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84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D375B-07BA-448A-B2BF-AAF8798B13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87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3" name="矩形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5" name="矩形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031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2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C5D98EF3-68B0-4BE5-A804-4F06DFD0AF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kumimoji="1"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4" name="矩形 11"/>
          <p:cNvSpPr>
            <a:spLocks noChangeArrowheads="1"/>
          </p:cNvSpPr>
          <p:nvPr/>
        </p:nvSpPr>
        <p:spPr bwMode="auto">
          <a:xfrm flipV="1">
            <a:off x="95250" y="1341438"/>
            <a:ext cx="9013825" cy="92075"/>
          </a:xfrm>
          <a:prstGeom prst="rect">
            <a:avLst/>
          </a:prstGeom>
          <a:solidFill>
            <a:schemeClr val="accent1"/>
          </a:solidFill>
          <a:ln w="19050" cap="sq" algn="ctr">
            <a:noFill/>
            <a:miter lim="800000"/>
            <a:headEnd/>
            <a:tailEnd/>
          </a:ln>
        </p:spPr>
        <p:txBody>
          <a:bodyPr rot="10800000" anchor="ctr"/>
          <a:lstStyle/>
          <a:p>
            <a:pPr algn="ctr" eaLnBrk="1" hangingPunct="1">
              <a:defRPr/>
            </a:pPr>
            <a:endParaRPr kumimoji="0" lang="en-US" altLang="zh-TW" sz="2400">
              <a:solidFill>
                <a:srgbClr val="FFFFFF"/>
              </a:solidFill>
              <a:latin typeface="Perpetua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0" y="1341438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24F783D-3DC7-4B21-9FC9-06AEAAF25A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307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D3C4E825-B7C8-40C0-A68F-A0BB2DAA503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myu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107505" y="1484313"/>
            <a:ext cx="8928991" cy="1470025"/>
          </a:xfrm>
        </p:spPr>
        <p:txBody>
          <a:bodyPr/>
          <a:lstStyle/>
          <a:p>
            <a:pPr algn="ctr" eaLnBrk="1" hangingPunct="1"/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Operating Systems</a:t>
            </a:r>
            <a:b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dirty="0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Distributed File Systems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1331913" y="36449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Shyan</a:t>
            </a:r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-Ming Yuan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Department, NCTU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smyuan@gmail.com</a:t>
            </a:r>
            <a:endParaRPr lang="en-US" altLang="zh-TW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hours: Wed. 8~10 (EC442)</a:t>
            </a:r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Concept of Files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640960" cy="5293568"/>
          </a:xfrm>
        </p:spPr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/>
              <a:t>file is a named </a:t>
            </a:r>
            <a:r>
              <a:rPr lang="en-US" altLang="zh-TW" dirty="0" smtClean="0"/>
              <a:t>object in a computer system.</a:t>
            </a:r>
          </a:p>
          <a:p>
            <a:pPr lvl="1"/>
            <a:r>
              <a:rPr lang="en-US" altLang="zh-TW" dirty="0" smtClean="0"/>
              <a:t>It is </a:t>
            </a:r>
            <a:r>
              <a:rPr lang="en-US" altLang="zh-TW" dirty="0"/>
              <a:t>immune to temporary failures in the </a:t>
            </a:r>
            <a:r>
              <a:rPr lang="en-US" altLang="zh-TW" dirty="0" smtClean="0"/>
              <a:t>system.</a:t>
            </a:r>
          </a:p>
          <a:p>
            <a:pPr lvl="1"/>
            <a:r>
              <a:rPr lang="en-US" altLang="zh-TW" dirty="0" smtClean="0"/>
              <a:t>It </a:t>
            </a:r>
            <a:r>
              <a:rPr lang="en-US" altLang="zh-TW" dirty="0"/>
              <a:t>persists until </a:t>
            </a:r>
            <a:r>
              <a:rPr lang="en-US" altLang="zh-TW" dirty="0" smtClean="0"/>
              <a:t>explicitly destroyed.</a:t>
            </a:r>
          </a:p>
          <a:p>
            <a:r>
              <a:rPr lang="en-US" altLang="zh-TW" dirty="0" smtClean="0"/>
              <a:t>Files are used for the following purposes:</a:t>
            </a:r>
          </a:p>
          <a:p>
            <a:pPr lvl="1"/>
            <a:r>
              <a:rPr lang="en-US" altLang="zh-TW" dirty="0"/>
              <a:t>Permanent storage of </a:t>
            </a:r>
            <a:r>
              <a:rPr lang="en-US" altLang="zh-TW" dirty="0" smtClean="0"/>
              <a:t>information.</a:t>
            </a:r>
          </a:p>
          <a:p>
            <a:pPr lvl="2"/>
            <a:r>
              <a:rPr lang="en-US" altLang="zh-TW" dirty="0"/>
              <a:t>Files are stored on disks or other </a:t>
            </a:r>
            <a:r>
              <a:rPr lang="en-US" altLang="zh-TW" dirty="0">
                <a:solidFill>
                  <a:srgbClr val="FF0000"/>
                </a:solidFill>
              </a:rPr>
              <a:t>non-volatile</a:t>
            </a:r>
            <a:r>
              <a:rPr lang="en-US" altLang="zh-TW" dirty="0"/>
              <a:t> storage media.</a:t>
            </a:r>
          </a:p>
          <a:p>
            <a:pPr lvl="2"/>
            <a:r>
              <a:rPr lang="en-US" altLang="zh-TW" dirty="0" smtClean="0"/>
              <a:t>Files </a:t>
            </a:r>
            <a:r>
              <a:rPr lang="en-US" altLang="zh-TW" dirty="0"/>
              <a:t>contain both </a:t>
            </a:r>
            <a:r>
              <a:rPr lang="en-US" altLang="zh-TW" dirty="0">
                <a:solidFill>
                  <a:srgbClr val="FF0000"/>
                </a:solidFill>
              </a:rPr>
              <a:t>data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and </a:t>
            </a:r>
            <a:r>
              <a:rPr lang="en-US" altLang="zh-TW" dirty="0" smtClean="0">
                <a:solidFill>
                  <a:srgbClr val="FF0000"/>
                </a:solidFill>
              </a:rPr>
              <a:t>metadata</a:t>
            </a:r>
            <a:r>
              <a:rPr lang="en-US" altLang="zh-TW" dirty="0" smtClean="0"/>
              <a:t>. </a:t>
            </a:r>
            <a:endParaRPr lang="en-US" altLang="zh-TW" dirty="0"/>
          </a:p>
          <a:p>
            <a:pPr lvl="3"/>
            <a:r>
              <a:rPr lang="en-US" altLang="zh-TW" dirty="0"/>
              <a:t>The data </a:t>
            </a:r>
            <a:r>
              <a:rPr lang="en-US" altLang="zh-TW" dirty="0" smtClean="0"/>
              <a:t>consists </a:t>
            </a:r>
            <a:r>
              <a:rPr lang="en-US" altLang="zh-TW" dirty="0"/>
              <a:t>of a sequence of </a:t>
            </a:r>
            <a:r>
              <a:rPr lang="en-US" altLang="zh-TW" dirty="0" smtClean="0"/>
              <a:t>items that are accessible </a:t>
            </a:r>
            <a:r>
              <a:rPr lang="en-US" altLang="zh-TW" dirty="0"/>
              <a:t>by operations </a:t>
            </a:r>
            <a:r>
              <a:rPr lang="en-US" altLang="zh-TW" dirty="0" smtClean="0"/>
              <a:t>such as read </a:t>
            </a:r>
            <a:r>
              <a:rPr lang="en-US" altLang="zh-TW" dirty="0"/>
              <a:t>and </a:t>
            </a:r>
            <a:r>
              <a:rPr lang="en-US" altLang="zh-TW" dirty="0" smtClean="0"/>
              <a:t>write. </a:t>
            </a:r>
            <a:endParaRPr lang="en-US" altLang="zh-TW" dirty="0"/>
          </a:p>
          <a:p>
            <a:pPr lvl="3"/>
            <a:r>
              <a:rPr lang="en-US" altLang="zh-TW" dirty="0"/>
              <a:t>The </a:t>
            </a:r>
            <a:r>
              <a:rPr lang="en-US" altLang="zh-TW" dirty="0" smtClean="0"/>
              <a:t>metadata contains </a:t>
            </a:r>
            <a:r>
              <a:rPr lang="en-US" altLang="zh-TW" dirty="0"/>
              <a:t>information such as the length of the file, timestamps, file type, </a:t>
            </a:r>
            <a:r>
              <a:rPr lang="en-US" altLang="zh-TW" dirty="0" smtClean="0"/>
              <a:t>owner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 smtClean="0"/>
              <a:t>identity, </a:t>
            </a:r>
            <a:r>
              <a:rPr lang="en-US" altLang="zh-TW" dirty="0"/>
              <a:t>access control </a:t>
            </a:r>
            <a:r>
              <a:rPr lang="en-US" altLang="zh-TW" dirty="0" smtClean="0"/>
              <a:t>lists, and more.</a:t>
            </a:r>
            <a:endParaRPr lang="en-US" altLang="zh-TW" dirty="0" smtClean="0"/>
          </a:p>
          <a:p>
            <a:pPr lvl="1"/>
            <a:r>
              <a:rPr lang="en-US" altLang="zh-TW" dirty="0"/>
              <a:t>Sharing of </a:t>
            </a:r>
            <a:r>
              <a:rPr lang="en-US" altLang="zh-TW" dirty="0" smtClean="0"/>
              <a:t>information.</a:t>
            </a:r>
          </a:p>
          <a:p>
            <a:pPr lvl="2"/>
            <a:r>
              <a:rPr lang="en-US" altLang="zh-TW" dirty="0" smtClean="0"/>
              <a:t>A </a:t>
            </a:r>
            <a:r>
              <a:rPr lang="en-US" altLang="zh-TW" dirty="0"/>
              <a:t>file can be created by one application and then shared </a:t>
            </a:r>
            <a:r>
              <a:rPr lang="en-US" altLang="zh-TW" dirty="0" smtClean="0"/>
              <a:t>with different </a:t>
            </a:r>
            <a:r>
              <a:rPr lang="en-US" altLang="zh-TW" dirty="0"/>
              <a:t>applications at a later time</a:t>
            </a:r>
            <a:r>
              <a:rPr lang="en-US" altLang="zh-TW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41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Concept of File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12968" cy="5149552"/>
          </a:xfrm>
        </p:spPr>
        <p:txBody>
          <a:bodyPr/>
          <a:lstStyle/>
          <a:p>
            <a:r>
              <a:rPr lang="en-US" altLang="zh-TW" dirty="0"/>
              <a:t>A file system is a subsystem of an </a:t>
            </a:r>
            <a:r>
              <a:rPr lang="en-US" altLang="zh-TW" dirty="0" smtClean="0"/>
              <a:t>OS.</a:t>
            </a:r>
          </a:p>
          <a:p>
            <a:pPr lvl="1"/>
            <a:r>
              <a:rPr lang="en-US" altLang="zh-TW" dirty="0" smtClean="0"/>
              <a:t>It is responsible </a:t>
            </a:r>
            <a:r>
              <a:rPr lang="en-US" altLang="zh-TW" dirty="0"/>
              <a:t>for the </a:t>
            </a:r>
            <a:r>
              <a:rPr lang="en-US" altLang="zh-TW" dirty="0">
                <a:solidFill>
                  <a:srgbClr val="FF0000"/>
                </a:solidFill>
              </a:rPr>
              <a:t>organization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storage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retrieval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naming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sharing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protection</a:t>
            </a:r>
            <a:r>
              <a:rPr lang="en-US" altLang="zh-TW" dirty="0"/>
              <a:t> of files. </a:t>
            </a:r>
            <a:endParaRPr lang="en-US" altLang="zh-TW" dirty="0" smtClean="0"/>
          </a:p>
          <a:p>
            <a:pPr lvl="1"/>
            <a:r>
              <a:rPr lang="en-US" altLang="zh-TW" dirty="0"/>
              <a:t>File APIs are provided to free programmers from the details of storage allocation and layout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 file system also provides facilities </a:t>
            </a:r>
            <a:r>
              <a:rPr lang="en-US" altLang="zh-TW" dirty="0"/>
              <a:t>for </a:t>
            </a:r>
            <a:r>
              <a:rPr lang="en-US" altLang="zh-TW" dirty="0">
                <a:solidFill>
                  <a:srgbClr val="FF0000"/>
                </a:solidFill>
              </a:rPr>
              <a:t>creating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naming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deleting</a:t>
            </a:r>
            <a:r>
              <a:rPr lang="en-US" altLang="zh-TW" dirty="0"/>
              <a:t> files. </a:t>
            </a:r>
          </a:p>
          <a:p>
            <a:pPr lvl="1"/>
            <a:r>
              <a:rPr lang="en-US" altLang="zh-TW" dirty="0"/>
              <a:t>The file naming is usually supported by the use of </a:t>
            </a:r>
            <a:r>
              <a:rPr lang="en-US" altLang="zh-TW" dirty="0">
                <a:solidFill>
                  <a:srgbClr val="FF0000"/>
                </a:solidFill>
              </a:rPr>
              <a:t>directories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directory is a special file that provides a mapping from text names to internal file identifiers.</a:t>
            </a:r>
          </a:p>
          <a:p>
            <a:r>
              <a:rPr lang="en-US" altLang="zh-TW" dirty="0"/>
              <a:t>The metadata is referring to all of the extra information required by a file system for the management of files. </a:t>
            </a:r>
          </a:p>
          <a:p>
            <a:pPr lvl="1"/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1920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Conventional </a:t>
            </a:r>
            <a:r>
              <a:rPr lang="en-US" altLang="zh-TW" dirty="0" smtClean="0"/>
              <a:t>File System Layers</a:t>
            </a:r>
            <a:endParaRPr lang="zh-TW" altLang="en-US" dirty="0"/>
          </a:p>
        </p:txBody>
      </p:sp>
      <p:pic>
        <p:nvPicPr>
          <p:cNvPr id="3" name="內容版面配置區 2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39552" y="2480475"/>
            <a:ext cx="8153400" cy="273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3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Conventional File APIs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65944352"/>
              </p:ext>
            </p:extLst>
          </p:nvPr>
        </p:nvGraphicFramePr>
        <p:xfrm>
          <a:off x="107504" y="1846416"/>
          <a:ext cx="8928992" cy="4246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02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6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handler</a:t>
                      </a:r>
                      <a:r>
                        <a:rPr lang="en-US" altLang="zh-TW" b="1" dirty="0" smtClean="0"/>
                        <a:t> = open (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name</a:t>
                      </a:r>
                      <a:r>
                        <a:rPr lang="en-US" altLang="zh-TW" b="1" dirty="0" smtClean="0"/>
                        <a:t>,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mode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Opens an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existing file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with the given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zh-TW" altLang="en-US" b="1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handler = create (name, </a:t>
                      </a:r>
                      <a:r>
                        <a:rPr lang="en-US" altLang="zh-TW" b="1" dirty="0" smtClean="0">
                          <a:solidFill>
                            <a:schemeClr val="tx1"/>
                          </a:solidFill>
                        </a:rPr>
                        <a:t>mode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Creates a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new file </a:t>
                      </a:r>
                      <a:r>
                        <a:rPr lang="en-US" altLang="zh-TW" b="1" dirty="0" smtClean="0"/>
                        <a:t>with</a:t>
                      </a:r>
                      <a:r>
                        <a:rPr lang="en-US" altLang="zh-TW" b="1" baseline="0" dirty="0" smtClean="0"/>
                        <a:t> the given name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Both return a file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handler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referencing the opened file</a:t>
                      </a:r>
                    </a:p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may be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read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write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both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read (handler,</a:t>
                      </a:r>
                      <a:r>
                        <a:rPr lang="en-US" altLang="zh-TW" b="1" baseline="0" dirty="0" smtClean="0"/>
                        <a:t>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buffer</a:t>
                      </a:r>
                      <a:r>
                        <a:rPr lang="en-US" altLang="zh-TW" b="1" baseline="0" dirty="0" smtClean="0"/>
                        <a:t>,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b="1" baseline="0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Reads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b="1" dirty="0" smtClean="0"/>
                        <a:t> bytes from the opened file into 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buffer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write (handler, buffer, n)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Writes</a:t>
                      </a:r>
                      <a:r>
                        <a:rPr lang="en-US" altLang="zh-TW" b="1" baseline="0" dirty="0" smtClean="0"/>
                        <a:t> n bytes to the opened file from the buffer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baseline="0" dirty="0" err="1" smtClean="0"/>
                        <a:t>lseek</a:t>
                      </a:r>
                      <a:r>
                        <a:rPr lang="en-US" altLang="zh-TW" b="1" baseline="0" dirty="0" smtClean="0"/>
                        <a:t> (handler,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offset</a:t>
                      </a:r>
                      <a:r>
                        <a:rPr lang="en-US" altLang="zh-TW" b="1" baseline="0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Moves 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read-write pointer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b="1" baseline="0" dirty="0" smtClean="0"/>
                        <a:t>to the position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offset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link (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name1</a:t>
                      </a:r>
                      <a:r>
                        <a:rPr lang="en-US" altLang="zh-TW" b="1" dirty="0" smtClean="0"/>
                        <a:t>,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name2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Adds a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new name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b="1" baseline="0" dirty="0" smtClean="0"/>
                        <a:t>(name2)</a:t>
                      </a:r>
                      <a:r>
                        <a:rPr lang="en-US" altLang="zh-TW" b="1" dirty="0" smtClean="0"/>
                        <a:t> to</a:t>
                      </a:r>
                      <a:r>
                        <a:rPr lang="en-US" altLang="zh-TW" b="1" baseline="0" dirty="0" smtClean="0"/>
                        <a:t> an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existing file </a:t>
                      </a:r>
                      <a:r>
                        <a:rPr lang="en-US" altLang="zh-TW" b="1" baseline="0" dirty="0" smtClean="0"/>
                        <a:t>(name1)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unlink</a:t>
                      </a:r>
                      <a:r>
                        <a:rPr lang="en-US" altLang="zh-TW" b="1" baseline="0" dirty="0" smtClean="0"/>
                        <a:t> (name)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Removes the given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the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directory</a:t>
                      </a:r>
                    </a:p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 the file has no other names, it is deleted</a:t>
                      </a:r>
                      <a:endParaRPr lang="en-US" altLang="zh-TW" b="1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baseline="0" dirty="0" err="1" smtClean="0"/>
                        <a:t>getattribute</a:t>
                      </a:r>
                      <a:r>
                        <a:rPr lang="en-US" altLang="zh-TW" b="1" baseline="0" dirty="0" smtClean="0"/>
                        <a:t> (handler, buffer)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Puts 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file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 attributes </a:t>
                      </a:r>
                      <a:r>
                        <a:rPr lang="en-US" altLang="zh-TW" b="1" baseline="0" dirty="0" smtClean="0"/>
                        <a:t>of the opened file into the buffer</a:t>
                      </a:r>
                      <a:endParaRPr lang="en-US" altLang="zh-TW" b="1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close (handler)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Close the opened</a:t>
                      </a:r>
                      <a:r>
                        <a:rPr lang="en-US" altLang="zh-TW" b="1" baseline="0" dirty="0" smtClean="0"/>
                        <a:t> file</a:t>
                      </a:r>
                      <a:endParaRPr lang="en-US" altLang="zh-TW" b="1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04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2008" y="615826"/>
            <a:ext cx="8204448" cy="72494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Distributed </a:t>
            </a:r>
            <a:r>
              <a:rPr lang="en-US" altLang="zh-TW" dirty="0" smtClean="0"/>
              <a:t>File </a:t>
            </a:r>
            <a:r>
              <a:rPr lang="en-US" altLang="zh-TW" dirty="0"/>
              <a:t>S</a:t>
            </a:r>
            <a:r>
              <a:rPr lang="en-US" altLang="zh-TW" dirty="0" smtClean="0"/>
              <a:t>ystem Requirements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456184"/>
            <a:ext cx="8856984" cy="5285184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Important Transparencies: 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Access</a:t>
            </a:r>
            <a:r>
              <a:rPr lang="en-US" altLang="zh-TW" dirty="0" smtClean="0"/>
              <a:t> transparency: client programs should not be aware of the distribution of files.</a:t>
            </a:r>
          </a:p>
          <a:p>
            <a:pPr lvl="2"/>
            <a:r>
              <a:rPr lang="en-US" altLang="zh-TW" dirty="0" smtClean="0"/>
              <a:t>The same APIs are provided for accessing local and remote files.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Location</a:t>
            </a:r>
            <a:r>
              <a:rPr lang="en-US" altLang="zh-TW" dirty="0" smtClean="0"/>
              <a:t> transparency: client programs should see an uniform file name space. </a:t>
            </a:r>
          </a:p>
          <a:p>
            <a:pPr lvl="2"/>
            <a:r>
              <a:rPr lang="en-US" altLang="zh-TW" dirty="0" smtClean="0"/>
              <a:t>Files may be relocated without changing their names.</a:t>
            </a:r>
          </a:p>
          <a:p>
            <a:pPr lvl="2"/>
            <a:r>
              <a:rPr lang="en-US" altLang="zh-TW" dirty="0" smtClean="0"/>
              <a:t>Programs see the same name space wherever they are executed.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Mobility</a:t>
            </a:r>
            <a:r>
              <a:rPr lang="en-US" altLang="zh-TW" dirty="0" smtClean="0"/>
              <a:t> transparency: both client programs and administration configurations in </a:t>
            </a:r>
            <a:r>
              <a:rPr lang="en-US" altLang="zh-TW" dirty="0" smtClean="0">
                <a:solidFill>
                  <a:srgbClr val="FF0000"/>
                </a:solidFill>
              </a:rPr>
              <a:t>client nodes </a:t>
            </a:r>
            <a:r>
              <a:rPr lang="en-US" altLang="zh-TW" dirty="0" smtClean="0"/>
              <a:t>are unchanged on file relocations.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Performance</a:t>
            </a:r>
            <a:r>
              <a:rPr lang="en-US" altLang="zh-TW" dirty="0" smtClean="0"/>
              <a:t> transparency: the performance of client programs should not be affected when the workload varies within a </a:t>
            </a:r>
            <a:r>
              <a:rPr lang="en-US" altLang="zh-TW" dirty="0" smtClean="0">
                <a:solidFill>
                  <a:srgbClr val="FF0000"/>
                </a:solidFill>
              </a:rPr>
              <a:t>small</a:t>
            </a:r>
            <a:r>
              <a:rPr lang="en-US" altLang="zh-TW" dirty="0" smtClean="0"/>
              <a:t> range.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Scaling</a:t>
            </a:r>
            <a:r>
              <a:rPr lang="en-US" altLang="zh-TW" dirty="0"/>
              <a:t> transparency: </a:t>
            </a:r>
            <a:r>
              <a:rPr lang="en-US" altLang="zh-TW" dirty="0" smtClean="0"/>
              <a:t>the DFS </a:t>
            </a:r>
            <a:r>
              <a:rPr lang="en-US" altLang="zh-TW" dirty="0"/>
              <a:t>can be </a:t>
            </a:r>
            <a:r>
              <a:rPr lang="en-US" altLang="zh-TW" dirty="0" smtClean="0">
                <a:solidFill>
                  <a:srgbClr val="FF0000"/>
                </a:solidFill>
              </a:rPr>
              <a:t>semi-linearly</a:t>
            </a:r>
            <a:r>
              <a:rPr lang="en-US" altLang="zh-TW" dirty="0" smtClean="0"/>
              <a:t> adjusted </a:t>
            </a:r>
            <a:r>
              <a:rPr lang="en-US" altLang="zh-TW" dirty="0"/>
              <a:t>to </a:t>
            </a:r>
            <a:r>
              <a:rPr lang="en-US" altLang="zh-TW" dirty="0" smtClean="0"/>
              <a:t>deal with </a:t>
            </a:r>
            <a:r>
              <a:rPr lang="en-US" altLang="zh-TW" dirty="0"/>
              <a:t>a wide range of loads and network </a:t>
            </a:r>
            <a:r>
              <a:rPr lang="en-US" altLang="zh-TW" dirty="0" smtClean="0"/>
              <a:t>sizes.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268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6" y="471810"/>
            <a:ext cx="8496944" cy="868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Distributed File System </a:t>
            </a:r>
            <a:r>
              <a:rPr lang="en-US" altLang="zh-TW" dirty="0" smtClean="0"/>
              <a:t>Requirements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251520" y="1600200"/>
            <a:ext cx="8712968" cy="5141168"/>
          </a:xfrm>
        </p:spPr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Concurrent</a:t>
            </a:r>
            <a:r>
              <a:rPr lang="en-US" altLang="zh-TW" dirty="0"/>
              <a:t> </a:t>
            </a:r>
            <a:r>
              <a:rPr lang="en-US" altLang="zh-TW" dirty="0" smtClean="0"/>
              <a:t>File </a:t>
            </a:r>
            <a:r>
              <a:rPr lang="en-US" altLang="zh-TW" dirty="0">
                <a:solidFill>
                  <a:srgbClr val="FF0000"/>
                </a:solidFill>
              </a:rPr>
              <a:t>U</a:t>
            </a:r>
            <a:r>
              <a:rPr lang="en-US" altLang="zh-TW" dirty="0" smtClean="0">
                <a:solidFill>
                  <a:srgbClr val="FF0000"/>
                </a:solidFill>
              </a:rPr>
              <a:t>pdates</a:t>
            </a:r>
          </a:p>
          <a:p>
            <a:pPr lvl="1"/>
            <a:r>
              <a:rPr lang="en-US" altLang="zh-TW" dirty="0" smtClean="0"/>
              <a:t>Simultaneously </a:t>
            </a:r>
            <a:r>
              <a:rPr lang="en-US" altLang="zh-TW" dirty="0"/>
              <a:t>accessing or changing the same </a:t>
            </a:r>
            <a:r>
              <a:rPr lang="en-US" altLang="zh-TW" dirty="0" smtClean="0"/>
              <a:t>file by more than one clients </a:t>
            </a:r>
            <a:r>
              <a:rPr lang="en-US" altLang="zh-TW" dirty="0"/>
              <a:t>should not interfere with </a:t>
            </a:r>
            <a:r>
              <a:rPr lang="en-US" altLang="zh-TW" dirty="0" smtClean="0"/>
              <a:t>each other.</a:t>
            </a:r>
          </a:p>
          <a:p>
            <a:r>
              <a:rPr lang="en-US" altLang="zh-TW" dirty="0"/>
              <a:t>File </a:t>
            </a:r>
            <a:r>
              <a:rPr lang="en-US" altLang="zh-TW" dirty="0" smtClean="0">
                <a:solidFill>
                  <a:srgbClr val="FF0000"/>
                </a:solidFill>
              </a:rPr>
              <a:t>Replication</a:t>
            </a:r>
            <a:r>
              <a:rPr lang="en-US" altLang="zh-TW" dirty="0">
                <a:solidFill>
                  <a:srgbClr val="FF0000"/>
                </a:solidFill>
              </a:rPr>
              <a:t>s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/>
              <a:t>A file </a:t>
            </a:r>
            <a:r>
              <a:rPr lang="en-US" altLang="zh-TW" dirty="0"/>
              <a:t>may </a:t>
            </a:r>
            <a:r>
              <a:rPr lang="en-US" altLang="zh-TW" dirty="0" smtClean="0"/>
              <a:t>have several </a:t>
            </a:r>
            <a:r>
              <a:rPr lang="en-US" altLang="zh-TW" dirty="0"/>
              <a:t>copies </a:t>
            </a:r>
            <a:r>
              <a:rPr lang="en-US" altLang="zh-TW" dirty="0" smtClean="0"/>
              <a:t>stored </a:t>
            </a:r>
            <a:r>
              <a:rPr lang="en-US" altLang="zh-TW" dirty="0"/>
              <a:t>at different locations.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It enhances </a:t>
            </a:r>
            <a:r>
              <a:rPr lang="en-US" altLang="zh-TW" dirty="0" smtClean="0">
                <a:solidFill>
                  <a:srgbClr val="FF0000"/>
                </a:solidFill>
              </a:rPr>
              <a:t>scalability</a:t>
            </a:r>
            <a:r>
              <a:rPr lang="en-US" altLang="zh-TW" dirty="0" smtClean="0"/>
              <a:t> by enabling multiple </a:t>
            </a:r>
            <a:r>
              <a:rPr lang="en-US" altLang="zh-TW" dirty="0"/>
              <a:t>servers to </a:t>
            </a:r>
            <a:r>
              <a:rPr lang="en-US" altLang="zh-TW" dirty="0" smtClean="0"/>
              <a:t>handle file accesses of the </a:t>
            </a:r>
            <a:r>
              <a:rPr lang="en-US" altLang="zh-TW" dirty="0"/>
              <a:t>same </a:t>
            </a:r>
            <a:r>
              <a:rPr lang="en-US" altLang="zh-TW" dirty="0" smtClean="0"/>
              <a:t>file from different clients.</a:t>
            </a:r>
          </a:p>
          <a:p>
            <a:pPr lvl="2"/>
            <a:r>
              <a:rPr lang="en-US" altLang="zh-TW" dirty="0" smtClean="0"/>
              <a:t>It </a:t>
            </a:r>
            <a:r>
              <a:rPr lang="en-US" altLang="zh-TW" dirty="0"/>
              <a:t>enhances </a:t>
            </a:r>
            <a:r>
              <a:rPr lang="en-US" altLang="zh-TW" dirty="0">
                <a:solidFill>
                  <a:srgbClr val="FF0000"/>
                </a:solidFill>
              </a:rPr>
              <a:t>fault tolerance </a:t>
            </a:r>
            <a:r>
              <a:rPr lang="en-US" altLang="zh-TW" dirty="0" smtClean="0"/>
              <a:t>by enabling </a:t>
            </a:r>
            <a:r>
              <a:rPr lang="en-US" altLang="zh-TW" dirty="0"/>
              <a:t>clients to locate </a:t>
            </a:r>
            <a:r>
              <a:rPr lang="en-US" altLang="zh-TW" dirty="0" smtClean="0"/>
              <a:t>other copies </a:t>
            </a:r>
            <a:r>
              <a:rPr lang="en-US" altLang="zh-TW" dirty="0"/>
              <a:t>of the </a:t>
            </a:r>
            <a:r>
              <a:rPr lang="en-US" altLang="zh-TW" dirty="0" smtClean="0"/>
              <a:t>same file </a:t>
            </a:r>
            <a:r>
              <a:rPr lang="en-US" altLang="zh-TW" dirty="0"/>
              <a:t>when one has failed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Hardware and </a:t>
            </a:r>
            <a:r>
              <a:rPr lang="en-US" altLang="zh-TW" dirty="0" smtClean="0"/>
              <a:t>OS </a:t>
            </a:r>
            <a:r>
              <a:rPr lang="en-US" altLang="zh-TW" dirty="0" smtClean="0">
                <a:solidFill>
                  <a:srgbClr val="FF0000"/>
                </a:solidFill>
              </a:rPr>
              <a:t>Heterogeneity</a:t>
            </a:r>
          </a:p>
          <a:p>
            <a:pPr lvl="1"/>
            <a:r>
              <a:rPr lang="en-US" altLang="zh-TW" dirty="0" smtClean="0"/>
              <a:t>The DFS APIs </a:t>
            </a:r>
            <a:r>
              <a:rPr lang="en-US" altLang="zh-TW" dirty="0"/>
              <a:t>should be </a:t>
            </a:r>
            <a:r>
              <a:rPr lang="en-US" altLang="zh-TW" dirty="0" smtClean="0"/>
              <a:t>defined so </a:t>
            </a:r>
            <a:r>
              <a:rPr lang="en-US" altLang="zh-TW" dirty="0"/>
              <a:t>that client and server </a:t>
            </a:r>
            <a:r>
              <a:rPr lang="en-US" altLang="zh-TW" dirty="0" smtClean="0"/>
              <a:t>software </a:t>
            </a:r>
            <a:r>
              <a:rPr lang="en-US" altLang="zh-TW" dirty="0"/>
              <a:t>can be implemented for different </a:t>
            </a:r>
            <a:r>
              <a:rPr lang="en-US" altLang="zh-TW" dirty="0" smtClean="0"/>
              <a:t>OSs and </a:t>
            </a:r>
            <a:r>
              <a:rPr lang="en-US" altLang="zh-TW" dirty="0"/>
              <a:t>computers.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requirement is an important aspect of </a:t>
            </a:r>
            <a:r>
              <a:rPr lang="en-US" altLang="zh-TW" dirty="0">
                <a:solidFill>
                  <a:srgbClr val="FF0000"/>
                </a:solidFill>
              </a:rPr>
              <a:t>openness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3901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543818"/>
            <a:ext cx="8136904" cy="79695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/>
              <a:t>Distributed File System </a:t>
            </a:r>
            <a:r>
              <a:rPr lang="en-US" altLang="zh-TW" dirty="0" smtClean="0"/>
              <a:t>Requirements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12648" y="1412776"/>
            <a:ext cx="8153400" cy="514116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Fault tolerance </a:t>
            </a:r>
          </a:p>
          <a:p>
            <a:pPr lvl="1"/>
            <a:r>
              <a:rPr lang="en-US" altLang="zh-TW" dirty="0" smtClean="0"/>
              <a:t>It is essential </a:t>
            </a:r>
            <a:r>
              <a:rPr lang="en-US" altLang="zh-TW" dirty="0"/>
              <a:t>that </a:t>
            </a:r>
            <a:r>
              <a:rPr lang="en-US" altLang="zh-TW" dirty="0" smtClean="0"/>
              <a:t>a DFS continues </a:t>
            </a:r>
            <a:r>
              <a:rPr lang="en-US" altLang="zh-TW" dirty="0"/>
              <a:t>to operate in the face of client and server failures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File Sharing Semantics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One-copy</a:t>
            </a:r>
            <a:r>
              <a:rPr lang="en-US" altLang="zh-TW" dirty="0" smtClean="0"/>
              <a:t> </a:t>
            </a:r>
            <a:r>
              <a:rPr lang="en-US" altLang="zh-TW" dirty="0">
                <a:solidFill>
                  <a:srgbClr val="FF0000"/>
                </a:solidFill>
              </a:rPr>
              <a:t>update</a:t>
            </a:r>
            <a:r>
              <a:rPr lang="en-US" altLang="zh-TW" dirty="0"/>
              <a:t> </a:t>
            </a:r>
            <a:r>
              <a:rPr lang="en-US" altLang="zh-TW" dirty="0" smtClean="0"/>
              <a:t>semantics (UNIX)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Session update </a:t>
            </a:r>
            <a:r>
              <a:rPr lang="en-US" altLang="zh-TW" dirty="0" smtClean="0"/>
              <a:t>semantics (AFS)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Append-only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update</a:t>
            </a:r>
            <a:r>
              <a:rPr lang="en-US" altLang="zh-TW" dirty="0" smtClean="0"/>
              <a:t> semantics (HDFS)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Copy-on-write</a:t>
            </a:r>
            <a:r>
              <a:rPr lang="en-US" altLang="zh-TW" dirty="0" smtClean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update</a:t>
            </a:r>
            <a:r>
              <a:rPr lang="en-US" altLang="zh-TW" dirty="0" smtClean="0"/>
              <a:t> semantics 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Security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Efficiency</a:t>
            </a:r>
            <a:r>
              <a:rPr lang="en-US" altLang="zh-TW" dirty="0"/>
              <a:t> </a:t>
            </a:r>
          </a:p>
          <a:p>
            <a:pPr lvl="1"/>
            <a:r>
              <a:rPr lang="en-US" altLang="zh-TW" dirty="0"/>
              <a:t>The performance of a DFS should be comparable to that of conventional file </a:t>
            </a:r>
            <a:r>
              <a:rPr lang="en-US" altLang="zh-TW" dirty="0" smtClean="0"/>
              <a:t>systems.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4216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Naming of Distributed Files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11560" y="1519808"/>
            <a:ext cx="8075240" cy="3997424"/>
          </a:xfrm>
        </p:spPr>
        <p:txBody>
          <a:bodyPr/>
          <a:lstStyle/>
          <a:p>
            <a:r>
              <a:rPr lang="en-US" altLang="zh-TW" dirty="0"/>
              <a:t>Naming </a:t>
            </a:r>
            <a:r>
              <a:rPr lang="en-US" altLang="zh-TW" dirty="0" smtClean="0"/>
              <a:t>mechanism is handling the mapping </a:t>
            </a:r>
            <a:r>
              <a:rPr lang="en-US" altLang="zh-TW" dirty="0"/>
              <a:t>between </a:t>
            </a:r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logical file name </a:t>
            </a:r>
            <a:r>
              <a:rPr lang="en-US" altLang="zh-TW" dirty="0" smtClean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physical </a:t>
            </a:r>
            <a:r>
              <a:rPr lang="en-US" altLang="zh-TW" dirty="0" smtClean="0">
                <a:solidFill>
                  <a:srgbClr val="FF0000"/>
                </a:solidFill>
              </a:rPr>
              <a:t>location </a:t>
            </a:r>
            <a:r>
              <a:rPr lang="en-US" altLang="zh-TW" dirty="0" smtClean="0"/>
              <a:t>of a file.</a:t>
            </a:r>
            <a:endParaRPr lang="en-US" altLang="zh-TW" dirty="0"/>
          </a:p>
          <a:p>
            <a:r>
              <a:rPr lang="en-US" altLang="zh-TW" dirty="0" smtClean="0"/>
              <a:t>A </a:t>
            </a:r>
            <a:r>
              <a:rPr lang="en-US" altLang="zh-TW" dirty="0"/>
              <a:t>transparent DFS </a:t>
            </a:r>
            <a:r>
              <a:rPr lang="en-US" altLang="zh-TW" dirty="0" smtClean="0"/>
              <a:t>should hide </a:t>
            </a:r>
            <a:r>
              <a:rPr lang="en-US" altLang="zh-TW" dirty="0"/>
              <a:t>the </a:t>
            </a:r>
            <a:r>
              <a:rPr lang="en-US" altLang="zh-TW" dirty="0" smtClean="0"/>
              <a:t>file location.</a:t>
            </a:r>
            <a:endParaRPr lang="en-US" altLang="zh-TW" dirty="0"/>
          </a:p>
          <a:p>
            <a:pPr lvl="1"/>
            <a:r>
              <a:rPr lang="en-US" altLang="zh-TW" dirty="0"/>
              <a:t>L</a:t>
            </a:r>
            <a:r>
              <a:rPr lang="en-US" altLang="zh-TW" dirty="0" smtClean="0"/>
              <a:t>ocation transparency: a file </a:t>
            </a:r>
            <a:r>
              <a:rPr lang="en-US" altLang="zh-TW" dirty="0"/>
              <a:t>name </a:t>
            </a:r>
            <a:r>
              <a:rPr lang="en-US" altLang="zh-TW" dirty="0" smtClean="0"/>
              <a:t>should not </a:t>
            </a:r>
            <a:r>
              <a:rPr lang="en-US" altLang="zh-TW" dirty="0"/>
              <a:t>reveal the </a:t>
            </a:r>
            <a:r>
              <a:rPr lang="en-US" altLang="zh-TW" dirty="0" smtClean="0"/>
              <a:t>file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physical </a:t>
            </a:r>
            <a:r>
              <a:rPr lang="en-US" altLang="zh-TW" dirty="0"/>
              <a:t>storage location.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Location independence</a:t>
            </a:r>
            <a:r>
              <a:rPr lang="en-US" altLang="zh-TW" dirty="0" smtClean="0"/>
              <a:t>: a file </a:t>
            </a:r>
            <a:r>
              <a:rPr lang="en-US" altLang="zh-TW" dirty="0"/>
              <a:t>name </a:t>
            </a:r>
            <a:r>
              <a:rPr lang="en-US" altLang="zh-TW" dirty="0" smtClean="0"/>
              <a:t>should </a:t>
            </a:r>
            <a:r>
              <a:rPr lang="en-US" altLang="zh-TW" dirty="0"/>
              <a:t>not </a:t>
            </a:r>
            <a:r>
              <a:rPr lang="en-US" altLang="zh-TW" dirty="0" smtClean="0"/>
              <a:t>be changed </a:t>
            </a:r>
            <a:r>
              <a:rPr lang="en-US" altLang="zh-TW" dirty="0"/>
              <a:t>when the </a:t>
            </a:r>
            <a:r>
              <a:rPr lang="en-US" altLang="zh-TW" dirty="0" smtClean="0"/>
              <a:t>file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physical storage location changes.</a:t>
            </a:r>
          </a:p>
          <a:p>
            <a:pPr lvl="2"/>
            <a:r>
              <a:rPr lang="en-US" altLang="zh-TW" dirty="0" smtClean="0"/>
              <a:t>It provides better </a:t>
            </a:r>
            <a:r>
              <a:rPr lang="en-US" altLang="zh-TW" dirty="0"/>
              <a:t>file abstraction.</a:t>
            </a:r>
          </a:p>
          <a:p>
            <a:pPr lvl="2"/>
            <a:r>
              <a:rPr lang="en-US" altLang="zh-TW" dirty="0" smtClean="0"/>
              <a:t>It separates </a:t>
            </a:r>
            <a:r>
              <a:rPr lang="en-US" altLang="zh-TW" dirty="0"/>
              <a:t>the naming hierarchy from the storage </a:t>
            </a:r>
            <a:r>
              <a:rPr lang="en-US" altLang="zh-TW" dirty="0" smtClean="0"/>
              <a:t>devices hierarchy.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0466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Naming Schemes for DFSs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4357464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Mount remote directories </a:t>
            </a:r>
            <a:r>
              <a:rPr lang="en-US" altLang="zh-TW" dirty="0"/>
              <a:t>to local </a:t>
            </a:r>
            <a:r>
              <a:rPr lang="en-US" altLang="zh-TW" dirty="0" smtClean="0"/>
              <a:t>directories.</a:t>
            </a:r>
            <a:endParaRPr lang="en-US" altLang="zh-TW" dirty="0"/>
          </a:p>
          <a:p>
            <a:pPr lvl="1"/>
            <a:r>
              <a:rPr lang="en-US" altLang="zh-TW" dirty="0" smtClean="0"/>
              <a:t>It gives </a:t>
            </a:r>
            <a:r>
              <a:rPr lang="en-US" altLang="zh-TW" dirty="0"/>
              <a:t>the appearance of a coherent </a:t>
            </a:r>
            <a:r>
              <a:rPr lang="en-US" altLang="zh-TW" dirty="0" smtClean="0"/>
              <a:t>local directory tree.</a:t>
            </a:r>
            <a:endParaRPr lang="en-US" altLang="zh-TW" dirty="0"/>
          </a:p>
          <a:p>
            <a:pPr lvl="1"/>
            <a:r>
              <a:rPr lang="en-US" altLang="zh-TW" dirty="0" smtClean="0"/>
              <a:t>Mounted </a:t>
            </a:r>
            <a:r>
              <a:rPr lang="en-US" altLang="zh-TW" dirty="0"/>
              <a:t>remote directories can be </a:t>
            </a:r>
            <a:r>
              <a:rPr lang="en-US" altLang="zh-TW" dirty="0" smtClean="0"/>
              <a:t>accessed transparently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Examples: NFS in Unix/Linux and </a:t>
            </a:r>
            <a:r>
              <a:rPr lang="en-US" altLang="zh-TW" dirty="0"/>
              <a:t>mapped </a:t>
            </a:r>
            <a:r>
              <a:rPr lang="en-US" altLang="zh-TW" dirty="0" smtClean="0"/>
              <a:t>drives in MS Windows. </a:t>
            </a:r>
          </a:p>
          <a:p>
            <a:r>
              <a:rPr lang="en-US" altLang="zh-TW" dirty="0" smtClean="0"/>
              <a:t>Files </a:t>
            </a:r>
            <a:r>
              <a:rPr lang="en-US" altLang="zh-TW" dirty="0"/>
              <a:t>named by combination of </a:t>
            </a:r>
            <a:r>
              <a:rPr lang="en-US" altLang="zh-TW" dirty="0">
                <a:solidFill>
                  <a:srgbClr val="FF0000"/>
                </a:solidFill>
              </a:rPr>
              <a:t>host name </a:t>
            </a:r>
            <a:r>
              <a:rPr lang="en-US" altLang="zh-TW" dirty="0" smtClean="0">
                <a:solidFill>
                  <a:srgbClr val="FF0000"/>
                </a:solidFill>
              </a:rPr>
              <a:t>and local name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smtClean="0"/>
              <a:t>It guarantees </a:t>
            </a:r>
            <a:r>
              <a:rPr lang="en-US" altLang="zh-TW" dirty="0"/>
              <a:t>a system wide </a:t>
            </a:r>
            <a:r>
              <a:rPr lang="en-US" altLang="zh-TW" dirty="0" smtClean="0"/>
              <a:t>unique name.</a:t>
            </a:r>
            <a:endParaRPr lang="en-US" altLang="zh-TW" dirty="0"/>
          </a:p>
          <a:p>
            <a:pPr lvl="1"/>
            <a:r>
              <a:rPr lang="en-US" altLang="zh-TW" dirty="0" smtClean="0"/>
              <a:t>Examples: Windows </a:t>
            </a:r>
            <a:r>
              <a:rPr lang="en-US" altLang="zh-TW" dirty="0"/>
              <a:t>Network </a:t>
            </a:r>
            <a:r>
              <a:rPr lang="en-US" altLang="zh-TW" dirty="0" smtClean="0"/>
              <a:t>Places and </a:t>
            </a:r>
            <a:r>
              <a:rPr lang="en-US" altLang="zh-TW" dirty="0"/>
              <a:t>Apollo </a:t>
            </a:r>
            <a:r>
              <a:rPr lang="en-US" altLang="zh-TW" dirty="0" smtClean="0"/>
              <a:t>Domain.</a:t>
            </a:r>
            <a:endParaRPr lang="en-US" altLang="zh-TW" dirty="0"/>
          </a:p>
          <a:p>
            <a:r>
              <a:rPr lang="en-US" altLang="zh-TW" dirty="0" smtClean="0"/>
              <a:t>Total </a:t>
            </a:r>
            <a:r>
              <a:rPr lang="en-US" altLang="zh-TW" dirty="0"/>
              <a:t>integration of component file systems.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single global name structure spans all the files in </a:t>
            </a:r>
            <a:r>
              <a:rPr lang="en-US" altLang="zh-TW" dirty="0" smtClean="0"/>
              <a:t>the system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853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Mounting Remote Directories (NFS)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552" y="1375792"/>
            <a:ext cx="8147248" cy="1045096"/>
          </a:xfrm>
        </p:spPr>
        <p:txBody>
          <a:bodyPr/>
          <a:lstStyle/>
          <a:p>
            <a:r>
              <a:rPr lang="en-US" altLang="zh-TW" dirty="0" smtClean="0"/>
              <a:t>File names are not unique in the system.</a:t>
            </a:r>
          </a:p>
          <a:p>
            <a:r>
              <a:rPr lang="en-US" altLang="zh-TW" dirty="0" smtClean="0"/>
              <a:t>File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/>
              <a:t>names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/>
              <a:t> </a:t>
            </a:r>
            <a:r>
              <a:rPr lang="en-US" altLang="zh-TW" dirty="0" smtClean="0"/>
              <a:t>cannot be passed around arbitrarily.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40" y="2276872"/>
            <a:ext cx="7484368" cy="445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26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File Accessing Models  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47800"/>
            <a:ext cx="9144000" cy="4573488"/>
          </a:xfrm>
        </p:spPr>
        <p:txBody>
          <a:bodyPr/>
          <a:lstStyle/>
          <a:p>
            <a:r>
              <a:rPr lang="en-US" altLang="zh-TW" dirty="0" smtClean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remote </a:t>
            </a:r>
            <a:r>
              <a:rPr lang="en-US" altLang="zh-TW" dirty="0">
                <a:solidFill>
                  <a:srgbClr val="FF0000"/>
                </a:solidFill>
              </a:rPr>
              <a:t>service </a:t>
            </a:r>
            <a:r>
              <a:rPr lang="en-US" altLang="zh-TW" dirty="0"/>
              <a:t>model, all file actions are performed in server side.</a:t>
            </a:r>
          </a:p>
          <a:p>
            <a:pPr lvl="1"/>
            <a:r>
              <a:rPr lang="en-US" altLang="zh-TW" dirty="0"/>
              <a:t>It is </a:t>
            </a:r>
            <a:r>
              <a:rPr lang="en-US" altLang="zh-TW" dirty="0" smtClean="0"/>
              <a:t>good </a:t>
            </a:r>
            <a:r>
              <a:rPr lang="en-US" altLang="zh-TW" dirty="0"/>
              <a:t>for client </a:t>
            </a:r>
            <a:r>
              <a:rPr lang="en-US" altLang="zh-TW" dirty="0" smtClean="0"/>
              <a:t>machines with small </a:t>
            </a:r>
            <a:r>
              <a:rPr lang="en-US" altLang="zh-TW" dirty="0"/>
              <a:t>memory </a:t>
            </a:r>
            <a:r>
              <a:rPr lang="en-US" altLang="zh-TW" dirty="0" smtClean="0"/>
              <a:t>or no local disk.</a:t>
            </a:r>
            <a:endParaRPr lang="en-US" altLang="zh-TW" dirty="0"/>
          </a:p>
          <a:p>
            <a:pPr lvl="1"/>
            <a:r>
              <a:rPr lang="en-US" altLang="zh-TW" dirty="0"/>
              <a:t>It is particularly </a:t>
            </a:r>
            <a:r>
              <a:rPr lang="en-US" altLang="zh-TW" dirty="0" smtClean="0"/>
              <a:t>preferred </a:t>
            </a:r>
            <a:r>
              <a:rPr lang="en-US" altLang="zh-TW" dirty="0"/>
              <a:t>for large </a:t>
            </a:r>
            <a:r>
              <a:rPr lang="en-US" altLang="zh-TW" dirty="0" smtClean="0"/>
              <a:t>amounts </a:t>
            </a:r>
            <a:r>
              <a:rPr lang="en-US" altLang="zh-TW" dirty="0"/>
              <a:t>of </a:t>
            </a:r>
            <a:r>
              <a:rPr lang="en-US" altLang="zh-TW" dirty="0" smtClean="0"/>
              <a:t>write operations.</a:t>
            </a:r>
            <a:endParaRPr lang="en-US" altLang="zh-TW" dirty="0"/>
          </a:p>
          <a:p>
            <a:r>
              <a:rPr lang="en-US" altLang="zh-TW" dirty="0"/>
              <a:t>In </a:t>
            </a:r>
            <a:r>
              <a:rPr lang="en-US" altLang="zh-TW" dirty="0" smtClean="0">
                <a:solidFill>
                  <a:srgbClr val="FF0000"/>
                </a:solidFill>
              </a:rPr>
              <a:t>data caching </a:t>
            </a:r>
            <a:r>
              <a:rPr lang="en-US" altLang="zh-TW" dirty="0"/>
              <a:t>(upload/download) model, most file accesses are handled by the local </a:t>
            </a:r>
            <a:r>
              <a:rPr lang="en-US" altLang="zh-TW" dirty="0" smtClean="0"/>
              <a:t>caches </a:t>
            </a:r>
            <a:r>
              <a:rPr lang="en-US" altLang="zh-TW" dirty="0"/>
              <a:t>of </a:t>
            </a:r>
            <a:r>
              <a:rPr lang="en-US" altLang="zh-TW" dirty="0" smtClean="0"/>
              <a:t>clients.</a:t>
            </a:r>
            <a:endParaRPr lang="en-US" altLang="zh-TW" dirty="0"/>
          </a:p>
          <a:p>
            <a:pPr lvl="1"/>
            <a:r>
              <a:rPr lang="en-US" altLang="zh-TW" dirty="0" smtClean="0"/>
              <a:t>A server is </a:t>
            </a:r>
            <a:r>
              <a:rPr lang="en-US" altLang="zh-TW" dirty="0"/>
              <a:t>contacted only </a:t>
            </a:r>
            <a:r>
              <a:rPr lang="en-US" altLang="zh-TW" dirty="0" smtClean="0"/>
              <a:t>when it is necessary.</a:t>
            </a:r>
            <a:endParaRPr lang="en-US" altLang="zh-TW" dirty="0"/>
          </a:p>
          <a:p>
            <a:pPr lvl="1"/>
            <a:r>
              <a:rPr lang="en-US" altLang="zh-TW" dirty="0"/>
              <a:t>It can reduces </a:t>
            </a:r>
            <a:r>
              <a:rPr lang="en-US" altLang="zh-TW" dirty="0" smtClean="0"/>
              <a:t>the server </a:t>
            </a:r>
            <a:r>
              <a:rPr lang="en-US" altLang="zh-TW" dirty="0"/>
              <a:t>load and network traffic.</a:t>
            </a:r>
          </a:p>
          <a:p>
            <a:pPr lvl="1"/>
            <a:r>
              <a:rPr lang="en-US" altLang="zh-TW" dirty="0"/>
              <a:t>It may enhance scalability.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Cache </a:t>
            </a:r>
            <a:r>
              <a:rPr lang="en-US" altLang="zh-TW" dirty="0">
                <a:solidFill>
                  <a:srgbClr val="FF0000"/>
                </a:solidFill>
              </a:rPr>
              <a:t>consistency </a:t>
            </a:r>
            <a:r>
              <a:rPr lang="en-US" altLang="zh-TW" dirty="0"/>
              <a:t>problem must be carefully handled.</a:t>
            </a:r>
          </a:p>
          <a:p>
            <a:pPr lvl="2"/>
            <a:r>
              <a:rPr lang="en-US" altLang="zh-TW" dirty="0"/>
              <a:t>The cached copies must be consistent with the master file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239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Cache Location Policies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519808"/>
            <a:ext cx="8568952" cy="4357464"/>
          </a:xfrm>
        </p:spPr>
        <p:txBody>
          <a:bodyPr/>
          <a:lstStyle/>
          <a:p>
            <a:r>
              <a:rPr lang="en-US" altLang="zh-TW" dirty="0" smtClean="0"/>
              <a:t>There are following 3 possible locations for installing caches.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Server memory </a:t>
            </a:r>
            <a:r>
              <a:rPr lang="en-US" altLang="zh-TW" dirty="0" smtClean="0"/>
              <a:t>caching. </a:t>
            </a:r>
          </a:p>
          <a:p>
            <a:pPr lvl="2"/>
            <a:r>
              <a:rPr lang="en-US" altLang="zh-TW" dirty="0" smtClean="0"/>
              <a:t>It </a:t>
            </a:r>
            <a:r>
              <a:rPr lang="en-US" altLang="zh-TW" dirty="0"/>
              <a:t>is easy to implement and is totally </a:t>
            </a:r>
            <a:r>
              <a:rPr lang="en-US" altLang="zh-TW" dirty="0" smtClean="0"/>
              <a:t>transparent to </a:t>
            </a:r>
            <a:r>
              <a:rPr lang="en-US" altLang="zh-TW" dirty="0"/>
              <a:t>the clients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It </a:t>
            </a:r>
            <a:r>
              <a:rPr lang="en-US" altLang="zh-TW" dirty="0"/>
              <a:t>i</a:t>
            </a:r>
            <a:r>
              <a:rPr lang="en-US" altLang="zh-TW" dirty="0" smtClean="0"/>
              <a:t>s easy to support </a:t>
            </a:r>
            <a:r>
              <a:rPr lang="en-US" altLang="zh-TW" dirty="0"/>
              <a:t>UNIX-like file-sharing </a:t>
            </a:r>
            <a:r>
              <a:rPr lang="en-US" altLang="zh-TW" dirty="0" smtClean="0"/>
              <a:t>semantics.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Client memory </a:t>
            </a:r>
            <a:r>
              <a:rPr lang="en-US" altLang="zh-TW" dirty="0" smtClean="0"/>
              <a:t>caching provides better performance </a:t>
            </a:r>
            <a:r>
              <a:rPr lang="en-US" altLang="zh-TW" dirty="0"/>
              <a:t>speed </a:t>
            </a:r>
            <a:r>
              <a:rPr lang="en-US" altLang="zh-TW" dirty="0" smtClean="0"/>
              <a:t>up.</a:t>
            </a:r>
            <a:endParaRPr lang="en-US" altLang="zh-TW" dirty="0"/>
          </a:p>
          <a:p>
            <a:pPr lvl="2"/>
            <a:r>
              <a:rPr lang="en-US" altLang="zh-TW" dirty="0" smtClean="0"/>
              <a:t>It is good when local usage is transient (or updates are rare).</a:t>
            </a:r>
            <a:endParaRPr lang="en-US" altLang="zh-TW" dirty="0"/>
          </a:p>
          <a:p>
            <a:pPr lvl="2"/>
            <a:r>
              <a:rPr lang="en-US" altLang="zh-TW" dirty="0" smtClean="0"/>
              <a:t>It can be used for </a:t>
            </a:r>
            <a:r>
              <a:rPr lang="en-US" altLang="zh-TW" dirty="0"/>
              <a:t>diskless </a:t>
            </a:r>
            <a:r>
              <a:rPr lang="en-US" altLang="zh-TW" dirty="0" smtClean="0"/>
              <a:t>workstations.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Client disk </a:t>
            </a:r>
            <a:r>
              <a:rPr lang="en-US" altLang="zh-TW" dirty="0" smtClean="0"/>
              <a:t>caching can cache larger files.</a:t>
            </a:r>
            <a:endParaRPr lang="en-US" altLang="zh-TW" dirty="0"/>
          </a:p>
          <a:p>
            <a:pPr lvl="2"/>
            <a:r>
              <a:rPr lang="en-US" altLang="zh-TW" dirty="0" smtClean="0"/>
              <a:t>It is good when </a:t>
            </a:r>
            <a:r>
              <a:rPr lang="en-US" altLang="zh-TW" dirty="0"/>
              <a:t>local usage dominates (e.g., AFS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pPr lvl="2"/>
            <a:r>
              <a:rPr lang="en-US" altLang="zh-TW" dirty="0" smtClean="0"/>
              <a:t>It can help </a:t>
            </a:r>
            <a:r>
              <a:rPr lang="en-US" altLang="zh-TW" dirty="0"/>
              <a:t>protect clients from server </a:t>
            </a:r>
            <a:r>
              <a:rPr lang="en-US" altLang="zh-TW" dirty="0" smtClean="0"/>
              <a:t>crashes.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65192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61" y="175572"/>
            <a:ext cx="7186339" cy="649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232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Cache Update Policies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75792"/>
            <a:ext cx="8712968" cy="522156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Write </a:t>
            </a:r>
            <a:r>
              <a:rPr lang="en-US" altLang="zh-TW" dirty="0" smtClean="0">
                <a:solidFill>
                  <a:srgbClr val="FF0000"/>
                </a:solidFill>
              </a:rPr>
              <a:t>through </a:t>
            </a:r>
            <a:r>
              <a:rPr lang="en-US" altLang="zh-TW" dirty="0" smtClean="0"/>
              <a:t>scheme writes </a:t>
            </a:r>
            <a:r>
              <a:rPr lang="en-US" altLang="zh-TW" dirty="0"/>
              <a:t>data </a:t>
            </a:r>
            <a:r>
              <a:rPr lang="en-US" altLang="zh-TW" dirty="0" smtClean="0"/>
              <a:t>to server disk ASAP.</a:t>
            </a:r>
            <a:endParaRPr lang="en-US" altLang="zh-TW" dirty="0"/>
          </a:p>
          <a:p>
            <a:pPr lvl="1"/>
            <a:r>
              <a:rPr lang="en-US" altLang="zh-TW" dirty="0" smtClean="0"/>
              <a:t>Each write</a:t>
            </a:r>
            <a:r>
              <a:rPr lang="en-US" altLang="zh-TW" dirty="0"/>
              <a:t> </a:t>
            </a:r>
            <a:r>
              <a:rPr lang="en-US" altLang="zh-TW" dirty="0" smtClean="0"/>
              <a:t>OP must </a:t>
            </a:r>
            <a:r>
              <a:rPr lang="en-US" altLang="zh-TW" dirty="0" smtClean="0"/>
              <a:t>propagate </a:t>
            </a:r>
            <a:r>
              <a:rPr lang="en-US" altLang="zh-TW" dirty="0" smtClean="0"/>
              <a:t>to server disks </a:t>
            </a:r>
            <a:r>
              <a:rPr lang="en-US" altLang="zh-TW" dirty="0"/>
              <a:t>b</a:t>
            </a:r>
            <a:r>
              <a:rPr lang="en-US" altLang="zh-TW" dirty="0" smtClean="0"/>
              <a:t>efore returns.</a:t>
            </a:r>
            <a:endParaRPr lang="en-US" altLang="zh-TW" dirty="0"/>
          </a:p>
          <a:p>
            <a:pPr lvl="1"/>
            <a:r>
              <a:rPr lang="en-US" altLang="zh-TW" dirty="0" smtClean="0"/>
              <a:t>It is more reliable </a:t>
            </a:r>
            <a:r>
              <a:rPr lang="en-US" altLang="zh-TW" dirty="0"/>
              <a:t>but </a:t>
            </a:r>
            <a:r>
              <a:rPr lang="en-US" altLang="zh-TW" dirty="0" smtClean="0"/>
              <a:t>has poor </a:t>
            </a:r>
            <a:r>
              <a:rPr lang="en-US" altLang="zh-TW" dirty="0"/>
              <a:t>performance.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Delayed write </a:t>
            </a:r>
            <a:r>
              <a:rPr lang="en-US" altLang="zh-TW" dirty="0" smtClean="0"/>
              <a:t>scheme writes data in client cache first </a:t>
            </a:r>
            <a:r>
              <a:rPr lang="en-US" altLang="zh-TW" dirty="0"/>
              <a:t>and then </a:t>
            </a:r>
            <a:r>
              <a:rPr lang="en-US" altLang="zh-TW" dirty="0" smtClean="0"/>
              <a:t>writes </a:t>
            </a:r>
            <a:r>
              <a:rPr lang="en-US" altLang="zh-TW" dirty="0"/>
              <a:t>to </a:t>
            </a:r>
            <a:r>
              <a:rPr lang="en-US" altLang="zh-TW" dirty="0" smtClean="0"/>
              <a:t>the server later.</a:t>
            </a:r>
            <a:endParaRPr lang="en-US" altLang="zh-TW" dirty="0"/>
          </a:p>
          <a:p>
            <a:pPr lvl="1"/>
            <a:r>
              <a:rPr lang="en-US" altLang="zh-TW" dirty="0" smtClean="0"/>
              <a:t>Some </a:t>
            </a:r>
            <a:r>
              <a:rPr lang="en-US" altLang="zh-TW" dirty="0"/>
              <a:t>data may </a:t>
            </a:r>
            <a:r>
              <a:rPr lang="en-US" altLang="zh-TW" dirty="0" smtClean="0"/>
              <a:t>be overwritten </a:t>
            </a:r>
            <a:r>
              <a:rPr lang="en-US" altLang="zh-TW" dirty="0"/>
              <a:t>in </a:t>
            </a:r>
            <a:r>
              <a:rPr lang="en-US" altLang="zh-TW" dirty="0" smtClean="0"/>
              <a:t>the cache to reduce </a:t>
            </a:r>
            <a:r>
              <a:rPr lang="en-US" altLang="zh-TW" dirty="0"/>
              <a:t>network I/O.</a:t>
            </a:r>
          </a:p>
          <a:p>
            <a:pPr lvl="1"/>
            <a:r>
              <a:rPr lang="en-US" altLang="zh-TW" dirty="0" smtClean="0"/>
              <a:t>Poor </a:t>
            </a:r>
            <a:r>
              <a:rPr lang="en-US" altLang="zh-TW" dirty="0"/>
              <a:t>reliability</a:t>
            </a:r>
          </a:p>
          <a:p>
            <a:pPr lvl="2"/>
            <a:r>
              <a:rPr lang="en-US" altLang="zh-TW" dirty="0"/>
              <a:t>U</a:t>
            </a:r>
            <a:r>
              <a:rPr lang="en-US" altLang="zh-TW" dirty="0" smtClean="0"/>
              <a:t>nwritten </a:t>
            </a:r>
            <a:r>
              <a:rPr lang="en-US" altLang="zh-TW" dirty="0"/>
              <a:t>data may be lost when client machine </a:t>
            </a:r>
            <a:r>
              <a:rPr lang="en-US" altLang="zh-TW" dirty="0" smtClean="0"/>
              <a:t>crashes.</a:t>
            </a:r>
            <a:endParaRPr lang="en-US" altLang="zh-TW" dirty="0"/>
          </a:p>
          <a:p>
            <a:pPr lvl="2"/>
            <a:r>
              <a:rPr lang="en-US" altLang="zh-TW" dirty="0" smtClean="0"/>
              <a:t>Inconsistent data may occur.</a:t>
            </a:r>
            <a:endParaRPr lang="en-US" altLang="zh-TW" dirty="0"/>
          </a:p>
          <a:p>
            <a:pPr lvl="1"/>
            <a:r>
              <a:rPr lang="en-US" altLang="zh-TW" dirty="0" smtClean="0"/>
              <a:t>There are 3 possible variations.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Write </a:t>
            </a:r>
            <a:r>
              <a:rPr lang="en-US" altLang="zh-TW" dirty="0">
                <a:solidFill>
                  <a:srgbClr val="FF0000"/>
                </a:solidFill>
              </a:rPr>
              <a:t>on </a:t>
            </a:r>
            <a:r>
              <a:rPr lang="en-US" altLang="zh-TW" dirty="0" smtClean="0">
                <a:solidFill>
                  <a:srgbClr val="FF0000"/>
                </a:solidFill>
              </a:rPr>
              <a:t>ejection</a:t>
            </a:r>
            <a:r>
              <a:rPr lang="en-US" altLang="zh-TW" dirty="0" smtClean="0"/>
              <a:t>. (victim of cache replacement)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Periodic write</a:t>
            </a:r>
            <a:r>
              <a:rPr lang="en-US" altLang="zh-TW" dirty="0" smtClean="0"/>
              <a:t>. 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Write on close</a:t>
            </a:r>
            <a:r>
              <a:rPr lang="en-US" altLang="zh-TW" dirty="0" smtClean="0"/>
              <a:t>. (session semantics)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411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Cache Validation Policies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496944" cy="5221560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Client </a:t>
            </a:r>
            <a:r>
              <a:rPr lang="en-US" altLang="zh-TW" dirty="0" smtClean="0">
                <a:solidFill>
                  <a:srgbClr val="FF0000"/>
                </a:solidFill>
              </a:rPr>
              <a:t>initiated </a:t>
            </a:r>
            <a:r>
              <a:rPr lang="en-US" altLang="zh-TW" dirty="0" smtClean="0"/>
              <a:t>approach.</a:t>
            </a:r>
            <a:endParaRPr lang="en-US" altLang="zh-TW" dirty="0"/>
          </a:p>
          <a:p>
            <a:pPr lvl="1"/>
            <a:r>
              <a:rPr lang="en-US" altLang="zh-TW" dirty="0" smtClean="0"/>
              <a:t>A client </a:t>
            </a:r>
            <a:r>
              <a:rPr lang="en-US" altLang="zh-TW" dirty="0"/>
              <a:t>initiates a validity check with </a:t>
            </a:r>
            <a:r>
              <a:rPr lang="en-US" altLang="zh-TW" dirty="0" smtClean="0"/>
              <a:t>the server.</a:t>
            </a:r>
          </a:p>
          <a:p>
            <a:pPr lvl="1"/>
            <a:r>
              <a:rPr lang="en-US" altLang="zh-TW" dirty="0" smtClean="0"/>
              <a:t>Three possible checking variations are: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Checking before every access</a:t>
            </a:r>
            <a:r>
              <a:rPr lang="en-US" altLang="zh-TW" dirty="0" smtClean="0"/>
              <a:t>. (Unix semantics)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Periodic checking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</a:rPr>
              <a:t>Checking when opens a file</a:t>
            </a:r>
            <a:r>
              <a:rPr lang="en-US" altLang="zh-TW" dirty="0" smtClean="0"/>
              <a:t>. (session semantics)</a:t>
            </a:r>
            <a:endParaRPr lang="en-US" altLang="zh-TW" dirty="0"/>
          </a:p>
          <a:p>
            <a:pPr lvl="1"/>
            <a:r>
              <a:rPr lang="en-US" altLang="zh-TW" dirty="0" smtClean="0"/>
              <a:t>The validation is usually based on timestamp or version#.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Server </a:t>
            </a:r>
            <a:r>
              <a:rPr lang="en-US" altLang="zh-TW" dirty="0" smtClean="0">
                <a:solidFill>
                  <a:srgbClr val="FF0000"/>
                </a:solidFill>
              </a:rPr>
              <a:t>initiated </a:t>
            </a:r>
            <a:r>
              <a:rPr lang="en-US" altLang="zh-TW" dirty="0" smtClean="0"/>
              <a:t>approach.</a:t>
            </a:r>
            <a:endParaRPr lang="en-US" altLang="zh-TW" dirty="0"/>
          </a:p>
          <a:p>
            <a:pPr lvl="1"/>
            <a:r>
              <a:rPr lang="en-US" altLang="zh-TW" dirty="0" smtClean="0"/>
              <a:t>The server </a:t>
            </a:r>
            <a:r>
              <a:rPr lang="en-US" altLang="zh-TW" dirty="0"/>
              <a:t>records </a:t>
            </a:r>
            <a:r>
              <a:rPr lang="en-US" altLang="zh-TW" dirty="0" smtClean="0"/>
              <a:t>cache information for </a:t>
            </a:r>
            <a:r>
              <a:rPr lang="en-US" altLang="zh-TW" dirty="0"/>
              <a:t>each client.</a:t>
            </a:r>
          </a:p>
          <a:p>
            <a:pPr lvl="1"/>
            <a:r>
              <a:rPr lang="en-US" altLang="zh-TW" dirty="0" smtClean="0"/>
              <a:t>When the server </a:t>
            </a:r>
            <a:r>
              <a:rPr lang="en-US" altLang="zh-TW" dirty="0"/>
              <a:t>detects a </a:t>
            </a:r>
            <a:r>
              <a:rPr lang="en-US" altLang="zh-TW" dirty="0">
                <a:solidFill>
                  <a:srgbClr val="FF0000"/>
                </a:solidFill>
              </a:rPr>
              <a:t>potential inconsistency</a:t>
            </a:r>
            <a:r>
              <a:rPr lang="en-US" altLang="zh-TW" dirty="0"/>
              <a:t>, it </a:t>
            </a:r>
            <a:r>
              <a:rPr lang="en-US" altLang="zh-TW" dirty="0" smtClean="0"/>
              <a:t>reacts.</a:t>
            </a:r>
          </a:p>
          <a:p>
            <a:pPr lvl="2"/>
            <a:r>
              <a:rPr lang="en-US" altLang="zh-TW" dirty="0" smtClean="0"/>
              <a:t>A file is opened for conflict accesses from different clients.</a:t>
            </a:r>
          </a:p>
          <a:p>
            <a:pPr lvl="2"/>
            <a:r>
              <a:rPr lang="en-US" altLang="zh-TW" dirty="0" smtClean="0"/>
              <a:t>A file is closed with modification. (preferred and used in AFS)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5162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File Replications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5077544"/>
          </a:xfrm>
        </p:spPr>
        <p:txBody>
          <a:bodyPr/>
          <a:lstStyle/>
          <a:p>
            <a:r>
              <a:rPr lang="en-US" altLang="zh-TW" dirty="0" smtClean="0"/>
              <a:t>File replication is the major mechanism to achieve high availability in a DFS.</a:t>
            </a:r>
          </a:p>
          <a:p>
            <a:r>
              <a:rPr lang="en-US" altLang="zh-TW" dirty="0"/>
              <a:t>Replication </a:t>
            </a:r>
            <a:r>
              <a:rPr lang="en-US" altLang="zh-TW" dirty="0" smtClean="0"/>
              <a:t>vs Caching.</a:t>
            </a:r>
          </a:p>
          <a:p>
            <a:pPr lvl="1"/>
            <a:r>
              <a:rPr lang="en-US" altLang="zh-TW" dirty="0"/>
              <a:t>A replica is </a:t>
            </a:r>
            <a:r>
              <a:rPr lang="en-US" altLang="zh-TW" dirty="0" smtClean="0"/>
              <a:t>a copy in </a:t>
            </a:r>
            <a:r>
              <a:rPr lang="en-US" altLang="zh-TW" dirty="0"/>
              <a:t>a </a:t>
            </a:r>
            <a:r>
              <a:rPr lang="en-US" altLang="zh-TW" dirty="0" smtClean="0"/>
              <a:t>server </a:t>
            </a:r>
            <a:r>
              <a:rPr lang="en-US" altLang="zh-TW" dirty="0" smtClean="0"/>
              <a:t>disk</a:t>
            </a:r>
          </a:p>
          <a:p>
            <a:pPr lvl="2"/>
            <a:r>
              <a:rPr lang="en-US" altLang="zh-TW" dirty="0" smtClean="0"/>
              <a:t>A </a:t>
            </a:r>
            <a:r>
              <a:rPr lang="en-US" altLang="zh-TW" dirty="0" smtClean="0"/>
              <a:t>cache </a:t>
            </a:r>
            <a:r>
              <a:rPr lang="en-US" altLang="zh-TW" dirty="0"/>
              <a:t>is </a:t>
            </a:r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partial</a:t>
            </a:r>
            <a:r>
              <a:rPr lang="en-US" altLang="zh-TW" dirty="0" smtClean="0"/>
              <a:t> or </a:t>
            </a:r>
            <a:r>
              <a:rPr lang="en-US" altLang="zh-TW" dirty="0" smtClean="0">
                <a:solidFill>
                  <a:srgbClr val="FF0000"/>
                </a:solidFill>
              </a:rPr>
              <a:t>whole</a:t>
            </a:r>
            <a:r>
              <a:rPr lang="en-US" altLang="zh-TW" dirty="0" smtClean="0"/>
              <a:t> copy </a:t>
            </a:r>
            <a:r>
              <a:rPr lang="en-US" altLang="zh-TW" dirty="0" smtClean="0"/>
              <a:t>of </a:t>
            </a:r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replica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A cache </a:t>
            </a:r>
            <a:r>
              <a:rPr lang="en-US" altLang="zh-TW" dirty="0"/>
              <a:t>is </a:t>
            </a:r>
            <a:r>
              <a:rPr lang="en-US" altLang="zh-TW" dirty="0" smtClean="0"/>
              <a:t>dependent </a:t>
            </a:r>
            <a:r>
              <a:rPr lang="en-US" altLang="zh-TW" dirty="0"/>
              <a:t>on the </a:t>
            </a:r>
            <a:r>
              <a:rPr lang="en-US" altLang="zh-TW" dirty="0">
                <a:solidFill>
                  <a:srgbClr val="FF0000"/>
                </a:solidFill>
              </a:rPr>
              <a:t>locality</a:t>
            </a:r>
            <a:r>
              <a:rPr lang="en-US" altLang="zh-TW" dirty="0"/>
              <a:t> in </a:t>
            </a:r>
            <a:r>
              <a:rPr lang="en-US" altLang="zh-TW" dirty="0" smtClean="0"/>
              <a:t>file access patterns.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replica </a:t>
            </a:r>
            <a:r>
              <a:rPr lang="en-US" altLang="zh-TW" dirty="0" smtClean="0"/>
              <a:t>depends on </a:t>
            </a:r>
            <a:r>
              <a:rPr lang="en-US" altLang="zh-TW" dirty="0" smtClean="0">
                <a:solidFill>
                  <a:srgbClr val="FF0000"/>
                </a:solidFill>
              </a:rPr>
              <a:t>availability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performance</a:t>
            </a:r>
            <a:r>
              <a:rPr lang="en-US" altLang="zh-TW" dirty="0"/>
              <a:t> requirements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replica is </a:t>
            </a:r>
            <a:r>
              <a:rPr lang="en-US" altLang="zh-TW" dirty="0" smtClean="0"/>
              <a:t>usually </a:t>
            </a:r>
            <a:r>
              <a:rPr lang="en-US" altLang="zh-TW" dirty="0" smtClean="0">
                <a:solidFill>
                  <a:srgbClr val="FF0000"/>
                </a:solidFill>
              </a:rPr>
              <a:t>persistent </a:t>
            </a:r>
            <a:r>
              <a:rPr lang="en-US" altLang="zh-TW" dirty="0" smtClean="0"/>
              <a:t>and </a:t>
            </a:r>
            <a:r>
              <a:rPr lang="en-US" altLang="zh-TW" dirty="0"/>
              <a:t>widely </a:t>
            </a:r>
            <a:r>
              <a:rPr lang="en-US" altLang="zh-TW" dirty="0" smtClean="0"/>
              <a:t>known.</a:t>
            </a:r>
          </a:p>
          <a:p>
            <a:pPr lvl="2"/>
            <a:r>
              <a:rPr lang="en-US" altLang="zh-TW" dirty="0"/>
              <a:t>The existence of a cache depends on the presence of a replica</a:t>
            </a:r>
            <a:r>
              <a:rPr lang="en-US" altLang="zh-TW" dirty="0" smtClean="0"/>
              <a:t>.</a:t>
            </a:r>
          </a:p>
          <a:p>
            <a:pPr lvl="3"/>
            <a:r>
              <a:rPr lang="en-US" altLang="zh-TW" dirty="0" smtClean="0"/>
              <a:t>It must be periodically revalidated with respect </a:t>
            </a:r>
            <a:r>
              <a:rPr lang="en-US" altLang="zh-TW" dirty="0"/>
              <a:t>to a </a:t>
            </a:r>
            <a:r>
              <a:rPr lang="en-US" altLang="zh-TW" dirty="0" smtClean="0"/>
              <a:t>replica.</a:t>
            </a:r>
          </a:p>
          <a:p>
            <a:r>
              <a:rPr lang="en-US" altLang="zh-TW" dirty="0"/>
              <a:t>Transparency is an important issue in file replication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A replicated file </a:t>
            </a:r>
            <a:r>
              <a:rPr lang="en-US" altLang="zh-TW" dirty="0"/>
              <a:t>should be </a:t>
            </a:r>
            <a:r>
              <a:rPr lang="en-US" altLang="zh-TW" dirty="0" smtClean="0"/>
              <a:t>viewed </a:t>
            </a:r>
            <a:r>
              <a:rPr lang="en-US" altLang="zh-TW" dirty="0"/>
              <a:t>as a single logical file to </a:t>
            </a:r>
            <a:r>
              <a:rPr lang="en-US" altLang="zh-TW" dirty="0" smtClean="0"/>
              <a:t>the users.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9331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Replication Transparency Issues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47800"/>
            <a:ext cx="8219256" cy="5077544"/>
          </a:xfrm>
        </p:spPr>
        <p:txBody>
          <a:bodyPr/>
          <a:lstStyle/>
          <a:p>
            <a:r>
              <a:rPr lang="en-US" altLang="zh-TW" dirty="0"/>
              <a:t>Two important </a:t>
            </a:r>
            <a:r>
              <a:rPr lang="en-US" altLang="zh-TW" dirty="0" smtClean="0"/>
              <a:t>issues related </a:t>
            </a:r>
            <a:r>
              <a:rPr lang="en-US" altLang="zh-TW" dirty="0"/>
              <a:t>to replication transparency are </a:t>
            </a:r>
            <a:r>
              <a:rPr lang="en-US" altLang="zh-TW" dirty="0">
                <a:solidFill>
                  <a:srgbClr val="FF0000"/>
                </a:solidFill>
              </a:rPr>
              <a:t>naming of replicas </a:t>
            </a:r>
            <a:r>
              <a:rPr lang="en-US" altLang="zh-TW" dirty="0"/>
              <a:t>and </a:t>
            </a:r>
            <a:r>
              <a:rPr lang="en-US" altLang="zh-TW" dirty="0">
                <a:solidFill>
                  <a:srgbClr val="FF0000"/>
                </a:solidFill>
              </a:rPr>
              <a:t>replication control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naming </a:t>
            </a:r>
            <a:r>
              <a:rPr lang="en-US" altLang="zh-TW" dirty="0"/>
              <a:t>scheme </a:t>
            </a:r>
            <a:r>
              <a:rPr lang="en-US" altLang="zh-TW" dirty="0" smtClean="0"/>
              <a:t>must map </a:t>
            </a:r>
            <a:r>
              <a:rPr lang="en-US" altLang="zh-TW" dirty="0"/>
              <a:t>a replicated file name to a particular replica.</a:t>
            </a:r>
          </a:p>
          <a:p>
            <a:pPr lvl="1"/>
            <a:r>
              <a:rPr lang="en-US" altLang="zh-TW" dirty="0"/>
              <a:t>Existence of replicas should be invisible to </a:t>
            </a:r>
            <a:r>
              <a:rPr lang="en-US" altLang="zh-TW" dirty="0" smtClean="0"/>
              <a:t>higher </a:t>
            </a:r>
            <a:r>
              <a:rPr lang="en-US" altLang="zh-TW" dirty="0"/>
              <a:t>levels. </a:t>
            </a:r>
          </a:p>
          <a:p>
            <a:pPr lvl="1"/>
            <a:r>
              <a:rPr lang="en-US" altLang="zh-TW" dirty="0"/>
              <a:t>Replicas must be distinguished from one another by different lower level names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Replication control </a:t>
            </a:r>
            <a:r>
              <a:rPr lang="en-US" altLang="zh-TW" dirty="0" smtClean="0"/>
              <a:t>includes determining </a:t>
            </a:r>
            <a:r>
              <a:rPr lang="en-US" altLang="zh-TW" dirty="0"/>
              <a:t>the number and locations of replicas of a replicated file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Explicit replication</a:t>
            </a:r>
            <a:r>
              <a:rPr lang="en-US" altLang="zh-TW" dirty="0" smtClean="0"/>
              <a:t>. Users can specify how many replicas are desired when creating a file.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Implicit/lazy replication</a:t>
            </a:r>
            <a:r>
              <a:rPr lang="en-US" altLang="zh-TW" dirty="0" smtClean="0"/>
              <a:t>. Auto configured by the DFS.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7551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Multicopy Update Policies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340768"/>
            <a:ext cx="8640960" cy="5328592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Read Only </a:t>
            </a:r>
            <a:r>
              <a:rPr lang="en-US" altLang="zh-TW" dirty="0" smtClean="0"/>
              <a:t>Replication (ROR). </a:t>
            </a:r>
          </a:p>
          <a:p>
            <a:pPr lvl="1"/>
            <a:r>
              <a:rPr lang="en-US" altLang="zh-TW" dirty="0" smtClean="0"/>
              <a:t>Only </a:t>
            </a:r>
            <a:r>
              <a:rPr lang="en-US" altLang="zh-TW" dirty="0"/>
              <a:t>immutable </a:t>
            </a:r>
            <a:r>
              <a:rPr lang="en-US" altLang="zh-TW" dirty="0" smtClean="0"/>
              <a:t>files are replicated to avoid consistency issue.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Read One Write All </a:t>
            </a:r>
            <a:r>
              <a:rPr lang="en-US" altLang="zh-TW" dirty="0" smtClean="0"/>
              <a:t>Protocol (R1Wn).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read </a:t>
            </a:r>
            <a:r>
              <a:rPr lang="en-US" altLang="zh-TW" dirty="0" smtClean="0"/>
              <a:t>OP is </a:t>
            </a:r>
            <a:r>
              <a:rPr lang="en-US" altLang="zh-TW" dirty="0"/>
              <a:t>performed by reading any copy of the </a:t>
            </a:r>
            <a:r>
              <a:rPr lang="en-US" altLang="zh-TW" dirty="0" smtClean="0"/>
              <a:t>file.</a:t>
            </a:r>
          </a:p>
          <a:p>
            <a:pPr lvl="1"/>
            <a:r>
              <a:rPr lang="en-US" altLang="zh-TW" dirty="0"/>
              <a:t>A write OP </a:t>
            </a:r>
            <a:r>
              <a:rPr lang="en-US" altLang="zh-TW" dirty="0" smtClean="0"/>
              <a:t>is performed by </a:t>
            </a:r>
            <a:r>
              <a:rPr lang="en-US" altLang="zh-TW" dirty="0"/>
              <a:t>writing to all </a:t>
            </a:r>
            <a:r>
              <a:rPr lang="en-US" altLang="zh-TW" dirty="0" smtClean="0"/>
              <a:t>replicas </a:t>
            </a:r>
            <a:r>
              <a:rPr lang="en-US" altLang="zh-TW" dirty="0"/>
              <a:t>of the file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/>
              <a:t>Some </a:t>
            </a:r>
            <a:r>
              <a:rPr lang="en-US" altLang="zh-TW" dirty="0" smtClean="0"/>
              <a:t>kind</a:t>
            </a:r>
            <a:r>
              <a:rPr lang="en-US" altLang="zh-TW" dirty="0" smtClean="0"/>
              <a:t> </a:t>
            </a:r>
            <a:r>
              <a:rPr lang="en-US" altLang="zh-TW" dirty="0"/>
              <a:t>of locking has to be </a:t>
            </a:r>
            <a:r>
              <a:rPr lang="en-US" altLang="zh-TW" dirty="0" smtClean="0"/>
              <a:t>used to </a:t>
            </a:r>
            <a:r>
              <a:rPr lang="en-US" altLang="zh-TW" dirty="0"/>
              <a:t>carry out a write operation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It is suitable </a:t>
            </a:r>
            <a:r>
              <a:rPr lang="en-US" altLang="zh-TW" dirty="0"/>
              <a:t>for implementing UNIX-like semantics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It is very efficient when the read/write ratio is large.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Available-Copies</a:t>
            </a:r>
            <a:r>
              <a:rPr lang="en-US" altLang="zh-TW" dirty="0"/>
              <a:t> </a:t>
            </a:r>
            <a:r>
              <a:rPr lang="en-US" altLang="zh-TW" dirty="0" smtClean="0"/>
              <a:t>Protocol.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write </a:t>
            </a:r>
            <a:r>
              <a:rPr lang="en-US" altLang="zh-TW" dirty="0" smtClean="0"/>
              <a:t>OP </a:t>
            </a:r>
            <a:r>
              <a:rPr lang="en-US" altLang="zh-TW" dirty="0"/>
              <a:t>is performed by writing to all available copies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Upon recovery from a </a:t>
            </a:r>
            <a:r>
              <a:rPr lang="en-US" altLang="zh-TW" dirty="0"/>
              <a:t>failure, </a:t>
            </a:r>
            <a:r>
              <a:rPr lang="en-US" altLang="zh-TW" dirty="0" smtClean="0"/>
              <a:t>a server must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brings </a:t>
            </a:r>
            <a:r>
              <a:rPr lang="en-US" altLang="zh-TW" dirty="0"/>
              <a:t>itself up to date by copying from other servers before accepting any user request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It can tolerate site crashes.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0267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Multicopy Update Policies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928992" cy="5293568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Primary-Copy</a:t>
            </a:r>
            <a:r>
              <a:rPr lang="en-US" altLang="zh-TW" dirty="0"/>
              <a:t> </a:t>
            </a:r>
            <a:r>
              <a:rPr lang="en-US" altLang="zh-TW" dirty="0" smtClean="0"/>
              <a:t>Protocol.</a:t>
            </a:r>
          </a:p>
          <a:p>
            <a:pPr lvl="1"/>
            <a:r>
              <a:rPr lang="en-US" altLang="zh-TW" dirty="0" smtClean="0"/>
              <a:t>For </a:t>
            </a:r>
            <a:r>
              <a:rPr lang="en-US" altLang="zh-TW" dirty="0"/>
              <a:t>each replicated file, one copy is designated as the </a:t>
            </a:r>
            <a:r>
              <a:rPr lang="en-US" altLang="zh-TW" dirty="0" smtClean="0"/>
              <a:t>primary copy </a:t>
            </a:r>
            <a:r>
              <a:rPr lang="en-US" altLang="zh-TW" dirty="0"/>
              <a:t>and all the others are secondary copies.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Read OPs </a:t>
            </a:r>
            <a:r>
              <a:rPr lang="en-US" altLang="zh-TW" dirty="0"/>
              <a:t>can be performed using </a:t>
            </a:r>
            <a:r>
              <a:rPr lang="en-US" altLang="zh-TW" dirty="0" smtClean="0"/>
              <a:t>any copy.</a:t>
            </a:r>
          </a:p>
          <a:p>
            <a:pPr lvl="1"/>
            <a:r>
              <a:rPr lang="en-US" altLang="zh-TW" dirty="0" smtClean="0"/>
              <a:t>All </a:t>
            </a:r>
            <a:r>
              <a:rPr lang="en-US" altLang="zh-TW" dirty="0"/>
              <a:t>write </a:t>
            </a:r>
            <a:r>
              <a:rPr lang="en-US" altLang="zh-TW" dirty="0" smtClean="0"/>
              <a:t>OPs </a:t>
            </a:r>
            <a:r>
              <a:rPr lang="en-US" altLang="zh-TW" dirty="0"/>
              <a:t>are </a:t>
            </a:r>
            <a:r>
              <a:rPr lang="en-US" altLang="zh-TW" dirty="0" smtClean="0"/>
              <a:t>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performed </a:t>
            </a:r>
            <a:r>
              <a:rPr lang="en-US" altLang="zh-TW" dirty="0"/>
              <a:t>only on </a:t>
            </a:r>
            <a:r>
              <a:rPr lang="en-US" altLang="zh-TW" dirty="0" smtClean="0"/>
              <a:t>the primary </a:t>
            </a:r>
            <a:r>
              <a:rPr lang="en-US" altLang="zh-TW" dirty="0"/>
              <a:t>copy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Secondary copies are then updated later.</a:t>
            </a:r>
          </a:p>
          <a:p>
            <a:pPr lvl="1"/>
            <a:r>
              <a:rPr lang="en-US" altLang="zh-TW" dirty="0"/>
              <a:t>The consistency semantics </a:t>
            </a:r>
            <a:r>
              <a:rPr lang="en-US" altLang="zh-TW" dirty="0" smtClean="0"/>
              <a:t>depends </a:t>
            </a:r>
            <a:r>
              <a:rPr lang="en-US" altLang="zh-TW" dirty="0"/>
              <a:t>on when the secondary copies </a:t>
            </a:r>
            <a:r>
              <a:rPr lang="en-US" altLang="zh-TW" dirty="0" smtClean="0"/>
              <a:t>are updated.</a:t>
            </a:r>
          </a:p>
          <a:p>
            <a:pPr lvl="2"/>
            <a:r>
              <a:rPr lang="en-US" altLang="zh-TW" dirty="0" smtClean="0"/>
              <a:t>For UNIX semantics, secondary copies are updated by primary copy ASAP.</a:t>
            </a:r>
          </a:p>
          <a:p>
            <a:pPr lvl="3"/>
            <a:r>
              <a:rPr lang="en-US" altLang="zh-TW" dirty="0"/>
              <a:t>Some </a:t>
            </a:r>
            <a:r>
              <a:rPr lang="en-US" altLang="zh-TW" dirty="0" smtClean="0"/>
              <a:t>kind</a:t>
            </a:r>
            <a:r>
              <a:rPr lang="en-US" altLang="zh-TW" dirty="0" smtClean="0"/>
              <a:t> </a:t>
            </a:r>
            <a:r>
              <a:rPr lang="en-US" altLang="zh-TW" dirty="0"/>
              <a:t>of locking has to be used to carry out </a:t>
            </a:r>
            <a:r>
              <a:rPr lang="en-US" altLang="zh-TW" dirty="0" smtClean="0"/>
              <a:t>these updates.</a:t>
            </a:r>
          </a:p>
          <a:p>
            <a:pPr lvl="2"/>
            <a:r>
              <a:rPr lang="en-US" altLang="zh-TW" dirty="0" smtClean="0"/>
              <a:t>For other weaker semantics, a </a:t>
            </a:r>
            <a:r>
              <a:rPr lang="en-US" altLang="zh-TW" dirty="0"/>
              <a:t>write </a:t>
            </a:r>
            <a:r>
              <a:rPr lang="en-US" altLang="zh-TW" dirty="0" smtClean="0"/>
              <a:t>OP returns </a:t>
            </a:r>
            <a:r>
              <a:rPr lang="en-US" altLang="zh-TW" dirty="0"/>
              <a:t>as soon as </a:t>
            </a:r>
            <a:r>
              <a:rPr lang="en-US" altLang="zh-TW" dirty="0" smtClean="0"/>
              <a:t>the primary </a:t>
            </a:r>
            <a:r>
              <a:rPr lang="en-US" altLang="zh-TW" dirty="0"/>
              <a:t>copy has been updated</a:t>
            </a:r>
            <a:r>
              <a:rPr lang="en-US" altLang="zh-TW" dirty="0" smtClean="0"/>
              <a:t>.</a:t>
            </a:r>
          </a:p>
          <a:p>
            <a:pPr lvl="3"/>
            <a:r>
              <a:rPr lang="en-US" altLang="zh-TW" dirty="0" smtClean="0"/>
              <a:t>Secondary </a:t>
            </a:r>
            <a:r>
              <a:rPr lang="en-US" altLang="zh-TW" dirty="0"/>
              <a:t>copies are then lazily updated either in </a:t>
            </a:r>
            <a:r>
              <a:rPr lang="en-US" altLang="zh-TW" dirty="0" smtClean="0"/>
              <a:t>the background </a:t>
            </a:r>
            <a:r>
              <a:rPr lang="en-US" altLang="zh-TW" dirty="0"/>
              <a:t>or </a:t>
            </a:r>
            <a:r>
              <a:rPr lang="en-US" altLang="zh-TW" dirty="0" smtClean="0"/>
              <a:t>when a read OP </a:t>
            </a:r>
            <a:r>
              <a:rPr lang="en-US" altLang="zh-TW" dirty="0"/>
              <a:t>is requesting </a:t>
            </a:r>
            <a:r>
              <a:rPr lang="en-US" altLang="zh-TW" dirty="0" smtClean="0"/>
              <a:t>the latest version.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7196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Multicopy Update Policies </a:t>
            </a:r>
            <a:r>
              <a:rPr lang="en-US" altLang="zh-TW" dirty="0" smtClean="0"/>
              <a:t>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5149552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</a:rPr>
              <a:t>Quorum-Based </a:t>
            </a:r>
            <a:r>
              <a:rPr lang="en-US" altLang="zh-TW" dirty="0" smtClean="0"/>
              <a:t>Protocols.</a:t>
            </a:r>
          </a:p>
          <a:p>
            <a:pPr lvl="1"/>
            <a:r>
              <a:rPr lang="en-US" altLang="zh-TW" dirty="0" smtClean="0"/>
              <a:t>In 1979, Gifford </a:t>
            </a:r>
            <a:r>
              <a:rPr lang="en-US" altLang="zh-TW" dirty="0"/>
              <a:t>presented a simple quorum protocol that is capable of handling the </a:t>
            </a:r>
            <a:r>
              <a:rPr lang="en-US" altLang="zh-TW" dirty="0" smtClean="0"/>
              <a:t>network partition </a:t>
            </a:r>
            <a:r>
              <a:rPr lang="en-US" altLang="zh-TW" dirty="0"/>
              <a:t>problem and can increase the availability of write </a:t>
            </a:r>
            <a:r>
              <a:rPr lang="en-US" altLang="zh-TW" dirty="0" smtClean="0"/>
              <a:t>OPs </a:t>
            </a:r>
            <a:r>
              <a:rPr lang="en-US" altLang="zh-TW" dirty="0"/>
              <a:t>at the expense </a:t>
            </a:r>
            <a:r>
              <a:rPr lang="en-US" altLang="zh-TW" dirty="0" smtClean="0"/>
              <a:t>of read OPs.</a:t>
            </a:r>
          </a:p>
          <a:p>
            <a:pPr lvl="1"/>
            <a:r>
              <a:rPr lang="en-US" altLang="zh-TW" dirty="0" smtClean="0"/>
              <a:t>Assume that a replicated file F has </a:t>
            </a:r>
            <a:r>
              <a:rPr lang="en-US" altLang="zh-TW" dirty="0"/>
              <a:t>a total of </a:t>
            </a:r>
            <a:r>
              <a:rPr lang="en-US" altLang="zh-TW" b="1" dirty="0">
                <a:solidFill>
                  <a:srgbClr val="FF0000"/>
                </a:solidFill>
              </a:rPr>
              <a:t>n</a:t>
            </a:r>
            <a:r>
              <a:rPr lang="en-US" altLang="zh-TW" dirty="0"/>
              <a:t> </a:t>
            </a:r>
            <a:r>
              <a:rPr lang="en-US" altLang="zh-TW" dirty="0" smtClean="0"/>
              <a:t>copies.</a:t>
            </a:r>
            <a:endParaRPr lang="en-US" altLang="zh-TW" dirty="0"/>
          </a:p>
          <a:p>
            <a:pPr lvl="2"/>
            <a:r>
              <a:rPr lang="en-US" altLang="zh-TW" dirty="0" smtClean="0"/>
              <a:t>For each read OP, a set </a:t>
            </a:r>
            <a:r>
              <a:rPr lang="en-US" altLang="zh-TW" dirty="0"/>
              <a:t>of </a:t>
            </a:r>
            <a:r>
              <a:rPr lang="en-US" altLang="zh-TW" b="1" dirty="0">
                <a:solidFill>
                  <a:srgbClr val="FF0000"/>
                </a:solidFill>
              </a:rPr>
              <a:t>r</a:t>
            </a:r>
            <a:r>
              <a:rPr lang="en-US" altLang="zh-TW" dirty="0"/>
              <a:t> </a:t>
            </a:r>
            <a:r>
              <a:rPr lang="en-US" altLang="zh-TW" dirty="0" smtClean="0"/>
              <a:t>replicas (</a:t>
            </a:r>
            <a:r>
              <a:rPr lang="en-US" altLang="zh-TW" dirty="0" smtClean="0">
                <a:solidFill>
                  <a:srgbClr val="FF0000"/>
                </a:solidFill>
              </a:rPr>
              <a:t>read quorum</a:t>
            </a:r>
            <a:r>
              <a:rPr lang="en-US" altLang="zh-TW" dirty="0" smtClean="0"/>
              <a:t>) must be contacted to get the latest version. </a:t>
            </a:r>
          </a:p>
          <a:p>
            <a:pPr lvl="2"/>
            <a:r>
              <a:rPr lang="en-US" altLang="zh-TW" dirty="0" smtClean="0"/>
              <a:t>For each write OP, a set of </a:t>
            </a:r>
            <a:r>
              <a:rPr lang="en-US" altLang="zh-TW" b="1" dirty="0" smtClean="0">
                <a:solidFill>
                  <a:srgbClr val="FF0000"/>
                </a:solidFill>
              </a:rPr>
              <a:t>w</a:t>
            </a:r>
            <a:r>
              <a:rPr lang="en-US" altLang="zh-TW" dirty="0" smtClean="0"/>
              <a:t> replicas (</a:t>
            </a:r>
            <a:r>
              <a:rPr lang="en-US" altLang="zh-TW" dirty="0" smtClean="0">
                <a:solidFill>
                  <a:srgbClr val="FF0000"/>
                </a:solidFill>
              </a:rPr>
              <a:t>write quorum</a:t>
            </a:r>
            <a:r>
              <a:rPr lang="en-US" altLang="zh-TW" dirty="0" smtClean="0"/>
              <a:t>) must be locked to perform the updates.</a:t>
            </a:r>
          </a:p>
          <a:p>
            <a:pPr lvl="1"/>
            <a:r>
              <a:rPr lang="en-US" altLang="zh-TW" dirty="0" smtClean="0"/>
              <a:t>If (</a:t>
            </a:r>
            <a:r>
              <a:rPr lang="en-US" altLang="zh-TW" b="1" dirty="0" err="1" smtClean="0">
                <a:solidFill>
                  <a:srgbClr val="FF0000"/>
                </a:solidFill>
              </a:rPr>
              <a:t>r+w</a:t>
            </a:r>
            <a:r>
              <a:rPr lang="en-US" altLang="zh-TW" b="1" dirty="0" smtClean="0">
                <a:solidFill>
                  <a:srgbClr val="FF0000"/>
                </a:solidFill>
              </a:rPr>
              <a:t> </a:t>
            </a:r>
            <a:r>
              <a:rPr lang="en-US" altLang="zh-TW" b="1" dirty="0">
                <a:solidFill>
                  <a:srgbClr val="FF0000"/>
                </a:solidFill>
              </a:rPr>
              <a:t>&gt; </a:t>
            </a:r>
            <a:r>
              <a:rPr lang="en-US" altLang="zh-TW" b="1" dirty="0" smtClean="0">
                <a:solidFill>
                  <a:srgbClr val="FF0000"/>
                </a:solidFill>
              </a:rPr>
              <a:t>n</a:t>
            </a:r>
            <a:r>
              <a:rPr lang="zh-TW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zh-TW" b="1" dirty="0" smtClean="0"/>
              <a:t>and</a:t>
            </a:r>
            <a:r>
              <a:rPr lang="en-US" altLang="zh-TW" b="1" dirty="0" smtClean="0">
                <a:solidFill>
                  <a:srgbClr val="FF0000"/>
                </a:solidFill>
              </a:rPr>
              <a:t> 2w&gt;n</a:t>
            </a:r>
            <a:r>
              <a:rPr lang="en-US" altLang="zh-TW" dirty="0" smtClean="0"/>
              <a:t>) then</a:t>
            </a:r>
          </a:p>
          <a:p>
            <a:pPr lvl="2"/>
            <a:r>
              <a:rPr lang="en-US" altLang="zh-TW" dirty="0" smtClean="0"/>
              <a:t>Every read OP always gets the result of the latest write.</a:t>
            </a:r>
          </a:p>
          <a:p>
            <a:pPr lvl="2"/>
            <a:r>
              <a:rPr lang="en-US" altLang="zh-TW" dirty="0" smtClean="0"/>
              <a:t>Every write OP is always performed on top of the latest write.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293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Quorum Consensus (QC)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568952" cy="5149552"/>
          </a:xfrm>
        </p:spPr>
        <p:txBody>
          <a:bodyPr/>
          <a:lstStyle/>
          <a:p>
            <a:r>
              <a:rPr lang="en-US" altLang="zh-TW" dirty="0"/>
              <a:t>A read is executed as follows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/>
              <a:t>Retrieve a read quorum (any r copies) of </a:t>
            </a:r>
            <a:r>
              <a:rPr lang="en-US" altLang="zh-TW" dirty="0" smtClean="0"/>
              <a:t>the file F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 smtClean="0"/>
              <a:t>Of </a:t>
            </a:r>
            <a:r>
              <a:rPr lang="en-US" altLang="zh-TW" dirty="0"/>
              <a:t>the r copies retrieved, select the copy with the largest </a:t>
            </a:r>
            <a:r>
              <a:rPr lang="en-US" altLang="zh-TW" dirty="0" smtClean="0"/>
              <a:t>version#.</a:t>
            </a:r>
            <a:endParaRPr lang="en-US" altLang="zh-TW" dirty="0"/>
          </a:p>
          <a:p>
            <a:pPr lvl="1"/>
            <a:r>
              <a:rPr lang="en-US" altLang="zh-TW" dirty="0" smtClean="0"/>
              <a:t>Perform </a:t>
            </a:r>
            <a:r>
              <a:rPr lang="en-US" altLang="zh-TW" dirty="0"/>
              <a:t>the read operation on the selected copy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write is executed as follows:</a:t>
            </a:r>
          </a:p>
          <a:p>
            <a:pPr lvl="1"/>
            <a:r>
              <a:rPr lang="en-US" altLang="zh-TW" dirty="0" smtClean="0"/>
              <a:t>Retrieve </a:t>
            </a:r>
            <a:r>
              <a:rPr lang="en-US" altLang="zh-TW" dirty="0"/>
              <a:t>a write quorum (any w copies) of </a:t>
            </a:r>
            <a:r>
              <a:rPr lang="en-US" altLang="zh-TW" dirty="0" smtClean="0"/>
              <a:t>the file F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 smtClean="0"/>
              <a:t>Of </a:t>
            </a:r>
            <a:r>
              <a:rPr lang="en-US" altLang="zh-TW" dirty="0"/>
              <a:t>the w copies retrieved, get the </a:t>
            </a:r>
            <a:r>
              <a:rPr lang="en-US" altLang="zh-TW" dirty="0" smtClean="0"/>
              <a:t>copy with the largest version#.</a:t>
            </a:r>
            <a:endParaRPr lang="en-US" altLang="zh-TW" dirty="0"/>
          </a:p>
          <a:p>
            <a:pPr lvl="1"/>
            <a:r>
              <a:rPr lang="en-US" altLang="zh-TW" dirty="0" smtClean="0"/>
              <a:t>Increment </a:t>
            </a:r>
            <a:r>
              <a:rPr lang="en-US" altLang="zh-TW" dirty="0"/>
              <a:t>the </a:t>
            </a:r>
            <a:r>
              <a:rPr lang="en-US" altLang="zh-TW" dirty="0" smtClean="0"/>
              <a:t>version#.</a:t>
            </a:r>
            <a:endParaRPr lang="en-US" altLang="zh-TW" dirty="0"/>
          </a:p>
          <a:p>
            <a:pPr lvl="1"/>
            <a:r>
              <a:rPr lang="en-US" altLang="zh-TW" dirty="0" smtClean="0"/>
              <a:t>Write </a:t>
            </a:r>
            <a:r>
              <a:rPr lang="en-US" altLang="zh-TW" dirty="0"/>
              <a:t>the new value and the new </a:t>
            </a:r>
            <a:r>
              <a:rPr lang="en-US" altLang="zh-TW" dirty="0" smtClean="0"/>
              <a:t>version# </a:t>
            </a:r>
            <a:r>
              <a:rPr lang="en-US" altLang="zh-TW" dirty="0"/>
              <a:t>to all the w copies </a:t>
            </a:r>
            <a:r>
              <a:rPr lang="en-US" altLang="zh-TW" dirty="0" smtClean="0"/>
              <a:t>in </a:t>
            </a:r>
            <a:r>
              <a:rPr lang="en-US" altLang="zh-TW" dirty="0"/>
              <a:t>the </a:t>
            </a:r>
            <a:r>
              <a:rPr lang="en-US" altLang="zh-TW" dirty="0" smtClean="0"/>
              <a:t>write quorum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2321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58416" y="399802"/>
            <a:ext cx="7041976" cy="940966"/>
          </a:xfrm>
        </p:spPr>
        <p:txBody>
          <a:bodyPr/>
          <a:lstStyle/>
          <a:p>
            <a:pPr algn="ctr"/>
            <a:r>
              <a:rPr lang="pt-BR" altLang="zh-TW" dirty="0"/>
              <a:t>Examples of </a:t>
            </a:r>
            <a:r>
              <a:rPr lang="pt-BR" altLang="zh-TW" dirty="0" smtClean="0"/>
              <a:t>QC Protocol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14400" y="1447800"/>
            <a:ext cx="7772400" cy="1045096"/>
          </a:xfrm>
        </p:spPr>
        <p:txBody>
          <a:bodyPr/>
          <a:lstStyle/>
          <a:p>
            <a:pPr marL="0" indent="0">
              <a:buNone/>
            </a:pPr>
            <a:r>
              <a:rPr lang="pt-BR" altLang="zh-TW" dirty="0" smtClean="0"/>
              <a:t>(</a:t>
            </a:r>
            <a:r>
              <a:rPr lang="pt-BR" altLang="zh-TW" dirty="0"/>
              <a:t>a) n =</a:t>
            </a:r>
            <a:r>
              <a:rPr lang="pt-BR" altLang="zh-TW" dirty="0" smtClean="0"/>
              <a:t>8, </a:t>
            </a:r>
            <a:r>
              <a:rPr lang="pt-BR" altLang="zh-TW" dirty="0"/>
              <a:t>r =</a:t>
            </a:r>
            <a:r>
              <a:rPr lang="pt-BR" altLang="zh-TW" dirty="0" smtClean="0"/>
              <a:t>4, </a:t>
            </a:r>
            <a:r>
              <a:rPr lang="pt-BR" altLang="zh-TW" dirty="0"/>
              <a:t>w = </a:t>
            </a:r>
            <a:r>
              <a:rPr lang="pt-BR" altLang="zh-TW" dirty="0" smtClean="0"/>
              <a:t>5                     </a:t>
            </a:r>
            <a:r>
              <a:rPr lang="pt-BR" altLang="zh-TW" dirty="0"/>
              <a:t>(b) n = </a:t>
            </a:r>
            <a:r>
              <a:rPr lang="pt-BR" altLang="zh-TW" dirty="0" smtClean="0"/>
              <a:t>8, r </a:t>
            </a:r>
            <a:r>
              <a:rPr lang="pt-BR" altLang="zh-TW" dirty="0"/>
              <a:t>=</a:t>
            </a:r>
            <a:r>
              <a:rPr lang="pt-BR" altLang="zh-TW" dirty="0" smtClean="0"/>
              <a:t>2, </a:t>
            </a:r>
            <a:r>
              <a:rPr lang="pt-BR" altLang="zh-TW" dirty="0"/>
              <a:t>w = 7.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923063"/>
            <a:ext cx="7848872" cy="474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19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Variations of the QC Protocol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519808"/>
                <a:ext cx="8856984" cy="4861520"/>
              </a:xfrm>
            </p:spPr>
            <p:txBody>
              <a:bodyPr/>
              <a:lstStyle/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Read One Write All </a:t>
                </a:r>
                <a:r>
                  <a:rPr lang="en-US" altLang="zh-TW" dirty="0" smtClean="0"/>
                  <a:t>Protocol. (r=1 and w=n)</a:t>
                </a:r>
              </a:p>
              <a:p>
                <a:pPr lvl="1"/>
                <a:r>
                  <a:rPr lang="en-US" altLang="zh-TW" dirty="0" smtClean="0"/>
                  <a:t>It is commonly used when the read/write ratio is large.</a:t>
                </a:r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Majority Consensus </a:t>
                </a:r>
                <a:r>
                  <a:rPr lang="en-US" altLang="zh-TW" dirty="0" smtClean="0"/>
                  <a:t>protocol. (r=w</a:t>
                </a:r>
                <a:r>
                  <a:rPr lang="en-US" altLang="zh-TW" dirty="0" smtClean="0"/>
                  <a:t>=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en-US" altLang="zh-TW" dirty="0" smtClean="0"/>
                  <a:t>+1)</a:t>
                </a:r>
                <a:endParaRPr lang="en-US" altLang="zh-TW" dirty="0" smtClean="0"/>
              </a:p>
              <a:p>
                <a:pPr lvl="1"/>
                <a:r>
                  <a:rPr lang="en-US" altLang="zh-TW" dirty="0"/>
                  <a:t>It is </a:t>
                </a:r>
                <a:r>
                  <a:rPr lang="en-US" altLang="zh-TW" dirty="0" smtClean="0"/>
                  <a:t>commonly used when the read/write ratio </a:t>
                </a:r>
                <a:r>
                  <a:rPr lang="en-US" altLang="zh-TW" dirty="0"/>
                  <a:t>is nearly 1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Consensus with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weighted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voting</a:t>
                </a:r>
                <a:r>
                  <a:rPr lang="en-US" altLang="zh-TW" dirty="0" smtClean="0"/>
                  <a:t>. </a:t>
                </a:r>
              </a:p>
              <a:p>
                <a:pPr lvl="1"/>
                <a:r>
                  <a:rPr lang="en-US" altLang="zh-TW" dirty="0" smtClean="0"/>
                  <a:t>If the importance of each replica is vary, each replica can then be assigned to a different votes.</a:t>
                </a:r>
              </a:p>
              <a:p>
                <a:pPr lvl="1"/>
                <a:r>
                  <a:rPr lang="en-US" altLang="zh-TW" dirty="0" smtClean="0"/>
                  <a:t>A </a:t>
                </a:r>
                <a:r>
                  <a:rPr lang="en-US" altLang="zh-TW" dirty="0"/>
                  <a:t>read quorum of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r votes </a:t>
                </a:r>
                <a:r>
                  <a:rPr lang="en-US" altLang="zh-TW" dirty="0"/>
                  <a:t>is </a:t>
                </a:r>
                <a:r>
                  <a:rPr lang="en-US" altLang="zh-TW" dirty="0" smtClean="0"/>
                  <a:t>needed </a:t>
                </a:r>
                <a:r>
                  <a:rPr lang="en-US" altLang="zh-TW" dirty="0"/>
                  <a:t>to read a </a:t>
                </a:r>
                <a:r>
                  <a:rPr lang="en-US" altLang="zh-TW" dirty="0" smtClean="0"/>
                  <a:t>file.</a:t>
                </a:r>
              </a:p>
              <a:p>
                <a:pPr lvl="1"/>
                <a:r>
                  <a:rPr lang="en-US" altLang="zh-TW" dirty="0" smtClean="0"/>
                  <a:t>A write quorum </a:t>
                </a:r>
                <a:r>
                  <a:rPr lang="en-US" altLang="zh-TW" dirty="0"/>
                  <a:t>of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w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votes </a:t>
                </a:r>
                <a:r>
                  <a:rPr lang="en-US" altLang="zh-TW" dirty="0" smtClean="0"/>
                  <a:t>is needed </a:t>
                </a:r>
                <a:r>
                  <a:rPr lang="en-US" altLang="zh-TW" dirty="0"/>
                  <a:t>to write a file</a:t>
                </a:r>
                <a:r>
                  <a:rPr lang="en-US" altLang="zh-TW" dirty="0" smtClean="0"/>
                  <a:t>.</a:t>
                </a:r>
              </a:p>
              <a:p>
                <a:pPr lvl="1"/>
                <a:r>
                  <a:rPr lang="en-US" altLang="zh-TW" dirty="0" smtClean="0"/>
                  <a:t>If the total number of votes is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v</a:t>
                </a:r>
                <a:r>
                  <a:rPr lang="en-US" altLang="zh-TW" dirty="0" smtClean="0"/>
                  <a:t>, then (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r+w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&gt; v </a:t>
                </a:r>
                <a:r>
                  <a:rPr lang="en-US" altLang="zh-TW" dirty="0" smtClean="0"/>
                  <a:t>and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 2w&gt;v</a:t>
                </a:r>
                <a:r>
                  <a:rPr lang="en-US" altLang="zh-TW" dirty="0" smtClean="0"/>
                  <a:t>) must hold.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519808"/>
                <a:ext cx="8856984" cy="4861520"/>
              </a:xfrm>
              <a:blipFill>
                <a:blip r:embed="rId2"/>
                <a:stretch>
                  <a:fillRect l="-688" t="-1003" r="-1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494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520" y="399802"/>
            <a:ext cx="864096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Stateless vs Stateful Service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568952" cy="5221560"/>
          </a:xfrm>
        </p:spPr>
        <p:txBody>
          <a:bodyPr/>
          <a:lstStyle/>
          <a:p>
            <a:r>
              <a:rPr lang="en-US" altLang="zh-TW" dirty="0" smtClean="0"/>
              <a:t>A</a:t>
            </a:r>
            <a:r>
              <a:rPr lang="en-US" altLang="zh-TW" dirty="0" smtClean="0">
                <a:solidFill>
                  <a:srgbClr val="FF0000"/>
                </a:solidFill>
              </a:rPr>
              <a:t> stateless server </a:t>
            </a:r>
            <a:r>
              <a:rPr lang="en-US" altLang="zh-TW" dirty="0" smtClean="0"/>
              <a:t>does not keep any state information of clients.</a:t>
            </a:r>
            <a:endParaRPr lang="en-US" altLang="zh-TW" dirty="0"/>
          </a:p>
          <a:p>
            <a:pPr lvl="1"/>
            <a:r>
              <a:rPr lang="en-US" altLang="zh-TW" dirty="0" smtClean="0"/>
              <a:t>This leads to self-contained requests.</a:t>
            </a:r>
            <a:endParaRPr lang="en-US" altLang="zh-TW" dirty="0"/>
          </a:p>
          <a:p>
            <a:pPr lvl="2"/>
            <a:r>
              <a:rPr lang="en-US" altLang="zh-TW" dirty="0" smtClean="0"/>
              <a:t>Each </a:t>
            </a:r>
            <a:r>
              <a:rPr lang="en-US" altLang="zh-TW" dirty="0"/>
              <a:t>request </a:t>
            </a:r>
            <a:r>
              <a:rPr lang="en-US" altLang="zh-TW" dirty="0" smtClean="0"/>
              <a:t>must identify </a:t>
            </a:r>
            <a:r>
              <a:rPr lang="en-US" altLang="zh-TW" dirty="0"/>
              <a:t>the file and position </a:t>
            </a:r>
            <a:r>
              <a:rPr lang="en-US" altLang="zh-TW" dirty="0" smtClean="0"/>
              <a:t>in the </a:t>
            </a:r>
            <a:r>
              <a:rPr lang="en-US" altLang="zh-TW" dirty="0"/>
              <a:t>file.</a:t>
            </a:r>
          </a:p>
          <a:p>
            <a:pPr lvl="2"/>
            <a:r>
              <a:rPr lang="en-US" altLang="zh-TW" dirty="0" smtClean="0"/>
              <a:t>No explicit open() and close() before actual accessing a file.</a:t>
            </a:r>
            <a:endParaRPr lang="en-US" altLang="zh-TW" dirty="0"/>
          </a:p>
          <a:p>
            <a:pPr lvl="1"/>
            <a:r>
              <a:rPr lang="en-US" altLang="zh-TW" dirty="0" smtClean="0"/>
              <a:t>Example: NFS v3 and earlier versions.</a:t>
            </a:r>
          </a:p>
          <a:p>
            <a:r>
              <a:rPr lang="en-US" altLang="zh-TW" dirty="0" smtClean="0"/>
              <a:t>A </a:t>
            </a:r>
            <a:r>
              <a:rPr lang="en-US" altLang="zh-TW" dirty="0" err="1" smtClean="0">
                <a:solidFill>
                  <a:srgbClr val="FF0000"/>
                </a:solidFill>
              </a:rPr>
              <a:t>stateful</a:t>
            </a:r>
            <a:r>
              <a:rPr lang="en-US" altLang="zh-TW" dirty="0" smtClean="0">
                <a:solidFill>
                  <a:srgbClr val="FF0000"/>
                </a:solidFill>
              </a:rPr>
              <a:t> server </a:t>
            </a:r>
            <a:r>
              <a:rPr lang="en-US" altLang="zh-TW" dirty="0"/>
              <a:t>maintains clients' state information from one access request to </a:t>
            </a:r>
            <a:r>
              <a:rPr lang="en-US" altLang="zh-TW" dirty="0" smtClean="0"/>
              <a:t>the next.</a:t>
            </a:r>
          </a:p>
          <a:p>
            <a:pPr lvl="1"/>
            <a:r>
              <a:rPr lang="en-US" altLang="zh-TW" dirty="0" smtClean="0"/>
              <a:t>A client must explicitly open a file to start an access session and close a file to end a session.</a:t>
            </a:r>
          </a:p>
          <a:p>
            <a:pPr lvl="2"/>
            <a:r>
              <a:rPr lang="en-US" altLang="zh-TW" dirty="0" smtClean="0"/>
              <a:t>The server maintains the state information of a client for each access session.</a:t>
            </a:r>
          </a:p>
          <a:p>
            <a:pPr lvl="1"/>
            <a:r>
              <a:rPr lang="en-US" altLang="zh-TW" dirty="0" smtClean="0"/>
              <a:t>Example: AFS and NFS v4.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0263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A Stateless File Server Scenario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4"/>
            <a:ext cx="8244408" cy="518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47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Stateful File Server Scenario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507386"/>
            <a:ext cx="7524328" cy="523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27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Stateless vs Stateful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640960" cy="5149552"/>
          </a:xfrm>
        </p:spPr>
        <p:txBody>
          <a:bodyPr/>
          <a:lstStyle/>
          <a:p>
            <a:r>
              <a:rPr lang="en-US" altLang="zh-TW" dirty="0" smtClean="0"/>
              <a:t>A </a:t>
            </a:r>
            <a:r>
              <a:rPr lang="en-US" altLang="zh-TW" dirty="0" err="1" smtClean="0"/>
              <a:t>stateful</a:t>
            </a:r>
            <a:r>
              <a:rPr lang="en-US" altLang="zh-TW" dirty="0" smtClean="0"/>
              <a:t> server </a:t>
            </a:r>
            <a:r>
              <a:rPr lang="en-US" altLang="zh-TW" dirty="0"/>
              <a:t>loses all </a:t>
            </a:r>
            <a:r>
              <a:rPr lang="en-US" altLang="zh-TW" dirty="0" smtClean="0"/>
              <a:t>volatile state </a:t>
            </a:r>
            <a:r>
              <a:rPr lang="en-US" altLang="zh-TW" dirty="0"/>
              <a:t>in a crash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Restore state by recovery protocol based on a dialog with clients.</a:t>
            </a:r>
          </a:p>
          <a:p>
            <a:pPr lvl="1"/>
            <a:r>
              <a:rPr lang="en-US" altLang="zh-TW" dirty="0" smtClean="0"/>
              <a:t>The server </a:t>
            </a:r>
            <a:r>
              <a:rPr lang="en-US" altLang="zh-TW" dirty="0"/>
              <a:t>needs to be aware of crashed client </a:t>
            </a:r>
            <a:r>
              <a:rPr lang="en-US" altLang="zh-TW" dirty="0" smtClean="0"/>
              <a:t>processes.</a:t>
            </a:r>
            <a:endParaRPr lang="en-US" altLang="zh-TW" dirty="0"/>
          </a:p>
          <a:p>
            <a:pPr lvl="2"/>
            <a:r>
              <a:rPr lang="en-US" altLang="zh-TW" dirty="0"/>
              <a:t>O</a:t>
            </a:r>
            <a:r>
              <a:rPr lang="en-US" altLang="zh-TW" dirty="0" smtClean="0"/>
              <a:t>rphan </a:t>
            </a:r>
            <a:r>
              <a:rPr lang="en-US" altLang="zh-TW" dirty="0"/>
              <a:t>detection and </a:t>
            </a:r>
            <a:r>
              <a:rPr lang="en-US" altLang="zh-TW" dirty="0" smtClean="0"/>
              <a:t>elimination are needed.</a:t>
            </a:r>
          </a:p>
          <a:p>
            <a:r>
              <a:rPr lang="en-US" altLang="zh-TW" dirty="0"/>
              <a:t>Some environments require stateful service.</a:t>
            </a:r>
          </a:p>
          <a:p>
            <a:pPr lvl="1"/>
            <a:r>
              <a:rPr lang="en-US" altLang="zh-TW" dirty="0" smtClean="0"/>
              <a:t>Server initiated </a:t>
            </a:r>
            <a:r>
              <a:rPr lang="en-US" altLang="zh-TW" dirty="0"/>
              <a:t>cache validation cannot provide </a:t>
            </a:r>
            <a:r>
              <a:rPr lang="en-US" altLang="zh-TW" dirty="0" smtClean="0"/>
              <a:t>stateless service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File </a:t>
            </a:r>
            <a:r>
              <a:rPr lang="en-US" altLang="zh-TW" dirty="0">
                <a:solidFill>
                  <a:srgbClr val="FF0000"/>
                </a:solidFill>
              </a:rPr>
              <a:t>locking </a:t>
            </a:r>
            <a:r>
              <a:rPr lang="en-US" altLang="zh-TW" dirty="0" smtClean="0"/>
              <a:t>needs stateful service.</a:t>
            </a:r>
          </a:p>
          <a:p>
            <a:r>
              <a:rPr lang="en-US" altLang="zh-TW" dirty="0"/>
              <a:t>F</a:t>
            </a:r>
            <a:r>
              <a:rPr lang="en-US" altLang="zh-TW" dirty="0" smtClean="0"/>
              <a:t>ailure and recovery </a:t>
            </a:r>
            <a:r>
              <a:rPr lang="en-US" altLang="zh-TW" dirty="0"/>
              <a:t>are almost </a:t>
            </a:r>
            <a:r>
              <a:rPr lang="en-US" altLang="zh-TW" dirty="0" smtClean="0"/>
              <a:t>unnoticeable in a stateless </a:t>
            </a:r>
            <a:r>
              <a:rPr lang="en-US" altLang="zh-TW" dirty="0"/>
              <a:t>server .</a:t>
            </a:r>
          </a:p>
          <a:p>
            <a:pPr lvl="1"/>
            <a:r>
              <a:rPr lang="en-US" altLang="zh-TW" dirty="0" smtClean="0"/>
              <a:t>A newly </a:t>
            </a:r>
            <a:r>
              <a:rPr lang="en-US" altLang="zh-TW" dirty="0"/>
              <a:t>restarted server </a:t>
            </a:r>
            <a:r>
              <a:rPr lang="en-US" altLang="zh-TW" dirty="0" smtClean="0"/>
              <a:t>can respond </a:t>
            </a:r>
            <a:r>
              <a:rPr lang="en-US" altLang="zh-TW" dirty="0"/>
              <a:t>to </a:t>
            </a:r>
            <a:r>
              <a:rPr lang="en-US" altLang="zh-TW" dirty="0" smtClean="0"/>
              <a:t>self-contained requests </a:t>
            </a:r>
            <a:r>
              <a:rPr lang="en-US" altLang="zh-TW" dirty="0"/>
              <a:t>without difficulty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Penalties for using the robust stateless </a:t>
            </a:r>
            <a:r>
              <a:rPr lang="en-US" altLang="zh-TW" dirty="0" smtClean="0"/>
              <a:t>service are: </a:t>
            </a:r>
            <a:endParaRPr lang="en-US" altLang="zh-TW" dirty="0"/>
          </a:p>
          <a:p>
            <a:pPr lvl="1"/>
            <a:r>
              <a:rPr lang="en-US" altLang="zh-TW" dirty="0" smtClean="0"/>
              <a:t>longer </a:t>
            </a:r>
            <a:r>
              <a:rPr lang="en-US" altLang="zh-TW" dirty="0"/>
              <a:t>request </a:t>
            </a:r>
            <a:r>
              <a:rPr lang="en-US" altLang="zh-TW" dirty="0" smtClean="0"/>
              <a:t>messages and slower </a:t>
            </a:r>
            <a:r>
              <a:rPr lang="en-US" altLang="zh-TW" dirty="0"/>
              <a:t>request processing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50756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032" y="471810"/>
            <a:ext cx="7772400" cy="868958"/>
          </a:xfrm>
        </p:spPr>
        <p:txBody>
          <a:bodyPr/>
          <a:lstStyle/>
          <a:p>
            <a:r>
              <a:rPr lang="en-US" altLang="zh-TW" dirty="0" smtClean="0"/>
              <a:t>A Simple File Service Architecture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63" y="1695194"/>
            <a:ext cx="8819526" cy="461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10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File Service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1484784"/>
            <a:ext cx="8856984" cy="5184576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Flat File Service </a:t>
            </a:r>
            <a:r>
              <a:rPr lang="en-US" altLang="zh-TW" dirty="0"/>
              <a:t>is </a:t>
            </a:r>
            <a:r>
              <a:rPr lang="en-US" altLang="zh-TW" dirty="0" smtClean="0"/>
              <a:t>handling accesses </a:t>
            </a:r>
            <a:r>
              <a:rPr lang="en-US" altLang="zh-TW" dirty="0"/>
              <a:t>on </a:t>
            </a: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file contents</a:t>
            </a:r>
            <a:r>
              <a:rPr lang="en-US" altLang="zh-TW" dirty="0" smtClean="0"/>
              <a:t>. 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Unique </a:t>
            </a:r>
            <a:r>
              <a:rPr lang="en-US" altLang="zh-TW" dirty="0">
                <a:solidFill>
                  <a:srgbClr val="FF0000"/>
                </a:solidFill>
              </a:rPr>
              <a:t>file identifiers </a:t>
            </a:r>
            <a:r>
              <a:rPr lang="en-US" altLang="zh-TW" dirty="0"/>
              <a:t>(UFIDs) are used to refer to files in all </a:t>
            </a:r>
            <a:r>
              <a:rPr lang="en-US" altLang="zh-TW" dirty="0" smtClean="0"/>
              <a:t>requests for </a:t>
            </a:r>
            <a:r>
              <a:rPr lang="en-US" altLang="zh-TW" dirty="0"/>
              <a:t>flat file service operations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Directory Service </a:t>
            </a:r>
            <a:r>
              <a:rPr lang="en-US" altLang="zh-TW" dirty="0"/>
              <a:t>provides a mapping between text names </a:t>
            </a:r>
            <a:r>
              <a:rPr lang="en-US" altLang="zh-TW" dirty="0" smtClean="0"/>
              <a:t>of files </a:t>
            </a:r>
            <a:r>
              <a:rPr lang="en-US" altLang="zh-TW" dirty="0"/>
              <a:t>and their UFIDs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The directory service provides the functions needed </a:t>
            </a:r>
            <a:endParaRPr lang="en-US" altLang="zh-TW" dirty="0" smtClean="0"/>
          </a:p>
          <a:p>
            <a:pPr lvl="2"/>
            <a:r>
              <a:rPr lang="en-US" altLang="zh-TW" dirty="0"/>
              <a:t>t</a:t>
            </a:r>
            <a:r>
              <a:rPr lang="en-US" altLang="zh-TW" dirty="0" smtClean="0"/>
              <a:t>o generate directories,</a:t>
            </a:r>
          </a:p>
          <a:p>
            <a:pPr lvl="2"/>
            <a:r>
              <a:rPr lang="en-US" altLang="zh-TW" dirty="0" smtClean="0"/>
              <a:t>to </a:t>
            </a:r>
            <a:r>
              <a:rPr lang="en-US" altLang="zh-TW" dirty="0"/>
              <a:t>add new file names to </a:t>
            </a:r>
            <a:r>
              <a:rPr lang="en-US" altLang="zh-TW" dirty="0" smtClean="0"/>
              <a:t>directories, and</a:t>
            </a:r>
          </a:p>
          <a:p>
            <a:pPr lvl="2"/>
            <a:r>
              <a:rPr lang="en-US" altLang="zh-TW" dirty="0" smtClean="0"/>
              <a:t>to </a:t>
            </a:r>
            <a:r>
              <a:rPr lang="en-US" altLang="zh-TW" dirty="0"/>
              <a:t>obtain </a:t>
            </a:r>
            <a:r>
              <a:rPr lang="en-US" altLang="zh-TW" dirty="0" smtClean="0"/>
              <a:t>UFIDs of files from their parent directories.</a:t>
            </a:r>
          </a:p>
          <a:p>
            <a:pPr lvl="1"/>
            <a:r>
              <a:rPr lang="en-US" altLang="zh-TW" dirty="0" smtClean="0"/>
              <a:t>It can be </a:t>
            </a:r>
            <a:r>
              <a:rPr lang="en-US" altLang="zh-TW" dirty="0"/>
              <a:t>a client of the flat file </a:t>
            </a:r>
            <a:r>
              <a:rPr lang="en-US" altLang="zh-TW" dirty="0" smtClean="0"/>
              <a:t>service.</a:t>
            </a:r>
          </a:p>
          <a:p>
            <a:pPr lvl="2"/>
            <a:r>
              <a:rPr lang="en-US" altLang="zh-TW" dirty="0" smtClean="0"/>
              <a:t>Directory </a:t>
            </a:r>
            <a:r>
              <a:rPr lang="en-US" altLang="zh-TW" dirty="0"/>
              <a:t>files </a:t>
            </a:r>
            <a:r>
              <a:rPr lang="en-US" altLang="zh-TW" dirty="0" smtClean="0"/>
              <a:t>may be </a:t>
            </a:r>
            <a:r>
              <a:rPr lang="en-US" altLang="zh-TW" dirty="0"/>
              <a:t>stored </a:t>
            </a:r>
            <a:r>
              <a:rPr lang="en-US" altLang="zh-TW" dirty="0" smtClean="0"/>
              <a:t>as files in </a:t>
            </a:r>
            <a:r>
              <a:rPr lang="en-US" altLang="zh-TW" dirty="0"/>
              <a:t>the flat </a:t>
            </a:r>
            <a:r>
              <a:rPr lang="en-US" altLang="zh-TW" dirty="0" smtClean="0"/>
              <a:t>file service.</a:t>
            </a:r>
          </a:p>
          <a:p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Client Module </a:t>
            </a:r>
            <a:r>
              <a:rPr lang="en-US" altLang="zh-TW" dirty="0" smtClean="0"/>
              <a:t>runs </a:t>
            </a:r>
            <a:r>
              <a:rPr lang="en-US" altLang="zh-TW" dirty="0"/>
              <a:t>in each client </a:t>
            </a:r>
            <a:r>
              <a:rPr lang="en-US" altLang="zh-TW" dirty="0" smtClean="0"/>
              <a:t>computer.</a:t>
            </a:r>
          </a:p>
          <a:p>
            <a:pPr lvl="1"/>
            <a:r>
              <a:rPr lang="en-US" altLang="zh-TW" dirty="0"/>
              <a:t>I</a:t>
            </a:r>
            <a:r>
              <a:rPr lang="en-US" altLang="zh-TW" dirty="0" smtClean="0"/>
              <a:t>t integrates and extends </a:t>
            </a:r>
            <a:r>
              <a:rPr lang="en-US" altLang="zh-TW" dirty="0"/>
              <a:t>the operations of the flat file service and the directory service under a </a:t>
            </a:r>
            <a:r>
              <a:rPr lang="en-US" altLang="zh-TW" dirty="0" smtClean="0">
                <a:solidFill>
                  <a:srgbClr val="FF0000"/>
                </a:solidFill>
              </a:rPr>
              <a:t>single API </a:t>
            </a:r>
            <a:r>
              <a:rPr lang="en-US" altLang="zh-TW" dirty="0"/>
              <a:t>that is available to user-level programs in </a:t>
            </a:r>
            <a:r>
              <a:rPr lang="en-US" altLang="zh-TW" dirty="0" smtClean="0"/>
              <a:t>client computers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6805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Flat File Service APIs</a:t>
            </a:r>
            <a:endParaRPr lang="zh-TW" altLang="en-US" dirty="0"/>
          </a:p>
        </p:txBody>
      </p:sp>
      <p:graphicFrame>
        <p:nvGraphicFramePr>
          <p:cNvPr id="6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7928423"/>
              </p:ext>
            </p:extLst>
          </p:nvPr>
        </p:nvGraphicFramePr>
        <p:xfrm>
          <a:off x="377825" y="1990432"/>
          <a:ext cx="8370639" cy="254881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98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456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UFID</a:t>
                      </a:r>
                      <a:r>
                        <a:rPr lang="en-US" altLang="zh-TW" b="1" dirty="0" smtClean="0"/>
                        <a:t> </a:t>
                      </a:r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TW" b="1" dirty="0" smtClean="0"/>
                        <a:t> Create ()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Creates a new file of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length 0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returns a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UFID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for it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data</a:t>
                      </a:r>
                      <a:r>
                        <a:rPr lang="en-US" altLang="zh-TW" b="1" dirty="0" smtClean="0"/>
                        <a:t> </a:t>
                      </a:r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 R</a:t>
                      </a:r>
                      <a:r>
                        <a:rPr lang="en-US" altLang="zh-TW" b="1" dirty="0" smtClean="0"/>
                        <a:t>ead (UFID,</a:t>
                      </a:r>
                      <a:r>
                        <a:rPr lang="en-US" altLang="zh-TW" b="1" baseline="0" dirty="0" smtClean="0"/>
                        <a:t> </a:t>
                      </a:r>
                      <a:r>
                        <a:rPr lang="en-US" altLang="zh-TW" b="1" baseline="0" dirty="0" err="1" smtClean="0">
                          <a:solidFill>
                            <a:srgbClr val="FF0000"/>
                          </a:solidFill>
                        </a:rPr>
                        <a:t>i</a:t>
                      </a:r>
                      <a:r>
                        <a:rPr lang="en-US" altLang="zh-TW" b="1" baseline="0" dirty="0" smtClean="0"/>
                        <a:t>,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altLang="zh-TW" b="1" baseline="0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Reads 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items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from file UFID starting at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item </a:t>
                      </a:r>
                      <a:r>
                        <a:rPr kumimoji="0" lang="en-US" altLang="zh-TW" sz="1800" b="1" i="0" u="none" strike="noStrike" kern="1200" baseline="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returns them into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zh-TW" altLang="en-US" b="1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Write (UFID, data, </a:t>
                      </a:r>
                      <a:r>
                        <a:rPr lang="en-US" altLang="zh-TW" b="1" dirty="0" err="1" smtClean="0"/>
                        <a:t>i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Writes data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file UFID starting at item </a:t>
                      </a:r>
                      <a:r>
                        <a:rPr kumimoji="0" lang="en-US" altLang="zh-TW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232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Delete (UFID)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Removes file UFID from the file store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baseline="0" dirty="0" err="1" smtClean="0">
                          <a:solidFill>
                            <a:srgbClr val="FF0000"/>
                          </a:solidFill>
                        </a:rPr>
                        <a:t>attr</a:t>
                      </a:r>
                      <a:r>
                        <a:rPr lang="en-US" altLang="zh-TW" b="1" baseline="0" dirty="0" smtClean="0"/>
                        <a:t> </a:t>
                      </a:r>
                      <a:r>
                        <a:rPr lang="en-US" altLang="zh-TW" b="1" baseline="0" dirty="0" smtClean="0">
                          <a:sym typeface="Wingdings" panose="05000000000000000000" pitchFamily="2" charset="2"/>
                        </a:rPr>
                        <a:t> </a:t>
                      </a:r>
                      <a:r>
                        <a:rPr lang="en-US" altLang="zh-TW" b="1" baseline="0" dirty="0" err="1" smtClean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altLang="zh-TW" b="1" baseline="0" dirty="0" err="1" smtClean="0"/>
                        <a:t>etAttribute</a:t>
                      </a:r>
                      <a:r>
                        <a:rPr lang="en-US" altLang="zh-TW" b="1" baseline="0" dirty="0" smtClean="0"/>
                        <a:t> (UFID)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file attributes of file UFID into </a:t>
                      </a:r>
                      <a:r>
                        <a:rPr kumimoji="0" lang="en-US" altLang="zh-TW" sz="1800" b="1" i="0" u="none" strike="noStrike" kern="1200" baseline="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attr</a:t>
                      </a:r>
                      <a:endParaRPr lang="en-US" altLang="zh-TW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SetAttribute</a:t>
                      </a:r>
                      <a:r>
                        <a:rPr lang="en-US" altLang="zh-TW" b="1" dirty="0" smtClean="0"/>
                        <a:t> (UFID, </a:t>
                      </a:r>
                      <a:r>
                        <a:rPr lang="en-US" altLang="zh-TW" b="1" dirty="0" err="1" smtClean="0"/>
                        <a:t>attr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Sets the file attributes of file UFID from </a:t>
                      </a:r>
                      <a:r>
                        <a:rPr kumimoji="0" lang="en-US" altLang="zh-TW" sz="1800" b="1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attr</a:t>
                      </a:r>
                      <a:endParaRPr lang="en-US" altLang="zh-TW" b="1" dirty="0" smtClean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24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Directory Service APIs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522423"/>
              </p:ext>
            </p:extLst>
          </p:nvPr>
        </p:nvGraphicFramePr>
        <p:xfrm>
          <a:off x="389691" y="2060848"/>
          <a:ext cx="8370639" cy="257349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98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456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UFID</a:t>
                      </a:r>
                      <a:r>
                        <a:rPr lang="en-US" altLang="zh-TW" b="1" dirty="0" smtClean="0"/>
                        <a:t> </a:t>
                      </a:r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TW" b="1" dirty="0" smtClean="0"/>
                        <a:t> LookUp (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dir</a:t>
                      </a:r>
                      <a:r>
                        <a:rPr lang="en-US" altLang="zh-TW" b="1" dirty="0" smtClean="0"/>
                        <a:t>,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name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Locates the filename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the directory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returns its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UFID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AddName</a:t>
                      </a:r>
                      <a:r>
                        <a:rPr lang="en-US" altLang="zh-TW" b="1" dirty="0" smtClean="0"/>
                        <a:t> (dir, name, UFID</a:t>
                      </a:r>
                      <a:r>
                        <a:rPr lang="en-US" altLang="zh-TW" b="1" baseline="0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Adds the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(name, UFID)</a:t>
                      </a:r>
                      <a:r>
                        <a:rPr kumimoji="0" lang="en-US" altLang="zh-TW" sz="1800" b="1" i="1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the directory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updates the attributes of file UFID if necessary.</a:t>
                      </a:r>
                      <a:endParaRPr lang="zh-TW" altLang="en-US" b="1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RemoveName (dir, name)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Removes the entry containing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from the directory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dir.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256">
                <a:tc>
                  <a:txBody>
                    <a:bodyPr/>
                    <a:lstStyle/>
                    <a:p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NameSeq</a:t>
                      </a:r>
                      <a:r>
                        <a:rPr lang="en-US" altLang="zh-TW" b="1" dirty="0" smtClean="0"/>
                        <a:t> </a:t>
                      </a:r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 </a:t>
                      </a:r>
                    </a:p>
                    <a:p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       F</a:t>
                      </a:r>
                      <a:r>
                        <a:rPr lang="en-US" altLang="zh-TW" b="1" dirty="0" smtClean="0"/>
                        <a:t>indNames (dir,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pattern</a:t>
                      </a:r>
                      <a:r>
                        <a:rPr lang="en-US" altLang="zh-TW" b="1" dirty="0" smtClean="0"/>
                        <a:t>)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all the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filenames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 the directory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dir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that match the regular expression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into 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NameSeq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42502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Network File System (NFS)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84784"/>
            <a:ext cx="8100392" cy="5193109"/>
          </a:xfrm>
          <a:prstGeom prst="rect">
            <a:avLst/>
          </a:prstGeom>
          <a:solidFill>
            <a:srgbClr val="66CCFF"/>
          </a:solidFill>
        </p:spPr>
      </p:pic>
      <p:sp>
        <p:nvSpPr>
          <p:cNvPr id="4" name="矩形 3"/>
          <p:cNvSpPr/>
          <p:nvPr/>
        </p:nvSpPr>
        <p:spPr>
          <a:xfrm>
            <a:off x="6228184" y="4869160"/>
            <a:ext cx="648072" cy="216024"/>
          </a:xfrm>
          <a:prstGeom prst="rect">
            <a:avLst/>
          </a:prstGeom>
          <a:solidFill>
            <a:srgbClr val="66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server</a:t>
            </a:r>
            <a:endParaRPr lang="en-US" sz="1600" dirty="0"/>
          </a:p>
        </p:txBody>
      </p:sp>
      <p:cxnSp>
        <p:nvCxnSpPr>
          <p:cNvPr id="7" name="直線單箭頭接點 6"/>
          <p:cNvCxnSpPr/>
          <p:nvPr/>
        </p:nvCxnSpPr>
        <p:spPr>
          <a:xfrm>
            <a:off x="7884368" y="4149080"/>
            <a:ext cx="0" cy="288032"/>
          </a:xfrm>
          <a:prstGeom prst="straightConnector1">
            <a:avLst/>
          </a:prstGeom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/>
          <p:cNvCxnSpPr/>
          <p:nvPr/>
        </p:nvCxnSpPr>
        <p:spPr>
          <a:xfrm>
            <a:off x="7884368" y="4149080"/>
            <a:ext cx="0" cy="3600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305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>
            <a:noAutofit/>
          </a:bodyPr>
          <a:lstStyle/>
          <a:p>
            <a:pPr algn="ctr"/>
            <a:r>
              <a:rPr lang="en-US" altLang="zh-TW" dirty="0" smtClean="0"/>
              <a:t>Subset of NFS v3 APIs   (1) 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422507"/>
              </p:ext>
            </p:extLst>
          </p:nvPr>
        </p:nvGraphicFramePr>
        <p:xfrm>
          <a:off x="251521" y="1484784"/>
          <a:ext cx="8640960" cy="523910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19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21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lookup (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dirfh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name</a:t>
                      </a:r>
                      <a:r>
                        <a:rPr lang="en-US" altLang="zh-TW" b="0" dirty="0" smtClean="0"/>
                        <a:t>)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</a:t>
                      </a:r>
                    </a:p>
                    <a:p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          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fh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en-US" altLang="zh-TW" b="0" baseline="0" dirty="0" smtClean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zh-TW" b="0" baseline="0" dirty="0" err="1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attr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Returns file handle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and attributes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attr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for the file 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the directory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en-US" altLang="zh-TW" sz="1800" b="0" dirty="0">
                        <a:solidFill>
                          <a:srgbClr val="FF0000"/>
                        </a:solidFill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create (</a:t>
                      </a:r>
                      <a:r>
                        <a:rPr lang="en-US" altLang="zh-TW" b="0" dirty="0" err="1" smtClean="0"/>
                        <a:t>dirfh</a:t>
                      </a:r>
                      <a:r>
                        <a:rPr lang="en-US" altLang="zh-TW" b="0" dirty="0" smtClean="0"/>
                        <a:t>, name, </a:t>
                      </a:r>
                      <a:r>
                        <a:rPr lang="en-US" altLang="zh-TW" b="0" dirty="0" err="1" smtClean="0"/>
                        <a:t>attr</a:t>
                      </a:r>
                      <a:r>
                        <a:rPr lang="en-US" altLang="zh-TW" b="0" dirty="0" smtClean="0"/>
                        <a:t>) </a:t>
                      </a:r>
                    </a:p>
                    <a:p>
                      <a:r>
                        <a:rPr lang="en-US" altLang="zh-TW" b="0" dirty="0" smtClean="0"/>
                        <a:t>    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en-US" altLang="zh-TW" b="0" dirty="0" err="1" smtClean="0">
                          <a:sym typeface="Wingdings" panose="05000000000000000000" pitchFamily="2" charset="2"/>
                        </a:rPr>
                        <a:t>fh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newattr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Creates a new file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directory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with attributes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attr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and returns the new file handle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and new attributes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newattr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en-US" altLang="zh-TW" sz="1800" b="0" dirty="0">
                        <a:solidFill>
                          <a:srgbClr val="FF0000"/>
                        </a:solidFill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remove (</a:t>
                      </a:r>
                      <a:r>
                        <a:rPr lang="en-US" altLang="zh-TW" b="0" dirty="0" err="1" smtClean="0"/>
                        <a:t>dirfh</a:t>
                      </a:r>
                      <a:r>
                        <a:rPr lang="en-US" altLang="zh-TW" b="0" dirty="0" smtClean="0"/>
                        <a:t>, name)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Removes file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from directory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zh-TW" altLang="en-US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getattr</a:t>
                      </a:r>
                      <a:r>
                        <a:rPr lang="en-US" altLang="zh-TW" b="0" dirty="0" smtClean="0"/>
                        <a:t> (</a:t>
                      </a:r>
                      <a:r>
                        <a:rPr lang="en-US" altLang="zh-TW" b="0" dirty="0" err="1" smtClean="0"/>
                        <a:t>fh</a:t>
                      </a:r>
                      <a:r>
                        <a:rPr lang="en-US" altLang="zh-TW" b="0" baseline="0" dirty="0" smtClean="0"/>
                        <a:t>) </a:t>
                      </a:r>
                      <a:r>
                        <a:rPr lang="en-US" altLang="zh-TW" b="0" baseline="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b="0" baseline="0" dirty="0" err="1" smtClean="0">
                          <a:sym typeface="Wingdings" panose="05000000000000000000" pitchFamily="2" charset="2"/>
                        </a:rPr>
                        <a:t>attr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Returns file attributes of file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into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attr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zh-TW" altLang="en-US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setattr</a:t>
                      </a:r>
                      <a:r>
                        <a:rPr lang="en-US" altLang="zh-TW" b="0" dirty="0" smtClean="0"/>
                        <a:t> (</a:t>
                      </a:r>
                      <a:r>
                        <a:rPr lang="en-US" altLang="zh-TW" b="0" dirty="0" err="1" smtClean="0"/>
                        <a:t>fh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err="1" smtClean="0"/>
                        <a:t>attr</a:t>
                      </a:r>
                      <a:r>
                        <a:rPr lang="en-US" altLang="zh-TW" b="0" dirty="0" smtClean="0"/>
                        <a:t>)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newattr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Sets file attributes of file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fh</a:t>
                      </a:r>
                      <a:r>
                        <a:rPr lang="en-US" altLang="zh-TW" b="0" dirty="0" smtClean="0"/>
                        <a:t> by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attr</a:t>
                      </a:r>
                      <a:r>
                        <a:rPr lang="en-US" altLang="zh-TW" b="0" dirty="0" smtClean="0"/>
                        <a:t> and returns t</a:t>
                      </a:r>
                      <a:r>
                        <a:rPr lang="en-US" altLang="zh-TW" b="0" baseline="0" dirty="0" smtClean="0"/>
                        <a:t>he new file attributes into </a:t>
                      </a:r>
                      <a:r>
                        <a:rPr lang="en-US" altLang="zh-TW" b="0" baseline="0" dirty="0" err="1" smtClean="0">
                          <a:solidFill>
                            <a:srgbClr val="FF0000"/>
                          </a:solidFill>
                        </a:rPr>
                        <a:t>newattr</a:t>
                      </a:r>
                      <a:r>
                        <a:rPr lang="en-US" altLang="zh-TW" b="0" baseline="0" dirty="0" smtClean="0"/>
                        <a:t>.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baseline="0" dirty="0" smtClean="0"/>
                        <a:t>read (</a:t>
                      </a:r>
                      <a:r>
                        <a:rPr lang="en-US" altLang="zh-TW" b="0" baseline="0" dirty="0" err="1" smtClean="0"/>
                        <a:t>fh</a:t>
                      </a:r>
                      <a:r>
                        <a:rPr lang="en-US" altLang="zh-TW" b="0" baseline="0" dirty="0" smtClean="0"/>
                        <a:t>, </a:t>
                      </a:r>
                      <a:r>
                        <a:rPr lang="en-US" altLang="zh-TW" b="0" baseline="0" dirty="0" smtClean="0">
                          <a:solidFill>
                            <a:srgbClr val="FF0000"/>
                          </a:solidFill>
                        </a:rPr>
                        <a:t>offset, count</a:t>
                      </a:r>
                      <a:r>
                        <a:rPr lang="en-US" altLang="zh-TW" b="0" baseline="0" dirty="0" smtClean="0"/>
                        <a:t>) </a:t>
                      </a:r>
                    </a:p>
                    <a:p>
                      <a:r>
                        <a:rPr lang="en-US" altLang="zh-TW" b="0" baseline="0" dirty="0" smtClean="0">
                          <a:sym typeface="Wingdings" panose="05000000000000000000" pitchFamily="2" charset="2"/>
                        </a:rPr>
                        <a:t>    </a:t>
                      </a:r>
                      <a:r>
                        <a:rPr lang="en-US" altLang="zh-TW" b="0" dirty="0" smtClean="0"/>
                        <a:t> </a:t>
                      </a:r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</a:rPr>
                        <a:t>attr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data</a:t>
                      </a:r>
                      <a:r>
                        <a:rPr lang="en-US" altLang="zh-TW" b="0" dirty="0" smtClean="0"/>
                        <a:t> 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Returns up to 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count 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bytes of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data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from the file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starting at 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offset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r>
                        <a:rPr lang="en-US" altLang="zh-TW" sz="1800" b="0" i="0" baseline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Also returns the new file attributes </a:t>
                      </a:r>
                      <a:r>
                        <a:rPr lang="en-US" altLang="zh-TW" sz="1800" b="0" i="0" baseline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attr</a:t>
                      </a:r>
                      <a:r>
                        <a:rPr lang="en-US" altLang="zh-TW" sz="1800" b="0" i="0" baseline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zh-TW" altLang="en-US" b="0" i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write (</a:t>
                      </a:r>
                      <a:r>
                        <a:rPr lang="en-US" altLang="zh-TW" b="0" dirty="0" err="1" smtClean="0"/>
                        <a:t>fh</a:t>
                      </a:r>
                      <a:r>
                        <a:rPr lang="en-US" altLang="zh-TW" b="0" dirty="0" smtClean="0"/>
                        <a:t>, offset, count, </a:t>
                      </a:r>
                    </a:p>
                    <a:p>
                      <a:r>
                        <a:rPr lang="en-US" altLang="zh-TW" b="0" dirty="0" smtClean="0"/>
                        <a:t>         data)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b="0" dirty="0" err="1" smtClean="0">
                          <a:sym typeface="Wingdings" panose="05000000000000000000" pitchFamily="2" charset="2"/>
                        </a:rPr>
                        <a:t>attr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Writes 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count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bytes of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data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to the file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starting at 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offset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 Returns the new file attributes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attr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baseline="0" dirty="0" smtClean="0"/>
                        <a:t>rename (</a:t>
                      </a:r>
                      <a:r>
                        <a:rPr lang="en-US" altLang="zh-TW" b="0" baseline="0" dirty="0" err="1" smtClean="0"/>
                        <a:t>dirfh</a:t>
                      </a:r>
                      <a:r>
                        <a:rPr lang="en-US" altLang="zh-TW" b="0" baseline="0" dirty="0" smtClean="0"/>
                        <a:t>, name, </a:t>
                      </a:r>
                    </a:p>
                    <a:p>
                      <a:r>
                        <a:rPr lang="en-US" altLang="zh-TW" b="0" baseline="0" dirty="0" smtClean="0"/>
                        <a:t>             </a:t>
                      </a:r>
                      <a:r>
                        <a:rPr lang="en-US" altLang="zh-TW" b="0" baseline="0" dirty="0" err="1" smtClean="0">
                          <a:solidFill>
                            <a:srgbClr val="FF0000"/>
                          </a:solidFill>
                        </a:rPr>
                        <a:t>todirfh</a:t>
                      </a:r>
                      <a:r>
                        <a:rPr lang="en-US" altLang="zh-TW" b="0" baseline="0" dirty="0" smtClean="0"/>
                        <a:t>, </a:t>
                      </a:r>
                      <a:r>
                        <a:rPr lang="en-US" altLang="zh-TW" b="0" baseline="0" dirty="0" err="1" smtClean="0">
                          <a:solidFill>
                            <a:srgbClr val="FF0000"/>
                          </a:solidFill>
                        </a:rPr>
                        <a:t>toname</a:t>
                      </a:r>
                      <a:r>
                        <a:rPr lang="en-US" altLang="zh-TW" b="0" baseline="0" dirty="0" smtClean="0"/>
                        <a:t>)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Changes the name of file </a:t>
                      </a:r>
                      <a:r>
                        <a:rPr lang="en-US" altLang="zh-TW" sz="1800" b="0" i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directory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to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toname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directory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todirfh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6946">
                <a:tc>
                  <a:txBody>
                    <a:bodyPr/>
                    <a:lstStyle/>
                    <a:p>
                      <a:r>
                        <a:rPr lang="en-US" altLang="zh-TW" b="0" baseline="0" dirty="0" smtClean="0"/>
                        <a:t>link (</a:t>
                      </a:r>
                      <a:r>
                        <a:rPr lang="en-US" altLang="zh-TW" b="0" baseline="0" dirty="0" err="1" smtClean="0">
                          <a:solidFill>
                            <a:srgbClr val="FF0000"/>
                          </a:solidFill>
                        </a:rPr>
                        <a:t>newdirfh</a:t>
                      </a:r>
                      <a:r>
                        <a:rPr lang="en-US" altLang="zh-TW" b="0" baseline="0" dirty="0" smtClean="0"/>
                        <a:t>, </a:t>
                      </a:r>
                      <a:r>
                        <a:rPr lang="en-US" altLang="zh-TW" b="0" baseline="0" dirty="0" err="1" smtClean="0">
                          <a:solidFill>
                            <a:srgbClr val="FF0000"/>
                          </a:solidFill>
                        </a:rPr>
                        <a:t>newname</a:t>
                      </a:r>
                      <a:r>
                        <a:rPr lang="en-US" altLang="zh-TW" b="0" baseline="0" dirty="0" smtClean="0"/>
                        <a:t>,</a:t>
                      </a:r>
                    </a:p>
                    <a:p>
                      <a:r>
                        <a:rPr lang="en-US" altLang="zh-TW" b="0" baseline="0" dirty="0" smtClean="0"/>
                        <a:t>       </a:t>
                      </a:r>
                      <a:r>
                        <a:rPr lang="en-US" altLang="zh-TW" b="0" baseline="0" dirty="0" err="1" smtClean="0"/>
                        <a:t>dirfh</a:t>
                      </a:r>
                      <a:r>
                        <a:rPr lang="en-US" altLang="zh-TW" b="0" baseline="0" dirty="0" smtClean="0"/>
                        <a:t>, name)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Creates an entry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the directory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which refers to the file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the directory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  <a:endParaRPr lang="en-US" altLang="zh-TW" sz="1800" b="0" dirty="0">
                        <a:solidFill>
                          <a:schemeClr val="tx1"/>
                        </a:solidFill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38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Subset of NFS v3 APIs</a:t>
            </a:r>
            <a:r>
              <a:rPr lang="en-US" altLang="zh-TW" dirty="0"/>
              <a:t> </a:t>
            </a:r>
            <a:r>
              <a:rPr lang="en-US" altLang="zh-TW" dirty="0" smtClean="0"/>
              <a:t> (2)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063"/>
              </p:ext>
            </p:extLst>
          </p:nvPr>
        </p:nvGraphicFramePr>
        <p:xfrm>
          <a:off x="107504" y="1541766"/>
          <a:ext cx="8928991" cy="4709258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symlink</a:t>
                      </a:r>
                      <a:r>
                        <a:rPr lang="en-US" altLang="zh-TW" b="0" dirty="0" smtClean="0"/>
                        <a:t> (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newdirfh</a:t>
                      </a:r>
                      <a:r>
                        <a:rPr lang="en-US" altLang="zh-TW" b="0" dirty="0" smtClean="0"/>
                        <a:t>, </a:t>
                      </a:r>
                    </a:p>
                    <a:p>
                      <a:r>
                        <a:rPr lang="en-US" altLang="zh-TW" b="0" dirty="0" smtClean="0"/>
                        <a:t>       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newname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string</a:t>
                      </a:r>
                      <a:r>
                        <a:rPr lang="en-US" altLang="zh-TW" b="0" dirty="0" smtClean="0"/>
                        <a:t>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Creates an entry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the directory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of type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symbolic link 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with the value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string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 The server creates a symbolic link file to hold the string.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readlink</a:t>
                      </a:r>
                      <a:r>
                        <a:rPr lang="en-US" altLang="zh-TW" b="0" dirty="0" smtClean="0"/>
                        <a:t> (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fh</a:t>
                      </a:r>
                      <a:r>
                        <a:rPr lang="en-US" altLang="zh-TW" b="0" dirty="0" smtClean="0"/>
                        <a:t>)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 string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Returns the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string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stored in the symbolic link file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makedir</a:t>
                      </a:r>
                      <a:r>
                        <a:rPr lang="en-US" altLang="zh-TW" b="0" dirty="0" smtClean="0"/>
                        <a:t> (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dirfh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name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attr</a:t>
                      </a:r>
                      <a:r>
                        <a:rPr lang="en-US" altLang="zh-TW" b="0" dirty="0" smtClean="0"/>
                        <a:t>)</a:t>
                      </a:r>
                    </a:p>
                    <a:p>
                      <a:r>
                        <a:rPr lang="en-US" altLang="zh-TW" b="0" dirty="0" smtClean="0"/>
                        <a:t>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b="0" dirty="0" err="1" smtClean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newdirfh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  <a:sym typeface="Wingdings" panose="05000000000000000000" pitchFamily="2" charset="2"/>
                        </a:rPr>
                        <a:t>newattr</a:t>
                      </a:r>
                      <a:endParaRPr lang="zh-TW" alt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Creates a new directory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with attributes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attr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in the directory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and returns the new directory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and new attributes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newattr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rmdir</a:t>
                      </a:r>
                      <a:r>
                        <a:rPr lang="en-US" altLang="zh-TW" b="0" dirty="0" smtClean="0"/>
                        <a:t> (</a:t>
                      </a:r>
                      <a:r>
                        <a:rPr lang="en-US" altLang="zh-TW" b="0" dirty="0" err="1" smtClean="0"/>
                        <a:t>dirfh</a:t>
                      </a:r>
                      <a:r>
                        <a:rPr lang="en-US" altLang="zh-TW" b="0" dirty="0" smtClean="0"/>
                        <a:t>, name</a:t>
                      </a:r>
                      <a:r>
                        <a:rPr lang="en-US" altLang="zh-TW" b="0" baseline="0" dirty="0" smtClean="0"/>
                        <a:t>) </a:t>
                      </a:r>
                      <a:endParaRPr lang="zh-TW" altLang="en-US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Removes an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empty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directory </a:t>
                      </a:r>
                      <a:r>
                        <a:rPr lang="en-US" altLang="zh-TW" sz="1800" b="0" dirty="0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name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from the parent directory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dirfh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0" dirty="0" err="1" smtClean="0"/>
                        <a:t>readdir</a:t>
                      </a:r>
                      <a:r>
                        <a:rPr lang="en-US" altLang="zh-TW" b="0" dirty="0" smtClean="0"/>
                        <a:t>(</a:t>
                      </a:r>
                      <a:r>
                        <a:rPr lang="en-US" altLang="zh-TW" b="0" dirty="0" err="1" smtClean="0"/>
                        <a:t>dirfh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cookie</a:t>
                      </a:r>
                      <a:r>
                        <a:rPr lang="en-US" altLang="zh-TW" b="0" dirty="0" smtClean="0"/>
                        <a:t>,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count</a:t>
                      </a:r>
                      <a:r>
                        <a:rPr lang="en-US" altLang="zh-TW" b="0" dirty="0" smtClean="0"/>
                        <a:t>)</a:t>
                      </a:r>
                    </a:p>
                    <a:p>
                      <a:r>
                        <a:rPr lang="en-US" altLang="zh-TW" b="0" dirty="0" smtClean="0"/>
                        <a:t>       </a:t>
                      </a:r>
                      <a:r>
                        <a:rPr lang="en-US" altLang="zh-TW" b="0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entries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/>
                        <a:t>Returns up to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count</a:t>
                      </a:r>
                      <a:r>
                        <a:rPr lang="en-US" altLang="zh-TW" b="0" dirty="0" smtClean="0"/>
                        <a:t> bytes of directory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entries</a:t>
                      </a:r>
                      <a:r>
                        <a:rPr lang="en-US" altLang="zh-TW" b="0" dirty="0" smtClean="0"/>
                        <a:t> from the directory </a:t>
                      </a:r>
                      <a:r>
                        <a:rPr lang="en-US" altLang="zh-TW" b="0" dirty="0" err="1" smtClean="0">
                          <a:solidFill>
                            <a:srgbClr val="FF0000"/>
                          </a:solidFill>
                        </a:rPr>
                        <a:t>dirfh</a:t>
                      </a:r>
                      <a:r>
                        <a:rPr lang="en-US" altLang="zh-TW" b="0" dirty="0" smtClean="0"/>
                        <a:t>. Each entry contains a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file name</a:t>
                      </a:r>
                      <a:r>
                        <a:rPr lang="en-US" altLang="zh-TW" b="0" dirty="0" smtClean="0"/>
                        <a:t>, a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file handle</a:t>
                      </a:r>
                      <a:r>
                        <a:rPr lang="en-US" altLang="zh-TW" b="0" dirty="0" smtClean="0"/>
                        <a:t>, and a 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cookie </a:t>
                      </a:r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point</a:t>
                      </a:r>
                      <a:r>
                        <a:rPr lang="en-US" altLang="zh-TW" b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TW" b="0" dirty="0" smtClean="0"/>
                        <a:t>to the next directory entry. The cookie is used in subsequent </a:t>
                      </a:r>
                      <a:r>
                        <a:rPr lang="en-US" altLang="zh-TW" b="0" dirty="0" err="1" smtClean="0"/>
                        <a:t>readdir</a:t>
                      </a:r>
                      <a:r>
                        <a:rPr lang="en-US" altLang="zh-TW" b="0" dirty="0" smtClean="0"/>
                        <a:t> calls to start reading from the following</a:t>
                      </a:r>
                      <a:r>
                        <a:rPr lang="en-US" altLang="zh-TW" b="0" baseline="0" dirty="0" smtClean="0"/>
                        <a:t> entry. If the value of </a:t>
                      </a:r>
                      <a:r>
                        <a:rPr lang="en-US" altLang="zh-TW" b="0" baseline="0" dirty="0" smtClean="0">
                          <a:solidFill>
                            <a:srgbClr val="FF0000"/>
                          </a:solidFill>
                        </a:rPr>
                        <a:t>cookie is 0</a:t>
                      </a:r>
                      <a:r>
                        <a:rPr lang="en-US" altLang="zh-TW" b="0" baseline="0" dirty="0" smtClean="0"/>
                        <a:t>, reads from the </a:t>
                      </a:r>
                      <a:r>
                        <a:rPr lang="en-US" altLang="zh-TW" b="0" baseline="0" dirty="0" smtClean="0">
                          <a:solidFill>
                            <a:srgbClr val="FF0000"/>
                          </a:solidFill>
                        </a:rPr>
                        <a:t>first entry </a:t>
                      </a:r>
                      <a:r>
                        <a:rPr lang="en-US" altLang="zh-TW" b="0" baseline="0" dirty="0" smtClean="0"/>
                        <a:t>in the directory.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058">
                <a:tc>
                  <a:txBody>
                    <a:bodyPr/>
                    <a:lstStyle/>
                    <a:p>
                      <a:pPr eaLnBrk="1" hangingPunct="1"/>
                      <a:r>
                        <a:rPr lang="en-US" altLang="zh-TW" sz="1800" b="0" i="0" dirty="0" err="1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statfs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(</a:t>
                      </a:r>
                      <a:r>
                        <a:rPr lang="en-US" altLang="zh-TW" sz="1800" b="0" i="0" dirty="0" err="1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) </a:t>
                      </a:r>
                      <a:r>
                        <a:rPr lang="en-US" altLang="zh-TW" sz="1800" b="0" i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sz="1800" b="0" i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fsstats</a:t>
                      </a:r>
                      <a:endParaRPr lang="en-US" altLang="zh-TW" sz="1800" b="0" i="0" dirty="0">
                        <a:solidFill>
                          <a:srgbClr val="FF0000"/>
                        </a:solidFill>
                        <a:ea typeface="新細明體" panose="02020500000000000000" pitchFamily="18" charset="-120"/>
                        <a:cs typeface="Times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Returns file system information into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fsstats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 (such as block size, number of free blocks and so on) for the file system containing the file </a:t>
                      </a:r>
                      <a:r>
                        <a:rPr lang="en-US" altLang="zh-TW" sz="1800" b="0" dirty="0" err="1" smtClean="0">
                          <a:solidFill>
                            <a:srgbClr val="FF0000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fh</a:t>
                      </a:r>
                      <a:r>
                        <a:rPr lang="en-US" altLang="zh-TW" sz="1800" b="0" dirty="0" smtClean="0">
                          <a:solidFill>
                            <a:schemeClr val="tx1"/>
                          </a:solidFill>
                          <a:ea typeface="新細明體" panose="02020500000000000000" pitchFamily="18" charset="-120"/>
                          <a:cs typeface="Times" panose="02020603050405020304" pitchFamily="18" charset="0"/>
                        </a:rPr>
                        <a:t>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163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16" y="471810"/>
            <a:ext cx="8132440" cy="868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smtClean="0"/>
              <a:t>Remote Files Accesses on </a:t>
            </a:r>
            <a:r>
              <a:rPr lang="en-US" altLang="zh-TW" dirty="0"/>
              <a:t>an NFS </a:t>
            </a:r>
            <a:r>
              <a:rPr lang="en-US" altLang="zh-TW" dirty="0" smtClean="0"/>
              <a:t>Client</a:t>
            </a:r>
            <a:endParaRPr lang="zh-TW" altLang="en-US" dirty="0"/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467544" y="5517232"/>
            <a:ext cx="8298504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57799" bIns="0"/>
          <a:lstStyle>
            <a:lvl1pPr marL="57150"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1pPr>
            <a:lvl2pPr marL="742950" indent="-285750"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2pPr>
            <a:lvl3pPr marL="1143000" indent="-228600"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3pPr>
            <a:lvl4pPr marL="1600200" indent="-228600"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4pPr>
            <a:lvl5pPr marL="2057400" indent="-228600"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Times" panose="02020603050405020304" pitchFamily="18" charset="0"/>
                <a:ea typeface="ヒラギノ明朝 ProN W3" charset="-128"/>
                <a:sym typeface="Times" panose="02020603050405020304" pitchFamily="18" charset="0"/>
              </a:defRPr>
            </a:lvl9pPr>
          </a:lstStyle>
          <a:p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1. The file system mounted at 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</a:t>
            </a:r>
            <a:r>
              <a:rPr kumimoji="0" lang="en-US" altLang="zh-TW" sz="2000" dirty="0" err="1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usr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/students </a:t>
            </a:r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in the client is actually the sub-tree </a:t>
            </a:r>
          </a:p>
          <a:p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     located at 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/export/people </a:t>
            </a:r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in Server 1</a:t>
            </a:r>
            <a:b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</a:br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2. The file system mounted at 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</a:t>
            </a:r>
            <a:r>
              <a:rPr kumimoji="0" lang="en-US" altLang="zh-TW" sz="2000" dirty="0" err="1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usr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/staff </a:t>
            </a:r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in the client is actually the sub-tree </a:t>
            </a:r>
          </a:p>
          <a:p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     located at 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</a:t>
            </a:r>
            <a:r>
              <a:rPr kumimoji="0" lang="en-US" altLang="zh-TW" sz="2000" dirty="0" err="1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nfs</a:t>
            </a:r>
            <a:r>
              <a:rPr kumimoji="0" lang="en-US" altLang="zh-TW" sz="2000" dirty="0" smtClean="0">
                <a:solidFill>
                  <a:srgbClr val="FF0000"/>
                </a:solidFill>
                <a:ea typeface="新細明體" panose="02020500000000000000" pitchFamily="18" charset="-120"/>
                <a:cs typeface="Times" panose="02020603050405020304" pitchFamily="18" charset="0"/>
              </a:rPr>
              <a:t>/users </a:t>
            </a:r>
            <a:r>
              <a:rPr kumimoji="0" lang="en-US" altLang="zh-TW" sz="2000" dirty="0" smtClean="0">
                <a:ea typeface="新細明體" panose="02020500000000000000" pitchFamily="18" charset="-120"/>
                <a:cs typeface="Times" panose="02020603050405020304" pitchFamily="18" charset="0"/>
              </a:rPr>
              <a:t>in Server 2.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520173"/>
            <a:ext cx="7416824" cy="399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93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Pathname Translation in NFS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23528" y="1484784"/>
            <a:ext cx="864096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In </a:t>
            </a:r>
            <a:r>
              <a:rPr lang="en-US" altLang="zh-TW" dirty="0"/>
              <a:t>NFS, pathnames </a:t>
            </a:r>
            <a:r>
              <a:rPr lang="en-US" altLang="zh-TW" dirty="0" smtClean="0"/>
              <a:t>are not translated </a:t>
            </a:r>
            <a:r>
              <a:rPr lang="en-US" altLang="zh-TW" dirty="0"/>
              <a:t>at </a:t>
            </a:r>
            <a:r>
              <a:rPr lang="en-US" altLang="zh-TW" dirty="0" smtClean="0"/>
              <a:t>server nodes.</a:t>
            </a:r>
          </a:p>
          <a:p>
            <a:pPr lvl="1"/>
            <a:r>
              <a:rPr lang="en-US" altLang="zh-TW" dirty="0" smtClean="0"/>
              <a:t>Because </a:t>
            </a:r>
            <a:r>
              <a:rPr lang="en-US" altLang="zh-TW" dirty="0"/>
              <a:t>the name may cross a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>
                <a:solidFill>
                  <a:srgbClr val="FF0000"/>
                </a:solidFill>
              </a:rPr>
              <a:t>mount point</a:t>
            </a:r>
            <a:r>
              <a:rPr lang="en-US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 </a:t>
            </a:r>
            <a:r>
              <a:rPr lang="en-US" altLang="zh-TW" dirty="0"/>
              <a:t>at the </a:t>
            </a:r>
            <a:r>
              <a:rPr lang="en-US" altLang="zh-TW" dirty="0" smtClean="0"/>
              <a:t>client. </a:t>
            </a:r>
          </a:p>
          <a:p>
            <a:pPr lvl="1"/>
            <a:r>
              <a:rPr lang="en-US" altLang="zh-TW" dirty="0" smtClean="0"/>
              <a:t>Directories </a:t>
            </a:r>
            <a:r>
              <a:rPr lang="en-US" altLang="zh-TW" dirty="0"/>
              <a:t>holding different parts of a multi-part name </a:t>
            </a:r>
            <a:r>
              <a:rPr lang="en-US" altLang="zh-TW" dirty="0" smtClean="0"/>
              <a:t>may reside </a:t>
            </a:r>
            <a:r>
              <a:rPr lang="en-US" altLang="zh-TW" dirty="0"/>
              <a:t>in </a:t>
            </a:r>
            <a:r>
              <a:rPr lang="en-US" altLang="zh-TW" dirty="0" smtClean="0"/>
              <a:t>file systems </a:t>
            </a:r>
            <a:r>
              <a:rPr lang="en-US" altLang="zh-TW" dirty="0"/>
              <a:t>at different servers. </a:t>
            </a:r>
            <a:endParaRPr lang="en-US" altLang="zh-TW" dirty="0" smtClean="0"/>
          </a:p>
          <a:p>
            <a:r>
              <a:rPr lang="en-US" altLang="zh-TW" dirty="0" smtClean="0"/>
              <a:t>Pathnames are translated in </a:t>
            </a:r>
            <a:r>
              <a:rPr lang="en-US" altLang="zh-TW" dirty="0"/>
              <a:t>an </a:t>
            </a:r>
            <a:r>
              <a:rPr lang="en-US" altLang="zh-TW" dirty="0">
                <a:solidFill>
                  <a:srgbClr val="FF0000"/>
                </a:solidFill>
              </a:rPr>
              <a:t>iterative</a:t>
            </a:r>
            <a:r>
              <a:rPr lang="en-US" altLang="zh-TW" dirty="0"/>
              <a:t> manner by the client.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Each name that </a:t>
            </a:r>
            <a:r>
              <a:rPr lang="en-US" altLang="zh-TW" dirty="0"/>
              <a:t>refers to </a:t>
            </a:r>
            <a:r>
              <a:rPr lang="en-US" altLang="zh-TW" dirty="0" smtClean="0"/>
              <a:t>a remote-mounted </a:t>
            </a:r>
            <a:r>
              <a:rPr lang="en-US" altLang="zh-TW" dirty="0"/>
              <a:t>directory is translated to a file handle using a </a:t>
            </a:r>
            <a:r>
              <a:rPr lang="en-US" altLang="zh-TW" dirty="0">
                <a:solidFill>
                  <a:srgbClr val="FF0000"/>
                </a:solidFill>
              </a:rPr>
              <a:t>separate lookup </a:t>
            </a:r>
            <a:r>
              <a:rPr lang="en-US" altLang="zh-TW" dirty="0" smtClean="0">
                <a:solidFill>
                  <a:srgbClr val="FF0000"/>
                </a:solidFill>
              </a:rPr>
              <a:t>request </a:t>
            </a:r>
            <a:r>
              <a:rPr lang="en-US" altLang="zh-TW" dirty="0" smtClean="0"/>
              <a:t>to </a:t>
            </a:r>
            <a:r>
              <a:rPr lang="en-US" altLang="zh-TW" dirty="0"/>
              <a:t>the remote server. </a:t>
            </a:r>
            <a:endParaRPr lang="en-US" altLang="zh-TW" dirty="0" smtClean="0"/>
          </a:p>
          <a:p>
            <a:pPr lvl="2"/>
            <a:r>
              <a:rPr lang="en-US" altLang="zh-TW" dirty="0"/>
              <a:t>The lookup operation looks for a single part of a pathname in a given directory </a:t>
            </a:r>
            <a:r>
              <a:rPr lang="en-US" altLang="zh-TW" dirty="0" smtClean="0"/>
              <a:t>and returns </a:t>
            </a:r>
            <a:r>
              <a:rPr lang="en-US" altLang="zh-TW" dirty="0"/>
              <a:t>the corresponding file handle and file attributes.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file handle returned in </a:t>
            </a:r>
            <a:r>
              <a:rPr lang="en-US" altLang="zh-TW" dirty="0" smtClean="0"/>
              <a:t>the previous </a:t>
            </a:r>
            <a:r>
              <a:rPr lang="en-US" altLang="zh-TW" dirty="0"/>
              <a:t>step is used as a parameter in the next lookup step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Caching of the results of each step in </a:t>
            </a:r>
            <a:r>
              <a:rPr lang="en-US" altLang="zh-TW" dirty="0" smtClean="0"/>
              <a:t>pathname translations can compensate the </a:t>
            </a:r>
            <a:r>
              <a:rPr lang="en-US" altLang="zh-TW" dirty="0"/>
              <a:t>inefficiency of this </a:t>
            </a:r>
            <a:r>
              <a:rPr lang="en-US" altLang="zh-TW" dirty="0" smtClean="0"/>
              <a:t>iterative process.</a:t>
            </a:r>
          </a:p>
          <a:p>
            <a:pPr lvl="1"/>
            <a:r>
              <a:rPr lang="en-US" altLang="zh-TW" dirty="0" smtClean="0"/>
              <a:t>Due to locality </a:t>
            </a:r>
            <a:r>
              <a:rPr lang="en-US" altLang="zh-TW" dirty="0"/>
              <a:t>of reference to files and </a:t>
            </a:r>
            <a:r>
              <a:rPr lang="en-US" altLang="zh-TW" dirty="0" smtClean="0"/>
              <a:t>directories, </a:t>
            </a:r>
            <a:r>
              <a:rPr lang="en-US" altLang="zh-TW" dirty="0"/>
              <a:t>users and programs typically access files </a:t>
            </a:r>
            <a:r>
              <a:rPr lang="en-US" altLang="zh-TW" dirty="0" smtClean="0"/>
              <a:t>in only a </a:t>
            </a:r>
            <a:r>
              <a:rPr lang="en-US" altLang="zh-TW" dirty="0"/>
              <a:t>small number of directories.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285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Server Caching in NFS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484784"/>
            <a:ext cx="8784976" cy="5184576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/>
              <a:t>Caching is used in a NFS server for both read and write operations.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Read-ahead</a:t>
            </a:r>
            <a:r>
              <a:rPr lang="en-US" altLang="zh-TW" dirty="0" smtClean="0"/>
              <a:t> anticipates </a:t>
            </a:r>
            <a:r>
              <a:rPr lang="en-US" altLang="zh-TW" dirty="0"/>
              <a:t>read accesses and fetches the pages following those that have most </a:t>
            </a:r>
            <a:r>
              <a:rPr lang="en-US" altLang="zh-TW" dirty="0" smtClean="0"/>
              <a:t>recently been read.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D</a:t>
            </a:r>
            <a:r>
              <a:rPr lang="en-US" altLang="zh-TW" dirty="0" smtClean="0">
                <a:solidFill>
                  <a:srgbClr val="FF0000"/>
                </a:solidFill>
              </a:rPr>
              <a:t>elayed-write</a:t>
            </a:r>
            <a:r>
              <a:rPr lang="en-US" altLang="zh-TW" dirty="0" smtClean="0"/>
              <a:t> optimizes writes by holding updated contents in the </a:t>
            </a:r>
            <a:r>
              <a:rPr lang="en-US" altLang="zh-TW" dirty="0" smtClean="0">
                <a:solidFill>
                  <a:srgbClr val="FF0000"/>
                </a:solidFill>
              </a:rPr>
              <a:t>server cache </a:t>
            </a:r>
            <a:r>
              <a:rPr lang="en-US" altLang="zh-TW" dirty="0" smtClean="0"/>
              <a:t>as long as possible.</a:t>
            </a:r>
          </a:p>
          <a:p>
            <a:pPr lvl="2"/>
            <a:r>
              <a:rPr lang="en-US" altLang="zh-TW" dirty="0" smtClean="0"/>
              <a:t>However, clients must </a:t>
            </a:r>
            <a:r>
              <a:rPr lang="en-US" altLang="zh-TW" dirty="0"/>
              <a:t>be </a:t>
            </a:r>
            <a:r>
              <a:rPr lang="en-US" altLang="zh-TW" dirty="0" smtClean="0"/>
              <a:t>ensured </a:t>
            </a:r>
            <a:r>
              <a:rPr lang="en-US" altLang="zh-TW" dirty="0"/>
              <a:t>that the results of the write </a:t>
            </a:r>
            <a:r>
              <a:rPr lang="en-US" altLang="zh-TW" dirty="0" smtClean="0"/>
              <a:t>operations are </a:t>
            </a:r>
            <a:r>
              <a:rPr lang="en-US" altLang="zh-TW" dirty="0"/>
              <a:t>persistent, even when server crashes occur. </a:t>
            </a:r>
            <a:endParaRPr lang="en-US" altLang="zh-TW" dirty="0" smtClean="0"/>
          </a:p>
          <a:p>
            <a:r>
              <a:rPr lang="en-US" altLang="zh-TW" dirty="0" smtClean="0"/>
              <a:t>In the NFS v3 protocol</a:t>
            </a:r>
            <a:r>
              <a:rPr lang="en-US" altLang="zh-TW" dirty="0"/>
              <a:t>, </a:t>
            </a:r>
            <a:r>
              <a:rPr lang="en-US" altLang="zh-TW" dirty="0" smtClean="0"/>
              <a:t>the write </a:t>
            </a:r>
            <a:r>
              <a:rPr lang="en-US" altLang="zh-TW" dirty="0"/>
              <a:t>operation offers two </a:t>
            </a:r>
            <a:r>
              <a:rPr lang="en-US" altLang="zh-TW" dirty="0" smtClean="0"/>
              <a:t>options:</a:t>
            </a:r>
            <a:endParaRPr lang="en-US" altLang="zh-TW" dirty="0"/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Write-Through</a:t>
            </a:r>
            <a:r>
              <a:rPr lang="en-US" altLang="zh-TW" dirty="0" smtClean="0"/>
              <a:t> Caching) Data is stored </a:t>
            </a:r>
            <a:r>
              <a:rPr lang="en-US" altLang="zh-TW" dirty="0"/>
              <a:t>in the memory cache </a:t>
            </a:r>
            <a:r>
              <a:rPr lang="en-US" altLang="zh-TW" dirty="0" smtClean="0"/>
              <a:t>and </a:t>
            </a:r>
            <a:r>
              <a:rPr lang="en-US" altLang="zh-TW" dirty="0"/>
              <a:t>written to disk before a reply is sent to the </a:t>
            </a:r>
            <a:r>
              <a:rPr lang="en-US" altLang="zh-TW" dirty="0" smtClean="0"/>
              <a:t>client.</a:t>
            </a:r>
          </a:p>
          <a:p>
            <a:pPr lvl="2"/>
            <a:r>
              <a:rPr lang="en-US" altLang="zh-TW" dirty="0" smtClean="0"/>
              <a:t>The clients </a:t>
            </a:r>
            <a:r>
              <a:rPr lang="en-US" altLang="zh-TW" dirty="0"/>
              <a:t>can be sure that the data is stored persistently </a:t>
            </a:r>
            <a:r>
              <a:rPr lang="en-US" altLang="zh-TW" dirty="0" smtClean="0"/>
              <a:t>upon receiving the reply.</a:t>
            </a:r>
            <a:endParaRPr lang="en-US" altLang="zh-TW" dirty="0"/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Committed-Write</a:t>
            </a:r>
            <a:r>
              <a:rPr lang="en-US" altLang="zh-TW" dirty="0" smtClean="0"/>
              <a:t> Caching) Data is </a:t>
            </a:r>
            <a:r>
              <a:rPr lang="en-US" altLang="zh-TW" dirty="0"/>
              <a:t>stored only in the memory cache.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It is </a:t>
            </a:r>
            <a:r>
              <a:rPr lang="en-US" altLang="zh-TW" dirty="0"/>
              <a:t>written </a:t>
            </a:r>
            <a:r>
              <a:rPr lang="en-US" altLang="zh-TW" dirty="0" smtClean="0"/>
              <a:t>to disk </a:t>
            </a:r>
            <a:r>
              <a:rPr lang="en-US" altLang="zh-TW" dirty="0"/>
              <a:t>when a </a:t>
            </a:r>
            <a:r>
              <a:rPr lang="en-US" altLang="zh-TW" dirty="0">
                <a:solidFill>
                  <a:srgbClr val="FF0000"/>
                </a:solidFill>
              </a:rPr>
              <a:t>commit operation </a:t>
            </a:r>
            <a:r>
              <a:rPr lang="en-US" altLang="zh-TW" dirty="0"/>
              <a:t>is received for the relevant file.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client can </a:t>
            </a:r>
            <a:r>
              <a:rPr lang="en-US" altLang="zh-TW" dirty="0" smtClean="0"/>
              <a:t>be sure </a:t>
            </a:r>
            <a:r>
              <a:rPr lang="en-US" altLang="zh-TW" dirty="0"/>
              <a:t>that the data is persistently stored </a:t>
            </a:r>
            <a:r>
              <a:rPr lang="en-US" altLang="zh-TW" dirty="0" smtClean="0"/>
              <a:t>only upon receiving the reply for </a:t>
            </a:r>
            <a:r>
              <a:rPr lang="en-US" altLang="zh-TW" dirty="0"/>
              <a:t>a commit </a:t>
            </a:r>
            <a:r>
              <a:rPr lang="en-US" altLang="zh-TW" dirty="0" smtClean="0"/>
              <a:t>operation of the </a:t>
            </a:r>
            <a:r>
              <a:rPr lang="en-US" altLang="zh-TW" dirty="0"/>
              <a:t>relevant </a:t>
            </a:r>
            <a:r>
              <a:rPr lang="en-US" altLang="zh-TW" dirty="0" smtClean="0"/>
              <a:t>file. </a:t>
            </a:r>
          </a:p>
          <a:p>
            <a:pPr lvl="1"/>
            <a:r>
              <a:rPr lang="en-US" altLang="zh-TW" dirty="0" smtClean="0"/>
              <a:t>Standard </a:t>
            </a:r>
            <a:r>
              <a:rPr lang="en-US" altLang="zh-TW" dirty="0"/>
              <a:t>NFS clients use </a:t>
            </a:r>
            <a:r>
              <a:rPr lang="en-US" altLang="zh-TW" dirty="0" smtClean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r>
              <a:rPr lang="en-US" altLang="zh-TW" baseline="30000" dirty="0" smtClean="0">
                <a:solidFill>
                  <a:srgbClr val="FF0000"/>
                </a:solidFill>
              </a:rPr>
              <a:t>nd</a:t>
            </a:r>
            <a:r>
              <a:rPr lang="en-US" altLang="zh-TW" dirty="0" smtClean="0">
                <a:solidFill>
                  <a:srgbClr val="FF0000"/>
                </a:solidFill>
              </a:rPr>
              <a:t> option </a:t>
            </a:r>
            <a:r>
              <a:rPr lang="en-US" altLang="zh-TW" dirty="0" smtClean="0"/>
              <a:t>by </a:t>
            </a:r>
            <a:r>
              <a:rPr lang="en-US" altLang="zh-TW" dirty="0"/>
              <a:t>issuing a commit </a:t>
            </a:r>
            <a:r>
              <a:rPr lang="en-US" altLang="zh-TW" dirty="0" smtClean="0"/>
              <a:t>operation whenever an </a:t>
            </a:r>
            <a:r>
              <a:rPr lang="en-US" altLang="zh-TW" dirty="0" smtClean="0">
                <a:solidFill>
                  <a:srgbClr val="FF0000"/>
                </a:solidFill>
              </a:rPr>
              <a:t>open-for-write file is </a:t>
            </a:r>
            <a:r>
              <a:rPr lang="en-US" altLang="zh-TW" dirty="0">
                <a:solidFill>
                  <a:srgbClr val="FF0000"/>
                </a:solidFill>
              </a:rPr>
              <a:t>closed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 smtClean="0"/>
              <a:t>This overcomes </a:t>
            </a:r>
            <a:r>
              <a:rPr lang="en-US" altLang="zh-TW" dirty="0"/>
              <a:t>a performance bottleneck caused by the write-through </a:t>
            </a:r>
            <a:r>
              <a:rPr lang="en-US" altLang="zh-TW" dirty="0" smtClean="0"/>
              <a:t>caching </a:t>
            </a:r>
            <a:r>
              <a:rPr lang="en-US" altLang="zh-TW" dirty="0"/>
              <a:t>in servers that receive large numbers of write operations.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598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Client Caching in NFS	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784976" cy="5069160"/>
          </a:xfrm>
        </p:spPr>
        <p:txBody>
          <a:bodyPr>
            <a:normAutofit/>
          </a:bodyPr>
          <a:lstStyle/>
          <a:p>
            <a:r>
              <a:rPr lang="en-US" altLang="zh-TW" dirty="0"/>
              <a:t>The NFS client </a:t>
            </a:r>
            <a:r>
              <a:rPr lang="en-US" altLang="zh-TW" dirty="0" smtClean="0"/>
              <a:t>module can </a:t>
            </a:r>
            <a:r>
              <a:rPr lang="en-US" altLang="zh-TW" dirty="0">
                <a:solidFill>
                  <a:srgbClr val="FF0000"/>
                </a:solidFill>
              </a:rPr>
              <a:t>caches</a:t>
            </a:r>
            <a:r>
              <a:rPr lang="en-US" altLang="zh-TW" dirty="0"/>
              <a:t> the results of </a:t>
            </a:r>
            <a:r>
              <a:rPr lang="en-US" altLang="zh-TW" dirty="0">
                <a:solidFill>
                  <a:srgbClr val="FF0000"/>
                </a:solidFill>
              </a:rPr>
              <a:t>read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write</a:t>
            </a:r>
            <a:r>
              <a:rPr lang="en-US" altLang="zh-TW" dirty="0"/>
              <a:t>, </a:t>
            </a:r>
            <a:r>
              <a:rPr lang="en-US" altLang="zh-TW" dirty="0" err="1" smtClean="0">
                <a:solidFill>
                  <a:srgbClr val="FF0000"/>
                </a:solidFill>
              </a:rPr>
              <a:t>getattr</a:t>
            </a:r>
            <a:r>
              <a:rPr lang="en-US" altLang="zh-TW" dirty="0" smtClean="0"/>
              <a:t>, </a:t>
            </a:r>
            <a:r>
              <a:rPr lang="en-US" altLang="zh-TW" dirty="0" smtClean="0">
                <a:solidFill>
                  <a:srgbClr val="FF0000"/>
                </a:solidFill>
              </a:rPr>
              <a:t>lookup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err="1">
                <a:solidFill>
                  <a:srgbClr val="FF0000"/>
                </a:solidFill>
              </a:rPr>
              <a:t>readdir</a:t>
            </a:r>
            <a:r>
              <a:rPr lang="en-US" altLang="zh-TW" dirty="0"/>
              <a:t> operations </a:t>
            </a:r>
            <a:r>
              <a:rPr lang="en-US" altLang="zh-TW" dirty="0" smtClean="0"/>
              <a:t>to </a:t>
            </a:r>
            <a:r>
              <a:rPr lang="en-US" altLang="zh-TW" dirty="0"/>
              <a:t>reduce the number of requests transmitted </a:t>
            </a:r>
            <a:r>
              <a:rPr lang="en-US" altLang="zh-TW" dirty="0" smtClean="0"/>
              <a:t>to servers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However, client </a:t>
            </a:r>
            <a:r>
              <a:rPr lang="en-US" altLang="zh-TW" dirty="0"/>
              <a:t>caching </a:t>
            </a:r>
            <a:r>
              <a:rPr lang="en-US" altLang="zh-TW" dirty="0" smtClean="0"/>
              <a:t>may lead to data inconsistency.</a:t>
            </a:r>
          </a:p>
          <a:p>
            <a:pPr lvl="2"/>
            <a:r>
              <a:rPr lang="en-US" altLang="zh-TW" dirty="0" smtClean="0"/>
              <a:t>Writes </a:t>
            </a:r>
            <a:r>
              <a:rPr lang="en-US" altLang="zh-TW" dirty="0"/>
              <a:t>by a client </a:t>
            </a:r>
            <a:r>
              <a:rPr lang="en-US" altLang="zh-TW" dirty="0" smtClean="0"/>
              <a:t>may not be immediately reflected in caches </a:t>
            </a:r>
            <a:r>
              <a:rPr lang="en-US" altLang="zh-TW" dirty="0"/>
              <a:t>of </a:t>
            </a:r>
            <a:r>
              <a:rPr lang="en-US" altLang="zh-TW" dirty="0" smtClean="0"/>
              <a:t>other </a:t>
            </a:r>
            <a:r>
              <a:rPr lang="en-US" altLang="zh-TW" dirty="0"/>
              <a:t>clients.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Clients are responsible </a:t>
            </a:r>
            <a:r>
              <a:rPr lang="en-US" altLang="zh-TW" dirty="0"/>
              <a:t>for polling the server to check the </a:t>
            </a:r>
            <a:r>
              <a:rPr lang="en-US" altLang="zh-TW" dirty="0" smtClean="0"/>
              <a:t>validity </a:t>
            </a:r>
            <a:r>
              <a:rPr lang="en-US" altLang="zh-TW" dirty="0"/>
              <a:t>of the cached data that they hold.</a:t>
            </a:r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timestamp-based</a:t>
            </a:r>
            <a:r>
              <a:rPr lang="en-US" altLang="zh-TW" dirty="0"/>
              <a:t> method is used to validate cached blocks before they are used.</a:t>
            </a:r>
          </a:p>
          <a:p>
            <a:pPr lvl="1"/>
            <a:r>
              <a:rPr lang="en-US" altLang="zh-TW" dirty="0"/>
              <a:t>Each data or metadata item </a:t>
            </a:r>
            <a:r>
              <a:rPr lang="en-US" altLang="zh-TW" dirty="0" smtClean="0"/>
              <a:t>cached uses two timestamps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 err="1">
                <a:solidFill>
                  <a:srgbClr val="FF0000"/>
                </a:solidFill>
              </a:rPr>
              <a:t>Tc</a:t>
            </a:r>
            <a:r>
              <a:rPr lang="en-US" altLang="zh-TW" dirty="0"/>
              <a:t> is the time when the cache entry was </a:t>
            </a:r>
            <a:r>
              <a:rPr lang="en-US" altLang="zh-TW" dirty="0">
                <a:solidFill>
                  <a:srgbClr val="FF0000"/>
                </a:solidFill>
              </a:rPr>
              <a:t>last validated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>
                <a:solidFill>
                  <a:srgbClr val="FF0000"/>
                </a:solidFill>
              </a:rPr>
              <a:t>Tm</a:t>
            </a:r>
            <a:r>
              <a:rPr lang="en-US" altLang="zh-TW" dirty="0"/>
              <a:t> is the time when the block was </a:t>
            </a:r>
            <a:r>
              <a:rPr lang="en-US" altLang="zh-TW" dirty="0">
                <a:solidFill>
                  <a:srgbClr val="FF0000"/>
                </a:solidFill>
              </a:rPr>
              <a:t>last modified at the server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0890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Client Caching in NFS	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484784"/>
            <a:ext cx="9036496" cy="5256584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A cache entry is valid at time T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if (T-Tc) </a:t>
            </a:r>
            <a:r>
              <a:rPr lang="en-US" altLang="zh-TW" dirty="0"/>
              <a:t>is less than a </a:t>
            </a:r>
            <a:r>
              <a:rPr lang="en-US" altLang="zh-TW" dirty="0">
                <a:solidFill>
                  <a:srgbClr val="FF0000"/>
                </a:solidFill>
              </a:rPr>
              <a:t>freshness interval </a:t>
            </a:r>
            <a:r>
              <a:rPr lang="en-US" altLang="zh-TW" dirty="0" smtClean="0">
                <a:solidFill>
                  <a:srgbClr val="FF0000"/>
                </a:solidFill>
              </a:rPr>
              <a:t>t</a:t>
            </a:r>
            <a:r>
              <a:rPr lang="en-US" altLang="zh-TW" dirty="0" smtClean="0"/>
              <a:t> (predefined), </a:t>
            </a:r>
            <a:r>
              <a:rPr lang="en-US" altLang="zh-TW" dirty="0"/>
              <a:t>or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the </a:t>
            </a:r>
            <a:r>
              <a:rPr lang="en-US" altLang="zh-TW" dirty="0" smtClean="0"/>
              <a:t>Tm </a:t>
            </a:r>
            <a:r>
              <a:rPr lang="en-US" altLang="zh-TW" dirty="0"/>
              <a:t>recorded at the client matches the </a:t>
            </a:r>
            <a:r>
              <a:rPr lang="en-US" altLang="zh-TW" dirty="0" smtClean="0"/>
              <a:t>Tm </a:t>
            </a:r>
            <a:r>
              <a:rPr lang="en-US" altLang="zh-TW" dirty="0"/>
              <a:t>at </a:t>
            </a:r>
            <a:r>
              <a:rPr lang="en-US" altLang="zh-TW" dirty="0" smtClean="0"/>
              <a:t>the server. 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Validation </a:t>
            </a:r>
            <a:r>
              <a:rPr lang="en-US" altLang="zh-TW" dirty="0" smtClean="0"/>
              <a:t>condition:</a:t>
            </a:r>
            <a:r>
              <a:rPr lang="en-US" altLang="zh-TW" dirty="0" smtClean="0">
                <a:solidFill>
                  <a:srgbClr val="FF0000"/>
                </a:solidFill>
              </a:rPr>
              <a:t> (T-Tc &lt;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t) </a:t>
            </a:r>
            <a:r>
              <a:rPr lang="en-US" altLang="zh-TW" dirty="0" smtClean="0"/>
              <a:t>or</a:t>
            </a:r>
            <a:r>
              <a:rPr lang="en-US" altLang="zh-TW" dirty="0" smtClean="0">
                <a:solidFill>
                  <a:srgbClr val="FF0000"/>
                </a:solidFill>
              </a:rPr>
              <a:t> (Tm(client) == Tm(server))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smtClean="0"/>
              <a:t>value of t is determined by compromising </a:t>
            </a:r>
            <a:r>
              <a:rPr lang="en-US" altLang="zh-TW" dirty="0">
                <a:solidFill>
                  <a:srgbClr val="FF0000"/>
                </a:solidFill>
              </a:rPr>
              <a:t>consistency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efficiency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There is a </a:t>
            </a:r>
            <a:r>
              <a:rPr lang="en-US" altLang="zh-TW" dirty="0"/>
              <a:t>Tm(server</a:t>
            </a:r>
            <a:r>
              <a:rPr lang="en-US" altLang="zh-TW" dirty="0" smtClean="0"/>
              <a:t>) for each data block </a:t>
            </a:r>
            <a:r>
              <a:rPr lang="en-US" altLang="zh-TW" dirty="0"/>
              <a:t>in a </a:t>
            </a:r>
            <a:r>
              <a:rPr lang="en-US" altLang="zh-TW" dirty="0" smtClean="0"/>
              <a:t>file and the file attributes of a file also has </a:t>
            </a:r>
            <a:r>
              <a:rPr lang="en-US" altLang="zh-TW" dirty="0"/>
              <a:t>its own Tm(server</a:t>
            </a:r>
            <a:r>
              <a:rPr lang="en-US" altLang="zh-TW" dirty="0" smtClean="0"/>
              <a:t>). </a:t>
            </a:r>
          </a:p>
          <a:p>
            <a:r>
              <a:rPr lang="en-US" altLang="zh-TW" dirty="0" smtClean="0"/>
              <a:t>NFS </a:t>
            </a:r>
            <a:r>
              <a:rPr lang="en-US" altLang="zh-TW" dirty="0"/>
              <a:t>clients </a:t>
            </a:r>
            <a:r>
              <a:rPr lang="en-US" altLang="zh-TW" dirty="0" smtClean="0"/>
              <a:t>do not know whether </a:t>
            </a:r>
            <a:r>
              <a:rPr lang="en-US" altLang="zh-TW" dirty="0"/>
              <a:t>a file is being shared or </a:t>
            </a:r>
            <a:r>
              <a:rPr lang="en-US" altLang="zh-TW" dirty="0" smtClean="0"/>
              <a:t>not.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/>
              <a:t>validity check </a:t>
            </a:r>
            <a:r>
              <a:rPr lang="en-US" altLang="zh-TW" dirty="0" smtClean="0"/>
              <a:t>must be performed whenever </a:t>
            </a:r>
            <a:r>
              <a:rPr lang="en-US" altLang="zh-TW" dirty="0"/>
              <a:t>a cache entry is used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</a:rPr>
              <a:t>Getattr</a:t>
            </a:r>
            <a:r>
              <a:rPr lang="en-US" altLang="zh-TW" dirty="0" smtClean="0"/>
              <a:t> operation is used to obtain the Tm(server) of a file block.</a:t>
            </a:r>
          </a:p>
          <a:p>
            <a:r>
              <a:rPr lang="en-US" altLang="zh-TW" dirty="0" smtClean="0"/>
              <a:t>Methods for reducing </a:t>
            </a:r>
            <a:r>
              <a:rPr lang="en-US" altLang="zh-TW" dirty="0"/>
              <a:t>the traffic of </a:t>
            </a:r>
            <a:r>
              <a:rPr lang="en-US" altLang="zh-TW" dirty="0" err="1"/>
              <a:t>getattr</a:t>
            </a:r>
            <a:r>
              <a:rPr lang="en-US" altLang="zh-TW" dirty="0"/>
              <a:t> calls to the server:</a:t>
            </a:r>
          </a:p>
          <a:p>
            <a:pPr lvl="1"/>
            <a:r>
              <a:rPr lang="en-US" altLang="zh-TW" dirty="0" smtClean="0"/>
              <a:t>Upon receiving </a:t>
            </a:r>
            <a:r>
              <a:rPr lang="en-US" altLang="zh-TW" dirty="0"/>
              <a:t>a new value of </a:t>
            </a:r>
            <a:r>
              <a:rPr lang="en-US" altLang="zh-TW" dirty="0" smtClean="0"/>
              <a:t>Tm(server), it </a:t>
            </a:r>
            <a:r>
              <a:rPr lang="en-US" altLang="zh-TW" dirty="0"/>
              <a:t>is applied to all </a:t>
            </a:r>
            <a:r>
              <a:rPr lang="en-US" altLang="zh-TW" dirty="0" smtClean="0"/>
              <a:t>cache entries for </a:t>
            </a:r>
            <a:r>
              <a:rPr lang="en-US" altLang="zh-TW" dirty="0"/>
              <a:t>the </a:t>
            </a:r>
            <a:r>
              <a:rPr lang="en-US" altLang="zh-TW" dirty="0" smtClean="0"/>
              <a:t>file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The attribute </a:t>
            </a:r>
            <a:r>
              <a:rPr lang="en-US" altLang="zh-TW" dirty="0"/>
              <a:t>values are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>
                <a:solidFill>
                  <a:srgbClr val="FF0000"/>
                </a:solidFill>
              </a:rPr>
              <a:t>piggybacked</a:t>
            </a:r>
            <a:r>
              <a:rPr lang="en-US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 in </a:t>
            </a:r>
            <a:r>
              <a:rPr lang="en-US" altLang="zh-TW" dirty="0"/>
              <a:t>the results of </a:t>
            </a:r>
            <a:r>
              <a:rPr lang="en-US" altLang="zh-TW" dirty="0" smtClean="0"/>
              <a:t>each operation </a:t>
            </a:r>
            <a:r>
              <a:rPr lang="en-US" altLang="zh-TW" dirty="0"/>
              <a:t>on a </a:t>
            </a:r>
            <a:r>
              <a:rPr lang="en-US" altLang="zh-TW" dirty="0" smtClean="0"/>
              <a:t>file.</a:t>
            </a:r>
          </a:p>
          <a:p>
            <a:pPr lvl="2"/>
            <a:r>
              <a:rPr lang="en-US" altLang="zh-TW" dirty="0" smtClean="0"/>
              <a:t>If </a:t>
            </a:r>
            <a:r>
              <a:rPr lang="en-US" altLang="zh-TW" dirty="0"/>
              <a:t>the value of </a:t>
            </a:r>
            <a:r>
              <a:rPr lang="en-US" altLang="zh-TW" dirty="0" smtClean="0"/>
              <a:t>Tm(server) </a:t>
            </a:r>
            <a:r>
              <a:rPr lang="en-US" altLang="zh-TW" dirty="0"/>
              <a:t>has </a:t>
            </a:r>
            <a:r>
              <a:rPr lang="en-US" altLang="zh-TW" dirty="0" smtClean="0"/>
              <a:t>changed, </a:t>
            </a:r>
            <a:r>
              <a:rPr lang="en-US" altLang="zh-TW" dirty="0"/>
              <a:t>the client uses it </a:t>
            </a:r>
            <a:r>
              <a:rPr lang="en-US" altLang="zh-TW" dirty="0" smtClean="0"/>
              <a:t>to update </a:t>
            </a:r>
            <a:r>
              <a:rPr lang="en-US" altLang="zh-TW" dirty="0"/>
              <a:t>the cache entries </a:t>
            </a:r>
            <a:r>
              <a:rPr lang="en-US" altLang="zh-TW" dirty="0" smtClean="0"/>
              <a:t>of the relevant file</a:t>
            </a:r>
            <a:r>
              <a:rPr lang="en-US" altLang="zh-TW" dirty="0"/>
              <a:t>.</a:t>
            </a:r>
          </a:p>
          <a:p>
            <a:r>
              <a:rPr lang="en-US" altLang="zh-TW" dirty="0" smtClean="0"/>
              <a:t>Using adaptive </a:t>
            </a:r>
            <a:r>
              <a:rPr lang="en-US" altLang="zh-TW" dirty="0"/>
              <a:t>algorithm for setting </a:t>
            </a:r>
            <a:r>
              <a:rPr lang="en-US" altLang="zh-TW" dirty="0" smtClean="0"/>
              <a:t>the interval </a:t>
            </a:r>
            <a:r>
              <a:rPr lang="en-US" altLang="zh-TW" dirty="0"/>
              <a:t>t </a:t>
            </a:r>
            <a:r>
              <a:rPr lang="en-US" altLang="zh-TW" dirty="0" smtClean="0"/>
              <a:t>can reduce the traffic for </a:t>
            </a:r>
            <a:r>
              <a:rPr lang="en-US" altLang="zh-TW" dirty="0"/>
              <a:t>most files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For files, the range is </a:t>
            </a:r>
            <a:r>
              <a:rPr lang="en-US" altLang="zh-TW" dirty="0" smtClean="0">
                <a:solidFill>
                  <a:srgbClr val="FF0000"/>
                </a:solidFill>
              </a:rPr>
              <a:t>3 </a:t>
            </a:r>
            <a:r>
              <a:rPr lang="en-US" altLang="zh-TW" dirty="0">
                <a:solidFill>
                  <a:srgbClr val="FF0000"/>
                </a:solidFill>
              </a:rPr>
              <a:t>to 30 </a:t>
            </a:r>
            <a:r>
              <a:rPr lang="en-US" altLang="zh-TW" dirty="0" smtClean="0">
                <a:solidFill>
                  <a:srgbClr val="FF0000"/>
                </a:solidFill>
              </a:rPr>
              <a:t>seconds </a:t>
            </a:r>
            <a:r>
              <a:rPr lang="en-US" altLang="zh-TW" dirty="0"/>
              <a:t>depending on the </a:t>
            </a:r>
            <a:r>
              <a:rPr lang="en-US" altLang="zh-TW" dirty="0" smtClean="0">
                <a:solidFill>
                  <a:srgbClr val="FF0000"/>
                </a:solidFill>
              </a:rPr>
              <a:t>update frequency </a:t>
            </a:r>
            <a:r>
              <a:rPr lang="en-US" altLang="zh-TW" dirty="0"/>
              <a:t>of </a:t>
            </a:r>
            <a:r>
              <a:rPr lang="en-US" altLang="zh-TW" dirty="0" smtClean="0"/>
              <a:t>the </a:t>
            </a:r>
            <a:r>
              <a:rPr lang="en-US" altLang="zh-TW" dirty="0"/>
              <a:t>file.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For directories, the </a:t>
            </a:r>
            <a:r>
              <a:rPr lang="en-US" altLang="zh-TW" dirty="0"/>
              <a:t>range is </a:t>
            </a:r>
            <a:r>
              <a:rPr lang="en-US" altLang="zh-TW" dirty="0">
                <a:solidFill>
                  <a:srgbClr val="FF0000"/>
                </a:solidFill>
              </a:rPr>
              <a:t>30 to 60 </a:t>
            </a:r>
            <a:r>
              <a:rPr lang="en-US" altLang="zh-TW" dirty="0" smtClean="0">
                <a:solidFill>
                  <a:srgbClr val="FF0000"/>
                </a:solidFill>
              </a:rPr>
              <a:t>seconds </a:t>
            </a:r>
            <a:r>
              <a:rPr lang="en-US" altLang="zh-TW" dirty="0"/>
              <a:t>reflecting the lower risk of concurrent </a:t>
            </a:r>
            <a:r>
              <a:rPr lang="en-US" altLang="zh-TW" dirty="0" smtClean="0"/>
              <a:t>updates.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1112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Client Caching in NFS	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72008" y="1484784"/>
            <a:ext cx="8892480" cy="5141168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When </a:t>
            </a:r>
            <a:r>
              <a:rPr lang="en-US" altLang="zh-TW" dirty="0"/>
              <a:t>a cached page is modified it is marked </a:t>
            </a:r>
            <a:r>
              <a:rPr lang="en-US" altLang="zh-TW" dirty="0" smtClean="0"/>
              <a:t>as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>
                <a:solidFill>
                  <a:srgbClr val="FF0000"/>
                </a:solidFill>
              </a:rPr>
              <a:t>dirty</a:t>
            </a:r>
            <a:r>
              <a:rPr lang="en-US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 </a:t>
            </a:r>
            <a:r>
              <a:rPr lang="en-US" altLang="zh-TW" dirty="0"/>
              <a:t>and is scheduled to be flushed to the server asynchronously.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Modified </a:t>
            </a:r>
            <a:r>
              <a:rPr lang="en-US" altLang="zh-TW" dirty="0"/>
              <a:t>pages </a:t>
            </a:r>
            <a:r>
              <a:rPr lang="en-US" altLang="zh-TW" dirty="0" smtClean="0"/>
              <a:t>are flushed </a:t>
            </a:r>
            <a:r>
              <a:rPr lang="en-US" altLang="zh-TW" dirty="0"/>
              <a:t>when the file is </a:t>
            </a:r>
            <a:r>
              <a:rPr lang="en-US" altLang="zh-TW" dirty="0">
                <a:solidFill>
                  <a:srgbClr val="FF0000"/>
                </a:solidFill>
              </a:rPr>
              <a:t>closed</a:t>
            </a:r>
            <a:r>
              <a:rPr lang="en-US" altLang="zh-TW" dirty="0"/>
              <a:t> or </a:t>
            </a:r>
            <a:r>
              <a:rPr lang="en-US" altLang="zh-TW" dirty="0" smtClean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sync</a:t>
            </a:r>
            <a:r>
              <a:rPr lang="en-US" altLang="zh-TW" dirty="0"/>
              <a:t> occurs at the </a:t>
            </a:r>
            <a:r>
              <a:rPr lang="en-US" altLang="zh-TW" dirty="0" smtClean="0"/>
              <a:t>client.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does not provide the </a:t>
            </a:r>
            <a:r>
              <a:rPr lang="en-US" altLang="zh-TW" dirty="0" smtClean="0"/>
              <a:t>same persistence </a:t>
            </a:r>
            <a:r>
              <a:rPr lang="en-US" altLang="zh-TW" dirty="0"/>
              <a:t>guarantee as the server cache, but it emulates the </a:t>
            </a:r>
            <a:r>
              <a:rPr lang="en-US" altLang="zh-TW" dirty="0" smtClean="0"/>
              <a:t>behavior </a:t>
            </a:r>
            <a:r>
              <a:rPr lang="en-US" altLang="zh-TW" dirty="0"/>
              <a:t>for local writes.</a:t>
            </a:r>
          </a:p>
          <a:p>
            <a:r>
              <a:rPr lang="en-US" altLang="zh-TW" dirty="0"/>
              <a:t>To implement </a:t>
            </a:r>
            <a:r>
              <a:rPr lang="en-US" altLang="zh-TW" dirty="0">
                <a:solidFill>
                  <a:srgbClr val="FF0000"/>
                </a:solidFill>
              </a:rPr>
              <a:t>read-ahead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delayed-write</a:t>
            </a:r>
            <a:r>
              <a:rPr lang="en-US" altLang="zh-TW" dirty="0"/>
              <a:t>, the NFS client needs to </a:t>
            </a:r>
            <a:r>
              <a:rPr lang="en-US" altLang="zh-TW" dirty="0" smtClean="0"/>
              <a:t>perform some </a:t>
            </a:r>
            <a:r>
              <a:rPr lang="en-US" altLang="zh-TW" dirty="0"/>
              <a:t>reads and writes </a:t>
            </a:r>
            <a:r>
              <a:rPr lang="en-US" altLang="zh-TW" dirty="0" smtClean="0"/>
              <a:t>asynchronously.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is achieved in UNIX implementations of NFS by the inclusion of one or more </a:t>
            </a:r>
            <a:r>
              <a:rPr lang="en-US" altLang="zh-TW" dirty="0" smtClean="0">
                <a:solidFill>
                  <a:srgbClr val="FF0000"/>
                </a:solidFill>
              </a:rPr>
              <a:t>bio-daemon</a:t>
            </a:r>
            <a:r>
              <a:rPr lang="en-US" altLang="zh-TW" dirty="0" smtClean="0"/>
              <a:t> </a:t>
            </a:r>
            <a:r>
              <a:rPr lang="en-US" altLang="zh-TW" dirty="0"/>
              <a:t>processes at each client.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Here, </a:t>
            </a:r>
            <a:r>
              <a:rPr lang="en-US" altLang="zh-TW" dirty="0" smtClean="0">
                <a:solidFill>
                  <a:srgbClr val="FF0000"/>
                </a:solidFill>
              </a:rPr>
              <a:t>bio</a:t>
            </a:r>
            <a:r>
              <a:rPr lang="en-US" altLang="zh-TW" dirty="0" smtClean="0"/>
              <a:t> stands for </a:t>
            </a:r>
            <a:r>
              <a:rPr lang="en-US" altLang="zh-TW" dirty="0">
                <a:solidFill>
                  <a:srgbClr val="FF0000"/>
                </a:solidFill>
              </a:rPr>
              <a:t>block </a:t>
            </a:r>
            <a:r>
              <a:rPr lang="en-US" altLang="zh-TW" dirty="0" smtClean="0">
                <a:solidFill>
                  <a:srgbClr val="FF0000"/>
                </a:solidFill>
              </a:rPr>
              <a:t>input-output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bio-daemon is notified after </a:t>
            </a:r>
            <a:r>
              <a:rPr lang="en-US" altLang="zh-TW" dirty="0" smtClean="0"/>
              <a:t>receiving the reply for each </a:t>
            </a:r>
            <a:r>
              <a:rPr lang="en-US" altLang="zh-TW" dirty="0"/>
              <a:t>read </a:t>
            </a:r>
            <a:r>
              <a:rPr lang="en-US" altLang="zh-TW" dirty="0" smtClean="0"/>
              <a:t>request.</a:t>
            </a:r>
          </a:p>
          <a:p>
            <a:pPr lvl="1"/>
            <a:r>
              <a:rPr lang="en-US" altLang="zh-TW" dirty="0" smtClean="0"/>
              <a:t>It then requests the </a:t>
            </a:r>
            <a:r>
              <a:rPr lang="en-US" altLang="zh-TW" dirty="0"/>
              <a:t>following file block from the server to the client cache. </a:t>
            </a:r>
            <a:endParaRPr lang="en-US" altLang="zh-TW" dirty="0" smtClean="0"/>
          </a:p>
          <a:p>
            <a:r>
              <a:rPr lang="en-US" altLang="zh-TW" dirty="0" smtClean="0"/>
              <a:t>A </a:t>
            </a:r>
            <a:r>
              <a:rPr lang="en-US" altLang="zh-TW" dirty="0"/>
              <a:t>bio-daemon will send a block to the server whenever a block </a:t>
            </a:r>
            <a:r>
              <a:rPr lang="en-US" altLang="zh-TW" dirty="0" smtClean="0"/>
              <a:t>has been </a:t>
            </a:r>
            <a:r>
              <a:rPr lang="en-US" altLang="zh-TW" dirty="0"/>
              <a:t>filled by a client operation. 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FF0000"/>
                </a:solidFill>
              </a:rPr>
              <a:t>Directory</a:t>
            </a:r>
            <a:r>
              <a:rPr lang="en-US" altLang="zh-TW" dirty="0" smtClean="0"/>
              <a:t> </a:t>
            </a:r>
            <a:r>
              <a:rPr lang="en-US" altLang="zh-TW" dirty="0"/>
              <a:t>blocks are sent whenever a </a:t>
            </a:r>
            <a:r>
              <a:rPr lang="en-US" altLang="zh-TW" dirty="0">
                <a:solidFill>
                  <a:srgbClr val="FF0000"/>
                </a:solidFill>
              </a:rPr>
              <a:t>modification</a:t>
            </a:r>
            <a:r>
              <a:rPr lang="en-US" altLang="zh-TW" dirty="0"/>
              <a:t> </a:t>
            </a:r>
            <a:r>
              <a:rPr lang="en-US" altLang="zh-TW" dirty="0" smtClean="0"/>
              <a:t>has occurred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2290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Andrew File System (AFS)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84784"/>
            <a:ext cx="7524328" cy="522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052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/>
              <a:t>File </a:t>
            </a:r>
            <a:r>
              <a:rPr lang="en-US" altLang="zh-TW" dirty="0" smtClean="0"/>
              <a:t>Name Space in an AFS Client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491381"/>
            <a:ext cx="7380312" cy="5249987"/>
          </a:xfrm>
          <a:prstGeom prst="rect">
            <a:avLst/>
          </a:prstGeom>
        </p:spPr>
      </p:pic>
      <p:cxnSp>
        <p:nvCxnSpPr>
          <p:cNvPr id="4" name="直線單箭頭接點 3"/>
          <p:cNvCxnSpPr/>
          <p:nvPr/>
        </p:nvCxnSpPr>
        <p:spPr>
          <a:xfrm flipV="1">
            <a:off x="1835696" y="5013176"/>
            <a:ext cx="720080" cy="100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 flipV="1">
            <a:off x="2195736" y="4869160"/>
            <a:ext cx="1008112" cy="1152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197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Enhanced Scalability in AFS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58262" y="1600200"/>
            <a:ext cx="8734218" cy="49251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AFS </a:t>
            </a:r>
            <a:r>
              <a:rPr lang="en-US" altLang="zh-TW" dirty="0"/>
              <a:t>has two unusual design </a:t>
            </a:r>
            <a:r>
              <a:rPr lang="en-US" altLang="zh-TW" dirty="0" smtClean="0"/>
              <a:t>characteristics to </a:t>
            </a:r>
            <a:r>
              <a:rPr lang="en-US" altLang="zh-TW" dirty="0"/>
              <a:t>achieving </a:t>
            </a:r>
            <a:r>
              <a:rPr lang="en-US" altLang="zh-TW" dirty="0" smtClean="0"/>
              <a:t>high scalability.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Whole-file serving</a:t>
            </a:r>
            <a:r>
              <a:rPr lang="en-US" altLang="zh-TW" dirty="0" smtClean="0"/>
              <a:t>) </a:t>
            </a:r>
            <a:r>
              <a:rPr lang="en-US" altLang="zh-TW" dirty="0"/>
              <a:t>The entire contents of directories and files are transmitted </a:t>
            </a:r>
            <a:r>
              <a:rPr lang="en-US" altLang="zh-TW" dirty="0" smtClean="0"/>
              <a:t>to client </a:t>
            </a:r>
            <a:r>
              <a:rPr lang="en-US" altLang="zh-TW" dirty="0"/>
              <a:t>computers by AFS </a:t>
            </a:r>
            <a:r>
              <a:rPr lang="en-US" altLang="zh-TW" dirty="0" smtClean="0"/>
              <a:t>servers.</a:t>
            </a:r>
          </a:p>
          <a:p>
            <a:pPr lvl="2"/>
            <a:r>
              <a:rPr lang="en-US" altLang="zh-TW" dirty="0" smtClean="0"/>
              <a:t>In </a:t>
            </a:r>
            <a:r>
              <a:rPr lang="en-US" altLang="zh-TW" dirty="0"/>
              <a:t>AFS-3, files larger than </a:t>
            </a:r>
            <a:r>
              <a:rPr lang="en-US" altLang="zh-TW" dirty="0">
                <a:solidFill>
                  <a:srgbClr val="FF0000"/>
                </a:solidFill>
              </a:rPr>
              <a:t>64 </a:t>
            </a:r>
            <a:r>
              <a:rPr lang="en-US" altLang="zh-TW" dirty="0" err="1">
                <a:solidFill>
                  <a:srgbClr val="FF0000"/>
                </a:solidFill>
              </a:rPr>
              <a:t>kbytes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are transferred </a:t>
            </a:r>
            <a:r>
              <a:rPr lang="en-US" altLang="zh-TW" dirty="0"/>
              <a:t>in 64-kbyte </a:t>
            </a:r>
            <a:r>
              <a:rPr lang="en-US" altLang="zh-TW" dirty="0" smtClean="0"/>
              <a:t>chunks.</a:t>
            </a:r>
            <a:endParaRPr lang="en-US" altLang="zh-TW" dirty="0"/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Whole-file caching</a:t>
            </a:r>
            <a:r>
              <a:rPr lang="en-US" altLang="zh-TW" dirty="0" smtClean="0"/>
              <a:t>) </a:t>
            </a:r>
            <a:r>
              <a:rPr lang="en-US" altLang="zh-TW" dirty="0"/>
              <a:t>Once a copy of a file </a:t>
            </a:r>
            <a:r>
              <a:rPr lang="en-US" altLang="zh-TW" dirty="0" smtClean="0"/>
              <a:t>has </a:t>
            </a:r>
            <a:r>
              <a:rPr lang="en-US" altLang="zh-TW" dirty="0"/>
              <a:t>been transferred to </a:t>
            </a:r>
            <a:r>
              <a:rPr lang="en-US" altLang="zh-TW" dirty="0" smtClean="0"/>
              <a:t>a client </a:t>
            </a:r>
            <a:r>
              <a:rPr lang="en-US" altLang="zh-TW" dirty="0"/>
              <a:t>computer it is stored in a </a:t>
            </a:r>
            <a:r>
              <a:rPr lang="en-US" altLang="zh-TW" dirty="0">
                <a:solidFill>
                  <a:srgbClr val="FF0000"/>
                </a:solidFill>
              </a:rPr>
              <a:t>cache</a:t>
            </a:r>
            <a:r>
              <a:rPr lang="en-US" altLang="zh-TW" dirty="0"/>
              <a:t> on the </a:t>
            </a:r>
            <a:r>
              <a:rPr lang="en-US" altLang="zh-TW" dirty="0">
                <a:solidFill>
                  <a:srgbClr val="FF0000"/>
                </a:solidFill>
              </a:rPr>
              <a:t>local disk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cache contains </a:t>
            </a:r>
            <a:r>
              <a:rPr lang="en-US" altLang="zh-TW" dirty="0" smtClean="0"/>
              <a:t>several hundred </a:t>
            </a:r>
            <a:r>
              <a:rPr lang="en-US" altLang="zh-TW" dirty="0"/>
              <a:t>of the files most recently used on </a:t>
            </a:r>
            <a:r>
              <a:rPr lang="en-US" altLang="zh-TW" dirty="0" smtClean="0"/>
              <a:t>the client </a:t>
            </a:r>
            <a:r>
              <a:rPr lang="en-US" altLang="zh-TW" dirty="0"/>
              <a:t>computer.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cache is </a:t>
            </a:r>
            <a:r>
              <a:rPr lang="en-US" altLang="zh-TW" dirty="0" smtClean="0"/>
              <a:t>permanent and can survive </a:t>
            </a:r>
            <a:r>
              <a:rPr lang="en-US" altLang="zh-TW" dirty="0"/>
              <a:t>reboots of the client </a:t>
            </a:r>
            <a:r>
              <a:rPr lang="en-US" altLang="zh-TW" dirty="0" smtClean="0"/>
              <a:t>computer.</a:t>
            </a:r>
          </a:p>
          <a:p>
            <a:pPr lvl="2"/>
            <a:r>
              <a:rPr lang="en-US" altLang="zh-TW" dirty="0" smtClean="0"/>
              <a:t>Local </a:t>
            </a:r>
            <a:r>
              <a:rPr lang="en-US" altLang="zh-TW" dirty="0"/>
              <a:t>copies of files are used to </a:t>
            </a:r>
            <a:r>
              <a:rPr lang="en-US" altLang="zh-TW" dirty="0" smtClean="0"/>
              <a:t>satisfy clients</a:t>
            </a:r>
            <a:r>
              <a:rPr lang="en-US" altLang="zh-TW" dirty="0"/>
              <a:t>’ </a:t>
            </a:r>
            <a:r>
              <a:rPr lang="en-US" altLang="zh-TW" dirty="0" smtClean="0"/>
              <a:t>open requests </a:t>
            </a:r>
            <a:r>
              <a:rPr lang="en-US" altLang="zh-TW" dirty="0"/>
              <a:t>in preference to remote copies whenever possible.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87849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399802"/>
            <a:ext cx="8060432" cy="940966"/>
          </a:xfrm>
        </p:spPr>
        <p:txBody>
          <a:bodyPr/>
          <a:lstStyle/>
          <a:p>
            <a:pPr algn="ctr"/>
            <a:r>
              <a:rPr lang="en-US" altLang="zh-TW" dirty="0" smtClean="0"/>
              <a:t>Reasons behind the </a:t>
            </a:r>
            <a:r>
              <a:rPr lang="en-US" altLang="zh-TW" dirty="0"/>
              <a:t>D</a:t>
            </a:r>
            <a:r>
              <a:rPr lang="en-US" altLang="zh-TW" dirty="0" smtClean="0"/>
              <a:t>esign Strategy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712968" cy="5069160"/>
          </a:xfrm>
        </p:spPr>
        <p:txBody>
          <a:bodyPr>
            <a:normAutofit/>
          </a:bodyPr>
          <a:lstStyle/>
          <a:p>
            <a:r>
              <a:rPr lang="en-US" altLang="zh-TW" dirty="0"/>
              <a:t>The design strategy is based on some assumptions about average and </a:t>
            </a:r>
            <a:r>
              <a:rPr lang="en-US" altLang="zh-TW" dirty="0" smtClean="0"/>
              <a:t>maximum file </a:t>
            </a:r>
            <a:r>
              <a:rPr lang="en-US" altLang="zh-TW" dirty="0"/>
              <a:t>size and locality of reference to files in UNIX systems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/>
              <a:t>Files are </a:t>
            </a:r>
            <a:r>
              <a:rPr lang="en-US" altLang="zh-TW" dirty="0" smtClean="0"/>
              <a:t>small: most </a:t>
            </a:r>
            <a:r>
              <a:rPr lang="en-US" altLang="zh-TW" dirty="0"/>
              <a:t>are less than 10 kilobytes in size.</a:t>
            </a:r>
          </a:p>
          <a:p>
            <a:pPr lvl="1"/>
            <a:r>
              <a:rPr lang="en-US" altLang="zh-TW" dirty="0" smtClean="0"/>
              <a:t>Read </a:t>
            </a:r>
            <a:r>
              <a:rPr lang="en-US" altLang="zh-TW" dirty="0"/>
              <a:t>operations on files are much more common than </a:t>
            </a:r>
            <a:r>
              <a:rPr lang="en-US" altLang="zh-TW" dirty="0" smtClean="0"/>
              <a:t>writes.</a:t>
            </a:r>
          </a:p>
          <a:p>
            <a:pPr lvl="2"/>
            <a:r>
              <a:rPr lang="en-US" altLang="zh-TW" dirty="0" smtClean="0"/>
              <a:t>Approximates to 6:1</a:t>
            </a:r>
            <a:endParaRPr lang="en-US" altLang="zh-TW" dirty="0"/>
          </a:p>
          <a:p>
            <a:pPr lvl="1"/>
            <a:r>
              <a:rPr lang="en-US" altLang="zh-TW" dirty="0" smtClean="0"/>
              <a:t>Sequential </a:t>
            </a:r>
            <a:r>
              <a:rPr lang="en-US" altLang="zh-TW" dirty="0"/>
              <a:t>access is </a:t>
            </a:r>
            <a:r>
              <a:rPr lang="en-US" altLang="zh-TW" dirty="0" smtClean="0"/>
              <a:t>common </a:t>
            </a:r>
            <a:r>
              <a:rPr lang="en-US" altLang="zh-TW" dirty="0"/>
              <a:t>and random access is rare.</a:t>
            </a:r>
          </a:p>
          <a:p>
            <a:pPr lvl="1"/>
            <a:r>
              <a:rPr lang="en-US" altLang="zh-TW" dirty="0" smtClean="0"/>
              <a:t>Most </a:t>
            </a:r>
            <a:r>
              <a:rPr lang="en-US" altLang="zh-TW" dirty="0"/>
              <a:t>files are read and written by only one user.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When </a:t>
            </a:r>
            <a:r>
              <a:rPr lang="en-US" altLang="zh-TW" dirty="0"/>
              <a:t>a file is shared, it </a:t>
            </a:r>
            <a:r>
              <a:rPr lang="en-US" altLang="zh-TW" dirty="0" smtClean="0"/>
              <a:t>is usually </a:t>
            </a:r>
            <a:r>
              <a:rPr lang="en-US" altLang="zh-TW" dirty="0"/>
              <a:t>only one user who modifies it.</a:t>
            </a:r>
          </a:p>
          <a:p>
            <a:pPr lvl="1"/>
            <a:r>
              <a:rPr lang="en-US" altLang="zh-TW" dirty="0" smtClean="0"/>
              <a:t>Files </a:t>
            </a:r>
            <a:r>
              <a:rPr lang="en-US" altLang="zh-TW" dirty="0"/>
              <a:t>are referenced in bursts.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If </a:t>
            </a:r>
            <a:r>
              <a:rPr lang="en-US" altLang="zh-TW" dirty="0"/>
              <a:t>a file has been referenced recently, there is </a:t>
            </a:r>
            <a:r>
              <a:rPr lang="en-US" altLang="zh-TW" dirty="0" smtClean="0"/>
              <a:t>a high </a:t>
            </a:r>
            <a:r>
              <a:rPr lang="en-US" altLang="zh-TW" dirty="0"/>
              <a:t>probability that it will be referenced again in the near future.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61181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An Operational Scenario in AFS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8928992" cy="50691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When a user process in a client computer issues an </a:t>
            </a:r>
            <a:r>
              <a:rPr lang="en-US" altLang="zh-TW" dirty="0">
                <a:solidFill>
                  <a:srgbClr val="FF0000"/>
                </a:solidFill>
              </a:rPr>
              <a:t>open</a:t>
            </a:r>
            <a:r>
              <a:rPr lang="en-US" altLang="zh-TW" dirty="0"/>
              <a:t> </a:t>
            </a:r>
            <a:r>
              <a:rPr lang="en-US" altLang="zh-TW" dirty="0" smtClean="0"/>
              <a:t>call </a:t>
            </a:r>
            <a:r>
              <a:rPr lang="en-US" altLang="zh-TW" dirty="0"/>
              <a:t>for a file </a:t>
            </a:r>
            <a:r>
              <a:rPr lang="en-US" altLang="zh-TW" dirty="0" smtClean="0"/>
              <a:t>in the </a:t>
            </a:r>
            <a:r>
              <a:rPr lang="en-US" altLang="zh-TW" dirty="0">
                <a:solidFill>
                  <a:srgbClr val="FF0000"/>
                </a:solidFill>
              </a:rPr>
              <a:t>shared file </a:t>
            </a:r>
            <a:r>
              <a:rPr lang="en-US" altLang="zh-TW" dirty="0" smtClean="0">
                <a:solidFill>
                  <a:srgbClr val="FF0000"/>
                </a:solidFill>
              </a:rPr>
              <a:t>space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If there </a:t>
            </a:r>
            <a:r>
              <a:rPr lang="en-US" altLang="zh-TW" dirty="0"/>
              <a:t>is </a:t>
            </a:r>
            <a:r>
              <a:rPr lang="en-US" altLang="zh-TW" dirty="0">
                <a:solidFill>
                  <a:srgbClr val="FF0000"/>
                </a:solidFill>
              </a:rPr>
              <a:t>not</a:t>
            </a:r>
            <a:r>
              <a:rPr lang="en-US" altLang="zh-TW" dirty="0"/>
              <a:t> a </a:t>
            </a:r>
            <a:r>
              <a:rPr lang="en-US" altLang="zh-TW" dirty="0">
                <a:solidFill>
                  <a:srgbClr val="FF0000"/>
                </a:solidFill>
              </a:rPr>
              <a:t>current copy </a:t>
            </a:r>
            <a:r>
              <a:rPr lang="en-US" altLang="zh-TW" dirty="0"/>
              <a:t>of the file in the </a:t>
            </a:r>
            <a:r>
              <a:rPr lang="en-US" altLang="zh-TW" dirty="0">
                <a:solidFill>
                  <a:srgbClr val="FF0000"/>
                </a:solidFill>
              </a:rPr>
              <a:t>local </a:t>
            </a:r>
            <a:r>
              <a:rPr lang="en-US" altLang="zh-TW" dirty="0" smtClean="0">
                <a:solidFill>
                  <a:srgbClr val="FF0000"/>
                </a:solidFill>
              </a:rPr>
              <a:t>cache</a:t>
            </a:r>
            <a:r>
              <a:rPr lang="en-US" altLang="zh-TW" dirty="0" smtClean="0"/>
              <a:t>, the client module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locates the </a:t>
            </a:r>
            <a:r>
              <a:rPr lang="en-US" altLang="zh-TW" dirty="0"/>
              <a:t>server holding the </a:t>
            </a:r>
            <a:r>
              <a:rPr lang="en-US" altLang="zh-TW" dirty="0" smtClean="0"/>
              <a:t>file </a:t>
            </a:r>
            <a:r>
              <a:rPr lang="en-US" altLang="zh-TW" dirty="0"/>
              <a:t>and </a:t>
            </a:r>
            <a:r>
              <a:rPr lang="en-US" altLang="zh-TW" dirty="0" smtClean="0"/>
              <a:t>then sends </a:t>
            </a:r>
            <a:r>
              <a:rPr lang="en-US" altLang="zh-TW" dirty="0"/>
              <a:t>a request for </a:t>
            </a:r>
            <a:r>
              <a:rPr lang="en-US" altLang="zh-TW" dirty="0" smtClean="0"/>
              <a:t>getting a </a:t>
            </a:r>
            <a:r>
              <a:rPr lang="en-US" altLang="zh-TW" dirty="0"/>
              <a:t>copy of the file.</a:t>
            </a:r>
          </a:p>
          <a:p>
            <a:r>
              <a:rPr lang="en-US" altLang="zh-TW" dirty="0" smtClean="0"/>
              <a:t>The local copy of the file is opened </a:t>
            </a:r>
            <a:r>
              <a:rPr lang="en-US" altLang="zh-TW" dirty="0"/>
              <a:t>and the resulting UNIX file descriptor is returned to the </a:t>
            </a:r>
            <a:r>
              <a:rPr lang="en-US" altLang="zh-TW" dirty="0" smtClean="0"/>
              <a:t>user process.</a:t>
            </a:r>
            <a:endParaRPr lang="en-US" altLang="zh-TW" dirty="0"/>
          </a:p>
          <a:p>
            <a:pPr lvl="1"/>
            <a:r>
              <a:rPr lang="en-US" altLang="zh-TW" dirty="0" smtClean="0"/>
              <a:t>Subsequent </a:t>
            </a:r>
            <a:r>
              <a:rPr lang="en-US" altLang="zh-TW" dirty="0"/>
              <a:t>read, write and other operations on the file by </a:t>
            </a:r>
            <a:r>
              <a:rPr lang="en-US" altLang="zh-TW" dirty="0" smtClean="0"/>
              <a:t>the user process </a:t>
            </a:r>
            <a:r>
              <a:rPr lang="en-US" altLang="zh-TW" dirty="0"/>
              <a:t>in the </a:t>
            </a:r>
            <a:r>
              <a:rPr lang="en-US" altLang="zh-TW" dirty="0" smtClean="0"/>
              <a:t>client computer </a:t>
            </a:r>
            <a:r>
              <a:rPr lang="en-US" altLang="zh-TW" dirty="0"/>
              <a:t>are applied to the local copy.</a:t>
            </a:r>
          </a:p>
          <a:p>
            <a:r>
              <a:rPr lang="en-US" altLang="zh-TW" dirty="0" smtClean="0"/>
              <a:t>When </a:t>
            </a:r>
            <a:r>
              <a:rPr lang="en-US" altLang="zh-TW" dirty="0"/>
              <a:t>the </a:t>
            </a:r>
            <a:r>
              <a:rPr lang="en-US" altLang="zh-TW" dirty="0" smtClean="0"/>
              <a:t>user process </a:t>
            </a:r>
            <a:r>
              <a:rPr lang="en-US" altLang="zh-TW" dirty="0"/>
              <a:t>in the client issues a </a:t>
            </a:r>
            <a:r>
              <a:rPr lang="en-US" altLang="zh-TW" dirty="0">
                <a:solidFill>
                  <a:srgbClr val="FF0000"/>
                </a:solidFill>
              </a:rPr>
              <a:t>close</a:t>
            </a:r>
            <a:r>
              <a:rPr lang="en-US" altLang="zh-TW" dirty="0"/>
              <a:t> </a:t>
            </a:r>
            <a:r>
              <a:rPr lang="en-US" altLang="zh-TW" dirty="0" smtClean="0"/>
              <a:t>call.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the local copy has </a:t>
            </a:r>
            <a:r>
              <a:rPr lang="en-US" altLang="zh-TW" dirty="0" smtClean="0"/>
              <a:t>been updated, </a:t>
            </a:r>
            <a:r>
              <a:rPr lang="en-US" altLang="zh-TW" dirty="0"/>
              <a:t>its contents are sent back to the </a:t>
            </a:r>
            <a:r>
              <a:rPr lang="en-US" altLang="zh-TW" dirty="0" smtClean="0"/>
              <a:t>server.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server updates the </a:t>
            </a:r>
            <a:r>
              <a:rPr lang="en-US" altLang="zh-TW" dirty="0" smtClean="0">
                <a:solidFill>
                  <a:srgbClr val="FF0000"/>
                </a:solidFill>
              </a:rPr>
              <a:t>file contents </a:t>
            </a:r>
            <a:r>
              <a:rPr lang="en-US" altLang="zh-TW" dirty="0"/>
              <a:t>and the </a:t>
            </a:r>
            <a:r>
              <a:rPr lang="en-US" altLang="zh-TW" dirty="0">
                <a:solidFill>
                  <a:srgbClr val="FF0000"/>
                </a:solidFill>
              </a:rPr>
              <a:t>timestamps</a:t>
            </a:r>
            <a:r>
              <a:rPr lang="en-US" altLang="zh-TW" dirty="0"/>
              <a:t> on the file.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copy on the </a:t>
            </a:r>
            <a:r>
              <a:rPr lang="en-US" altLang="zh-TW" dirty="0" smtClean="0"/>
              <a:t>client</a:t>
            </a:r>
            <a:r>
              <a:rPr lang="en-US" altLang="zh-TW" dirty="0" smtClean="0">
                <a:latin typeface="Poor Richard" panose="02080502050505020702" pitchFamily="18" charset="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local disk </a:t>
            </a:r>
            <a:r>
              <a:rPr lang="en-US" altLang="zh-TW" dirty="0" smtClean="0"/>
              <a:t>is retained for possible future usage </a:t>
            </a:r>
            <a:r>
              <a:rPr lang="en-US" altLang="zh-TW" dirty="0"/>
              <a:t>by </a:t>
            </a:r>
            <a:r>
              <a:rPr lang="en-US" altLang="zh-TW" dirty="0" smtClean="0"/>
              <a:t>other user processes </a:t>
            </a:r>
            <a:r>
              <a:rPr lang="en-US" altLang="zh-TW" dirty="0"/>
              <a:t>on the </a:t>
            </a:r>
            <a:r>
              <a:rPr lang="en-US" altLang="zh-TW" dirty="0" smtClean="0"/>
              <a:t>client computer.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5854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Basic Concepts in AFS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1484784"/>
            <a:ext cx="8928992" cy="5184576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/>
              <a:t>AFS is implemented as two software components that exist as UNIX </a:t>
            </a:r>
            <a:r>
              <a:rPr lang="en-US" altLang="zh-TW" dirty="0" smtClean="0"/>
              <a:t>processes called </a:t>
            </a:r>
            <a:r>
              <a:rPr lang="en-US" altLang="zh-TW" dirty="0"/>
              <a:t>Vice and </a:t>
            </a:r>
            <a:r>
              <a:rPr lang="en-US" altLang="zh-TW" dirty="0" smtClean="0"/>
              <a:t>Venus.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Vice</a:t>
            </a:r>
            <a:r>
              <a:rPr lang="en-US" altLang="zh-TW" dirty="0"/>
              <a:t> is </a:t>
            </a:r>
            <a:r>
              <a:rPr lang="en-US" altLang="zh-TW" dirty="0" smtClean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server software </a:t>
            </a:r>
            <a:r>
              <a:rPr lang="en-US" altLang="zh-TW" dirty="0"/>
              <a:t>that runs as a user-level UNIX process </a:t>
            </a:r>
            <a:r>
              <a:rPr lang="en-US" altLang="zh-TW" dirty="0" smtClean="0"/>
              <a:t>in each </a:t>
            </a:r>
            <a:r>
              <a:rPr lang="en-US" altLang="zh-TW" dirty="0"/>
              <a:t>server </a:t>
            </a:r>
            <a:r>
              <a:rPr lang="en-US" altLang="zh-TW" dirty="0" smtClean="0"/>
              <a:t>computer.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Venus</a:t>
            </a:r>
            <a:r>
              <a:rPr lang="en-US" altLang="zh-TW" dirty="0" smtClean="0"/>
              <a:t> </a:t>
            </a:r>
            <a:r>
              <a:rPr lang="en-US" altLang="zh-TW" dirty="0"/>
              <a:t>is </a:t>
            </a:r>
            <a:r>
              <a:rPr lang="en-US" altLang="zh-TW" dirty="0" smtClean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client module </a:t>
            </a:r>
            <a:r>
              <a:rPr lang="en-US" altLang="zh-TW" dirty="0" smtClean="0"/>
              <a:t>that runs as a </a:t>
            </a:r>
            <a:r>
              <a:rPr lang="en-US" altLang="zh-TW" dirty="0"/>
              <a:t>user-level </a:t>
            </a:r>
            <a:r>
              <a:rPr lang="en-US" altLang="zh-TW" dirty="0" smtClean="0"/>
              <a:t>UNIX process in </a:t>
            </a:r>
            <a:r>
              <a:rPr lang="en-US" altLang="zh-TW" dirty="0"/>
              <a:t>each client </a:t>
            </a:r>
            <a:r>
              <a:rPr lang="en-US" altLang="zh-TW" dirty="0" smtClean="0"/>
              <a:t>computer.</a:t>
            </a:r>
          </a:p>
          <a:p>
            <a:r>
              <a:rPr lang="en-US" altLang="zh-TW" dirty="0"/>
              <a:t>The files </a:t>
            </a:r>
            <a:r>
              <a:rPr lang="en-US" altLang="zh-TW" dirty="0" smtClean="0"/>
              <a:t>are available </a:t>
            </a:r>
            <a:r>
              <a:rPr lang="en-US" altLang="zh-TW" dirty="0"/>
              <a:t>to user processes </a:t>
            </a:r>
            <a:r>
              <a:rPr lang="en-US" altLang="zh-TW" dirty="0" smtClean="0"/>
              <a:t>as either </a:t>
            </a:r>
            <a:r>
              <a:rPr lang="en-US" altLang="zh-TW" dirty="0">
                <a:solidFill>
                  <a:srgbClr val="FF0000"/>
                </a:solidFill>
              </a:rPr>
              <a:t>local</a:t>
            </a:r>
            <a:r>
              <a:rPr lang="en-US" altLang="zh-TW" dirty="0"/>
              <a:t> </a:t>
            </a:r>
            <a:r>
              <a:rPr lang="en-US" altLang="zh-TW" dirty="0" smtClean="0"/>
              <a:t>or </a:t>
            </a:r>
            <a:r>
              <a:rPr lang="en-US" altLang="zh-TW" dirty="0" smtClean="0">
                <a:solidFill>
                  <a:srgbClr val="FF0000"/>
                </a:solidFill>
              </a:rPr>
              <a:t>shared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Local </a:t>
            </a:r>
            <a:r>
              <a:rPr lang="en-US" altLang="zh-TW" dirty="0"/>
              <a:t>files are handled as normal UNIX files.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They </a:t>
            </a:r>
            <a:r>
              <a:rPr lang="en-US" altLang="zh-TW" dirty="0"/>
              <a:t>are stored on a </a:t>
            </a:r>
            <a:r>
              <a:rPr lang="en-US" altLang="zh-TW" dirty="0" smtClean="0"/>
              <a:t>local disk </a:t>
            </a:r>
            <a:r>
              <a:rPr lang="en-US" altLang="zh-TW" dirty="0"/>
              <a:t>and are available only to local user processes. </a:t>
            </a:r>
            <a:endParaRPr lang="en-US" altLang="zh-TW" dirty="0" smtClean="0"/>
          </a:p>
          <a:p>
            <a:pPr lvl="2"/>
            <a:r>
              <a:rPr lang="en-US" altLang="zh-TW" dirty="0"/>
              <a:t>Local files are used only for temporary files (/</a:t>
            </a:r>
            <a:r>
              <a:rPr lang="en-US" altLang="zh-TW" dirty="0" err="1"/>
              <a:t>tmp</a:t>
            </a:r>
            <a:r>
              <a:rPr lang="en-US" altLang="zh-TW" dirty="0"/>
              <a:t>) and </a:t>
            </a:r>
            <a:r>
              <a:rPr lang="en-US" altLang="zh-TW" dirty="0" smtClean="0"/>
              <a:t>files </a:t>
            </a:r>
            <a:r>
              <a:rPr lang="en-US" altLang="zh-TW" dirty="0"/>
              <a:t>that are essential </a:t>
            </a:r>
            <a:r>
              <a:rPr lang="en-US" altLang="zh-TW" dirty="0" smtClean="0"/>
              <a:t>for client computers </a:t>
            </a:r>
            <a:r>
              <a:rPr lang="en-US" altLang="zh-TW" dirty="0"/>
              <a:t>startup.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Other </a:t>
            </a:r>
            <a:r>
              <a:rPr lang="en-US" altLang="zh-TW" dirty="0"/>
              <a:t>standard UNIX files </a:t>
            </a:r>
            <a:r>
              <a:rPr lang="en-US" altLang="zh-TW" dirty="0" smtClean="0"/>
              <a:t>(/</a:t>
            </a:r>
            <a:r>
              <a:rPr lang="en-US" altLang="zh-TW" dirty="0"/>
              <a:t>bin</a:t>
            </a:r>
            <a:r>
              <a:rPr lang="en-US" altLang="zh-TW" dirty="0" smtClean="0"/>
              <a:t>, /</a:t>
            </a:r>
            <a:r>
              <a:rPr lang="en-US" altLang="zh-TW" dirty="0"/>
              <a:t>lib and so on) are implemented as symbolic links from local directories to files held </a:t>
            </a:r>
            <a:r>
              <a:rPr lang="en-US" altLang="zh-TW" dirty="0" smtClean="0"/>
              <a:t>in the </a:t>
            </a:r>
            <a:r>
              <a:rPr lang="en-US" altLang="zh-TW" dirty="0"/>
              <a:t>shared </a:t>
            </a:r>
            <a:r>
              <a:rPr lang="en-US" altLang="zh-TW" dirty="0" smtClean="0"/>
              <a:t>space.</a:t>
            </a:r>
          </a:p>
          <a:p>
            <a:pPr lvl="1"/>
            <a:r>
              <a:rPr lang="en-US" altLang="zh-TW" dirty="0" smtClean="0"/>
              <a:t>Shared </a:t>
            </a:r>
            <a:r>
              <a:rPr lang="en-US" altLang="zh-TW" dirty="0"/>
              <a:t>files are stored on </a:t>
            </a:r>
            <a:r>
              <a:rPr lang="en-US" altLang="zh-TW" dirty="0" smtClean="0"/>
              <a:t>servers and copies </a:t>
            </a:r>
            <a:r>
              <a:rPr lang="en-US" altLang="zh-TW" dirty="0"/>
              <a:t>of them are cached on the local disks of </a:t>
            </a:r>
            <a:r>
              <a:rPr lang="en-US" altLang="zh-TW" dirty="0" smtClean="0"/>
              <a:t>client computers.</a:t>
            </a:r>
          </a:p>
          <a:p>
            <a:pPr lvl="2"/>
            <a:r>
              <a:rPr lang="en-US" altLang="zh-TW" dirty="0" smtClean="0"/>
              <a:t>Users</a:t>
            </a:r>
            <a:r>
              <a:rPr lang="en-US" altLang="zh-TW" dirty="0" smtClean="0">
                <a:latin typeface="Poor Richard" panose="02080502050505020702" pitchFamily="18" charset="0"/>
              </a:rPr>
              <a:t>'</a:t>
            </a:r>
            <a:r>
              <a:rPr lang="en-US" altLang="zh-TW" dirty="0" smtClean="0"/>
              <a:t> home directories </a:t>
            </a:r>
            <a:r>
              <a:rPr lang="en-US" altLang="zh-TW" dirty="0"/>
              <a:t>are in the </a:t>
            </a:r>
            <a:r>
              <a:rPr lang="en-US" altLang="zh-TW" dirty="0">
                <a:solidFill>
                  <a:srgbClr val="FF0000"/>
                </a:solidFill>
              </a:rPr>
              <a:t>shared </a:t>
            </a:r>
            <a:r>
              <a:rPr lang="en-US" altLang="zh-TW" dirty="0" smtClean="0">
                <a:solidFill>
                  <a:srgbClr val="FF0000"/>
                </a:solidFill>
              </a:rPr>
              <a:t>space</a:t>
            </a:r>
            <a:r>
              <a:rPr lang="en-US" altLang="zh-TW" dirty="0"/>
              <a:t> </a:t>
            </a:r>
            <a:r>
              <a:rPr lang="en-US" altLang="zh-TW" dirty="0" smtClean="0"/>
              <a:t>for enabling </a:t>
            </a:r>
            <a:r>
              <a:rPr lang="en-US" altLang="zh-TW" dirty="0"/>
              <a:t>users to access </a:t>
            </a:r>
            <a:r>
              <a:rPr lang="en-US" altLang="zh-TW" dirty="0" smtClean="0"/>
              <a:t>their files </a:t>
            </a:r>
            <a:r>
              <a:rPr lang="en-US" altLang="zh-TW" dirty="0"/>
              <a:t>from any </a:t>
            </a:r>
            <a:r>
              <a:rPr lang="en-US" altLang="zh-TW" dirty="0" smtClean="0"/>
              <a:t>client computer.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4774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32656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System </a:t>
            </a:r>
            <a:r>
              <a:rPr lang="en-US" altLang="zh-TW" dirty="0" smtClean="0"/>
              <a:t>Call Interception </a:t>
            </a:r>
            <a:r>
              <a:rPr lang="en-US" altLang="zh-TW" dirty="0"/>
              <a:t>in AFS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67302"/>
            <a:ext cx="7524328" cy="527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791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AFS Implementation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1394947"/>
            <a:ext cx="8856984" cy="4554333"/>
          </a:xfrm>
        </p:spPr>
        <p:txBody>
          <a:bodyPr>
            <a:normAutofit/>
          </a:bodyPr>
          <a:lstStyle/>
          <a:p>
            <a:r>
              <a:rPr lang="en-US" altLang="zh-TW" dirty="0"/>
              <a:t>The UNIX kernel in each </a:t>
            </a:r>
            <a:r>
              <a:rPr lang="en-US" altLang="zh-TW" dirty="0" smtClean="0"/>
              <a:t>client </a:t>
            </a:r>
            <a:r>
              <a:rPr lang="en-US" altLang="zh-TW" dirty="0"/>
              <a:t>and server is a modified version of </a:t>
            </a:r>
            <a:r>
              <a:rPr lang="en-US" altLang="zh-TW" dirty="0" smtClean="0"/>
              <a:t>BSD UNIX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open, close and some other </a:t>
            </a:r>
            <a:r>
              <a:rPr lang="en-US" altLang="zh-TW" dirty="0" smtClean="0">
                <a:solidFill>
                  <a:srgbClr val="FF0000"/>
                </a:solidFill>
              </a:rPr>
              <a:t>file system </a:t>
            </a:r>
            <a:r>
              <a:rPr lang="en-US" altLang="zh-TW" dirty="0">
                <a:solidFill>
                  <a:srgbClr val="FF0000"/>
                </a:solidFill>
              </a:rPr>
              <a:t>calls </a:t>
            </a:r>
            <a:r>
              <a:rPr lang="en-US" altLang="zh-TW" dirty="0" smtClean="0"/>
              <a:t>are </a:t>
            </a:r>
            <a:r>
              <a:rPr lang="en-US" altLang="zh-TW" dirty="0" smtClean="0">
                <a:solidFill>
                  <a:srgbClr val="FF0000"/>
                </a:solidFill>
              </a:rPr>
              <a:t>intercepted</a:t>
            </a:r>
            <a:r>
              <a:rPr lang="en-US" altLang="zh-TW" dirty="0" smtClean="0"/>
              <a:t> and passed to </a:t>
            </a:r>
            <a:r>
              <a:rPr lang="en-US" altLang="zh-TW" dirty="0"/>
              <a:t>the </a:t>
            </a:r>
            <a:r>
              <a:rPr lang="en-US" altLang="zh-TW" dirty="0">
                <a:solidFill>
                  <a:srgbClr val="FF0000"/>
                </a:solidFill>
              </a:rPr>
              <a:t>Venus </a:t>
            </a:r>
            <a:r>
              <a:rPr lang="en-US" altLang="zh-TW" dirty="0" smtClean="0"/>
              <a:t>when they refer </a:t>
            </a:r>
            <a:r>
              <a:rPr lang="en-US" altLang="zh-TW" dirty="0"/>
              <a:t>to shared </a:t>
            </a:r>
            <a:r>
              <a:rPr lang="en-US" altLang="zh-TW" dirty="0" smtClean="0"/>
              <a:t>space files.</a:t>
            </a:r>
          </a:p>
          <a:p>
            <a:r>
              <a:rPr lang="en-US" altLang="zh-TW" dirty="0" smtClean="0"/>
              <a:t>Each </a:t>
            </a:r>
            <a:r>
              <a:rPr lang="en-US" altLang="zh-TW" dirty="0"/>
              <a:t>client computer </a:t>
            </a:r>
            <a:r>
              <a:rPr lang="en-US" altLang="zh-TW" dirty="0" smtClean="0"/>
              <a:t>uses a local </a:t>
            </a:r>
            <a:r>
              <a:rPr lang="en-US" altLang="zh-TW" dirty="0"/>
              <a:t>file </a:t>
            </a:r>
            <a:r>
              <a:rPr lang="en-US" altLang="zh-TW" dirty="0" smtClean="0"/>
              <a:t>partition as a cache for holding </a:t>
            </a:r>
            <a:r>
              <a:rPr lang="en-US" altLang="zh-TW" dirty="0"/>
              <a:t>the cached copies of </a:t>
            </a:r>
            <a:r>
              <a:rPr lang="en-US" altLang="zh-TW" dirty="0" smtClean="0"/>
              <a:t>files from shared </a:t>
            </a:r>
            <a:r>
              <a:rPr lang="en-US" altLang="zh-TW" dirty="0"/>
              <a:t>space </a:t>
            </a:r>
            <a:r>
              <a:rPr lang="en-US" altLang="zh-TW" dirty="0" smtClean="0"/>
              <a:t>. 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Venus</a:t>
            </a:r>
            <a:r>
              <a:rPr lang="en-US" altLang="zh-TW" dirty="0" smtClean="0"/>
              <a:t> </a:t>
            </a:r>
            <a:r>
              <a:rPr lang="en-US" altLang="zh-TW" dirty="0"/>
              <a:t>manages the </a:t>
            </a:r>
            <a:r>
              <a:rPr lang="en-US" altLang="zh-TW" dirty="0" smtClean="0"/>
              <a:t>cache.</a:t>
            </a:r>
          </a:p>
          <a:p>
            <a:pPr lvl="2"/>
            <a:r>
              <a:rPr lang="en-US" altLang="zh-TW" dirty="0" smtClean="0"/>
              <a:t>It may remove </a:t>
            </a:r>
            <a:r>
              <a:rPr lang="en-US" altLang="zh-TW" dirty="0"/>
              <a:t>the least recently used files when a new file is acquired from a server </a:t>
            </a:r>
            <a:r>
              <a:rPr lang="en-US" altLang="zh-TW" dirty="0" smtClean="0"/>
              <a:t>and </a:t>
            </a:r>
            <a:r>
              <a:rPr lang="en-US" altLang="zh-TW" dirty="0"/>
              <a:t>the partition is full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Each file and directory in the shared file space is identified by a </a:t>
            </a:r>
            <a:r>
              <a:rPr lang="en-US" altLang="zh-TW" dirty="0" smtClean="0"/>
              <a:t>unique 96-bit file identifier </a:t>
            </a:r>
            <a:r>
              <a:rPr lang="en-US" altLang="zh-TW" dirty="0"/>
              <a:t>(</a:t>
            </a:r>
            <a:r>
              <a:rPr lang="en-US" altLang="zh-TW" dirty="0" smtClean="0">
                <a:solidFill>
                  <a:srgbClr val="FF0000"/>
                </a:solidFill>
              </a:rPr>
              <a:t>fid</a:t>
            </a:r>
            <a:r>
              <a:rPr lang="en-US" altLang="zh-TW" dirty="0" smtClean="0"/>
              <a:t>). 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49" y="5949280"/>
            <a:ext cx="6145301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902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AFS </a:t>
            </a:r>
            <a:r>
              <a:rPr lang="en-US" altLang="zh-TW" dirty="0" smtClean="0"/>
              <a:t>Implementation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8928992" cy="5069160"/>
          </a:xfrm>
        </p:spPr>
        <p:txBody>
          <a:bodyPr>
            <a:normAutofit/>
          </a:bodyPr>
          <a:lstStyle/>
          <a:p>
            <a:r>
              <a:rPr lang="en-US" altLang="zh-TW" dirty="0"/>
              <a:t>Files are grouped into volumes for ease of </a:t>
            </a:r>
            <a:r>
              <a:rPr lang="en-US" altLang="zh-TW" dirty="0">
                <a:solidFill>
                  <a:srgbClr val="FF0000"/>
                </a:solidFill>
              </a:rPr>
              <a:t>location</a:t>
            </a:r>
            <a:r>
              <a:rPr lang="en-US" altLang="zh-TW" dirty="0"/>
              <a:t> and </a:t>
            </a:r>
            <a:r>
              <a:rPr lang="en-US" altLang="zh-TW" dirty="0" smtClean="0">
                <a:solidFill>
                  <a:srgbClr val="FF0000"/>
                </a:solidFill>
              </a:rPr>
              <a:t>movement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Each user</a:t>
            </a:r>
            <a:r>
              <a:rPr lang="en-US" altLang="zh-TW" dirty="0" smtClean="0">
                <a:latin typeface="Poor Richard" panose="02080502050505020702" pitchFamily="18" charset="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personal files are </a:t>
            </a:r>
            <a:r>
              <a:rPr lang="en-US" altLang="zh-TW" dirty="0" smtClean="0"/>
              <a:t>usually </a:t>
            </a:r>
            <a:r>
              <a:rPr lang="en-US" altLang="zh-TW" dirty="0"/>
              <a:t>in a separate volume.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Other volumes </a:t>
            </a:r>
            <a:r>
              <a:rPr lang="en-US" altLang="zh-TW" dirty="0"/>
              <a:t>are allocated for system binaries, </a:t>
            </a:r>
            <a:r>
              <a:rPr lang="en-US" altLang="zh-TW" dirty="0" smtClean="0"/>
              <a:t>documentations </a:t>
            </a:r>
            <a:r>
              <a:rPr lang="en-US" altLang="zh-TW" dirty="0"/>
              <a:t>and library </a:t>
            </a:r>
            <a:r>
              <a:rPr lang="en-US" altLang="zh-TW" dirty="0" smtClean="0"/>
              <a:t>codes.</a:t>
            </a:r>
          </a:p>
          <a:p>
            <a:r>
              <a:rPr lang="en-US" altLang="zh-TW" dirty="0">
                <a:solidFill>
                  <a:srgbClr val="FF0000"/>
                </a:solidFill>
              </a:rPr>
              <a:t>User</a:t>
            </a:r>
            <a:r>
              <a:rPr lang="en-US" altLang="zh-TW" dirty="0"/>
              <a:t> programs use </a:t>
            </a:r>
            <a:r>
              <a:rPr lang="en-US" altLang="zh-TW" dirty="0" smtClean="0">
                <a:solidFill>
                  <a:srgbClr val="FF0000"/>
                </a:solidFill>
              </a:rPr>
              <a:t>pathnames</a:t>
            </a:r>
            <a:r>
              <a:rPr lang="en-US" altLang="zh-TW" dirty="0" smtClean="0"/>
              <a:t> </a:t>
            </a:r>
            <a:r>
              <a:rPr lang="en-US" altLang="zh-TW" dirty="0"/>
              <a:t>to refer to files, but </a:t>
            </a:r>
            <a:r>
              <a:rPr lang="en-US" altLang="zh-TW" dirty="0">
                <a:solidFill>
                  <a:srgbClr val="FF0000"/>
                </a:solidFill>
              </a:rPr>
              <a:t>AFS</a:t>
            </a:r>
            <a:r>
              <a:rPr lang="en-US" altLang="zh-TW" dirty="0"/>
              <a:t> uses </a:t>
            </a:r>
            <a:r>
              <a:rPr lang="en-US" altLang="zh-TW" dirty="0">
                <a:solidFill>
                  <a:srgbClr val="FF0000"/>
                </a:solidFill>
              </a:rPr>
              <a:t>fids</a:t>
            </a:r>
            <a:r>
              <a:rPr lang="en-US" altLang="zh-TW" dirty="0"/>
              <a:t> in the communication between the Venus and </a:t>
            </a:r>
            <a:r>
              <a:rPr lang="en-US" altLang="zh-TW" dirty="0" smtClean="0"/>
              <a:t>Vices. </a:t>
            </a:r>
            <a:endParaRPr lang="en-US" altLang="zh-TW" dirty="0"/>
          </a:p>
          <a:p>
            <a:pPr lvl="1"/>
            <a:r>
              <a:rPr lang="en-US" altLang="zh-TW" dirty="0"/>
              <a:t>The Vice servers accept requests only in terms of fids.</a:t>
            </a:r>
          </a:p>
          <a:p>
            <a:pPr lvl="1"/>
            <a:r>
              <a:rPr lang="en-US" altLang="zh-TW" dirty="0"/>
              <a:t>Venus </a:t>
            </a:r>
            <a:r>
              <a:rPr lang="en-US" altLang="zh-TW" dirty="0">
                <a:solidFill>
                  <a:srgbClr val="FF0000"/>
                </a:solidFill>
              </a:rPr>
              <a:t>translates</a:t>
            </a:r>
            <a:r>
              <a:rPr lang="en-US" altLang="zh-TW" dirty="0"/>
              <a:t> the </a:t>
            </a:r>
            <a:r>
              <a:rPr lang="en-US" altLang="zh-TW" dirty="0">
                <a:solidFill>
                  <a:srgbClr val="FF0000"/>
                </a:solidFill>
              </a:rPr>
              <a:t>pathnames</a:t>
            </a:r>
            <a:r>
              <a:rPr lang="en-US" altLang="zh-TW" dirty="0"/>
              <a:t> supplied by clients into </a:t>
            </a:r>
            <a:r>
              <a:rPr lang="en-US" altLang="zh-TW" dirty="0" smtClean="0">
                <a:solidFill>
                  <a:srgbClr val="FF0000"/>
                </a:solidFill>
              </a:rPr>
              <a:t>fids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It uses </a:t>
            </a:r>
            <a:r>
              <a:rPr lang="en-US" altLang="zh-TW" dirty="0"/>
              <a:t>a step-by-step lookup </a:t>
            </a:r>
            <a:r>
              <a:rPr lang="en-US" altLang="zh-TW" dirty="0" smtClean="0"/>
              <a:t>calls to </a:t>
            </a:r>
            <a:r>
              <a:rPr lang="en-US" altLang="zh-TW" dirty="0"/>
              <a:t>obtain the information from the file directories held in the Vice servers.</a:t>
            </a: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566437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內容版面配置區 3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245228926"/>
              </p:ext>
            </p:extLst>
          </p:nvPr>
        </p:nvGraphicFramePr>
        <p:xfrm>
          <a:off x="107504" y="404664"/>
          <a:ext cx="8928992" cy="6373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5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5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2487">
                <a:tc>
                  <a:txBody>
                    <a:bodyPr/>
                    <a:lstStyle/>
                    <a:p>
                      <a:r>
                        <a:rPr lang="fr-FR" altLang="zh-TW" sz="1600" dirty="0" smtClean="0"/>
                        <a:t>User process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TW" sz="1600" dirty="0" smtClean="0"/>
                        <a:t>UNIX kernel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TW" sz="1600" dirty="0" smtClean="0"/>
                        <a:t>Venus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TW" sz="1600" dirty="0" smtClean="0"/>
                        <a:t>Net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TW" sz="1600" dirty="0" smtClean="0"/>
                        <a:t>Vice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802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open(</a:t>
                      </a:r>
                      <a:r>
                        <a:rPr lang="en-US" altLang="zh-TW" sz="1600" dirty="0" err="1" smtClean="0"/>
                        <a:t>FileName</a:t>
                      </a:r>
                      <a:r>
                        <a:rPr lang="en-US" altLang="zh-TW" sz="1600" dirty="0" smtClean="0"/>
                        <a:t>,</a:t>
                      </a:r>
                    </a:p>
                    <a:p>
                      <a:r>
                        <a:rPr lang="en-US" altLang="zh-TW" sz="1600" dirty="0" smtClean="0"/>
                        <a:t>mode)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If </a:t>
                      </a:r>
                      <a:r>
                        <a:rPr lang="en-US" altLang="zh-TW" sz="1600" dirty="0" err="1" smtClean="0"/>
                        <a:t>FileName</a:t>
                      </a:r>
                      <a:r>
                        <a:rPr lang="en-US" altLang="zh-TW" sz="1600" dirty="0" smtClean="0"/>
                        <a:t> refers to a file in shared file space, pass the request to </a:t>
                      </a: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Venus</a:t>
                      </a:r>
                      <a:r>
                        <a:rPr lang="en-US" altLang="zh-TW" sz="1600" dirty="0" smtClean="0"/>
                        <a:t>.</a:t>
                      </a:r>
                    </a:p>
                    <a:p>
                      <a:endParaRPr lang="en-US" altLang="zh-TW" sz="1600" dirty="0" smtClean="0"/>
                    </a:p>
                    <a:p>
                      <a:endParaRPr lang="en-US" altLang="zh-TW" sz="1600" dirty="0" smtClean="0"/>
                    </a:p>
                    <a:p>
                      <a:endParaRPr lang="en-US" altLang="zh-TW" sz="1600" dirty="0" smtClean="0"/>
                    </a:p>
                    <a:p>
                      <a:r>
                        <a:rPr lang="en-US" altLang="zh-TW" sz="1600" dirty="0" smtClean="0"/>
                        <a:t>Open the local file and return the file</a:t>
                      </a:r>
                    </a:p>
                    <a:p>
                      <a:r>
                        <a:rPr lang="en-US" altLang="zh-TW" sz="1600" dirty="0" smtClean="0"/>
                        <a:t>descriptor to the</a:t>
                      </a:r>
                    </a:p>
                    <a:p>
                      <a:r>
                        <a:rPr lang="en-US" altLang="zh-TW" sz="1600" dirty="0" smtClean="0"/>
                        <a:t>application.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Check list of files in local cache. If not present or there is no valid callback promise, send a request for the file to the </a:t>
                      </a: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Vice</a:t>
                      </a:r>
                      <a:r>
                        <a:rPr lang="en-US" altLang="zh-TW" sz="1600" dirty="0" smtClean="0"/>
                        <a:t> server that is custodian of the volume containing the file.</a:t>
                      </a:r>
                    </a:p>
                    <a:p>
                      <a:endParaRPr lang="en-US" altLang="zh-TW" sz="1600" dirty="0" smtClean="0"/>
                    </a:p>
                    <a:p>
                      <a:r>
                        <a:rPr lang="en-US" altLang="zh-TW" sz="1600" dirty="0" smtClean="0"/>
                        <a:t>Place the copy of the file in the local file system, enter its local name in the local cache list and return the local name to UNIX.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zh-TW" sz="1600" dirty="0" smtClean="0"/>
                    </a:p>
                    <a:p>
                      <a:endParaRPr lang="en-US" altLang="zh-TW" sz="1600" dirty="0" smtClean="0"/>
                    </a:p>
                    <a:p>
                      <a:endParaRPr lang="en-US" altLang="zh-TW" sz="1600" dirty="0" smtClean="0"/>
                    </a:p>
                    <a:p>
                      <a:endParaRPr lang="en-US" altLang="zh-TW" sz="1600" dirty="0" smtClean="0"/>
                    </a:p>
                    <a:p>
                      <a:r>
                        <a:rPr lang="en-US" altLang="zh-TW" sz="1600" dirty="0" smtClean="0"/>
                        <a:t>Transfer a copy of the file and a callback promise to the </a:t>
                      </a:r>
                      <a:r>
                        <a:rPr lang="en-US" altLang="zh-TW" sz="1600" dirty="0" smtClean="0">
                          <a:solidFill>
                            <a:srgbClr val="FF0000"/>
                          </a:solidFill>
                        </a:rPr>
                        <a:t>Venus</a:t>
                      </a:r>
                      <a:r>
                        <a:rPr lang="en-US" altLang="zh-TW" sz="1600" dirty="0" smtClean="0"/>
                        <a:t>. Log the callback promise.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938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read(</a:t>
                      </a:r>
                      <a:r>
                        <a:rPr lang="en-US" altLang="zh-TW" sz="1600" dirty="0" err="1" smtClean="0"/>
                        <a:t>FileDescriptor</a:t>
                      </a:r>
                      <a:r>
                        <a:rPr lang="en-US" altLang="zh-TW" sz="1600" dirty="0" smtClean="0"/>
                        <a:t>, Buffer, length)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Perform a normal</a:t>
                      </a:r>
                    </a:p>
                    <a:p>
                      <a:r>
                        <a:rPr lang="en-US" altLang="zh-TW" sz="1600" dirty="0" smtClean="0"/>
                        <a:t>UNIX read operation</a:t>
                      </a:r>
                    </a:p>
                    <a:p>
                      <a:r>
                        <a:rPr lang="en-US" altLang="zh-TW" sz="1600" dirty="0" smtClean="0"/>
                        <a:t>on the local copy.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938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write(</a:t>
                      </a:r>
                      <a:r>
                        <a:rPr lang="en-US" altLang="zh-TW" sz="1600" dirty="0" err="1" smtClean="0"/>
                        <a:t>FileDescriptor</a:t>
                      </a:r>
                      <a:r>
                        <a:rPr lang="en-US" altLang="zh-TW" sz="1600" dirty="0" smtClean="0"/>
                        <a:t>,</a:t>
                      </a:r>
                    </a:p>
                    <a:p>
                      <a:r>
                        <a:rPr lang="en-US" altLang="zh-TW" sz="1600" dirty="0" smtClean="0"/>
                        <a:t>Buffer, length)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Perform a normal</a:t>
                      </a:r>
                    </a:p>
                    <a:p>
                      <a:r>
                        <a:rPr lang="en-US" altLang="zh-TW" sz="1600" dirty="0" smtClean="0"/>
                        <a:t>UNIX write operation</a:t>
                      </a:r>
                    </a:p>
                    <a:p>
                      <a:r>
                        <a:rPr lang="en-US" altLang="zh-TW" sz="1600" dirty="0" smtClean="0"/>
                        <a:t>on the local copy.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9890"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close(</a:t>
                      </a:r>
                      <a:r>
                        <a:rPr lang="en-US" altLang="zh-TW" sz="1600" dirty="0" err="1" smtClean="0"/>
                        <a:t>FileDescriptor</a:t>
                      </a:r>
                      <a:r>
                        <a:rPr lang="en-US" altLang="zh-TW" sz="1600" dirty="0" smtClean="0"/>
                        <a:t>)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Close the local copy</a:t>
                      </a:r>
                    </a:p>
                    <a:p>
                      <a:r>
                        <a:rPr lang="en-US" altLang="zh-TW" sz="1600" dirty="0" smtClean="0"/>
                        <a:t>and notify Venus that</a:t>
                      </a:r>
                    </a:p>
                    <a:p>
                      <a:r>
                        <a:rPr lang="en-US" altLang="zh-TW" sz="1600" dirty="0" smtClean="0"/>
                        <a:t>the file has been closed.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If the local copy has been changed, send a copy to the Vice server that is the custodian of the file.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/>
                        <a:t>Replace the file</a:t>
                      </a:r>
                    </a:p>
                    <a:p>
                      <a:r>
                        <a:rPr lang="en-US" altLang="zh-TW" sz="1600" dirty="0" smtClean="0"/>
                        <a:t>contents and send a</a:t>
                      </a:r>
                    </a:p>
                    <a:p>
                      <a:r>
                        <a:rPr lang="en-US" altLang="zh-TW" sz="1600" dirty="0" smtClean="0"/>
                        <a:t>callback to all other</a:t>
                      </a:r>
                    </a:p>
                    <a:p>
                      <a:r>
                        <a:rPr lang="en-US" altLang="zh-TW" sz="1600" dirty="0" smtClean="0"/>
                        <a:t>clients holding callback promises on the file.</a:t>
                      </a:r>
                      <a:endParaRPr lang="zh-TW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051720" y="-99392"/>
            <a:ext cx="5616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en-US" altLang="zh-TW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File System Calls in AFS</a:t>
            </a:r>
            <a:endParaRPr kumimoji="0" lang="zh-TW" altLang="en-US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>
            <a:off x="6516216" y="1916832"/>
            <a:ext cx="64807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>
            <a:off x="6588224" y="2780928"/>
            <a:ext cx="648072" cy="0"/>
          </a:xfrm>
          <a:prstGeom prst="straightConnector1">
            <a:avLst/>
          </a:prstGeom>
          <a:ln w="38100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/>
          <p:cNvCxnSpPr/>
          <p:nvPr/>
        </p:nvCxnSpPr>
        <p:spPr>
          <a:xfrm>
            <a:off x="6516216" y="6021288"/>
            <a:ext cx="648072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>
            <a:off x="1691680" y="1124744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/>
          <p:nvPr/>
        </p:nvCxnSpPr>
        <p:spPr>
          <a:xfrm>
            <a:off x="3707904" y="1340768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3707904" y="2996952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1619672" y="3861048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>
            <a:off x="1619672" y="4725144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>
            <a:off x="1619672" y="5589240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>
            <a:off x="3707904" y="5805264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>
            <a:off x="1691680" y="3284984"/>
            <a:ext cx="28803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222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Cache Consistency in AFS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484784"/>
            <a:ext cx="9144000" cy="5373216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When </a:t>
            </a:r>
            <a:r>
              <a:rPr lang="en-US" altLang="zh-TW" dirty="0">
                <a:solidFill>
                  <a:srgbClr val="FF0000"/>
                </a:solidFill>
              </a:rPr>
              <a:t>Vice</a:t>
            </a:r>
            <a:r>
              <a:rPr lang="en-US" altLang="zh-TW" dirty="0"/>
              <a:t> supplies a copy of a file to a </a:t>
            </a:r>
            <a:r>
              <a:rPr lang="en-US" altLang="zh-TW" dirty="0" smtClean="0">
                <a:solidFill>
                  <a:srgbClr val="FF0000"/>
                </a:solidFill>
              </a:rPr>
              <a:t>Venus</a:t>
            </a:r>
            <a:r>
              <a:rPr lang="en-US" altLang="zh-TW" dirty="0" smtClean="0"/>
              <a:t>, </a:t>
            </a:r>
            <a:r>
              <a:rPr lang="en-US" altLang="zh-TW" dirty="0"/>
              <a:t>it also provides a </a:t>
            </a:r>
            <a:r>
              <a:rPr lang="en-US" altLang="zh-TW" dirty="0" smtClean="0">
                <a:solidFill>
                  <a:srgbClr val="FF0000"/>
                </a:solidFill>
              </a:rPr>
              <a:t>callback</a:t>
            </a:r>
            <a:r>
              <a:rPr lang="en-US" altLang="zh-TW" dirty="0" smtClean="0"/>
              <a:t> promise.</a:t>
            </a:r>
          </a:p>
          <a:p>
            <a:pPr lvl="1"/>
            <a:r>
              <a:rPr lang="en-US" altLang="zh-TW" dirty="0" smtClean="0"/>
              <a:t>A callback promise is </a:t>
            </a:r>
            <a:r>
              <a:rPr lang="en-US" altLang="zh-TW" dirty="0"/>
              <a:t>a token issued by the Vice </a:t>
            </a:r>
            <a:r>
              <a:rPr lang="en-US" altLang="zh-TW" dirty="0" smtClean="0"/>
              <a:t>who </a:t>
            </a:r>
            <a:r>
              <a:rPr lang="en-US" altLang="zh-TW" dirty="0"/>
              <a:t>is the </a:t>
            </a:r>
            <a:r>
              <a:rPr lang="en-US" altLang="zh-TW" dirty="0" smtClean="0">
                <a:solidFill>
                  <a:srgbClr val="FF0000"/>
                </a:solidFill>
              </a:rPr>
              <a:t>custodian</a:t>
            </a:r>
            <a:r>
              <a:rPr lang="en-US" altLang="zh-TW" dirty="0" smtClean="0"/>
              <a:t> </a:t>
            </a:r>
            <a:r>
              <a:rPr lang="en-US" altLang="zh-TW" dirty="0"/>
              <a:t>of the </a:t>
            </a:r>
            <a:r>
              <a:rPr lang="en-US" altLang="zh-TW" dirty="0" smtClean="0"/>
              <a:t>file.</a:t>
            </a:r>
          </a:p>
          <a:p>
            <a:pPr lvl="2"/>
            <a:r>
              <a:rPr lang="en-US" altLang="zh-TW" dirty="0" smtClean="0"/>
              <a:t>It guarantees to </a:t>
            </a:r>
            <a:r>
              <a:rPr lang="en-US" altLang="zh-TW" dirty="0"/>
              <a:t>notify the Venus </a:t>
            </a:r>
            <a:r>
              <a:rPr lang="en-US" altLang="zh-TW" dirty="0" smtClean="0"/>
              <a:t>when </a:t>
            </a:r>
            <a:r>
              <a:rPr lang="en-US" altLang="zh-TW" dirty="0"/>
              <a:t>any other client modifies the file.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Callback promises </a:t>
            </a:r>
            <a:r>
              <a:rPr lang="en-US" altLang="zh-TW" dirty="0"/>
              <a:t>are stored with the cached files on the </a:t>
            </a:r>
            <a:r>
              <a:rPr lang="en-US" altLang="zh-TW" dirty="0" smtClean="0"/>
              <a:t>client</a:t>
            </a:r>
            <a:r>
              <a:rPr lang="en-US" altLang="zh-TW" dirty="0" smtClean="0">
                <a:latin typeface="Poor Richard" panose="02080502050505020702" pitchFamily="18" charset="0"/>
              </a:rPr>
              <a:t>'</a:t>
            </a:r>
            <a:r>
              <a:rPr lang="en-US" altLang="zh-TW" dirty="0" smtClean="0"/>
              <a:t>s local disks </a:t>
            </a:r>
            <a:r>
              <a:rPr lang="en-US" altLang="zh-TW" dirty="0"/>
              <a:t>and have two </a:t>
            </a:r>
            <a:r>
              <a:rPr lang="en-US" altLang="zh-TW" dirty="0" smtClean="0"/>
              <a:t>states: </a:t>
            </a:r>
            <a:r>
              <a:rPr lang="en-US" altLang="zh-TW" dirty="0" smtClean="0">
                <a:solidFill>
                  <a:srgbClr val="FF0000"/>
                </a:solidFill>
              </a:rPr>
              <a:t>valid</a:t>
            </a:r>
            <a:r>
              <a:rPr lang="en-US" altLang="zh-TW" dirty="0" smtClean="0"/>
              <a:t> </a:t>
            </a:r>
            <a:r>
              <a:rPr lang="en-US" altLang="zh-TW" dirty="0"/>
              <a:t>or </a:t>
            </a:r>
            <a:r>
              <a:rPr lang="en-US" altLang="zh-TW" dirty="0">
                <a:solidFill>
                  <a:srgbClr val="FF0000"/>
                </a:solidFill>
              </a:rPr>
              <a:t>cancelled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a </a:t>
            </a:r>
            <a:r>
              <a:rPr lang="en-US" altLang="zh-TW" dirty="0" smtClean="0"/>
              <a:t>Vice </a:t>
            </a:r>
            <a:r>
              <a:rPr lang="en-US" altLang="zh-TW" dirty="0"/>
              <a:t>performs a request to update a file it notifies all of </a:t>
            </a:r>
            <a:r>
              <a:rPr lang="en-US" altLang="zh-TW" dirty="0" smtClean="0"/>
              <a:t>the Venus who have been </a:t>
            </a:r>
            <a:r>
              <a:rPr lang="en-US" altLang="zh-TW" dirty="0"/>
              <a:t>issued callback </a:t>
            </a:r>
            <a:r>
              <a:rPr lang="en-US" altLang="zh-TW" dirty="0" smtClean="0"/>
              <a:t>promises.</a:t>
            </a:r>
            <a:endParaRPr lang="en-US" altLang="zh-TW" dirty="0"/>
          </a:p>
          <a:p>
            <a:pPr lvl="2"/>
            <a:r>
              <a:rPr lang="en-US" altLang="zh-TW" dirty="0" smtClean="0"/>
              <a:t>A </a:t>
            </a:r>
            <a:r>
              <a:rPr lang="en-US" altLang="zh-TW" dirty="0"/>
              <a:t>callback is a remote procedure call from a </a:t>
            </a:r>
            <a:r>
              <a:rPr lang="en-US" altLang="zh-TW" dirty="0" smtClean="0"/>
              <a:t>Vice </a:t>
            </a:r>
            <a:r>
              <a:rPr lang="en-US" altLang="zh-TW" dirty="0"/>
              <a:t>to a </a:t>
            </a:r>
            <a:r>
              <a:rPr lang="en-US" altLang="zh-TW" dirty="0" smtClean="0"/>
              <a:t>Venus. </a:t>
            </a:r>
          </a:p>
          <a:p>
            <a:pPr lvl="1"/>
            <a:r>
              <a:rPr lang="en-US" altLang="zh-TW" dirty="0"/>
              <a:t>W</a:t>
            </a:r>
            <a:r>
              <a:rPr lang="en-US" altLang="zh-TW" dirty="0" smtClean="0"/>
              <a:t>hen </a:t>
            </a:r>
            <a:r>
              <a:rPr lang="en-US" altLang="zh-TW" dirty="0"/>
              <a:t>the </a:t>
            </a:r>
            <a:r>
              <a:rPr lang="en-US" altLang="zh-TW" dirty="0" smtClean="0"/>
              <a:t>Venus </a:t>
            </a:r>
            <a:r>
              <a:rPr lang="en-US" altLang="zh-TW" dirty="0"/>
              <a:t>receives a callback, it sets the callback promise token for the relevant file </a:t>
            </a:r>
            <a:r>
              <a:rPr lang="en-US" altLang="zh-TW" dirty="0" smtClean="0"/>
              <a:t>to </a:t>
            </a:r>
            <a:r>
              <a:rPr lang="en-US" altLang="zh-TW" dirty="0" smtClean="0">
                <a:solidFill>
                  <a:srgbClr val="FF0000"/>
                </a:solidFill>
              </a:rPr>
              <a:t>cancelled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Whenever </a:t>
            </a:r>
            <a:r>
              <a:rPr lang="en-US" altLang="zh-TW" dirty="0" smtClean="0"/>
              <a:t>Venus </a:t>
            </a:r>
            <a:r>
              <a:rPr lang="en-US" altLang="zh-TW" dirty="0"/>
              <a:t>handles an open </a:t>
            </a:r>
            <a:r>
              <a:rPr lang="en-US" altLang="zh-TW" dirty="0" smtClean="0"/>
              <a:t>call, </a:t>
            </a:r>
            <a:r>
              <a:rPr lang="en-US" altLang="zh-TW" dirty="0"/>
              <a:t>it checks the cache.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If the required </a:t>
            </a:r>
            <a:r>
              <a:rPr lang="en-US" altLang="zh-TW" dirty="0"/>
              <a:t>file is found in the cache, then its callback promise </a:t>
            </a:r>
            <a:r>
              <a:rPr lang="en-US" altLang="zh-TW" dirty="0" smtClean="0"/>
              <a:t>is </a:t>
            </a:r>
            <a:r>
              <a:rPr lang="en-US" altLang="zh-TW" dirty="0"/>
              <a:t>checked.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If it </a:t>
            </a:r>
            <a:r>
              <a:rPr lang="en-US" altLang="zh-TW" dirty="0"/>
              <a:t>is cancelled, </a:t>
            </a:r>
            <a:r>
              <a:rPr lang="en-US" altLang="zh-TW" dirty="0" smtClean="0"/>
              <a:t>then a </a:t>
            </a:r>
            <a:r>
              <a:rPr lang="en-US" altLang="zh-TW" dirty="0"/>
              <a:t>fresh copy of the file must be fetched from the </a:t>
            </a:r>
            <a:r>
              <a:rPr lang="en-US" altLang="zh-TW" dirty="0" smtClean="0"/>
              <a:t>Vice.</a:t>
            </a:r>
          </a:p>
          <a:p>
            <a:r>
              <a:rPr lang="en-US" altLang="zh-TW" dirty="0"/>
              <a:t>When a </a:t>
            </a:r>
            <a:r>
              <a:rPr lang="en-US" altLang="zh-TW" dirty="0" smtClean="0"/>
              <a:t>client computer is </a:t>
            </a:r>
            <a:r>
              <a:rPr lang="en-US" altLang="zh-TW" dirty="0"/>
              <a:t>restarted after a failure or a </a:t>
            </a:r>
            <a:r>
              <a:rPr lang="en-US" altLang="zh-TW" dirty="0" smtClean="0"/>
              <a:t>shutdown, </a:t>
            </a:r>
            <a:r>
              <a:rPr lang="en-US" altLang="zh-TW" dirty="0"/>
              <a:t>the Venus </a:t>
            </a:r>
            <a:r>
              <a:rPr lang="en-US" altLang="zh-TW" dirty="0" smtClean="0"/>
              <a:t>must ensure all callback promises are still valid.</a:t>
            </a:r>
          </a:p>
          <a:p>
            <a:pPr lvl="1"/>
            <a:r>
              <a:rPr lang="en-US" altLang="zh-TW" dirty="0" smtClean="0"/>
              <a:t>It generates a cache </a:t>
            </a:r>
            <a:r>
              <a:rPr lang="en-US" altLang="zh-TW" dirty="0"/>
              <a:t>validation request containing the </a:t>
            </a:r>
            <a:r>
              <a:rPr lang="en-US" altLang="zh-TW" dirty="0">
                <a:solidFill>
                  <a:srgbClr val="FF0000"/>
                </a:solidFill>
              </a:rPr>
              <a:t>file modification timestamp</a:t>
            </a:r>
            <a:r>
              <a:rPr lang="en-US" altLang="zh-TW" dirty="0"/>
              <a:t> </a:t>
            </a:r>
            <a:r>
              <a:rPr lang="en-US" altLang="zh-TW" dirty="0" smtClean="0"/>
              <a:t>for each cached file.</a:t>
            </a:r>
          </a:p>
          <a:p>
            <a:pPr lvl="1"/>
            <a:r>
              <a:rPr lang="en-US" altLang="zh-TW" dirty="0"/>
              <a:t>Callbacks must be renewed before an open if a </a:t>
            </a:r>
            <a:r>
              <a:rPr lang="en-US" altLang="zh-TW" dirty="0" smtClean="0"/>
              <a:t>freshness interval T has </a:t>
            </a:r>
            <a:r>
              <a:rPr lang="en-US" altLang="zh-TW" dirty="0"/>
              <a:t>elapsed since </a:t>
            </a:r>
            <a:r>
              <a:rPr lang="en-US" altLang="zh-TW" dirty="0" smtClean="0"/>
              <a:t>the file </a:t>
            </a:r>
            <a:r>
              <a:rPr lang="en-US" altLang="zh-TW" dirty="0"/>
              <a:t>was cached without communication from the server.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89502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615826"/>
            <a:ext cx="7772400" cy="724942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/>
              <a:t>Vice service </a:t>
            </a:r>
            <a:r>
              <a:rPr lang="en-US" altLang="zh-TW" dirty="0" smtClean="0"/>
              <a:t>APIs (subset)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51555544"/>
              </p:ext>
            </p:extLst>
          </p:nvPr>
        </p:nvGraphicFramePr>
        <p:xfrm>
          <a:off x="323528" y="1828512"/>
          <a:ext cx="8640959" cy="43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0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Fetch(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fid</a:t>
                      </a:r>
                      <a:r>
                        <a:rPr lang="en-US" altLang="zh-TW" b="1" dirty="0" smtClean="0"/>
                        <a:t>) </a:t>
                      </a:r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zh-TW" b="1" dirty="0" err="1" smtClean="0">
                          <a:solidFill>
                            <a:srgbClr val="FF0000"/>
                          </a:solidFill>
                        </a:rPr>
                        <a:t>attr</a:t>
                      </a:r>
                      <a:r>
                        <a:rPr lang="en-US" altLang="zh-TW" b="1" dirty="0" smtClean="0"/>
                        <a:t>,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data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Returns 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attributes</a:t>
                      </a:r>
                      <a:r>
                        <a:rPr lang="en-US" altLang="zh-TW" b="1" dirty="0" smtClean="0"/>
                        <a:t> of the file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fid</a:t>
                      </a:r>
                      <a:r>
                        <a:rPr lang="en-US" altLang="zh-TW" b="1" dirty="0" smtClean="0"/>
                        <a:t> into </a:t>
                      </a:r>
                      <a:r>
                        <a:rPr lang="en-US" altLang="zh-TW" b="1" dirty="0" err="1" smtClean="0">
                          <a:solidFill>
                            <a:srgbClr val="FF0000"/>
                          </a:solidFill>
                        </a:rPr>
                        <a:t>attr</a:t>
                      </a:r>
                      <a:r>
                        <a:rPr lang="en-US" altLang="zh-TW" b="1" dirty="0" smtClean="0"/>
                        <a:t> and</a:t>
                      </a:r>
                      <a:r>
                        <a:rPr lang="en-US" altLang="zh-TW" b="1" baseline="0" dirty="0" smtClean="0"/>
                        <a:t> </a:t>
                      </a:r>
                      <a:r>
                        <a:rPr lang="en-US" altLang="zh-TW" b="1" dirty="0" smtClean="0"/>
                        <a:t>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contents</a:t>
                      </a:r>
                      <a:r>
                        <a:rPr lang="en-US" altLang="zh-TW" b="1" dirty="0" smtClean="0"/>
                        <a:t> of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fid</a:t>
                      </a:r>
                      <a:r>
                        <a:rPr lang="en-US" altLang="zh-TW" b="1" dirty="0" smtClean="0"/>
                        <a:t> into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data</a:t>
                      </a:r>
                      <a:r>
                        <a:rPr lang="en-US" altLang="zh-TW" b="1" dirty="0" smtClean="0"/>
                        <a:t>. Also records a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callback promise </a:t>
                      </a:r>
                      <a:r>
                        <a:rPr lang="en-US" altLang="zh-TW" b="1" dirty="0" smtClean="0"/>
                        <a:t>on it.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Store(fid, </a:t>
                      </a:r>
                      <a:r>
                        <a:rPr lang="en-US" altLang="zh-TW" b="1" dirty="0" err="1" smtClean="0"/>
                        <a:t>attr</a:t>
                      </a:r>
                      <a:r>
                        <a:rPr lang="en-US" altLang="zh-TW" b="1" dirty="0" smtClean="0"/>
                        <a:t>, data)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Updates 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attributes</a:t>
                      </a:r>
                      <a:r>
                        <a:rPr lang="en-US" altLang="zh-TW" b="1" dirty="0" smtClean="0"/>
                        <a:t> and the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contents</a:t>
                      </a:r>
                      <a:r>
                        <a:rPr lang="en-US" altLang="zh-TW" b="1" dirty="0" smtClean="0"/>
                        <a:t> of the</a:t>
                      </a:r>
                      <a:r>
                        <a:rPr lang="en-US" altLang="zh-TW" b="1" baseline="0" dirty="0" smtClean="0"/>
                        <a:t> file </a:t>
                      </a:r>
                      <a:r>
                        <a:rPr lang="en-US" altLang="zh-TW" b="1" baseline="0" dirty="0" smtClean="0">
                          <a:solidFill>
                            <a:srgbClr val="FF0000"/>
                          </a:solidFill>
                        </a:rPr>
                        <a:t>fid</a:t>
                      </a:r>
                      <a:r>
                        <a:rPr lang="en-US" altLang="zh-TW" b="1" dirty="0" smtClean="0"/>
                        <a:t>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Create() </a:t>
                      </a:r>
                      <a:r>
                        <a:rPr lang="en-US" altLang="zh-TW" b="1" dirty="0" smtClean="0"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zh-TW" altLang="en-US" b="1" dirty="0" smtClean="0"/>
                        <a:t> </a:t>
                      </a:r>
                      <a:r>
                        <a:rPr lang="en-US" altLang="zh-TW" b="1" dirty="0" smtClean="0"/>
                        <a:t>fid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Creates a new file and records a callback promise on it.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Remove(fid)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Deletes the file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fid</a:t>
                      </a:r>
                      <a:r>
                        <a:rPr lang="en-US" altLang="zh-TW" b="1" dirty="0" smtClean="0"/>
                        <a:t>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SetLock</a:t>
                      </a:r>
                      <a:r>
                        <a:rPr lang="en-US" altLang="zh-TW" b="1" dirty="0" smtClean="0"/>
                        <a:t>(fid, mode)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Sets a lock on the file (or directory)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fid</a:t>
                      </a:r>
                      <a:r>
                        <a:rPr lang="en-US" altLang="zh-TW" b="1" dirty="0" smtClean="0"/>
                        <a:t>. </a:t>
                      </a:r>
                    </a:p>
                    <a:p>
                      <a:r>
                        <a:rPr lang="en-US" altLang="zh-TW" b="1" dirty="0" smtClean="0"/>
                        <a:t>The mode of the lock may be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shared</a:t>
                      </a:r>
                      <a:r>
                        <a:rPr lang="en-US" altLang="zh-TW" b="1" dirty="0" smtClean="0"/>
                        <a:t> or </a:t>
                      </a:r>
                      <a:r>
                        <a:rPr lang="en-US" altLang="zh-TW" b="1" dirty="0" smtClean="0">
                          <a:solidFill>
                            <a:srgbClr val="FF0000"/>
                          </a:solidFill>
                        </a:rPr>
                        <a:t>exclusive</a:t>
                      </a:r>
                      <a:r>
                        <a:rPr lang="en-US" altLang="zh-TW" b="1" dirty="0" smtClean="0"/>
                        <a:t>. </a:t>
                      </a:r>
                    </a:p>
                    <a:p>
                      <a:r>
                        <a:rPr lang="en-US" altLang="zh-TW" b="1" dirty="0" smtClean="0"/>
                        <a:t>Locks will automatically expire after 30 minutes.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ReleaseLock</a:t>
                      </a:r>
                      <a:r>
                        <a:rPr lang="en-US" altLang="zh-TW" b="1" dirty="0" smtClean="0"/>
                        <a:t>(fid)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Unlocks the file (or directory) fid.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RemoveCallback</a:t>
                      </a:r>
                      <a:r>
                        <a:rPr lang="en-US" altLang="zh-TW" b="1" dirty="0" smtClean="0"/>
                        <a:t>(fid)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Informs the server that a Venus has flushed a file from its cache.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BreakCallback</a:t>
                      </a:r>
                      <a:r>
                        <a:rPr lang="en-US" altLang="zh-TW" b="1" dirty="0" smtClean="0"/>
                        <a:t>(fid)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Callback</a:t>
                      </a:r>
                      <a:r>
                        <a:rPr lang="en-US" altLang="zh-TW" b="1" baseline="0" dirty="0" smtClean="0"/>
                        <a:t> is sent from</a:t>
                      </a:r>
                      <a:r>
                        <a:rPr lang="en-US" altLang="zh-TW" b="1" dirty="0" smtClean="0"/>
                        <a:t> a Vice to a Venus. Venus</a:t>
                      </a:r>
                      <a:r>
                        <a:rPr lang="en-US" altLang="zh-TW" b="1" baseline="0" dirty="0" smtClean="0"/>
                        <a:t> </a:t>
                      </a:r>
                      <a:r>
                        <a:rPr lang="en-US" altLang="zh-TW" b="1" dirty="0" smtClean="0"/>
                        <a:t>cancels the</a:t>
                      </a:r>
                    </a:p>
                    <a:p>
                      <a:r>
                        <a:rPr lang="en-US" altLang="zh-TW" b="1" dirty="0" smtClean="0"/>
                        <a:t>callback promise on the relevant file.</a:t>
                      </a:r>
                      <a:endParaRPr lang="zh-TW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70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/>
          <p:cNvGrpSpPr/>
          <p:nvPr/>
        </p:nvGrpSpPr>
        <p:grpSpPr>
          <a:xfrm>
            <a:off x="6804248" y="1628800"/>
            <a:ext cx="2232248" cy="1224136"/>
            <a:chOff x="251520" y="1844824"/>
            <a:chExt cx="2232248" cy="1224136"/>
          </a:xfrm>
        </p:grpSpPr>
        <p:sp>
          <p:nvSpPr>
            <p:cNvPr id="29" name="圓角矩形 28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395536" y="2627620"/>
              <a:ext cx="2088232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Metadata Service</a:t>
              </a:r>
              <a:endParaRPr lang="zh-TW" altLang="en-US" dirty="0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251520" y="1916832"/>
              <a:ext cx="2232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Metadata Server M</a:t>
              </a:r>
              <a:endParaRPr lang="zh-TW" altLang="en-US" dirty="0"/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5220072" y="2276872"/>
            <a:ext cx="2160240" cy="1224136"/>
            <a:chOff x="323528" y="1844824"/>
            <a:chExt cx="2160240" cy="1224136"/>
          </a:xfrm>
        </p:grpSpPr>
        <p:sp>
          <p:nvSpPr>
            <p:cNvPr id="25" name="圓角矩形 24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395536" y="2699628"/>
              <a:ext cx="2087144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Metadata Service</a:t>
              </a:r>
              <a:endParaRPr lang="zh-TW" altLang="en-US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24616" y="1916832"/>
              <a:ext cx="21591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Metadata Server 2</a:t>
              </a:r>
              <a:endParaRPr lang="zh-TW" altLang="en-US" dirty="0"/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732240" y="4293096"/>
            <a:ext cx="2088232" cy="1224136"/>
            <a:chOff x="323528" y="1844824"/>
            <a:chExt cx="2088232" cy="1224136"/>
          </a:xfrm>
        </p:grpSpPr>
        <p:sp>
          <p:nvSpPr>
            <p:cNvPr id="21" name="圓角矩形 20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467544" y="2699628"/>
              <a:ext cx="1944216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Flat File Service</a:t>
              </a:r>
              <a:endParaRPr lang="zh-TW" altLang="en-US" dirty="0"/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323528" y="1916832"/>
              <a:ext cx="2016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Flat File Server N</a:t>
              </a:r>
              <a:endParaRPr lang="zh-TW" altLang="en-US" dirty="0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18386"/>
            <a:ext cx="7772400" cy="922382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/>
              <a:t>A New File Service Architecture</a:t>
            </a:r>
            <a:endParaRPr lang="zh-TW" alt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539552" y="1988840"/>
            <a:ext cx="2016224" cy="1224136"/>
            <a:chOff x="323528" y="1844824"/>
            <a:chExt cx="2016224" cy="1224136"/>
          </a:xfrm>
          <a:solidFill>
            <a:srgbClr val="FFC000"/>
          </a:solidFill>
        </p:grpSpPr>
        <p:sp>
          <p:nvSpPr>
            <p:cNvPr id="5" name="圓角矩形 4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文字方塊 3"/>
            <p:cNvSpPr txBox="1"/>
            <p:nvPr/>
          </p:nvSpPr>
          <p:spPr>
            <a:xfrm>
              <a:off x="612648" y="2555612"/>
              <a:ext cx="1583088" cy="369332"/>
            </a:xfrm>
            <a:prstGeom prst="rect">
              <a:avLst/>
            </a:prstGeom>
            <a:grp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Client Module</a:t>
              </a:r>
              <a:endParaRPr lang="zh-TW" altLang="en-US" dirty="0"/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467544" y="1916832"/>
              <a:ext cx="15121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Client K</a:t>
              </a:r>
              <a:endParaRPr lang="zh-TW" altLang="en-US" dirty="0"/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4716016" y="2636912"/>
            <a:ext cx="2195700" cy="1224136"/>
            <a:chOff x="323528" y="1844824"/>
            <a:chExt cx="2195700" cy="1224136"/>
          </a:xfrm>
          <a:noFill/>
        </p:grpSpPr>
        <p:sp>
          <p:nvSpPr>
            <p:cNvPr id="9" name="圓角矩形 8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95536" y="2627620"/>
              <a:ext cx="2123692" cy="369332"/>
            </a:xfrm>
            <a:prstGeom prst="rect">
              <a:avLst/>
            </a:prstGeom>
            <a:grp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Metadata Service</a:t>
              </a:r>
              <a:endParaRPr lang="zh-TW" altLang="en-US" dirty="0"/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23528" y="1916832"/>
              <a:ext cx="2123692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Metadata Server 1</a:t>
              </a:r>
              <a:endParaRPr lang="zh-TW" altLang="en-US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4427984" y="5013176"/>
            <a:ext cx="2160240" cy="1224136"/>
            <a:chOff x="323528" y="1844824"/>
            <a:chExt cx="2160240" cy="1224136"/>
          </a:xfrm>
        </p:grpSpPr>
        <p:sp>
          <p:nvSpPr>
            <p:cNvPr id="17" name="圓角矩形 16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39552" y="2699628"/>
              <a:ext cx="1944216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Flat File Service</a:t>
              </a:r>
              <a:endParaRPr lang="zh-TW" altLang="en-US" dirty="0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23528" y="1916832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Flat File Server 2</a:t>
              </a:r>
              <a:endParaRPr lang="zh-TW" altLang="en-US" dirty="0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779912" y="5373216"/>
            <a:ext cx="2016224" cy="1224136"/>
            <a:chOff x="323528" y="1844824"/>
            <a:chExt cx="2016224" cy="1224136"/>
          </a:xfrm>
        </p:grpSpPr>
        <p:sp>
          <p:nvSpPr>
            <p:cNvPr id="13" name="圓角矩形 12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395536" y="2699628"/>
              <a:ext cx="1908756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Flat File Service</a:t>
              </a:r>
              <a:endParaRPr lang="zh-TW" altLang="en-US" dirty="0"/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95536" y="1916832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Flat File Server 1</a:t>
              </a:r>
              <a:endParaRPr lang="zh-TW" altLang="en-US" dirty="0"/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539552" y="4221088"/>
            <a:ext cx="2016224" cy="1224136"/>
            <a:chOff x="323528" y="1844824"/>
            <a:chExt cx="2016224" cy="1224136"/>
          </a:xfrm>
          <a:solidFill>
            <a:srgbClr val="FFC000"/>
          </a:solidFill>
        </p:grpSpPr>
        <p:sp>
          <p:nvSpPr>
            <p:cNvPr id="37" name="圓角矩形 36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612647" y="2555612"/>
              <a:ext cx="1681827" cy="369332"/>
            </a:xfrm>
            <a:prstGeom prst="rect">
              <a:avLst/>
            </a:prstGeom>
            <a:grp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Client Module</a:t>
              </a:r>
              <a:endParaRPr lang="zh-TW" altLang="en-US" dirty="0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467544" y="1916832"/>
              <a:ext cx="15121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Client 2</a:t>
              </a:r>
              <a:endParaRPr lang="zh-TW" altLang="en-US" dirty="0"/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539552" y="5373216"/>
            <a:ext cx="2016224" cy="1224136"/>
            <a:chOff x="323528" y="1844824"/>
            <a:chExt cx="2016224" cy="1224136"/>
          </a:xfrm>
          <a:solidFill>
            <a:srgbClr val="FFC000"/>
          </a:solidFill>
        </p:grpSpPr>
        <p:sp>
          <p:nvSpPr>
            <p:cNvPr id="41" name="圓角矩形 40"/>
            <p:cNvSpPr/>
            <p:nvPr/>
          </p:nvSpPr>
          <p:spPr>
            <a:xfrm>
              <a:off x="323528" y="1844824"/>
              <a:ext cx="2016224" cy="1224136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612648" y="2555612"/>
              <a:ext cx="1583088" cy="369332"/>
            </a:xfrm>
            <a:prstGeom prst="rect">
              <a:avLst/>
            </a:prstGeom>
            <a:grp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Client Module</a:t>
              </a:r>
              <a:endParaRPr lang="zh-TW" altLang="en-US" dirty="0"/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67544" y="1916832"/>
              <a:ext cx="1512168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Client 1</a:t>
              </a:r>
              <a:endParaRPr lang="zh-TW" altLang="en-US" dirty="0"/>
            </a:p>
          </p:txBody>
        </p:sp>
      </p:grpSp>
      <p:sp>
        <p:nvSpPr>
          <p:cNvPr id="44" name="矩形 43"/>
          <p:cNvSpPr/>
          <p:nvPr/>
        </p:nvSpPr>
        <p:spPr>
          <a:xfrm>
            <a:off x="179512" y="1628800"/>
            <a:ext cx="2916868" cy="5229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1331640" y="3501008"/>
            <a:ext cx="461665" cy="6387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TW" dirty="0" smtClean="0"/>
              <a:t>…..</a:t>
            </a:r>
            <a:endParaRPr lang="zh-TW" altLang="en-US" dirty="0"/>
          </a:p>
        </p:txBody>
      </p:sp>
      <p:sp>
        <p:nvSpPr>
          <p:cNvPr id="46" name="文字方塊 45"/>
          <p:cNvSpPr txBox="1"/>
          <p:nvPr/>
        </p:nvSpPr>
        <p:spPr>
          <a:xfrm>
            <a:off x="755576" y="1628800"/>
            <a:ext cx="198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Client computers</a:t>
            </a:r>
            <a:endParaRPr lang="zh-TW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779912" y="1556792"/>
            <a:ext cx="5256584" cy="25605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3851920" y="162880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Metadata servers</a:t>
            </a:r>
            <a:endParaRPr lang="zh-TW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3599348" y="4221088"/>
            <a:ext cx="5437148" cy="25829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3635896" y="4283804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File servers</a:t>
            </a:r>
            <a:endParaRPr lang="zh-TW" altLang="en-US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5904692" y="4581128"/>
            <a:ext cx="755540" cy="38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…..</a:t>
            </a:r>
            <a:endParaRPr lang="zh-TW" altLang="en-US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6192724" y="1894384"/>
            <a:ext cx="755540" cy="38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…..</a:t>
            </a:r>
            <a:endParaRPr lang="zh-TW" altLang="en-US" dirty="0"/>
          </a:p>
        </p:txBody>
      </p:sp>
      <p:cxnSp>
        <p:nvCxnSpPr>
          <p:cNvPr id="54" name="直線單箭頭接點 53"/>
          <p:cNvCxnSpPr>
            <a:endCxn id="47" idx="1"/>
          </p:cNvCxnSpPr>
          <p:nvPr/>
        </p:nvCxnSpPr>
        <p:spPr>
          <a:xfrm>
            <a:off x="2375756" y="2837066"/>
            <a:ext cx="140415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/>
          <p:nvPr/>
        </p:nvCxnSpPr>
        <p:spPr>
          <a:xfrm>
            <a:off x="2528156" y="2989466"/>
            <a:ext cx="2187860" cy="119762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/>
          <p:nvPr/>
        </p:nvCxnSpPr>
        <p:spPr>
          <a:xfrm>
            <a:off x="2375756" y="3212976"/>
            <a:ext cx="1223592" cy="1152128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/>
          <p:nvPr/>
        </p:nvCxnSpPr>
        <p:spPr>
          <a:xfrm>
            <a:off x="1962254" y="3229754"/>
            <a:ext cx="1880937" cy="2175202"/>
          </a:xfrm>
          <a:prstGeom prst="straightConnector1">
            <a:avLst/>
          </a:prstGeom>
          <a:ln w="28575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64"/>
          <p:cNvCxnSpPr/>
          <p:nvPr/>
        </p:nvCxnSpPr>
        <p:spPr>
          <a:xfrm flipH="1">
            <a:off x="4932040" y="3933056"/>
            <a:ext cx="3549" cy="575284"/>
          </a:xfrm>
          <a:prstGeom prst="straightConnector1">
            <a:avLst/>
          </a:prstGeom>
          <a:ln w="28575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單箭頭接點 66"/>
          <p:cNvCxnSpPr/>
          <p:nvPr/>
        </p:nvCxnSpPr>
        <p:spPr>
          <a:xfrm flipH="1">
            <a:off x="5792587" y="3933056"/>
            <a:ext cx="3549" cy="575284"/>
          </a:xfrm>
          <a:prstGeom prst="straightConnector1">
            <a:avLst/>
          </a:prstGeom>
          <a:ln w="28575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/>
          <p:cNvSpPr txBox="1"/>
          <p:nvPr/>
        </p:nvSpPr>
        <p:spPr>
          <a:xfrm>
            <a:off x="5076056" y="4077072"/>
            <a:ext cx="755540" cy="382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…..</a:t>
            </a:r>
            <a:endParaRPr lang="zh-TW" altLang="en-US" dirty="0"/>
          </a:p>
        </p:txBody>
      </p:sp>
      <p:sp>
        <p:nvSpPr>
          <p:cNvPr id="69" name="文字方塊 68"/>
          <p:cNvSpPr txBox="1"/>
          <p:nvPr/>
        </p:nvSpPr>
        <p:spPr>
          <a:xfrm>
            <a:off x="2627784" y="248360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Control Flow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2843808" y="3429000"/>
            <a:ext cx="1368152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rgbClr val="00B050"/>
                </a:solidFill>
              </a:rPr>
              <a:t>Data Flow</a:t>
            </a:r>
            <a:endParaRPr lang="zh-TW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29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TW" dirty="0" err="1" smtClean="0"/>
              <a:t>Hadoop</a:t>
            </a:r>
            <a:r>
              <a:rPr lang="en-US" altLang="zh-TW" dirty="0" smtClean="0"/>
              <a:t> Distributed File System (HDFS)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63538"/>
            <a:ext cx="7524328" cy="527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1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HDFS Architecture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23528" y="1447800"/>
            <a:ext cx="8363272" cy="4717504"/>
          </a:xfrm>
        </p:spPr>
        <p:txBody>
          <a:bodyPr>
            <a:normAutofit/>
          </a:bodyPr>
          <a:lstStyle/>
          <a:p>
            <a:r>
              <a:rPr lang="en-US" altLang="zh-TW" dirty="0"/>
              <a:t>Master / Slave Architecture</a:t>
            </a:r>
          </a:p>
          <a:p>
            <a:r>
              <a:rPr lang="en-US" altLang="zh-TW" dirty="0" err="1" smtClean="0"/>
              <a:t>NameNode</a:t>
            </a:r>
            <a:r>
              <a:rPr lang="en-US" altLang="zh-TW" dirty="0" smtClean="0"/>
              <a:t> as the Master</a:t>
            </a:r>
            <a:endParaRPr lang="en-US" altLang="zh-TW" dirty="0"/>
          </a:p>
          <a:p>
            <a:pPr lvl="1"/>
            <a:r>
              <a:rPr lang="en-US" altLang="zh-TW" dirty="0" smtClean="0"/>
              <a:t>File </a:t>
            </a:r>
            <a:r>
              <a:rPr lang="en-US" altLang="zh-TW" dirty="0"/>
              <a:t>system </a:t>
            </a:r>
            <a:r>
              <a:rPr lang="en-US" altLang="zh-TW" dirty="0" smtClean="0"/>
              <a:t>namespace (</a:t>
            </a:r>
            <a:r>
              <a:rPr lang="en-US" altLang="zh-TW" dirty="0"/>
              <a:t>metadata</a:t>
            </a:r>
            <a:r>
              <a:rPr lang="en-US" altLang="zh-TW" dirty="0" smtClean="0"/>
              <a:t>) management</a:t>
            </a:r>
            <a:endParaRPr lang="en-US" altLang="zh-TW" dirty="0"/>
          </a:p>
          <a:p>
            <a:pPr lvl="1"/>
            <a:r>
              <a:rPr lang="en-US" altLang="zh-TW" dirty="0" smtClean="0"/>
              <a:t>Name to file mapping</a:t>
            </a:r>
            <a:endParaRPr lang="en-US" altLang="zh-TW" dirty="0"/>
          </a:p>
          <a:p>
            <a:pPr lvl="2"/>
            <a:r>
              <a:rPr lang="en-US" altLang="zh-TW" dirty="0"/>
              <a:t>Operation: </a:t>
            </a:r>
            <a:r>
              <a:rPr lang="en-US" altLang="zh-TW" dirty="0" smtClean="0"/>
              <a:t>open, close, </a:t>
            </a:r>
            <a:r>
              <a:rPr lang="en-US" altLang="zh-TW" dirty="0"/>
              <a:t>and renaming</a:t>
            </a:r>
          </a:p>
          <a:p>
            <a:pPr lvl="1"/>
            <a:r>
              <a:rPr lang="en-US" altLang="zh-TW" dirty="0" smtClean="0"/>
              <a:t>Data </a:t>
            </a:r>
            <a:r>
              <a:rPr lang="en-US" altLang="zh-TW" dirty="0"/>
              <a:t>blocks </a:t>
            </a:r>
            <a:r>
              <a:rPr lang="en-US" altLang="zh-TW" dirty="0" smtClean="0"/>
              <a:t>allocation/</a:t>
            </a:r>
            <a:r>
              <a:rPr lang="en-US" altLang="zh-TW" dirty="0" err="1" smtClean="0"/>
              <a:t>deallocation</a:t>
            </a:r>
            <a:endParaRPr lang="en-US" altLang="zh-TW" dirty="0"/>
          </a:p>
          <a:p>
            <a:r>
              <a:rPr lang="en-US" altLang="zh-TW" dirty="0" err="1" smtClean="0"/>
              <a:t>DataNodes</a:t>
            </a:r>
            <a:r>
              <a:rPr lang="en-US" altLang="zh-TW" dirty="0" smtClean="0"/>
              <a:t> as Slaves</a:t>
            </a:r>
            <a:endParaRPr lang="en-US" altLang="zh-TW" dirty="0"/>
          </a:p>
          <a:p>
            <a:pPr lvl="1"/>
            <a:r>
              <a:rPr lang="en-US" altLang="zh-TW" dirty="0" smtClean="0"/>
              <a:t>Data blocks management</a:t>
            </a:r>
          </a:p>
          <a:p>
            <a:pPr lvl="2"/>
            <a:r>
              <a:rPr lang="en-US" altLang="zh-TW" dirty="0" smtClean="0"/>
              <a:t>Block creation, deletion </a:t>
            </a:r>
            <a:r>
              <a:rPr lang="en-US" altLang="zh-TW" dirty="0"/>
              <a:t>and </a:t>
            </a:r>
            <a:r>
              <a:rPr lang="en-US" altLang="zh-TW" dirty="0" smtClean="0"/>
              <a:t>replication requests for </a:t>
            </a:r>
            <a:r>
              <a:rPr lang="en-US" altLang="zh-TW" dirty="0" err="1" smtClean="0"/>
              <a:t>NameNode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Data block services</a:t>
            </a:r>
          </a:p>
          <a:p>
            <a:pPr lvl="2"/>
            <a:r>
              <a:rPr lang="en-US" altLang="zh-TW" dirty="0" smtClean="0"/>
              <a:t>Operation: read and </a:t>
            </a:r>
            <a:r>
              <a:rPr lang="en-US" altLang="zh-TW" dirty="0"/>
              <a:t>write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3335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Files in HDFS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95536" y="1447800"/>
            <a:ext cx="8291264" cy="4572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Each file is </a:t>
            </a:r>
            <a:r>
              <a:rPr lang="en-US" altLang="zh-TW" dirty="0"/>
              <a:t>s</a:t>
            </a:r>
            <a:r>
              <a:rPr lang="en-US" altLang="zh-TW" dirty="0" smtClean="0"/>
              <a:t>tored as </a:t>
            </a:r>
            <a:r>
              <a:rPr lang="en-US" altLang="zh-TW" dirty="0"/>
              <a:t>a sequence of </a:t>
            </a:r>
            <a:r>
              <a:rPr lang="en-US" altLang="zh-TW" dirty="0" smtClean="0"/>
              <a:t>blocks.</a:t>
            </a:r>
            <a:endParaRPr lang="en-US" altLang="zh-TW" dirty="0"/>
          </a:p>
          <a:p>
            <a:pPr lvl="1"/>
            <a:r>
              <a:rPr lang="en-US" altLang="zh-TW" dirty="0"/>
              <a:t>All blocks except the last block are the same </a:t>
            </a:r>
            <a:r>
              <a:rPr lang="en-US" altLang="zh-TW" dirty="0" smtClean="0"/>
              <a:t>size.</a:t>
            </a:r>
            <a:endParaRPr lang="en-US" altLang="zh-TW" dirty="0"/>
          </a:p>
          <a:p>
            <a:pPr lvl="1"/>
            <a:r>
              <a:rPr lang="en-US" altLang="zh-TW" dirty="0"/>
              <a:t>F</a:t>
            </a:r>
            <a:r>
              <a:rPr lang="en-US" altLang="zh-TW" dirty="0" smtClean="0"/>
              <a:t>ile configuration parameters:</a:t>
            </a:r>
          </a:p>
          <a:p>
            <a:pPr lvl="2"/>
            <a:r>
              <a:rPr lang="en-US" altLang="zh-TW" dirty="0" smtClean="0"/>
              <a:t>block size, </a:t>
            </a:r>
            <a:r>
              <a:rPr lang="en-US" altLang="zh-TW" dirty="0"/>
              <a:t>replication </a:t>
            </a:r>
            <a:r>
              <a:rPr lang="en-US" altLang="zh-TW" dirty="0" smtClean="0"/>
              <a:t>factor, …</a:t>
            </a:r>
          </a:p>
          <a:p>
            <a:pPr lvl="1"/>
            <a:r>
              <a:rPr lang="en-US" altLang="zh-TW" dirty="0" smtClean="0"/>
              <a:t>Blocks of the same file are allocated separately.</a:t>
            </a:r>
            <a:endParaRPr lang="en-US" altLang="zh-TW" dirty="0"/>
          </a:p>
          <a:p>
            <a:pPr lvl="1"/>
            <a:r>
              <a:rPr lang="en-US" altLang="zh-TW" dirty="0"/>
              <a:t>Blocks of the same file </a:t>
            </a:r>
            <a:r>
              <a:rPr lang="en-US" altLang="zh-TW" dirty="0" smtClean="0"/>
              <a:t>can have different Replication factors.</a:t>
            </a:r>
            <a:endParaRPr lang="en-US" altLang="zh-TW" dirty="0"/>
          </a:p>
          <a:p>
            <a:r>
              <a:rPr lang="en-US" altLang="zh-TW" dirty="0" smtClean="0"/>
              <a:t>All files are </a:t>
            </a:r>
            <a:r>
              <a:rPr lang="en-US" altLang="zh-TW" dirty="0" smtClean="0">
                <a:solidFill>
                  <a:srgbClr val="FF0000"/>
                </a:solidFill>
              </a:rPr>
              <a:t>write-once only </a:t>
            </a:r>
            <a:r>
              <a:rPr lang="en-US" altLang="zh-TW" dirty="0" smtClean="0"/>
              <a:t>and can only be written by one writer at a time.</a:t>
            </a:r>
          </a:p>
          <a:p>
            <a:pPr lvl="1"/>
            <a:r>
              <a:rPr lang="en-US" altLang="zh-TW" dirty="0" smtClean="0"/>
              <a:t>All writes are </a:t>
            </a:r>
            <a:r>
              <a:rPr lang="en-US" altLang="zh-TW" dirty="0" smtClean="0">
                <a:solidFill>
                  <a:srgbClr val="FF0000"/>
                </a:solidFill>
              </a:rPr>
              <a:t>appended</a:t>
            </a:r>
            <a:r>
              <a:rPr lang="en-US" altLang="zh-TW" dirty="0" smtClean="0"/>
              <a:t> to the end of a file.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45255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Block Replication	(1)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547664" y="6021288"/>
            <a:ext cx="417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Block 1,3 have 2 replicas.</a:t>
            </a:r>
          </a:p>
          <a:p>
            <a:r>
              <a:rPr lang="en-US" altLang="zh-TW" sz="2400" dirty="0" smtClean="0"/>
              <a:t>Block 2,4,5 have 3 replicas.</a:t>
            </a:r>
            <a:endParaRPr lang="zh-TW" altLang="en-US" sz="24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12" y="1454950"/>
            <a:ext cx="7236296" cy="453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811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Block Replication	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7504" y="1556792"/>
            <a:ext cx="8856984" cy="5040560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/>
              <a:t>Simple policy</a:t>
            </a:r>
          </a:p>
          <a:p>
            <a:pPr lvl="1"/>
            <a:r>
              <a:rPr lang="en-US" altLang="zh-TW" dirty="0" smtClean="0"/>
              <a:t>All replicas are in different racks.</a:t>
            </a:r>
            <a:endParaRPr lang="en-US" altLang="zh-TW" dirty="0"/>
          </a:p>
          <a:p>
            <a:pPr lvl="1"/>
            <a:r>
              <a:rPr lang="en-US" altLang="zh-TW" dirty="0"/>
              <a:t>Disadvantage: </a:t>
            </a:r>
            <a:r>
              <a:rPr lang="en-US" altLang="zh-TW" dirty="0" smtClean="0"/>
              <a:t>the </a:t>
            </a:r>
            <a:r>
              <a:rPr lang="en-US" altLang="zh-TW" dirty="0"/>
              <a:t>cost of </a:t>
            </a:r>
            <a:r>
              <a:rPr lang="en-US" altLang="zh-TW" dirty="0" smtClean="0"/>
              <a:t>write is high.</a:t>
            </a:r>
            <a:endParaRPr lang="zh-TW" altLang="en-US" dirty="0"/>
          </a:p>
          <a:p>
            <a:r>
              <a:rPr lang="en-US" altLang="zh-TW" dirty="0"/>
              <a:t>Rack locality </a:t>
            </a:r>
            <a:r>
              <a:rPr lang="en-US" altLang="zh-TW" dirty="0" smtClean="0"/>
              <a:t>awareness policy </a:t>
            </a:r>
            <a:endParaRPr lang="en-US" altLang="zh-TW" dirty="0"/>
          </a:p>
          <a:p>
            <a:pPr lvl="1"/>
            <a:r>
              <a:rPr lang="en-US" altLang="zh-TW" dirty="0"/>
              <a:t>1</a:t>
            </a:r>
            <a:r>
              <a:rPr lang="en-US" altLang="zh-TW" dirty="0" smtClean="0"/>
              <a:t>st </a:t>
            </a:r>
            <a:r>
              <a:rPr lang="en-US" altLang="zh-TW" dirty="0"/>
              <a:t>replica is placed on </a:t>
            </a:r>
            <a:r>
              <a:rPr lang="en-US" altLang="zh-TW" dirty="0" smtClean="0"/>
              <a:t>a nearest data node from the requester.</a:t>
            </a:r>
            <a:endParaRPr lang="en-US" altLang="zh-TW" dirty="0"/>
          </a:p>
          <a:p>
            <a:pPr lvl="1"/>
            <a:r>
              <a:rPr lang="en-US" altLang="zh-TW" dirty="0" smtClean="0"/>
              <a:t>2nd </a:t>
            </a:r>
            <a:r>
              <a:rPr lang="en-US" altLang="zh-TW" dirty="0"/>
              <a:t>replica is placed on a </a:t>
            </a:r>
            <a:r>
              <a:rPr lang="en-US" altLang="zh-TW" dirty="0" smtClean="0"/>
              <a:t>data node </a:t>
            </a:r>
            <a:r>
              <a:rPr lang="en-US" altLang="zh-TW" dirty="0"/>
              <a:t>in the same </a:t>
            </a:r>
            <a:r>
              <a:rPr lang="en-US" altLang="zh-TW" dirty="0" smtClean="0"/>
              <a:t>rack as the 1</a:t>
            </a:r>
            <a:r>
              <a:rPr lang="en-US" altLang="zh-TW" baseline="30000" dirty="0" smtClean="0"/>
              <a:t>st</a:t>
            </a:r>
            <a:r>
              <a:rPr lang="en-US" altLang="zh-TW" dirty="0" smtClean="0"/>
              <a:t> replica.</a:t>
            </a:r>
            <a:endParaRPr lang="en-US" altLang="zh-TW" dirty="0"/>
          </a:p>
          <a:p>
            <a:pPr lvl="1"/>
            <a:r>
              <a:rPr lang="en-US" altLang="zh-TW" dirty="0"/>
              <a:t>All other replicas are placed randomly on the nodes outside the rack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Other concerns</a:t>
            </a:r>
          </a:p>
          <a:p>
            <a:pPr lvl="1"/>
            <a:r>
              <a:rPr lang="en-US" altLang="zh-TW" dirty="0" smtClean="0"/>
              <a:t>High </a:t>
            </a:r>
            <a:r>
              <a:rPr lang="en-US" altLang="zh-TW" dirty="0"/>
              <a:t>disk usage </a:t>
            </a:r>
            <a:r>
              <a:rPr lang="en-US" altLang="zh-TW" dirty="0" smtClean="0"/>
              <a:t>nodes should not be used for allocation of new blocks.</a:t>
            </a:r>
            <a:endParaRPr lang="en-US" altLang="zh-TW" dirty="0"/>
          </a:p>
          <a:p>
            <a:pPr lvl="1"/>
            <a:r>
              <a:rPr lang="en-US" altLang="zh-TW" dirty="0" smtClean="0"/>
              <a:t>High </a:t>
            </a:r>
            <a:r>
              <a:rPr lang="en-US" altLang="zh-TW" dirty="0"/>
              <a:t>workload </a:t>
            </a:r>
            <a:r>
              <a:rPr lang="en-US" altLang="zh-TW" dirty="0" smtClean="0"/>
              <a:t>nodes should </a:t>
            </a:r>
            <a:r>
              <a:rPr lang="en-US" altLang="zh-TW" dirty="0"/>
              <a:t>be avoided for allocation of new blocks.</a:t>
            </a:r>
          </a:p>
          <a:p>
            <a:pPr lvl="1"/>
            <a:r>
              <a:rPr lang="en-US" altLang="zh-TW" dirty="0"/>
              <a:t>F</a:t>
            </a:r>
            <a:r>
              <a:rPr lang="en-US" altLang="zh-TW" dirty="0" smtClean="0"/>
              <a:t>ast </a:t>
            </a:r>
            <a:r>
              <a:rPr lang="en-US" altLang="zh-TW" dirty="0"/>
              <a:t>and slow </a:t>
            </a:r>
            <a:r>
              <a:rPr lang="en-US" altLang="zh-TW" dirty="0" smtClean="0"/>
              <a:t>nodes should be treated differently. </a:t>
            </a:r>
          </a:p>
          <a:p>
            <a:r>
              <a:rPr lang="en-US" altLang="zh-TW" dirty="0" smtClean="0"/>
              <a:t>Conditions for Re-Replication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smtClean="0"/>
              <a:t>data node </a:t>
            </a:r>
            <a:r>
              <a:rPr lang="en-US" altLang="zh-TW" dirty="0"/>
              <a:t>becomes </a:t>
            </a:r>
            <a:r>
              <a:rPr lang="en-US" altLang="zh-TW" dirty="0" smtClean="0"/>
              <a:t>unavailable.</a:t>
            </a:r>
            <a:endParaRPr lang="en-US" altLang="zh-TW" dirty="0"/>
          </a:p>
          <a:p>
            <a:pPr lvl="1"/>
            <a:r>
              <a:rPr lang="en-US" altLang="zh-TW" dirty="0"/>
              <a:t>A replica becomes </a:t>
            </a:r>
            <a:r>
              <a:rPr lang="en-US" altLang="zh-TW" dirty="0" smtClean="0"/>
              <a:t>corrupted.</a:t>
            </a:r>
            <a:endParaRPr lang="en-US" altLang="zh-TW" dirty="0"/>
          </a:p>
          <a:p>
            <a:pPr lvl="1"/>
            <a:r>
              <a:rPr lang="en-US" altLang="zh-TW" dirty="0"/>
              <a:t>A hard disk on a </a:t>
            </a:r>
            <a:r>
              <a:rPr lang="en-US" altLang="zh-TW" dirty="0" smtClean="0"/>
              <a:t>data node </a:t>
            </a:r>
            <a:r>
              <a:rPr lang="en-US" altLang="zh-TW" dirty="0"/>
              <a:t>fails</a:t>
            </a:r>
          </a:p>
          <a:p>
            <a:pPr lvl="1"/>
            <a:r>
              <a:rPr lang="en-US" altLang="zh-TW" dirty="0"/>
              <a:t>The replication factor of a file is </a:t>
            </a:r>
            <a:r>
              <a:rPr lang="en-US" altLang="zh-TW" dirty="0" smtClean="0"/>
              <a:t>increased.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9960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Metadata in HDFS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95536" y="1600200"/>
            <a:ext cx="8496944" cy="4495800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EditLog</a:t>
            </a:r>
            <a:endParaRPr lang="en-US" altLang="zh-TW" dirty="0"/>
          </a:p>
          <a:p>
            <a:pPr lvl="1"/>
            <a:r>
              <a:rPr lang="en-US" altLang="zh-TW" dirty="0" smtClean="0"/>
              <a:t>Records </a:t>
            </a:r>
            <a:r>
              <a:rPr lang="en-US" altLang="zh-TW" dirty="0"/>
              <a:t>every change </a:t>
            </a:r>
            <a:r>
              <a:rPr lang="en-US" altLang="zh-TW" dirty="0" smtClean="0"/>
              <a:t>made </a:t>
            </a:r>
            <a:r>
              <a:rPr lang="en-US" altLang="zh-TW" dirty="0"/>
              <a:t>to file system </a:t>
            </a:r>
            <a:r>
              <a:rPr lang="en-US" altLang="zh-TW" dirty="0" smtClean="0"/>
              <a:t>metadata since last checkpoint of </a:t>
            </a:r>
            <a:r>
              <a:rPr lang="en-US" altLang="zh-TW" dirty="0" err="1" smtClean="0"/>
              <a:t>FsImage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 err="1" smtClean="0"/>
              <a:t>FsImage</a:t>
            </a:r>
            <a:r>
              <a:rPr lang="en-US" altLang="zh-TW" dirty="0" smtClean="0"/>
              <a:t> (</a:t>
            </a:r>
            <a:r>
              <a:rPr lang="en-US" altLang="zh-TW" dirty="0"/>
              <a:t>metadata)</a:t>
            </a:r>
          </a:p>
          <a:p>
            <a:pPr lvl="1"/>
            <a:r>
              <a:rPr lang="en-US" altLang="zh-TW" dirty="0" smtClean="0"/>
              <a:t>Contains entire </a:t>
            </a:r>
            <a:r>
              <a:rPr lang="en-US" altLang="zh-TW" dirty="0"/>
              <a:t>file system </a:t>
            </a:r>
            <a:r>
              <a:rPr lang="en-US" altLang="zh-TW" dirty="0" smtClean="0"/>
              <a:t>namespace, mapping </a:t>
            </a:r>
            <a:r>
              <a:rPr lang="en-US" altLang="zh-TW" dirty="0"/>
              <a:t>of blocks to </a:t>
            </a:r>
            <a:r>
              <a:rPr lang="en-US" altLang="zh-TW" dirty="0" smtClean="0"/>
              <a:t>files, </a:t>
            </a:r>
            <a:r>
              <a:rPr lang="en-US" altLang="zh-TW" dirty="0"/>
              <a:t>and file system properties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err="1" smtClean="0"/>
              <a:t>FsImage</a:t>
            </a:r>
            <a:r>
              <a:rPr lang="en-US" altLang="zh-TW" dirty="0" smtClean="0"/>
              <a:t> is check pointed periodically for failure recovery.</a:t>
            </a:r>
          </a:p>
          <a:p>
            <a:r>
              <a:rPr lang="en-US" altLang="zh-TW" dirty="0" smtClean="0"/>
              <a:t>If the name node fails, a new name node module can be launched manually with last checkpoint of </a:t>
            </a:r>
            <a:r>
              <a:rPr lang="en-US" altLang="zh-TW" dirty="0" err="1" smtClean="0"/>
              <a:t>FsImage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updates in </a:t>
            </a:r>
            <a:r>
              <a:rPr lang="en-US" altLang="zh-TW" dirty="0" err="1" smtClean="0"/>
              <a:t>EditLog</a:t>
            </a:r>
            <a:r>
              <a:rPr lang="en-US" altLang="zh-TW" dirty="0" smtClean="0"/>
              <a:t> can then be applied for recovery.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98790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File Creation Scenario in HDFS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556793"/>
            <a:ext cx="9036496" cy="50405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/>
              <a:t>A file creation request by a client may not reach </a:t>
            </a:r>
            <a:r>
              <a:rPr lang="en-US" altLang="zh-TW" dirty="0" err="1" smtClean="0"/>
              <a:t>NameNode</a:t>
            </a:r>
            <a:r>
              <a:rPr lang="en-US" altLang="zh-TW" dirty="0" smtClean="0"/>
              <a:t> immediately.</a:t>
            </a:r>
          </a:p>
          <a:p>
            <a:pPr lvl="1"/>
            <a:r>
              <a:rPr lang="en-US" altLang="zh-TW" dirty="0" smtClean="0"/>
              <a:t>The file was created in the client</a:t>
            </a:r>
            <a:r>
              <a:rPr lang="en-US" altLang="zh-TW" dirty="0" smtClean="0">
                <a:latin typeface="Poor Richard" panose="02080502050505020702" pitchFamily="18" charset="0"/>
              </a:rPr>
              <a:t>'</a:t>
            </a:r>
            <a:r>
              <a:rPr lang="en-US" altLang="zh-TW" dirty="0" smtClean="0"/>
              <a:t>s local disk first.</a:t>
            </a:r>
          </a:p>
          <a:p>
            <a:pPr lvl="1"/>
            <a:r>
              <a:rPr lang="en-US" altLang="zh-TW" dirty="0" smtClean="0"/>
              <a:t>Write operations are performed in local until accumulated data reaches the block size of the HDFS file.</a:t>
            </a:r>
          </a:p>
          <a:p>
            <a:pPr lvl="2"/>
            <a:r>
              <a:rPr lang="en-US" altLang="zh-TW" dirty="0" smtClean="0"/>
              <a:t>The default data block size is </a:t>
            </a:r>
            <a:r>
              <a:rPr lang="en-US" altLang="zh-TW" dirty="0" smtClean="0">
                <a:solidFill>
                  <a:srgbClr val="FF0000"/>
                </a:solidFill>
              </a:rPr>
              <a:t>64 MB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Client contacts the </a:t>
            </a:r>
            <a:r>
              <a:rPr lang="en-US" altLang="zh-TW" dirty="0" err="1" smtClean="0"/>
              <a:t>NameNode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 err="1" smtClean="0"/>
              <a:t>NameNode</a:t>
            </a:r>
            <a:r>
              <a:rPr lang="en-US" altLang="zh-TW" dirty="0" smtClean="0"/>
              <a:t> inserts the file name into the file system.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 err="1" smtClean="0"/>
              <a:t>NameNode</a:t>
            </a:r>
            <a:r>
              <a:rPr lang="en-US" altLang="zh-TW" dirty="0" smtClean="0"/>
              <a:t> makes allocation assignment for the new block.</a:t>
            </a:r>
          </a:p>
          <a:p>
            <a:pPr lvl="2"/>
            <a:r>
              <a:rPr lang="en-US" altLang="zh-TW" dirty="0" smtClean="0"/>
              <a:t>It replies the IDs of the </a:t>
            </a:r>
            <a:r>
              <a:rPr lang="en-US" altLang="zh-TW" dirty="0" err="1" smtClean="0"/>
              <a:t>DataNodes</a:t>
            </a:r>
            <a:r>
              <a:rPr lang="en-US" altLang="zh-TW" dirty="0" smtClean="0"/>
              <a:t> and the IDs of data blocks back to the client.</a:t>
            </a:r>
          </a:p>
          <a:p>
            <a:r>
              <a:rPr lang="en-US" altLang="zh-TW" dirty="0" smtClean="0"/>
              <a:t>Client flushes the data block from its local disk to the </a:t>
            </a:r>
            <a:r>
              <a:rPr lang="en-US" altLang="zh-TW" dirty="0" err="1" smtClean="0"/>
              <a:t>DataNodes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Client </a:t>
            </a:r>
            <a:r>
              <a:rPr lang="en-US" altLang="zh-TW" dirty="0" smtClean="0"/>
              <a:t>continues to buffer subsequent writes.</a:t>
            </a:r>
          </a:p>
          <a:p>
            <a:pPr lvl="1"/>
            <a:r>
              <a:rPr lang="en-US" altLang="zh-TW" dirty="0" smtClean="0"/>
              <a:t>When </a:t>
            </a:r>
            <a:r>
              <a:rPr lang="en-US" altLang="zh-TW" dirty="0"/>
              <a:t>the file is closed, the remaining un-flushed data is transferred to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DataNodes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the </a:t>
            </a:r>
            <a:r>
              <a:rPr lang="en-US" altLang="zh-TW" dirty="0" err="1"/>
              <a:t>NameNode</a:t>
            </a:r>
            <a:r>
              <a:rPr lang="en-US" altLang="zh-TW" dirty="0"/>
              <a:t> </a:t>
            </a:r>
            <a:r>
              <a:rPr lang="en-US" altLang="zh-TW" dirty="0" smtClean="0"/>
              <a:t>crushes </a:t>
            </a:r>
            <a:r>
              <a:rPr lang="en-US" altLang="zh-TW" dirty="0"/>
              <a:t>before the file is </a:t>
            </a:r>
            <a:r>
              <a:rPr lang="en-US" altLang="zh-TW" dirty="0" smtClean="0"/>
              <a:t>closed, </a:t>
            </a:r>
            <a:r>
              <a:rPr lang="en-US" altLang="zh-TW" dirty="0"/>
              <a:t>the file </a:t>
            </a:r>
            <a:r>
              <a:rPr lang="en-US" altLang="zh-TW" dirty="0" smtClean="0"/>
              <a:t>my be </a:t>
            </a:r>
            <a:r>
              <a:rPr lang="en-US" altLang="zh-TW" dirty="0"/>
              <a:t>lost.</a:t>
            </a:r>
          </a:p>
          <a:p>
            <a:pPr marL="0" indent="0">
              <a:buNone/>
            </a:pP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684734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Replication Scenario in HDFS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19954" y="1916832"/>
            <a:ext cx="7668470" cy="417646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3419872" y="5507940"/>
            <a:ext cx="2232248" cy="369332"/>
          </a:xfrm>
          <a:prstGeom prst="rect">
            <a:avLst/>
          </a:prstGeom>
          <a:solidFill>
            <a:srgbClr val="E48312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Local File System2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084168" y="5517232"/>
            <a:ext cx="2232248" cy="369332"/>
          </a:xfrm>
          <a:prstGeom prst="rect">
            <a:avLst/>
          </a:prstGeom>
          <a:solidFill>
            <a:srgbClr val="E68412"/>
          </a:solidFill>
          <a:ln>
            <a:solidFill>
              <a:srgbClr val="D67A1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Local File System3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9986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Replication </a:t>
            </a:r>
            <a:r>
              <a:rPr lang="en-US" altLang="zh-TW" dirty="0"/>
              <a:t>Pipeline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79512" y="1600200"/>
            <a:ext cx="8712968" cy="478112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A client first gets </a:t>
            </a:r>
            <a:r>
              <a:rPr lang="en-US" altLang="zh-TW" dirty="0"/>
              <a:t>a list of </a:t>
            </a:r>
            <a:r>
              <a:rPr lang="en-US" altLang="zh-TW" dirty="0" err="1"/>
              <a:t>DataNodes</a:t>
            </a:r>
            <a:r>
              <a:rPr lang="en-US" altLang="zh-TW" dirty="0"/>
              <a:t> from the </a:t>
            </a:r>
            <a:r>
              <a:rPr lang="en-US" altLang="zh-TW" dirty="0" err="1"/>
              <a:t>NameNode</a:t>
            </a:r>
            <a:r>
              <a:rPr lang="en-US" altLang="zh-TW" dirty="0"/>
              <a:t>.</a:t>
            </a:r>
          </a:p>
          <a:p>
            <a:r>
              <a:rPr lang="en-US" altLang="zh-TW" dirty="0" smtClean="0"/>
              <a:t>A client </a:t>
            </a:r>
            <a:r>
              <a:rPr lang="en-US" altLang="zh-TW" dirty="0"/>
              <a:t>then flushes the data </a:t>
            </a:r>
            <a:r>
              <a:rPr lang="en-US" altLang="zh-TW" dirty="0" smtClean="0"/>
              <a:t>block </a:t>
            </a:r>
            <a:r>
              <a:rPr lang="en-US" altLang="zh-TW" dirty="0"/>
              <a:t>to the first </a:t>
            </a:r>
            <a:r>
              <a:rPr lang="en-US" altLang="zh-TW" dirty="0" err="1"/>
              <a:t>DataNode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Upon receiving a data block (or a portion of a block) from a client,</a:t>
            </a:r>
          </a:p>
          <a:p>
            <a:pPr lvl="2"/>
            <a:r>
              <a:rPr lang="en-US" altLang="zh-TW" dirty="0" smtClean="0"/>
              <a:t>DataNode1 </a:t>
            </a:r>
            <a:r>
              <a:rPr lang="en-US" altLang="zh-TW" dirty="0"/>
              <a:t>writes each portion to its local file system and transfers that </a:t>
            </a:r>
            <a:r>
              <a:rPr lang="en-US" altLang="zh-TW" dirty="0" smtClean="0"/>
              <a:t>the portion to the </a:t>
            </a:r>
            <a:r>
              <a:rPr lang="en-US" altLang="zh-TW" dirty="0"/>
              <a:t>DataNode2.</a:t>
            </a:r>
          </a:p>
          <a:p>
            <a:pPr lvl="1"/>
            <a:r>
              <a:rPr lang="en-US" altLang="zh-TW" dirty="0"/>
              <a:t>DataNode2 </a:t>
            </a:r>
            <a:r>
              <a:rPr lang="en-US" altLang="zh-TW" dirty="0" smtClean="0"/>
              <a:t>does </a:t>
            </a:r>
            <a:r>
              <a:rPr lang="en-US" altLang="zh-TW" dirty="0"/>
              <a:t>the same </a:t>
            </a:r>
            <a:r>
              <a:rPr lang="en-US" altLang="zh-TW" dirty="0" smtClean="0"/>
              <a:t>thing as </a:t>
            </a:r>
            <a:r>
              <a:rPr lang="en-US" altLang="zh-TW" dirty="0"/>
              <a:t>DataNode1 and transfer </a:t>
            </a:r>
            <a:r>
              <a:rPr lang="en-US" altLang="zh-TW" dirty="0" smtClean="0"/>
              <a:t>the received portion </a:t>
            </a:r>
            <a:r>
              <a:rPr lang="en-US" altLang="zh-TW" dirty="0"/>
              <a:t>to DataNode3.</a:t>
            </a:r>
          </a:p>
          <a:p>
            <a:pPr lvl="1"/>
            <a:r>
              <a:rPr lang="en-US" altLang="zh-TW" dirty="0"/>
              <a:t>DataNode3 </a:t>
            </a:r>
            <a:r>
              <a:rPr lang="en-US" altLang="zh-TW" dirty="0" smtClean="0"/>
              <a:t>stores </a:t>
            </a:r>
            <a:r>
              <a:rPr lang="en-US" altLang="zh-TW" dirty="0"/>
              <a:t>the data to its local file system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Data </a:t>
            </a:r>
            <a:r>
              <a:rPr lang="en-US" altLang="zh-TW" dirty="0" smtClean="0"/>
              <a:t>blocks are </a:t>
            </a:r>
            <a:r>
              <a:rPr lang="en-US" altLang="zh-TW" dirty="0" err="1" smtClean="0"/>
              <a:t>checksumed</a:t>
            </a:r>
            <a:r>
              <a:rPr lang="en-US" altLang="zh-TW" dirty="0" smtClean="0"/>
              <a:t> for failure detection.</a:t>
            </a:r>
            <a:endParaRPr lang="en-US" altLang="zh-TW" dirty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 err="1" smtClean="0"/>
              <a:t>DataNode</a:t>
            </a:r>
            <a:r>
              <a:rPr lang="en-US" altLang="zh-TW" dirty="0" smtClean="0"/>
              <a:t> containing a bad block can retrieve a good replica </a:t>
            </a:r>
            <a:r>
              <a:rPr lang="en-US" altLang="zh-TW" dirty="0"/>
              <a:t>from </a:t>
            </a:r>
            <a:r>
              <a:rPr lang="en-US" altLang="zh-TW" dirty="0" smtClean="0"/>
              <a:t>other </a:t>
            </a:r>
            <a:r>
              <a:rPr lang="en-US" altLang="zh-TW" dirty="0" err="1" smtClean="0"/>
              <a:t>DataNodes</a:t>
            </a:r>
            <a:r>
              <a:rPr lang="en-US" altLang="zh-TW" dirty="0" smtClean="0"/>
              <a:t> for block recovery.</a:t>
            </a:r>
            <a:endParaRPr lang="en-US" altLang="zh-TW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632765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Space </a:t>
            </a:r>
            <a:r>
              <a:rPr lang="en-US" altLang="zh-TW" dirty="0" smtClean="0"/>
              <a:t>Reclamations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23528" y="1600200"/>
            <a:ext cx="8442520" cy="44958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File </a:t>
            </a:r>
            <a:r>
              <a:rPr lang="en-US" altLang="zh-TW" dirty="0"/>
              <a:t>deletion is not immediate </a:t>
            </a:r>
            <a:r>
              <a:rPr lang="en-US" altLang="zh-TW" dirty="0" smtClean="0"/>
              <a:t>performed in HDFS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HDFS first renames it to a file in the 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/trash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 </a:t>
            </a:r>
            <a:r>
              <a:rPr lang="en-US" altLang="zh-TW" dirty="0"/>
              <a:t>directory.</a:t>
            </a:r>
          </a:p>
          <a:p>
            <a:pPr lvl="1"/>
            <a:r>
              <a:rPr lang="en-US" altLang="zh-TW" dirty="0"/>
              <a:t>After the expiry of its life in 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/trash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 err="1"/>
              <a:t>NameNode</a:t>
            </a:r>
            <a:r>
              <a:rPr lang="en-US" altLang="zh-TW" dirty="0"/>
              <a:t> deletes the </a:t>
            </a:r>
            <a:r>
              <a:rPr lang="en-US" altLang="zh-TW" dirty="0" smtClean="0"/>
              <a:t>metadata of the file and asks relevant </a:t>
            </a:r>
            <a:r>
              <a:rPr lang="en-US" altLang="zh-TW" dirty="0" err="1" smtClean="0"/>
              <a:t>Datanodes</a:t>
            </a:r>
            <a:r>
              <a:rPr lang="en-US" altLang="zh-TW" dirty="0" smtClean="0"/>
              <a:t> to delete all </a:t>
            </a:r>
            <a:r>
              <a:rPr lang="en-US" altLang="zh-TW" dirty="0" err="1" smtClean="0"/>
              <a:t>datablocks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/>
              <a:t>File </a:t>
            </a:r>
            <a:r>
              <a:rPr lang="en-US" altLang="zh-TW" dirty="0" smtClean="0"/>
              <a:t>undelete is possible.</a:t>
            </a:r>
            <a:endParaRPr lang="en-US" altLang="zh-TW" dirty="0"/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the </a:t>
            </a:r>
            <a:r>
              <a:rPr lang="en-US" altLang="zh-TW" dirty="0" smtClean="0"/>
              <a:t>deleted file </a:t>
            </a:r>
            <a:r>
              <a:rPr lang="en-US" altLang="zh-TW" dirty="0"/>
              <a:t>is still in 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/trash</a:t>
            </a:r>
            <a:r>
              <a:rPr lang="en-US" altLang="zh-TW" dirty="0" smtClean="0">
                <a:latin typeface="Poor Richard" panose="02080502050505020702" pitchFamily="18" charset="0"/>
              </a:rPr>
              <a:t>"</a:t>
            </a:r>
            <a:r>
              <a:rPr lang="en-US" altLang="zh-TW" dirty="0" smtClean="0"/>
              <a:t>, it then can be undeleted.</a:t>
            </a:r>
            <a:endParaRPr lang="en-US" altLang="zh-TW" dirty="0"/>
          </a:p>
          <a:p>
            <a:r>
              <a:rPr lang="en-US" altLang="zh-TW" dirty="0" smtClean="0"/>
              <a:t>Replication Factor can be reduced to save space.</a:t>
            </a:r>
            <a:endParaRPr lang="en-US" altLang="zh-TW" dirty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 err="1" smtClean="0"/>
              <a:t>NameNode</a:t>
            </a:r>
            <a:r>
              <a:rPr lang="en-US" altLang="zh-TW" dirty="0" smtClean="0"/>
              <a:t> selects </a:t>
            </a:r>
            <a:r>
              <a:rPr lang="en-US" altLang="zh-TW" dirty="0"/>
              <a:t>excess replicas to be </a:t>
            </a:r>
            <a:r>
              <a:rPr lang="en-US" altLang="zh-TW" dirty="0" smtClean="0"/>
              <a:t>deleted.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214378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idx="4294967295"/>
          </p:nvPr>
        </p:nvSpPr>
        <p:spPr>
          <a:xfrm>
            <a:off x="688032" y="44624"/>
            <a:ext cx="7772400" cy="723900"/>
          </a:xfrm>
        </p:spPr>
        <p:txBody>
          <a:bodyPr/>
          <a:lstStyle/>
          <a:p>
            <a:pPr algn="ctr"/>
            <a:r>
              <a:rPr lang="en-US" altLang="zh-TW" dirty="0" smtClean="0"/>
              <a:t>The </a:t>
            </a:r>
            <a:r>
              <a:rPr lang="en-US" altLang="zh-TW" dirty="0" err="1" smtClean="0"/>
              <a:t>Lustre</a:t>
            </a:r>
            <a:r>
              <a:rPr lang="en-US" altLang="zh-TW" dirty="0" smtClean="0"/>
              <a:t> Distributed File System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707422"/>
            <a:ext cx="8532440" cy="6033946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3419872" y="692696"/>
            <a:ext cx="151216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cs typeface="Arial" panose="020B0604020202020204" pitchFamily="34" charset="0"/>
              </a:rPr>
              <a:t>Metadata </a:t>
            </a:r>
          </a:p>
          <a:p>
            <a:pPr algn="ctr"/>
            <a:r>
              <a:rPr lang="en-US" sz="1200" dirty="0" smtClean="0">
                <a:cs typeface="Arial" panose="020B0604020202020204" pitchFamily="34" charset="0"/>
              </a:rPr>
              <a:t>servers (MDSs)</a:t>
            </a:r>
            <a:endParaRPr lang="en-US" sz="12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0303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System Components in </a:t>
            </a:r>
            <a:r>
              <a:rPr lang="en-US" altLang="zh-TW" dirty="0" err="1" smtClean="0"/>
              <a:t>Lustre</a:t>
            </a:r>
            <a:r>
              <a:rPr lang="en-US" altLang="zh-TW" dirty="0" smtClean="0"/>
              <a:t>  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539552" y="1521296"/>
            <a:ext cx="8147248" cy="45720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MDSs </a:t>
            </a:r>
            <a:r>
              <a:rPr lang="en-US" altLang="zh-TW" dirty="0"/>
              <a:t>(Metadata </a:t>
            </a:r>
            <a:r>
              <a:rPr lang="en-US" altLang="zh-TW" dirty="0" smtClean="0"/>
              <a:t>Servers)</a:t>
            </a:r>
            <a:endParaRPr lang="en-US" altLang="zh-TW" dirty="0"/>
          </a:p>
          <a:p>
            <a:pPr lvl="1"/>
            <a:r>
              <a:rPr lang="en-US" altLang="zh-TW" dirty="0" smtClean="0"/>
              <a:t>They manage </a:t>
            </a:r>
            <a:r>
              <a:rPr lang="en-US" altLang="zh-TW" dirty="0"/>
              <a:t>names and directories in </a:t>
            </a:r>
            <a:r>
              <a:rPr lang="en-US" altLang="zh-TW" dirty="0" err="1" smtClean="0"/>
              <a:t>Lustre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MDT (Metadata Storage Target)</a:t>
            </a:r>
          </a:p>
          <a:p>
            <a:pPr lvl="2"/>
            <a:r>
              <a:rPr lang="en-US" altLang="zh-TW" dirty="0" smtClean="0"/>
              <a:t>It provides physical storage for MDSs.</a:t>
            </a:r>
            <a:endParaRPr lang="en-US" altLang="zh-TW" dirty="0"/>
          </a:p>
          <a:p>
            <a:r>
              <a:rPr lang="en-US" altLang="zh-TW" dirty="0" smtClean="0"/>
              <a:t>OSSs </a:t>
            </a:r>
            <a:r>
              <a:rPr lang="en-US" altLang="zh-TW" dirty="0"/>
              <a:t>(Object Storage </a:t>
            </a:r>
            <a:r>
              <a:rPr lang="en-US" altLang="zh-TW" dirty="0" smtClean="0"/>
              <a:t>Servers)</a:t>
            </a:r>
            <a:endParaRPr lang="en-US" altLang="zh-TW" dirty="0"/>
          </a:p>
          <a:p>
            <a:pPr lvl="1"/>
            <a:r>
              <a:rPr lang="en-US" altLang="zh-TW" dirty="0" smtClean="0"/>
              <a:t>They provide file services for clients.</a:t>
            </a:r>
            <a:endParaRPr lang="en-US" altLang="zh-TW" dirty="0"/>
          </a:p>
          <a:p>
            <a:pPr lvl="1"/>
            <a:r>
              <a:rPr lang="en-US" altLang="zh-TW" dirty="0" smtClean="0"/>
              <a:t>OSTs </a:t>
            </a:r>
            <a:r>
              <a:rPr lang="en-US" altLang="zh-TW" dirty="0"/>
              <a:t>(Object Storage </a:t>
            </a:r>
            <a:r>
              <a:rPr lang="en-US" altLang="zh-TW" dirty="0" smtClean="0"/>
              <a:t>Targets)</a:t>
            </a:r>
            <a:endParaRPr lang="en-US" altLang="zh-TW" dirty="0"/>
          </a:p>
          <a:p>
            <a:pPr lvl="2"/>
            <a:r>
              <a:rPr lang="en-US" altLang="zh-TW" dirty="0" smtClean="0"/>
              <a:t>They provide physical storages for OSSs.</a:t>
            </a:r>
            <a:endParaRPr lang="en-US" altLang="zh-TW" dirty="0"/>
          </a:p>
          <a:p>
            <a:r>
              <a:rPr lang="en-US" altLang="zh-TW" dirty="0" smtClean="0"/>
              <a:t>FSCs </a:t>
            </a:r>
            <a:r>
              <a:rPr lang="en-US" altLang="zh-TW" dirty="0"/>
              <a:t>(File System </a:t>
            </a:r>
            <a:r>
              <a:rPr lang="en-US" altLang="zh-TW" dirty="0" smtClean="0"/>
              <a:t>Clients)</a:t>
            </a:r>
            <a:endParaRPr lang="en-US" altLang="zh-TW" dirty="0"/>
          </a:p>
          <a:p>
            <a:pPr lvl="1"/>
            <a:r>
              <a:rPr lang="en-US" altLang="zh-TW" dirty="0" smtClean="0"/>
              <a:t>They access files through MDSs and OSSs.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3512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File Creation Scenario in </a:t>
            </a:r>
            <a:r>
              <a:rPr lang="en-US" altLang="zh-TW" dirty="0" err="1" smtClean="0"/>
              <a:t>Lustre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35496" y="1412776"/>
            <a:ext cx="9036496" cy="1923876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Upon receiving a file creation request from a client, </a:t>
            </a:r>
          </a:p>
          <a:p>
            <a:pPr lvl="1"/>
            <a:r>
              <a:rPr lang="en-US" altLang="zh-TW" dirty="0" smtClean="0"/>
              <a:t>a MDS creates an </a:t>
            </a:r>
            <a:r>
              <a:rPr lang="en-US" altLang="zh-TW" dirty="0" err="1" smtClean="0"/>
              <a:t>inode</a:t>
            </a:r>
            <a:r>
              <a:rPr lang="en-US" altLang="zh-TW" dirty="0" smtClean="0"/>
              <a:t> in the MDT.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 err="1" smtClean="0"/>
              <a:t>inode</a:t>
            </a:r>
            <a:r>
              <a:rPr lang="zh-TW" altLang="en-US" dirty="0" smtClean="0"/>
              <a:t> </a:t>
            </a:r>
            <a:r>
              <a:rPr lang="en-US" altLang="zh-TW" dirty="0" smtClean="0"/>
              <a:t>(metadata of the new file) records information about file objects and their associated OSSs.</a:t>
            </a:r>
            <a:endParaRPr lang="zh-TW" altLang="en-US" dirty="0"/>
          </a:p>
          <a:p>
            <a:pPr lvl="1"/>
            <a:r>
              <a:rPr lang="en-US" altLang="zh-TW" dirty="0" smtClean="0"/>
              <a:t>The MDS then asks these OSSs to create file objects for future operations.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188882"/>
            <a:ext cx="7272808" cy="3552486"/>
          </a:xfrm>
          <a:prstGeom prst="rect">
            <a:avLst/>
          </a:prstGeom>
        </p:spPr>
      </p:pic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432869"/>
              </p:ext>
            </p:extLst>
          </p:nvPr>
        </p:nvGraphicFramePr>
        <p:xfrm>
          <a:off x="2987824" y="3501008"/>
          <a:ext cx="1152128" cy="822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64502713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845457838"/>
                    </a:ext>
                  </a:extLst>
                </a:gridCol>
              </a:tblGrid>
              <a:tr h="2692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oss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1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886112"/>
                  </a:ext>
                </a:extLst>
              </a:tr>
              <a:tr h="2692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oss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4518302"/>
                  </a:ext>
                </a:extLst>
              </a:tr>
              <a:tr h="269288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obj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oss</a:t>
                      </a:r>
                      <a:r>
                        <a:rPr lang="en-US" sz="1200" b="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3</a:t>
                      </a:r>
                      <a:endParaRPr lang="en-US" sz="1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810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872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615826"/>
            <a:ext cx="7772400" cy="724942"/>
          </a:xfrm>
        </p:spPr>
        <p:txBody>
          <a:bodyPr/>
          <a:lstStyle/>
          <a:p>
            <a:pPr algn="ctr"/>
            <a:r>
              <a:rPr lang="en-US" altLang="zh-TW" dirty="0" smtClean="0"/>
              <a:t>File Stripping in </a:t>
            </a:r>
            <a:r>
              <a:rPr lang="en-US" altLang="zh-TW" dirty="0" err="1" smtClean="0"/>
              <a:t>Lustre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568952" cy="1900808"/>
          </a:xfrm>
        </p:spPr>
        <p:txBody>
          <a:bodyPr/>
          <a:lstStyle/>
          <a:p>
            <a:r>
              <a:rPr lang="en-US" altLang="zh-TW" dirty="0" smtClean="0"/>
              <a:t>Each file in </a:t>
            </a:r>
            <a:r>
              <a:rPr lang="en-US" altLang="zh-TW" dirty="0" err="1" smtClean="0"/>
              <a:t>Lustre</a:t>
            </a:r>
            <a:r>
              <a:rPr lang="en-US" altLang="zh-TW" dirty="0" smtClean="0"/>
              <a:t> can be stripped into several objects.</a:t>
            </a:r>
          </a:p>
          <a:p>
            <a:pPr lvl="1"/>
            <a:r>
              <a:rPr lang="en-US" altLang="zh-TW" dirty="0" smtClean="0"/>
              <a:t>In general, an object is served by an OSS.</a:t>
            </a:r>
          </a:p>
          <a:p>
            <a:pPr lvl="1"/>
            <a:r>
              <a:rPr lang="en-US" altLang="zh-TW" dirty="0" smtClean="0"/>
              <a:t>Data accesses in </a:t>
            </a:r>
            <a:r>
              <a:rPr lang="en-US" altLang="zh-TW" dirty="0" err="1" smtClean="0"/>
              <a:t>Lustre</a:t>
            </a:r>
            <a:r>
              <a:rPr lang="en-US" altLang="zh-TW" dirty="0" smtClean="0"/>
              <a:t> are performed by blocks.</a:t>
            </a:r>
          </a:p>
          <a:p>
            <a:r>
              <a:rPr lang="en-US" altLang="zh-TW" dirty="0" smtClean="0"/>
              <a:t>Each object may contain several blocks.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132168"/>
            <a:ext cx="7452320" cy="360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3664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File </a:t>
            </a:r>
            <a:r>
              <a:rPr lang="en-US" altLang="zh-TW" dirty="0"/>
              <a:t>Stripping </a:t>
            </a:r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33264" y="1412776"/>
            <a:ext cx="7067128" cy="1837184"/>
          </a:xfrm>
        </p:spPr>
        <p:txBody>
          <a:bodyPr/>
          <a:lstStyle/>
          <a:p>
            <a:r>
              <a:rPr lang="en-US" altLang="zh-TW" dirty="0" smtClean="0"/>
              <a:t>A file of 6 blocks is stripped into 3 objects.</a:t>
            </a:r>
          </a:p>
          <a:p>
            <a:pPr lvl="1"/>
            <a:r>
              <a:rPr lang="en-US" altLang="zh-TW" dirty="0" smtClean="0"/>
              <a:t>OSS1 handles object1 for block1 and block4.</a:t>
            </a:r>
          </a:p>
          <a:p>
            <a:pPr lvl="1"/>
            <a:r>
              <a:rPr lang="en-US" altLang="zh-TW" dirty="0" smtClean="0"/>
              <a:t>OSS2 handles object2 for block2 and block5.</a:t>
            </a:r>
          </a:p>
          <a:p>
            <a:pPr lvl="1"/>
            <a:r>
              <a:rPr lang="en-US" altLang="zh-TW" dirty="0" smtClean="0"/>
              <a:t>OSS3 handles object3 for block3 and block6.</a:t>
            </a:r>
          </a:p>
          <a:p>
            <a:pPr lvl="1"/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098571"/>
            <a:ext cx="7884368" cy="364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938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File Operations in </a:t>
            </a:r>
            <a:r>
              <a:rPr lang="en-US" altLang="zh-TW" dirty="0" err="1" smtClean="0"/>
              <a:t>Lustre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508824"/>
            <a:ext cx="7596336" cy="523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828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Failover in </a:t>
            </a:r>
            <a:r>
              <a:rPr lang="en-US" altLang="zh-TW" dirty="0" err="1" smtClean="0"/>
              <a:t>Lustre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244408" cy="498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26599"/>
      </p:ext>
    </p:extLst>
  </p:cSld>
  <p:clrMapOvr>
    <a:masterClrMapping/>
  </p:clrMapOvr>
</p:sld>
</file>

<file path=ppt/theme/theme1.xml><?xml version="1.0" encoding="utf-8"?>
<a:theme xmlns:a="http://schemas.openxmlformats.org/drawingml/2006/main" name="4_公正">
  <a:themeElements>
    <a:clrScheme name="4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4_公正">
      <a:majorFont>
        <a:latin typeface="Franklin Gothic Book"/>
        <a:ea typeface="新細明體"/>
        <a:cs typeface=""/>
      </a:majorFont>
      <a:minorFont>
        <a:latin typeface="Perpet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公正">
  <a:themeElements>
    <a:clrScheme name="5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5_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公正">
  <a:themeElements>
    <a:clrScheme name="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8181</TotalTime>
  <Words>6721</Words>
  <Application>Microsoft Office PowerPoint</Application>
  <PresentationFormat>如螢幕大小 (4:3)</PresentationFormat>
  <Paragraphs>674</Paragraphs>
  <Slides>71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71</vt:i4>
      </vt:variant>
    </vt:vector>
  </HeadingPairs>
  <TitlesOfParts>
    <vt:vector size="86" baseType="lpstr">
      <vt:lpstr>微軟正黑體</vt:lpstr>
      <vt:lpstr>新細明體</vt:lpstr>
      <vt:lpstr>Arial</vt:lpstr>
      <vt:lpstr>Calibri</vt:lpstr>
      <vt:lpstr>Cambria Math</vt:lpstr>
      <vt:lpstr>Franklin Gothic Book</vt:lpstr>
      <vt:lpstr>Perpetua</vt:lpstr>
      <vt:lpstr>Poor Richard</vt:lpstr>
      <vt:lpstr>Times</vt:lpstr>
      <vt:lpstr>Times New Roman</vt:lpstr>
      <vt:lpstr>Wingdings</vt:lpstr>
      <vt:lpstr>Wingdings 2</vt:lpstr>
      <vt:lpstr>4_公正</vt:lpstr>
      <vt:lpstr>5_公正</vt:lpstr>
      <vt:lpstr>公正</vt:lpstr>
      <vt:lpstr>Operating Systems Distributed File Systems</vt:lpstr>
      <vt:lpstr>The Concept of Files</vt:lpstr>
      <vt:lpstr>The Concept of File Systems</vt:lpstr>
      <vt:lpstr>Conventional File System Layers</vt:lpstr>
      <vt:lpstr>Conventional File APIs</vt:lpstr>
      <vt:lpstr>Distributed File System Requirements (1)</vt:lpstr>
      <vt:lpstr>Distributed File System Requirements (2)</vt:lpstr>
      <vt:lpstr>Distributed File System Requirements (3)</vt:lpstr>
      <vt:lpstr>Naming of Distributed Files</vt:lpstr>
      <vt:lpstr>Naming Schemes for DFSs</vt:lpstr>
      <vt:lpstr>Mounting Remote Directories (NFS)</vt:lpstr>
      <vt:lpstr>File Accessing Models    </vt:lpstr>
      <vt:lpstr>Cache Location Policies</vt:lpstr>
      <vt:lpstr>PowerPoint 簡報</vt:lpstr>
      <vt:lpstr>Cache Update Policies</vt:lpstr>
      <vt:lpstr>Cache Validation Policies</vt:lpstr>
      <vt:lpstr>File Replications</vt:lpstr>
      <vt:lpstr>Replication Transparency Issues</vt:lpstr>
      <vt:lpstr>Multicopy Update Policies (1)</vt:lpstr>
      <vt:lpstr>Multicopy Update Policies (2)</vt:lpstr>
      <vt:lpstr>Multicopy Update Policies (3)</vt:lpstr>
      <vt:lpstr>Quorum Consensus (QC) Protocol</vt:lpstr>
      <vt:lpstr>Examples of QC Protocol </vt:lpstr>
      <vt:lpstr>Variations of the QC Protocol</vt:lpstr>
      <vt:lpstr>Stateless vs Stateful Service</vt:lpstr>
      <vt:lpstr>A Stateless File Server Scenario</vt:lpstr>
      <vt:lpstr>A Stateful File Server Scenario</vt:lpstr>
      <vt:lpstr>Stateless vs Stateful </vt:lpstr>
      <vt:lpstr>A Simple File Service Architecture</vt:lpstr>
      <vt:lpstr>File Service Components</vt:lpstr>
      <vt:lpstr>Flat File Service APIs</vt:lpstr>
      <vt:lpstr>Directory Service APIs</vt:lpstr>
      <vt:lpstr>The Network File System (NFS)</vt:lpstr>
      <vt:lpstr>Subset of NFS v3 APIs   (1) </vt:lpstr>
      <vt:lpstr>Subset of NFS v3 APIs  (2)</vt:lpstr>
      <vt:lpstr>Remote Files Accesses on an NFS Client</vt:lpstr>
      <vt:lpstr>Pathname Translation in NFS</vt:lpstr>
      <vt:lpstr>Server Caching in NFS</vt:lpstr>
      <vt:lpstr>Client Caching in NFS (1)</vt:lpstr>
      <vt:lpstr>Client Caching in NFS (2)</vt:lpstr>
      <vt:lpstr>Client Caching in NFS (3)</vt:lpstr>
      <vt:lpstr>The Andrew File System (AFS)</vt:lpstr>
      <vt:lpstr>File Name Space in an AFS Client</vt:lpstr>
      <vt:lpstr>Enhanced Scalability in AFS</vt:lpstr>
      <vt:lpstr>Reasons behind the Design Strategy</vt:lpstr>
      <vt:lpstr>An Operational Scenario in AFS</vt:lpstr>
      <vt:lpstr>Basic Concepts in AFS</vt:lpstr>
      <vt:lpstr>System Call Interception in AFS</vt:lpstr>
      <vt:lpstr>AFS Implementation (1)</vt:lpstr>
      <vt:lpstr>AFS Implementation (2)</vt:lpstr>
      <vt:lpstr>PowerPoint 簡報</vt:lpstr>
      <vt:lpstr>Cache Consistency in AFS</vt:lpstr>
      <vt:lpstr>The Vice service APIs (subset)</vt:lpstr>
      <vt:lpstr>A New File Service Architecture</vt:lpstr>
      <vt:lpstr>Hadoop Distributed File System (HDFS)</vt:lpstr>
      <vt:lpstr>HDFS Architecture</vt:lpstr>
      <vt:lpstr>Files in HDFS</vt:lpstr>
      <vt:lpstr>Block Replication (1)</vt:lpstr>
      <vt:lpstr>Block Replication (2)</vt:lpstr>
      <vt:lpstr>Metadata in HDFS</vt:lpstr>
      <vt:lpstr>File Creation Scenario in HDFS</vt:lpstr>
      <vt:lpstr>Replication Scenario in HDFS</vt:lpstr>
      <vt:lpstr>Replication Pipeline</vt:lpstr>
      <vt:lpstr>Space Reclamations</vt:lpstr>
      <vt:lpstr>The Lustre Distributed File System</vt:lpstr>
      <vt:lpstr>System Components in Lustre   </vt:lpstr>
      <vt:lpstr>File Creation Scenario in Lustre</vt:lpstr>
      <vt:lpstr>File Stripping in Lustre</vt:lpstr>
      <vt:lpstr>A File Stripping Example</vt:lpstr>
      <vt:lpstr>File Operations in Lustre</vt:lpstr>
      <vt:lpstr>Failover in Lustre</vt:lpstr>
    </vt:vector>
  </TitlesOfParts>
  <Company>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she</dc:creator>
  <cp:lastModifiedBy>user</cp:lastModifiedBy>
  <cp:revision>273</cp:revision>
  <dcterms:created xsi:type="dcterms:W3CDTF">2009-09-21T01:12:33Z</dcterms:created>
  <dcterms:modified xsi:type="dcterms:W3CDTF">2024-05-07T23:45:42Z</dcterms:modified>
</cp:coreProperties>
</file>