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hOSR/yxDOjXepmIcEDo6ajN3RQ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該論文收錄於 </a:t>
            </a:r>
            <a:r>
              <a:rPr b="1" lang="en-US">
                <a:solidFill>
                  <a:schemeClr val="dk1"/>
                </a:solidFill>
              </a:rPr>
              <a:t>2025 USENIX 年度技術會議 (2025 USENIX Annual Technical Conference)</a:t>
            </a:r>
            <a:r>
              <a:rPr lang="en-US">
                <a:solidFill>
                  <a:schemeClr val="dk1"/>
                </a:solidFill>
              </a:rPr>
              <a:t> 的論文集中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這篇研究論文介紹了名為 PPipe 的高效能影片分析推論系統，旨在優化異質 GPU 集群上的模型服務。</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作者觀察到不同層級的 GPU 在處理特定的神經網路層時具有性能差異，因此開發了池化流水線並行（Pool-Based Pipeline Parallelism）技術。</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該系統結合了基於混合整數線性規劃（MILP）的控制平面來決定最優模型切分，以及具備資源預留機制的動態批次處理數據平面。</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透過這種架構，PPipe 能在滿足**延遲服務等級目標（SLO）**的前提下，顯著提升低階 GPU 的利用率。實驗證明，與現有基準相比，該系統能提高多達 75.1% 的服務吞吐量。</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首先，讓我們來看看這項研究的背景。我們觀察到兩個正在發生且相互衝突的趨勢。</a:t>
            </a:r>
            <a:endParaRPr/>
          </a:p>
          <a:p>
            <a:pPr indent="0" lvl="0" marL="0" rtl="0" algn="l">
              <a:spcBef>
                <a:spcPts val="0"/>
              </a:spcBef>
              <a:spcAft>
                <a:spcPts val="0"/>
              </a:spcAft>
              <a:buNone/>
            </a:pPr>
            <a:r>
              <a:rPr lang="en-US">
                <a:solidFill>
                  <a:schemeClr val="dk1"/>
                </a:solidFill>
              </a:rPr>
              <a:t>第一點，是</a:t>
            </a:r>
            <a:r>
              <a:rPr b="1" lang="en-US">
                <a:solidFill>
                  <a:schemeClr val="dk1"/>
                </a:solidFill>
              </a:rPr>
              <a:t>工作負載（Workload）的特性</a:t>
            </a:r>
            <a:r>
              <a:rPr lang="en-US">
                <a:solidFill>
                  <a:schemeClr val="dk1"/>
                </a:solidFill>
              </a:rPr>
              <a:t>。現代視訊分析應用，例如智慧交通或安防監控，都高度依賴深度神經網路（DNN）。這些應用有三個關鍵特徵：</a:t>
            </a:r>
            <a:endParaRPr>
              <a:solidFill>
                <a:schemeClr val="dk1"/>
              </a:solidFill>
            </a:endParaRPr>
          </a:p>
          <a:p>
            <a:pPr indent="0" lvl="0" marL="0" rtl="0" algn="l">
              <a:spcBef>
                <a:spcPts val="0"/>
              </a:spcBef>
              <a:spcAft>
                <a:spcPts val="0"/>
              </a:spcAft>
              <a:buNone/>
            </a:pPr>
            <a:r>
              <a:rPr lang="en-US">
                <a:solidFill>
                  <a:schemeClr val="dk1"/>
                </a:solidFill>
              </a:rPr>
              <a:t>1,</a:t>
            </a:r>
            <a:r>
              <a:rPr b="1" lang="en-US">
                <a:solidFill>
                  <a:schemeClr val="dk1"/>
                </a:solidFill>
              </a:rPr>
              <a:t>計算密集</a:t>
            </a:r>
            <a:r>
              <a:rPr lang="en-US">
                <a:solidFill>
                  <a:schemeClr val="dk1"/>
                </a:solidFill>
              </a:rPr>
              <a:t>：模型運算量非常大。</a:t>
            </a:r>
            <a:endParaRPr>
              <a:solidFill>
                <a:schemeClr val="dk1"/>
              </a:solidFill>
            </a:endParaRPr>
          </a:p>
          <a:p>
            <a:pPr indent="0" lvl="0" marL="0" rtl="0" algn="l">
              <a:spcBef>
                <a:spcPts val="0"/>
              </a:spcBef>
              <a:spcAft>
                <a:spcPts val="0"/>
              </a:spcAft>
              <a:buNone/>
            </a:pPr>
            <a:r>
              <a:rPr lang="en-US">
                <a:solidFill>
                  <a:schemeClr val="dk1"/>
                </a:solidFill>
              </a:rPr>
              <a:t>2,</a:t>
            </a:r>
            <a:r>
              <a:rPr b="1" lang="en-US">
                <a:solidFill>
                  <a:schemeClr val="dk1"/>
                </a:solidFill>
              </a:rPr>
              <a:t>延遲敏感（Latency-bound）</a:t>
            </a:r>
            <a:r>
              <a:rPr lang="en-US">
                <a:solidFill>
                  <a:schemeClr val="dk1"/>
                </a:solidFill>
              </a:rPr>
              <a:t>：這是最嚴苛的條件，通常要求在 200 毫秒內完成回應，否則服務就會失效（SLO violation）。</a:t>
            </a:r>
            <a:endParaRPr>
              <a:solidFill>
                <a:schemeClr val="dk1"/>
              </a:solidFill>
            </a:endParaRPr>
          </a:p>
          <a:p>
            <a:pPr indent="0" lvl="0" marL="0" rtl="0" algn="l">
              <a:spcBef>
                <a:spcPts val="0"/>
              </a:spcBef>
              <a:spcAft>
                <a:spcPts val="0"/>
              </a:spcAft>
              <a:buNone/>
            </a:pPr>
            <a:r>
              <a:rPr lang="en-US">
                <a:solidFill>
                  <a:schemeClr val="dk1"/>
                </a:solidFill>
              </a:rPr>
              <a:t>3,</a:t>
            </a:r>
            <a:r>
              <a:rPr b="1" lang="en-US">
                <a:solidFill>
                  <a:schemeClr val="dk1"/>
                </a:solidFill>
              </a:rPr>
              <a:t>流量突發</a:t>
            </a:r>
            <a:r>
              <a:rPr lang="en-US">
                <a:solidFill>
                  <a:schemeClr val="dk1"/>
                </a:solidFill>
              </a:rPr>
              <a:t>：路口可能突然車流量大增，導致伺服器瞬間負載飆升。</a:t>
            </a:r>
            <a:endParaRPr>
              <a:solidFill>
                <a:schemeClr val="dk1"/>
              </a:solidFill>
            </a:endParaRPr>
          </a:p>
          <a:p>
            <a:pPr indent="0" lvl="0" marL="0" rtl="0" algn="l">
              <a:spcBef>
                <a:spcPts val="0"/>
              </a:spcBef>
              <a:spcAft>
                <a:spcPts val="0"/>
              </a:spcAft>
              <a:buNone/>
            </a:pPr>
            <a:r>
              <a:rPr lang="en-US">
                <a:solidFill>
                  <a:schemeClr val="dk1"/>
                </a:solidFill>
              </a:rPr>
              <a:t>第二點，是</a:t>
            </a:r>
            <a:r>
              <a:rPr b="1" lang="en-US">
                <a:solidFill>
                  <a:schemeClr val="dk1"/>
                </a:solidFill>
              </a:rPr>
              <a:t>硬體環境（Infrastructure）的現狀</a:t>
            </a:r>
            <a:r>
              <a:rPr lang="en-US">
                <a:solidFill>
                  <a:schemeClr val="dk1"/>
                </a:solidFill>
              </a:rPr>
              <a:t>。為了降低總擁有成本（TCO），現代資料中心很少一次性淘汰所有舊設備。這導致了『異構 GPU 叢集』的出現。 我們常看到高效能的新卡（如 NVIDIA L4）與被逐步淘汰的舊卡（如 P4）混在同一個機房內。</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這裡的矛盾在於</a:t>
            </a:r>
            <a:r>
              <a:rPr lang="en-US">
                <a:solidFill>
                  <a:schemeClr val="dk1"/>
                </a:solidFill>
              </a:rPr>
              <a:t>：我們有著對延遲極度敏感的應用，卻必須跑在效能參差不齊的硬體上。這就是本論文要解決的核心難題。」</a:t>
            </a:r>
            <a:endParaRPr>
              <a:solidFill>
                <a:schemeClr val="dk1"/>
              </a:solidFill>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目前低階 GPU（如 P4）面臨兩大困境： </a:t>
            </a:r>
            <a:endParaRPr>
              <a:solidFill>
                <a:schemeClr val="dk1"/>
              </a:solidFill>
            </a:endParaRPr>
          </a:p>
          <a:p>
            <a:pPr indent="0" lvl="0" marL="0" rtl="0" algn="l">
              <a:spcBef>
                <a:spcPts val="0"/>
              </a:spcBef>
              <a:spcAft>
                <a:spcPts val="0"/>
              </a:spcAft>
              <a:buNone/>
            </a:pPr>
            <a:r>
              <a:rPr lang="en-US">
                <a:solidFill>
                  <a:schemeClr val="dk1"/>
                </a:solidFill>
              </a:rPr>
              <a:t>第一，</a:t>
            </a:r>
            <a:r>
              <a:rPr b="1" lang="en-US">
                <a:solidFill>
                  <a:schemeClr val="dk1"/>
                </a:solidFill>
              </a:rPr>
              <a:t>能力不足</a:t>
            </a:r>
            <a:r>
              <a:rPr lang="en-US">
                <a:solidFill>
                  <a:schemeClr val="dk1"/>
                </a:solidFill>
              </a:rPr>
              <a:t>：它們的運算速度太慢，單獨運作無法滿足即時回應的要求。 </a:t>
            </a:r>
            <a:endParaRPr>
              <a:solidFill>
                <a:schemeClr val="dk1"/>
              </a:solidFill>
            </a:endParaRPr>
          </a:p>
          <a:p>
            <a:pPr indent="0" lvl="0" marL="0" rtl="0" algn="l">
              <a:spcBef>
                <a:spcPts val="0"/>
              </a:spcBef>
              <a:spcAft>
                <a:spcPts val="0"/>
              </a:spcAft>
              <a:buNone/>
            </a:pPr>
            <a:r>
              <a:rPr lang="en-US">
                <a:solidFill>
                  <a:schemeClr val="dk1"/>
                </a:solidFill>
              </a:rPr>
              <a:t>第二，</a:t>
            </a:r>
            <a:r>
              <a:rPr b="1" lang="en-US">
                <a:solidFill>
                  <a:schemeClr val="dk1"/>
                </a:solidFill>
              </a:rPr>
              <a:t>資源閒置</a:t>
            </a:r>
            <a:r>
              <a:rPr lang="en-US">
                <a:solidFill>
                  <a:schemeClr val="dk1"/>
                </a:solidFill>
              </a:rPr>
              <a:t>：因為速度慢，現有的系統不敢用它們，導致它們長期處於閒置狀態（Under-utilized）。</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作者透過微觀基準測試（Micro-benchmarking），我們發現模型各層在 P4 與 L4 上的效能差距是不均勻的。 差距最小的只有 1.7 倍，差距最大的則超過 8 倍。</a:t>
            </a:r>
            <a:endParaRPr/>
          </a:p>
          <a:p>
            <a:pPr indent="0" lvl="0" marL="0" rtl="0" algn="l">
              <a:spcBef>
                <a:spcPts val="0"/>
              </a:spcBef>
              <a:spcAft>
                <a:spcPts val="0"/>
              </a:spcAft>
              <a:buNone/>
            </a:pPr>
            <a:r>
              <a:rPr lang="en-US"/>
              <a:t>這個發現直接推翻了『舊 GPU 無法處理現代模型』的觀點。只要我們能精準地挑出那些『差距小』的層交給舊 GPU 處理，就能在幾乎不影響延遲的情況下，把這些閒置資源利用起來。這就是我們 PPipe 系統的核心策略。」</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「有了上一頁關於『層級效能異質性』的發現，接下來的問題是：我們該採用哪種平行化策略來實現這種分工？</a:t>
            </a:r>
            <a:endParaRPr/>
          </a:p>
          <a:p>
            <a:pPr indent="0" lvl="0" marL="0" rtl="0" algn="l">
              <a:spcBef>
                <a:spcPts val="0"/>
              </a:spcBef>
              <a:spcAft>
                <a:spcPts val="0"/>
              </a:spcAft>
              <a:buNone/>
            </a:pPr>
            <a:r>
              <a:rPr lang="en-US"/>
              <a:t>在深度學習領域，常見的策略是『模型平行化（Model Parallelism）』，例如 Tensor Parallelism。但這類技術通常需要極高頻寬的互連（如 NVLink），這在舊的異構叢集中通常是不具備的。</a:t>
            </a:r>
            <a:endParaRPr/>
          </a:p>
          <a:p>
            <a:pPr indent="0" lvl="0" marL="0" rtl="0" algn="l">
              <a:spcBef>
                <a:spcPts val="0"/>
              </a:spcBef>
              <a:spcAft>
                <a:spcPts val="0"/>
              </a:spcAft>
              <a:buNone/>
            </a:pPr>
            <a:r>
              <a:rPr lang="en-US">
                <a:solidFill>
                  <a:schemeClr val="dk1"/>
                </a:solidFill>
              </a:rPr>
              <a:t>因此，[ </a:t>
            </a:r>
            <a:r>
              <a:rPr lang="en-US">
                <a:solidFill>
                  <a:srgbClr val="FF0000"/>
                </a:solidFill>
              </a:rPr>
              <a:t>作者</a:t>
            </a:r>
            <a:r>
              <a:rPr lang="en-US">
                <a:solidFill>
                  <a:schemeClr val="dk1"/>
                </a:solidFill>
              </a:rPr>
              <a:t> ]將目光轉向了 </a:t>
            </a:r>
            <a:r>
              <a:rPr b="1" lang="en-US">
                <a:solidFill>
                  <a:schemeClr val="dk1"/>
                </a:solidFill>
              </a:rPr>
              <a:t>『管線平行化（Pipeline Parallelism）』</a:t>
            </a:r>
            <a:r>
              <a:rPr lang="en-US">
                <a:solidFill>
                  <a:schemeClr val="dk1"/>
                </a:solidFill>
              </a:rPr>
              <a:t>。 這項技術傳統上多用於提升模型『訓練』的吞吐量，但在這裡，我們創新地將其應用於『推論服務』。</a:t>
            </a:r>
            <a:endParaRPr>
              <a:solidFill>
                <a:schemeClr val="dk1"/>
              </a:solidFill>
            </a:endParaRPr>
          </a:p>
          <a:p>
            <a:pPr indent="0" lvl="0" marL="0" rtl="0" algn="l">
              <a:spcBef>
                <a:spcPts val="0"/>
              </a:spcBef>
              <a:spcAft>
                <a:spcPts val="0"/>
              </a:spcAft>
              <a:buNone/>
            </a:pPr>
            <a:r>
              <a:rPr lang="en-US">
                <a:solidFill>
                  <a:schemeClr val="dk1"/>
                </a:solidFill>
              </a:rPr>
              <a:t>它的核心優勢在於對硬體拓撲的低依賴性。透過將模型切分為多個階段（Stages），不同的 GPU 只需要透過標準的 PCIe 或乙太網路傳遞中間結果（Activations）。這讓我們能夠將上一頁發現的那些『適合舊卡運算』的層，物理上隔離到舊 GPU 上去執行，而讓新 GPU 專注於處理剩下的繁重任務，從而實現真正的異構協同。」</a:t>
            </a:r>
            <a:endParaRPr>
              <a:solidFill>
                <a:schemeClr val="dk1"/>
              </a:solidFill>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「確定了使用管線平行化後，我們面臨下一個問題：傳統的管線設計適合異構環境嗎？答案是否定的。</a:t>
            </a:r>
            <a:endParaRPr/>
          </a:p>
          <a:p>
            <a:pPr indent="0" lvl="0" marL="0" rtl="0" algn="l">
              <a:spcBef>
                <a:spcPts val="0"/>
              </a:spcBef>
              <a:spcAft>
                <a:spcPts val="0"/>
              </a:spcAft>
              <a:buNone/>
            </a:pPr>
            <a:r>
              <a:rPr lang="en-US">
                <a:solidFill>
                  <a:schemeClr val="dk1"/>
                </a:solidFill>
              </a:rPr>
              <a:t>傳統的管線是 </a:t>
            </a:r>
            <a:r>
              <a:rPr b="1" lang="en-US">
                <a:solidFill>
                  <a:schemeClr val="dk1"/>
                </a:solidFill>
              </a:rPr>
              <a:t>『單鏈式 (Single-Chain)』</a:t>
            </a:r>
            <a:r>
              <a:rPr lang="en-US">
                <a:solidFill>
                  <a:schemeClr val="dk1"/>
                </a:solidFill>
              </a:rPr>
              <a:t> 的結構，也就是 GPU 1 傳給 GPU 2，再傳給 GPU 3。這種結構非常脆弱，會產生所謂的 </a:t>
            </a:r>
            <a:r>
              <a:rPr b="1" lang="en-US">
                <a:solidFill>
                  <a:schemeClr val="dk1"/>
                </a:solidFill>
              </a:rPr>
              <a:t>『隊頭阻塞 (Head-of-line blocking)』</a:t>
            </a:r>
            <a:r>
              <a:rPr lang="en-US">
                <a:solidFill>
                  <a:schemeClr val="dk1"/>
                </a:solidFill>
              </a:rPr>
              <a:t> 問題。只要鏈條中任何一個節點（比如 GPU 2）因為網路波動或運算稍慢而卡住，整條管線就會停擺，這在不穩定的異構環境中是致命傷。</a:t>
            </a:r>
            <a:endParaRPr>
              <a:solidFill>
                <a:schemeClr val="dk1"/>
              </a:solidFill>
            </a:endParaRPr>
          </a:p>
          <a:p>
            <a:pPr indent="0" lvl="0" marL="0" rtl="0" algn="l">
              <a:spcBef>
                <a:spcPts val="0"/>
              </a:spcBef>
              <a:spcAft>
                <a:spcPts val="0"/>
              </a:spcAft>
              <a:buNone/>
            </a:pPr>
            <a:r>
              <a:rPr lang="en-US">
                <a:solidFill>
                  <a:schemeClr val="dk1"/>
                </a:solidFill>
              </a:rPr>
              <a:t>因此，[ 作者 ]提出了 PPipe 的核心創新：</a:t>
            </a:r>
            <a:r>
              <a:rPr b="1" lang="en-US">
                <a:solidFill>
                  <a:schemeClr val="dk1"/>
                </a:solidFill>
              </a:rPr>
              <a:t>『基於資源池的管線 (Pool-Based Pipeline)』</a:t>
            </a:r>
            <a:r>
              <a:rPr lang="en-US">
                <a:solidFill>
                  <a:schemeClr val="dk1"/>
                </a:solidFill>
              </a:rPr>
              <a:t>，如圖下方所示。</a:t>
            </a:r>
            <a:endParaRPr>
              <a:solidFill>
                <a:schemeClr val="dk1"/>
              </a:solidFill>
            </a:endParaRPr>
          </a:p>
          <a:p>
            <a:pPr indent="0" lvl="0" marL="0" rtl="0" algn="l">
              <a:spcBef>
                <a:spcPts val="0"/>
              </a:spcBef>
              <a:spcAft>
                <a:spcPts val="0"/>
              </a:spcAft>
              <a:buNone/>
            </a:pPr>
            <a:r>
              <a:rPr lang="en-US">
                <a:solidFill>
                  <a:schemeClr val="dk1"/>
                </a:solidFill>
              </a:rPr>
              <a:t>作者不再將單一 GPU 視為一個階段，而是將多個 GPU 組成一個 </a:t>
            </a:r>
            <a:r>
              <a:rPr b="1" lang="en-US">
                <a:solidFill>
                  <a:schemeClr val="dk1"/>
                </a:solidFill>
              </a:rPr>
              <a:t>『資源池 (Pool)』</a:t>
            </a:r>
            <a:r>
              <a:rPr lang="en-US">
                <a:solidFill>
                  <a:schemeClr val="dk1"/>
                </a:solidFill>
              </a:rPr>
              <a:t> 來負責一個階段。 這種設計允許 </a:t>
            </a:r>
            <a:r>
              <a:rPr b="1" lang="en-US">
                <a:solidFill>
                  <a:schemeClr val="dk1"/>
                </a:solidFill>
              </a:rPr>
              <a:t>M-to-N 的動態映射</a:t>
            </a:r>
            <a:r>
              <a:rPr lang="en-US">
                <a:solidFill>
                  <a:schemeClr val="dk1"/>
                </a:solidFill>
              </a:rPr>
              <a:t>。也就是說，第一階段池中的『任何』一個 GPU，完成運算後，都可以將任務交給第二階段池中『任何』一個空閒的 GPU。 這徹底消除了單點瓶頸，讓系統能自動繞過忙碌或較慢的節點，實現了真正的負載均衡。」</a:t>
            </a:r>
            <a:endParaRPr>
              <a:solidFill>
                <a:schemeClr val="dk1"/>
              </a:solidFill>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3477d7032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3477d703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本圖展示的是 </a:t>
            </a:r>
            <a:r>
              <a:rPr b="1" lang="en-US">
                <a:solidFill>
                  <a:schemeClr val="dk1"/>
                </a:solidFill>
              </a:rPr>
              <a:t>基於資源池的管線平行化 (Pool-Based Pipeline Parallelism)</a:t>
            </a:r>
            <a:r>
              <a:rPr lang="en-US">
                <a:solidFill>
                  <a:schemeClr val="dk1"/>
                </a:solidFill>
              </a:rPr>
              <a:t> 的核心架構概念。這通常應用於大型深度學習模型的推論（Inference）加速，特別是在硬體資源不一致（異構）的環境中。</a:t>
            </a:r>
            <a:endParaRPr>
              <a:solidFill>
                <a:schemeClr val="dk1"/>
              </a:solidFill>
            </a:endParaRPr>
          </a:p>
          <a:p>
            <a:pPr indent="0" lvl="0" marL="0" rtl="0" algn="l">
              <a:spcBef>
                <a:spcPts val="0"/>
              </a:spcBef>
              <a:spcAft>
                <a:spcPts val="0"/>
              </a:spcAft>
              <a:buNone/>
            </a:pPr>
            <a:r>
              <a:rPr lang="en-US">
                <a:solidFill>
                  <a:schemeClr val="dk1"/>
                </a:solidFill>
              </a:rPr>
              <a:t>1,模型切分 (Model Partitioning)</a:t>
            </a:r>
            <a:endParaRPr>
              <a:solidFill>
                <a:schemeClr val="dk1"/>
              </a:solidFill>
            </a:endParaRPr>
          </a:p>
          <a:p>
            <a:pPr indent="0" lvl="0" marL="0" rtl="0" algn="l">
              <a:spcBef>
                <a:spcPts val="0"/>
              </a:spcBef>
              <a:spcAft>
                <a:spcPts val="0"/>
              </a:spcAft>
              <a:buNone/>
            </a:pPr>
            <a:r>
              <a:rPr b="1" lang="en-US">
                <a:solidFill>
                  <a:schemeClr val="dk1"/>
                </a:solidFill>
              </a:rPr>
              <a:t>圖片上方：</a:t>
            </a:r>
            <a:r>
              <a:rPr lang="en-US">
                <a:solidFill>
                  <a:schemeClr val="dk1"/>
                </a:solidFill>
              </a:rPr>
              <a:t> 一個神經網路模型被垂直切分為三個部分，分別標示為 </a:t>
            </a:r>
            <a:r>
              <a:rPr b="1" lang="en-US">
                <a:solidFill>
                  <a:schemeClr val="dk1"/>
                </a:solidFill>
              </a:rPr>
              <a:t>Partition 1</a:t>
            </a:r>
            <a:r>
              <a:rPr lang="en-US">
                <a:solidFill>
                  <a:schemeClr val="dk1"/>
                </a:solidFill>
              </a:rPr>
              <a:t>、</a:t>
            </a:r>
            <a:r>
              <a:rPr b="1" lang="en-US">
                <a:solidFill>
                  <a:schemeClr val="dk1"/>
                </a:solidFill>
              </a:rPr>
              <a:t>Partition 2</a:t>
            </a:r>
            <a:r>
              <a:rPr lang="en-US">
                <a:solidFill>
                  <a:schemeClr val="dk1"/>
                </a:solidFill>
              </a:rPr>
              <a:t> 和 </a:t>
            </a:r>
            <a:r>
              <a:rPr b="1" lang="en-US">
                <a:solidFill>
                  <a:schemeClr val="dk1"/>
                </a:solidFill>
              </a:rPr>
              <a:t>Partition 3</a:t>
            </a:r>
            <a:r>
              <a:rPr lang="en-US">
                <a:solidFill>
                  <a:schemeClr val="dk1"/>
                </a:solidFill>
              </a:rPr>
              <a:t>。</a:t>
            </a:r>
            <a:endParaRPr>
              <a:solidFill>
                <a:schemeClr val="dk1"/>
              </a:solidFill>
            </a:endParaRPr>
          </a:p>
          <a:p>
            <a:pPr indent="0" lvl="0" marL="0" rtl="0" algn="l">
              <a:spcBef>
                <a:spcPts val="0"/>
              </a:spcBef>
              <a:spcAft>
                <a:spcPts val="0"/>
              </a:spcAft>
              <a:buNone/>
            </a:pPr>
            <a:r>
              <a:rPr b="1" lang="en-US">
                <a:solidFill>
                  <a:schemeClr val="dk1"/>
                </a:solidFill>
              </a:rPr>
              <a:t>意義：</a:t>
            </a:r>
            <a:r>
              <a:rPr lang="en-US">
                <a:solidFill>
                  <a:schemeClr val="dk1"/>
                </a:solidFill>
              </a:rPr>
              <a:t> 因為單個 GPU 可能無法容納整個大模型，或者為了透過流水線（Pipeline）來加速，系統將模型切成多個階段（Stages）。每個階段負責計算模型的一部份。</a:t>
            </a:r>
            <a:endParaRPr>
              <a:solidFill>
                <a:schemeClr val="dk1"/>
              </a:solidFill>
            </a:endParaRPr>
          </a:p>
          <a:p>
            <a:pPr indent="0" lvl="0" marL="0" rtl="0" algn="l">
              <a:spcBef>
                <a:spcPts val="0"/>
              </a:spcBef>
              <a:spcAft>
                <a:spcPts val="0"/>
              </a:spcAft>
              <a:buNone/>
            </a:pPr>
            <a:r>
              <a:rPr lang="en-US">
                <a:solidFill>
                  <a:schemeClr val="dk1"/>
                </a:solidFill>
              </a:rPr>
              <a:t>2,異構資源池 (Heterogeneous Resource Pools)</a:t>
            </a:r>
            <a:endParaRPr>
              <a:solidFill>
                <a:schemeClr val="dk1"/>
              </a:solidFill>
            </a:endParaRPr>
          </a:p>
          <a:p>
            <a:pPr indent="0" lvl="0" marL="0" rtl="0" algn="l">
              <a:spcBef>
                <a:spcPts val="0"/>
              </a:spcBef>
              <a:spcAft>
                <a:spcPts val="0"/>
              </a:spcAft>
              <a:buNone/>
            </a:pPr>
            <a:r>
              <a:rPr b="1" lang="en-US">
                <a:solidFill>
                  <a:schemeClr val="dk1"/>
                </a:solidFill>
              </a:rPr>
              <a:t>圖片中間/下方：</a:t>
            </a:r>
            <a:r>
              <a:rPr lang="en-US">
                <a:solidFill>
                  <a:schemeClr val="dk1"/>
                </a:solidFill>
              </a:rPr>
              <a:t> 針對每一個模型分區（Partition），都有對應的一組 GPU 負責運算。</a:t>
            </a:r>
            <a:endParaRPr>
              <a:solidFill>
                <a:schemeClr val="dk1"/>
              </a:solidFill>
            </a:endParaRPr>
          </a:p>
          <a:p>
            <a:pPr indent="457200" lvl="0" marL="0" rtl="0" algn="l">
              <a:spcBef>
                <a:spcPts val="0"/>
              </a:spcBef>
              <a:spcAft>
                <a:spcPts val="0"/>
              </a:spcAft>
              <a:buNone/>
            </a:pPr>
            <a:r>
              <a:rPr b="1" lang="en-US">
                <a:solidFill>
                  <a:schemeClr val="dk1"/>
                </a:solidFill>
              </a:rPr>
              <a:t>Partition 1 &amp; 3</a:t>
            </a:r>
            <a:r>
              <a:rPr lang="en-US">
                <a:solidFill>
                  <a:schemeClr val="dk1"/>
                </a:solidFill>
              </a:rPr>
              <a:t>：分配給 </a:t>
            </a:r>
            <a:r>
              <a:rPr b="1" lang="en-US">
                <a:solidFill>
                  <a:schemeClr val="dk1"/>
                </a:solidFill>
              </a:rPr>
              <a:t>GPU class 1</a:t>
            </a:r>
            <a:r>
              <a:rPr lang="en-US">
                <a:solidFill>
                  <a:schemeClr val="dk1"/>
                </a:solidFill>
              </a:rPr>
              <a:t>（藍色方塊，可能代表高效能 GPU，如 L4）。</a:t>
            </a:r>
            <a:endParaRPr>
              <a:solidFill>
                <a:schemeClr val="dk1"/>
              </a:solidFill>
            </a:endParaRPr>
          </a:p>
          <a:p>
            <a:pPr indent="457200" lvl="0" marL="0" rtl="0" algn="l">
              <a:spcBef>
                <a:spcPts val="0"/>
              </a:spcBef>
              <a:spcAft>
                <a:spcPts val="0"/>
              </a:spcAft>
              <a:buNone/>
            </a:pPr>
            <a:r>
              <a:rPr b="1" lang="en-US">
                <a:solidFill>
                  <a:schemeClr val="dk1"/>
                </a:solidFill>
              </a:rPr>
              <a:t>Partition 2</a:t>
            </a:r>
            <a:r>
              <a:rPr lang="en-US">
                <a:solidFill>
                  <a:schemeClr val="dk1"/>
                </a:solidFill>
              </a:rPr>
              <a:t>：分配給 </a:t>
            </a:r>
            <a:r>
              <a:rPr b="1" lang="en-US">
                <a:solidFill>
                  <a:schemeClr val="dk1"/>
                </a:solidFill>
              </a:rPr>
              <a:t>GPU class 2</a:t>
            </a:r>
            <a:r>
              <a:rPr lang="en-US">
                <a:solidFill>
                  <a:schemeClr val="dk1"/>
                </a:solidFill>
              </a:rPr>
              <a:t>（橘色方塊，可能代表較舊或低效能 GPU，如 P4）。</a:t>
            </a:r>
            <a:endParaRPr>
              <a:solidFill>
                <a:schemeClr val="dk1"/>
              </a:solidFill>
            </a:endParaRPr>
          </a:p>
          <a:p>
            <a:pPr indent="0" lvl="0" marL="0" rtl="0" algn="l">
              <a:spcBef>
                <a:spcPts val="0"/>
              </a:spcBef>
              <a:spcAft>
                <a:spcPts val="0"/>
              </a:spcAft>
              <a:buNone/>
            </a:pPr>
            <a:r>
              <a:rPr lang="en-US">
                <a:solidFill>
                  <a:schemeClr val="dk1"/>
                </a:solidFill>
              </a:rPr>
              <a:t>意義：</a:t>
            </a:r>
            <a:endParaRPr>
              <a:solidFill>
                <a:schemeClr val="dk1"/>
              </a:solidFill>
            </a:endParaRPr>
          </a:p>
          <a:p>
            <a:pPr indent="0" lvl="0" marL="0" rtl="0" algn="l">
              <a:spcBef>
                <a:spcPts val="0"/>
              </a:spcBef>
              <a:spcAft>
                <a:spcPts val="0"/>
              </a:spcAft>
              <a:buNone/>
            </a:pPr>
            <a:r>
              <a:rPr b="1" lang="en-US">
                <a:solidFill>
                  <a:schemeClr val="dk1"/>
                </a:solidFill>
              </a:rPr>
              <a:t>資源池化 (Pooling)</a:t>
            </a:r>
            <a:r>
              <a:rPr lang="en-US">
                <a:solidFill>
                  <a:schemeClr val="dk1"/>
                </a:solidFill>
              </a:rPr>
              <a:t>：不再是「一個階段對應單一張 GPU」，而是「一個階段對應 </a:t>
            </a:r>
            <a:r>
              <a:rPr b="1" lang="en-US">
                <a:solidFill>
                  <a:schemeClr val="dk1"/>
                </a:solidFill>
              </a:rPr>
              <a:t>一組</a:t>
            </a:r>
            <a:r>
              <a:rPr lang="en-US">
                <a:solidFill>
                  <a:schemeClr val="dk1"/>
                </a:solidFill>
              </a:rPr>
              <a:t> GPU 資源池」。</a:t>
            </a:r>
            <a:endParaRPr>
              <a:solidFill>
                <a:schemeClr val="dk1"/>
              </a:solidFill>
            </a:endParaRPr>
          </a:p>
          <a:p>
            <a:pPr indent="0" lvl="0" marL="0" rtl="0" algn="l">
              <a:spcBef>
                <a:spcPts val="0"/>
              </a:spcBef>
              <a:spcAft>
                <a:spcPts val="0"/>
              </a:spcAft>
              <a:buNone/>
            </a:pPr>
            <a:r>
              <a:rPr b="1" lang="en-US">
                <a:solidFill>
                  <a:schemeClr val="dk1"/>
                </a:solidFill>
              </a:rPr>
              <a:t>異構性 (Heterogeneity)</a:t>
            </a:r>
            <a:r>
              <a:rPr lang="en-US">
                <a:solidFill>
                  <a:schemeClr val="dk1"/>
                </a:solidFill>
              </a:rPr>
              <a:t>：不同顏色的方塊代表系統可以混合使用不同型號的硬體。這裡展示了如何將中間的計算階段卸載（Offload）到特定類型的 GPU（橘色）上。</a:t>
            </a:r>
            <a:endParaRPr>
              <a:solidFill>
                <a:schemeClr val="dk1"/>
              </a:solidFill>
            </a:endParaRPr>
          </a:p>
          <a:p>
            <a:pPr indent="0" lvl="0" marL="0" rtl="0" algn="l">
              <a:spcBef>
                <a:spcPts val="0"/>
              </a:spcBef>
              <a:spcAft>
                <a:spcPts val="0"/>
              </a:spcAft>
              <a:buNone/>
            </a:pPr>
            <a:r>
              <a:rPr lang="en-US">
                <a:solidFill>
                  <a:schemeClr val="dk1"/>
                </a:solidFill>
              </a:rPr>
              <a:t>3. 動態路由與 M-to-N 通訊 (Dynamic Routing)</a:t>
            </a:r>
            <a:endParaRPr>
              <a:solidFill>
                <a:schemeClr val="dk1"/>
              </a:solidFill>
            </a:endParaRPr>
          </a:p>
          <a:p>
            <a:pPr indent="0" lvl="0" marL="0" rtl="0" algn="l">
              <a:spcBef>
                <a:spcPts val="0"/>
              </a:spcBef>
              <a:spcAft>
                <a:spcPts val="0"/>
              </a:spcAft>
              <a:buNone/>
            </a:pPr>
            <a:r>
              <a:rPr b="1" lang="en-US">
                <a:solidFill>
                  <a:schemeClr val="dk1"/>
                </a:solidFill>
              </a:rPr>
              <a:t>黑色箭頭：</a:t>
            </a:r>
            <a:r>
              <a:rPr lang="en-US">
                <a:solidFill>
                  <a:schemeClr val="dk1"/>
                </a:solidFill>
              </a:rPr>
              <a:t> 代表可能的資料傳輸路徑。你可以看到 Partition 1 的任何一張 GPU 都可以傳給 Partition 2 的任何一張 GPU（多對多連接）。</a:t>
            </a:r>
            <a:endParaRPr>
              <a:solidFill>
                <a:schemeClr val="dk1"/>
              </a:solidFill>
            </a:endParaRPr>
          </a:p>
          <a:p>
            <a:pPr indent="0" lvl="0" marL="0" rtl="0" algn="l">
              <a:spcBef>
                <a:spcPts val="0"/>
              </a:spcBef>
              <a:spcAft>
                <a:spcPts val="0"/>
              </a:spcAft>
              <a:buNone/>
            </a:pPr>
            <a:r>
              <a:rPr b="1" lang="en-US">
                <a:solidFill>
                  <a:schemeClr val="dk1"/>
                </a:solidFill>
              </a:rPr>
              <a:t>紅色路徑 (Request A)：</a:t>
            </a:r>
            <a:r>
              <a:rPr lang="en-US">
                <a:solidFill>
                  <a:schemeClr val="dk1"/>
                </a:solidFill>
              </a:rPr>
              <a:t> 代表一個實際請求的處理路徑。</a:t>
            </a:r>
            <a:endParaRPr>
              <a:solidFill>
                <a:schemeClr val="dk1"/>
              </a:solidFill>
            </a:endParaRPr>
          </a:p>
          <a:p>
            <a:pPr indent="0" lvl="0" marL="0" rtl="0" algn="l">
              <a:spcBef>
                <a:spcPts val="0"/>
              </a:spcBef>
              <a:spcAft>
                <a:spcPts val="0"/>
              </a:spcAft>
              <a:buNone/>
            </a:pPr>
            <a:r>
              <a:rPr lang="en-US">
                <a:solidFill>
                  <a:schemeClr val="dk1"/>
                </a:solidFill>
              </a:rPr>
              <a:t>	請求進入 Partition 1 的第一張藍色 GPU。</a:t>
            </a:r>
            <a:endParaRPr>
              <a:solidFill>
                <a:schemeClr val="dk1"/>
              </a:solidFill>
            </a:endParaRPr>
          </a:p>
          <a:p>
            <a:pPr indent="0" lvl="0" marL="0" rtl="0" algn="l">
              <a:spcBef>
                <a:spcPts val="0"/>
              </a:spcBef>
              <a:spcAft>
                <a:spcPts val="0"/>
              </a:spcAft>
              <a:buNone/>
            </a:pPr>
            <a:r>
              <a:rPr lang="en-US">
                <a:solidFill>
                  <a:schemeClr val="dk1"/>
                </a:solidFill>
              </a:rPr>
              <a:t>	處理完後，傳給 Partition 2 的第二張橘色 GPU。</a:t>
            </a:r>
            <a:endParaRPr>
              <a:solidFill>
                <a:schemeClr val="dk1"/>
              </a:solidFill>
            </a:endParaRPr>
          </a:p>
          <a:p>
            <a:pPr indent="457200" lvl="0" marL="0" rtl="0" algn="l">
              <a:spcBef>
                <a:spcPts val="0"/>
              </a:spcBef>
              <a:spcAft>
                <a:spcPts val="0"/>
              </a:spcAft>
              <a:buNone/>
            </a:pPr>
            <a:r>
              <a:rPr lang="en-US">
                <a:solidFill>
                  <a:schemeClr val="dk1"/>
                </a:solidFill>
              </a:rPr>
              <a:t>最後傳給 Partition 3 的第一張藍色 GPU。</a:t>
            </a:r>
            <a:endParaRPr>
              <a:solidFill>
                <a:schemeClr val="dk1"/>
              </a:solidFill>
            </a:endParaRPr>
          </a:p>
          <a:p>
            <a:pPr indent="0" lvl="0" marL="0" rtl="0" algn="l">
              <a:spcBef>
                <a:spcPts val="0"/>
              </a:spcBef>
              <a:spcAft>
                <a:spcPts val="0"/>
              </a:spcAft>
              <a:buNone/>
            </a:pPr>
            <a:r>
              <a:rPr b="1" lang="en-US">
                <a:solidFill>
                  <a:schemeClr val="dk1"/>
                </a:solidFill>
              </a:rPr>
              <a:t>意義：</a:t>
            </a:r>
            <a:r>
              <a:rPr lang="en-US">
                <a:solidFill>
                  <a:schemeClr val="dk1"/>
                </a:solidFill>
              </a:rPr>
              <a:t> 這展示了此架構最大的優勢——</a:t>
            </a:r>
            <a:r>
              <a:rPr b="1" lang="en-US">
                <a:solidFill>
                  <a:schemeClr val="dk1"/>
                </a:solidFill>
              </a:rPr>
              <a:t>負載均衡</a:t>
            </a: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	系統不強制走固定路線（例如 GPU 1 -&gt; GPU 2 -&gt; GPU 3）。</a:t>
            </a:r>
            <a:endParaRPr>
              <a:solidFill>
                <a:schemeClr val="dk1"/>
              </a:solidFill>
            </a:endParaRPr>
          </a:p>
          <a:p>
            <a:pPr indent="0" lvl="0" marL="0" rtl="0" algn="l">
              <a:spcBef>
                <a:spcPts val="0"/>
              </a:spcBef>
              <a:spcAft>
                <a:spcPts val="0"/>
              </a:spcAft>
              <a:buNone/>
            </a:pPr>
            <a:r>
              <a:rPr lang="en-US">
                <a:solidFill>
                  <a:schemeClr val="dk1"/>
                </a:solidFill>
              </a:rPr>
              <a:t>	如果在 Partition 2 的某張 GPU 正在忙碌，前一階段的 GPU 可以動態選擇將資料傳給池中 </a:t>
            </a:r>
            <a:r>
              <a:rPr b="1" lang="en-US">
                <a:solidFill>
                  <a:schemeClr val="dk1"/>
                </a:solidFill>
              </a:rPr>
              <a:t>另一張空閒</a:t>
            </a:r>
            <a:r>
              <a:rPr lang="en-US">
                <a:solidFill>
                  <a:schemeClr val="dk1"/>
                </a:solidFill>
              </a:rPr>
              <a:t> 的 GPU。這解決了傳統管線中常見的「隊頭阻塞 (Head-of-line blocking)」問題。</a:t>
            </a:r>
            <a:endParaRPr>
              <a:solidFill>
                <a:schemeClr val="dk1"/>
              </a:solidFill>
            </a:endParaRPr>
          </a:p>
          <a:p>
            <a:pPr indent="0" lvl="0" marL="0" rtl="0" algn="l">
              <a:spcBef>
                <a:spcPts val="0"/>
              </a:spcBef>
              <a:spcAft>
                <a:spcPts val="0"/>
              </a:spcAft>
              <a:buNone/>
            </a:pPr>
            <a:r>
              <a:rPr lang="en-US">
                <a:solidFill>
                  <a:schemeClr val="dk1"/>
                </a:solidFill>
              </a:rPr>
              <a:t>總結</a:t>
            </a:r>
            <a:endParaRPr>
              <a:solidFill>
                <a:schemeClr val="dk1"/>
              </a:solidFill>
            </a:endParaRPr>
          </a:p>
          <a:p>
            <a:pPr indent="0" lvl="0" marL="0" rtl="0" algn="l">
              <a:spcBef>
                <a:spcPts val="0"/>
              </a:spcBef>
              <a:spcAft>
                <a:spcPts val="0"/>
              </a:spcAft>
              <a:buNone/>
            </a:pPr>
            <a:r>
              <a:rPr lang="en-US">
                <a:solidFill>
                  <a:schemeClr val="dk1"/>
                </a:solidFill>
              </a:rPr>
              <a:t>這張圖說明的核心技術是：</a:t>
            </a:r>
            <a:r>
              <a:rPr b="1" lang="en-US">
                <a:solidFill>
                  <a:schemeClr val="dk1"/>
                </a:solidFill>
              </a:rPr>
              <a:t>將模型切碎，並將硬體分組。</a:t>
            </a:r>
            <a:r>
              <a:rPr lang="en-US">
                <a:solidFill>
                  <a:schemeClr val="dk1"/>
                </a:solidFill>
              </a:rPr>
              <a:t> 透過讓一組 GPU 共同負責一個階段，並允許請求在不同階段的 GPU 之間動態流動，來達到最大化吞吐量並充分利用異構硬體資源的目的。</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了解了核心概念後，現在讓我們來看 PPipe 的整體系統架構。為了同時滿足『全局最佳化』與『即時回應』的需求，我們採用了經典的 </a:t>
            </a:r>
            <a:r>
              <a:rPr b="1" lang="en-US">
                <a:solidFill>
                  <a:schemeClr val="dk1"/>
                </a:solidFill>
              </a:rPr>
              <a:t>控制層 (Control Plane)</a:t>
            </a:r>
            <a:r>
              <a:rPr lang="en-US">
                <a:solidFill>
                  <a:schemeClr val="dk1"/>
                </a:solidFill>
              </a:rPr>
              <a:t> 與 </a:t>
            </a:r>
            <a:r>
              <a:rPr b="1" lang="en-US">
                <a:solidFill>
                  <a:schemeClr val="dk1"/>
                </a:solidFill>
              </a:rPr>
              <a:t>數據層 (Data Plane)</a:t>
            </a:r>
            <a:r>
              <a:rPr lang="en-US">
                <a:solidFill>
                  <a:schemeClr val="dk1"/>
                </a:solidFill>
              </a:rPr>
              <a:t> 分離的設計。</a:t>
            </a:r>
            <a:endParaRPr>
              <a:solidFill>
                <a:schemeClr val="dk1"/>
              </a:solidFill>
            </a:endParaRPr>
          </a:p>
          <a:p>
            <a:pPr indent="0" lvl="0" marL="0" rtl="0" algn="l">
              <a:spcBef>
                <a:spcPts val="0"/>
              </a:spcBef>
              <a:spcAft>
                <a:spcPts val="0"/>
              </a:spcAft>
              <a:buNone/>
            </a:pPr>
            <a:r>
              <a:rPr lang="en-US">
                <a:solidFill>
                  <a:schemeClr val="dk1"/>
                </a:solidFill>
              </a:rPr>
              <a:t>首先看到左邊（或上方）的 </a:t>
            </a:r>
            <a:r>
              <a:rPr b="1" lang="en-US">
                <a:solidFill>
                  <a:schemeClr val="dk1"/>
                </a:solidFill>
              </a:rPr>
              <a:t>控制層</a:t>
            </a:r>
            <a:r>
              <a:rPr lang="en-US">
                <a:solidFill>
                  <a:schemeClr val="dk1"/>
                </a:solidFill>
              </a:rPr>
              <a:t>。 這是一個</a:t>
            </a:r>
            <a:r>
              <a:rPr b="1" lang="en-US">
                <a:solidFill>
                  <a:schemeClr val="dk1"/>
                </a:solidFill>
              </a:rPr>
              <a:t>離線 (Offline)</a:t>
            </a:r>
            <a:r>
              <a:rPr lang="en-US">
                <a:solidFill>
                  <a:schemeClr val="dk1"/>
                </a:solidFill>
              </a:rPr>
              <a:t> 的規劃器。它的核心任務是解決一個複雜的優化問題。我們使用 </a:t>
            </a:r>
            <a:r>
              <a:rPr b="1" lang="en-US">
                <a:solidFill>
                  <a:schemeClr val="dk1"/>
                </a:solidFill>
              </a:rPr>
              <a:t>MILP (混合整數線性規劃)</a:t>
            </a:r>
            <a:r>
              <a:rPr lang="en-US">
                <a:solidFill>
                  <a:schemeClr val="dk1"/>
                </a:solidFill>
              </a:rPr>
              <a:t> 演算法，根據目前的叢集狀態和模型需求，計算出最佳的『模型切分點』以及『資源池的硬體配置』。 為什麼要離線做？因為這個計算非常耗時，無法針對每個請求即時執行。</a:t>
            </a:r>
            <a:endParaRPr>
              <a:solidFill>
                <a:schemeClr val="dk1"/>
              </a:solidFill>
            </a:endParaRPr>
          </a:p>
          <a:p>
            <a:pPr indent="0" lvl="0" marL="0" rtl="0" algn="l">
              <a:spcBef>
                <a:spcPts val="0"/>
              </a:spcBef>
              <a:spcAft>
                <a:spcPts val="0"/>
              </a:spcAft>
              <a:buNone/>
            </a:pPr>
            <a:r>
              <a:rPr lang="en-US">
                <a:solidFill>
                  <a:schemeClr val="dk1"/>
                </a:solidFill>
              </a:rPr>
              <a:t>接著看到右邊（或下方）的 </a:t>
            </a:r>
            <a:r>
              <a:rPr b="1" lang="en-US">
                <a:solidFill>
                  <a:schemeClr val="dk1"/>
                </a:solidFill>
              </a:rPr>
              <a:t>數據層</a:t>
            </a:r>
            <a:r>
              <a:rPr lang="en-US">
                <a:solidFill>
                  <a:schemeClr val="dk1"/>
                </a:solidFill>
              </a:rPr>
              <a:t>。 這是</a:t>
            </a:r>
            <a:r>
              <a:rPr b="1" lang="en-US">
                <a:solidFill>
                  <a:schemeClr val="dk1"/>
                </a:solidFill>
              </a:rPr>
              <a:t>在線 (Online)</a:t>
            </a:r>
            <a:r>
              <a:rPr lang="en-US">
                <a:solidFill>
                  <a:schemeClr val="dk1"/>
                </a:solidFill>
              </a:rPr>
              <a:t> 的執行環境。它的任務是處理實際湧入的視訊流請求。 由於真實環境中存在網路抖動和流量突發，靜態的規劃往往不夠用。因此，我們在數據層引入了 </a:t>
            </a:r>
            <a:r>
              <a:rPr b="1" lang="en-US">
                <a:solidFill>
                  <a:schemeClr val="dk1"/>
                </a:solidFill>
              </a:rPr>
              <a:t>『資源預留機制 (Resource Reservation)』</a:t>
            </a:r>
            <a:r>
              <a:rPr lang="en-US">
                <a:solidFill>
                  <a:schemeClr val="dk1"/>
                </a:solidFill>
              </a:rPr>
              <a:t>，用來動態微調調度決策，確保每個請求都能在 SLO 時間內完成。</a:t>
            </a:r>
            <a:endParaRPr>
              <a:solidFill>
                <a:schemeClr val="dk1"/>
              </a:solidFill>
            </a:endParaRPr>
          </a:p>
          <a:p>
            <a:pPr indent="0" lvl="0" marL="0" rtl="0" algn="l">
              <a:spcBef>
                <a:spcPts val="0"/>
              </a:spcBef>
              <a:spcAft>
                <a:spcPts val="0"/>
              </a:spcAft>
              <a:buNone/>
            </a:pPr>
            <a:r>
              <a:rPr lang="en-US">
                <a:solidFill>
                  <a:schemeClr val="dk1"/>
                </a:solidFill>
              </a:rPr>
              <a:t>總結來說，控制層負責制定『戰略』，而數據層負責執行『戰術』，兩者配合才能發揮最大效能。</a:t>
            </a:r>
            <a:endParaRPr>
              <a:solidFill>
                <a:schemeClr val="dk1"/>
              </a:solidFill>
            </a:endParaRPr>
          </a:p>
        </p:txBody>
      </p:sp>
      <p:sp>
        <p:nvSpPr>
          <p:cNvPr id="142" name="Google Shape;1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「現在我們進入控制層的核心演算法。為了在龐大的異構叢集中找到資源配置的最佳解，我們將此問題建模為一個 </a:t>
            </a:r>
            <a:r>
              <a:rPr b="1" lang="en-US">
                <a:solidFill>
                  <a:schemeClr val="dk1"/>
                </a:solidFill>
              </a:rPr>
              <a:t>混合整數線性規劃 (MILP)</a:t>
            </a:r>
            <a:r>
              <a:rPr lang="en-US">
                <a:solidFill>
                  <a:schemeClr val="dk1"/>
                </a:solidFill>
              </a:rPr>
              <a:t> 問題。</a:t>
            </a:r>
            <a:endParaRPr>
              <a:solidFill>
                <a:schemeClr val="dk1"/>
              </a:solidFill>
            </a:endParaRPr>
          </a:p>
          <a:p>
            <a:pPr indent="0" lvl="0" marL="0" rtl="0" algn="l">
              <a:spcBef>
                <a:spcPts val="0"/>
              </a:spcBef>
              <a:spcAft>
                <a:spcPts val="0"/>
              </a:spcAft>
              <a:buNone/>
            </a:pPr>
            <a:r>
              <a:rPr lang="en-US">
                <a:solidFill>
                  <a:schemeClr val="dk1"/>
                </a:solidFill>
              </a:rPr>
              <a:t>這個數學模型的</a:t>
            </a:r>
            <a:r>
              <a:rPr b="1" lang="en-US">
                <a:solidFill>
                  <a:schemeClr val="dk1"/>
                </a:solidFill>
              </a:rPr>
              <a:t>目標函數 (Objective Function)</a:t>
            </a:r>
            <a:r>
              <a:rPr lang="en-US">
                <a:solidFill>
                  <a:schemeClr val="dk1"/>
                </a:solidFill>
              </a:rPr>
              <a:t> 很明確：就是要最大化整個系統的服務吞吐量 (Throughput)。</a:t>
            </a:r>
            <a:endParaRPr>
              <a:solidFill>
                <a:schemeClr val="dk1"/>
              </a:solidFill>
            </a:endParaRPr>
          </a:p>
          <a:p>
            <a:pPr indent="0" lvl="0" marL="0" rtl="0" algn="l">
              <a:spcBef>
                <a:spcPts val="0"/>
              </a:spcBef>
              <a:spcAft>
                <a:spcPts val="0"/>
              </a:spcAft>
              <a:buNone/>
            </a:pPr>
            <a:r>
              <a:rPr lang="en-US">
                <a:solidFill>
                  <a:schemeClr val="dk1"/>
                </a:solidFill>
              </a:rPr>
              <a:t>為了達到這個目標，MILP 求解器需要同時優化三個關鍵的</a:t>
            </a:r>
            <a:r>
              <a:rPr b="1" lang="en-US">
                <a:solidFill>
                  <a:schemeClr val="dk1"/>
                </a:solidFill>
              </a:rPr>
              <a:t>決策變數</a:t>
            </a:r>
            <a:r>
              <a:rPr lang="en-US">
                <a:solidFill>
                  <a:schemeClr val="dk1"/>
                </a:solidFill>
              </a:rPr>
              <a:t>：</a:t>
            </a:r>
            <a:endParaRPr>
              <a:solidFill>
                <a:schemeClr val="dk1"/>
              </a:solidFill>
            </a:endParaRPr>
          </a:p>
          <a:p>
            <a:pPr indent="0" lvl="0" marL="0" rtl="0" algn="l">
              <a:spcBef>
                <a:spcPts val="0"/>
              </a:spcBef>
              <a:spcAft>
                <a:spcPts val="0"/>
              </a:spcAft>
              <a:buNone/>
            </a:pPr>
            <a:r>
              <a:rPr b="1" lang="en-US">
                <a:solidFill>
                  <a:schemeClr val="dk1"/>
                </a:solidFill>
              </a:rPr>
              <a:t>1,模型切分點 (Partitioning)</a:t>
            </a:r>
            <a:r>
              <a:rPr lang="en-US">
                <a:solidFill>
                  <a:schemeClr val="dk1"/>
                </a:solidFill>
              </a:rPr>
              <a:t>：到底該在第幾層把模型切開？</a:t>
            </a:r>
            <a:endParaRPr>
              <a:solidFill>
                <a:schemeClr val="dk1"/>
              </a:solidFill>
            </a:endParaRPr>
          </a:p>
          <a:p>
            <a:pPr indent="0" lvl="0" marL="0" rtl="0" algn="l">
              <a:spcBef>
                <a:spcPts val="0"/>
              </a:spcBef>
              <a:spcAft>
                <a:spcPts val="0"/>
              </a:spcAft>
              <a:buNone/>
            </a:pPr>
            <a:r>
              <a:rPr lang="en-US">
                <a:solidFill>
                  <a:schemeClr val="dk1"/>
                </a:solidFill>
              </a:rPr>
              <a:t>2,</a:t>
            </a:r>
            <a:r>
              <a:rPr b="1" lang="en-US">
                <a:solidFill>
                  <a:schemeClr val="dk1"/>
                </a:solidFill>
              </a:rPr>
              <a:t>資源分配 (Allocation)</a:t>
            </a:r>
            <a:r>
              <a:rPr lang="en-US">
                <a:solidFill>
                  <a:schemeClr val="dk1"/>
                </a:solidFill>
              </a:rPr>
              <a:t>：每個階段的資源池應該放入多少張 P4 或多少張 L4？</a:t>
            </a:r>
            <a:endParaRPr>
              <a:solidFill>
                <a:schemeClr val="dk1"/>
              </a:solidFill>
            </a:endParaRPr>
          </a:p>
          <a:p>
            <a:pPr indent="0" lvl="0" marL="0" rtl="0" algn="l">
              <a:spcBef>
                <a:spcPts val="0"/>
              </a:spcBef>
              <a:spcAft>
                <a:spcPts val="0"/>
              </a:spcAft>
              <a:buNone/>
            </a:pPr>
            <a:r>
              <a:rPr lang="en-US">
                <a:solidFill>
                  <a:schemeClr val="dk1"/>
                </a:solidFill>
              </a:rPr>
              <a:t>3,</a:t>
            </a:r>
            <a:r>
              <a:rPr b="1" lang="en-US">
                <a:solidFill>
                  <a:schemeClr val="dk1"/>
                </a:solidFill>
              </a:rPr>
              <a:t>批次大小 (Batch Size)</a:t>
            </a:r>
            <a:r>
              <a:rPr lang="en-US">
                <a:solidFill>
                  <a:schemeClr val="dk1"/>
                </a:solidFill>
              </a:rPr>
              <a:t>：每個階段的最佳處理批次是多少？</a:t>
            </a:r>
            <a:endParaRPr>
              <a:solidFill>
                <a:schemeClr val="dk1"/>
              </a:solidFill>
            </a:endParaRPr>
          </a:p>
          <a:p>
            <a:pPr indent="0" lvl="0" marL="0" rtl="0" algn="l">
              <a:spcBef>
                <a:spcPts val="0"/>
              </a:spcBef>
              <a:spcAft>
                <a:spcPts val="0"/>
              </a:spcAft>
              <a:buNone/>
            </a:pPr>
            <a:r>
              <a:rPr lang="en-US">
                <a:solidFill>
                  <a:schemeClr val="dk1"/>
                </a:solidFill>
              </a:rPr>
              <a:t>當然，這些決策受到嚴格的</a:t>
            </a:r>
            <a:r>
              <a:rPr b="1" lang="en-US">
                <a:solidFill>
                  <a:schemeClr val="dk1"/>
                </a:solidFill>
              </a:rPr>
              <a:t>限制條件 (Constraints)</a:t>
            </a:r>
            <a:r>
              <a:rPr lang="en-US">
                <a:solidFill>
                  <a:schemeClr val="dk1"/>
                </a:solidFill>
              </a:rPr>
              <a:t> 約束。最重要的是</a:t>
            </a:r>
            <a:r>
              <a:rPr b="1" lang="en-US">
                <a:solidFill>
                  <a:schemeClr val="dk1"/>
                </a:solidFill>
              </a:rPr>
              <a:t>端對端延遲</a:t>
            </a:r>
            <a:r>
              <a:rPr lang="en-US">
                <a:solidFill>
                  <a:schemeClr val="dk1"/>
                </a:solidFill>
              </a:rPr>
              <a:t>必須小於 SLO。此外，我們還考慮了 GPU 的</a:t>
            </a:r>
            <a:r>
              <a:rPr b="1" lang="en-US">
                <a:solidFill>
                  <a:schemeClr val="dk1"/>
                </a:solidFill>
              </a:rPr>
              <a:t>記憶體限制</a:t>
            </a:r>
            <a:r>
              <a:rPr lang="en-US">
                <a:solidFill>
                  <a:schemeClr val="dk1"/>
                </a:solidFill>
              </a:rPr>
              <a:t>，以及管線各階段的</a:t>
            </a:r>
            <a:r>
              <a:rPr b="1" lang="en-US">
                <a:solidFill>
                  <a:schemeClr val="dk1"/>
                </a:solidFill>
              </a:rPr>
              <a:t>速率匹配</a:t>
            </a:r>
            <a:r>
              <a:rPr lang="en-US">
                <a:solidFill>
                  <a:schemeClr val="dk1"/>
                </a:solidFill>
              </a:rPr>
              <a:t>，確保不會因為某個階段過慢而導致嚴重的瓶頸。透過求解這個 MILP，我們能得到理論上的全域最佳配置。」</a:t>
            </a:r>
            <a:endParaRPr>
              <a:solidFill>
                <a:schemeClr val="dk1"/>
              </a:solidFill>
            </a:endParaRPr>
          </a:p>
        </p:txBody>
      </p:sp>
      <p:sp>
        <p:nvSpPr>
          <p:cNvPr id="150" name="Google Shape;1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上一頁提到的 MILP 模型雖然能找到全域最佳解，但在實際應用中，我們面臨一個巨大的計算挑戰：</a:t>
            </a:r>
            <a:r>
              <a:rPr b="1" lang="en-US">
                <a:solidFill>
                  <a:schemeClr val="dk1"/>
                </a:solidFill>
              </a:rPr>
              <a:t>複雜度爆炸</a:t>
            </a: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當叢集規模擴大到數百個 GPU，且深度學習模型擁有數百個層（Layers）時，MILP 的搜尋空間會呈現指數級增長。如果以『層』為單位進行切分，求解一次可能需要數小時，這顯然無法適應資料中心動態變化的環境。</a:t>
            </a:r>
            <a:endParaRPr>
              <a:solidFill>
                <a:schemeClr val="dk1"/>
              </a:solidFill>
            </a:endParaRPr>
          </a:p>
          <a:p>
            <a:pPr indent="0" lvl="0" marL="0" rtl="0" algn="l">
              <a:spcBef>
                <a:spcPts val="0"/>
              </a:spcBef>
              <a:spcAft>
                <a:spcPts val="0"/>
              </a:spcAft>
              <a:buNone/>
            </a:pPr>
            <a:r>
              <a:rPr lang="en-US">
                <a:solidFill>
                  <a:schemeClr val="dk1"/>
                </a:solidFill>
              </a:rPr>
              <a:t>為了解決這個 NP-hard 問題，我們引入了 </a:t>
            </a:r>
            <a:r>
              <a:rPr b="1" lang="en-US">
                <a:solidFill>
                  <a:schemeClr val="dk1"/>
                </a:solidFill>
              </a:rPr>
              <a:t>『基於區塊的預分區 (Block-based Pre-partitioning)』</a:t>
            </a:r>
            <a:r>
              <a:rPr lang="en-US">
                <a:solidFill>
                  <a:schemeClr val="dk1"/>
                </a:solidFill>
              </a:rPr>
              <a:t> 策略。</a:t>
            </a:r>
            <a:endParaRPr>
              <a:solidFill>
                <a:schemeClr val="dk1"/>
              </a:solidFill>
            </a:endParaRPr>
          </a:p>
          <a:p>
            <a:pPr indent="0" lvl="0" marL="0" rtl="0" algn="l">
              <a:spcBef>
                <a:spcPts val="0"/>
              </a:spcBef>
              <a:spcAft>
                <a:spcPts val="0"/>
              </a:spcAft>
              <a:buNone/>
            </a:pPr>
            <a:r>
              <a:rPr lang="en-US">
                <a:solidFill>
                  <a:srgbClr val="FF0000"/>
                </a:solidFill>
              </a:rPr>
              <a:t>作者</a:t>
            </a:r>
            <a:r>
              <a:rPr lang="en-US">
                <a:solidFill>
                  <a:schemeClr val="dk1"/>
                </a:solidFill>
              </a:rPr>
              <a:t>觀察到，現代 DNN 模型（如 ResNet 或 Transformer）通常由重複的結構組成，例如 Residual Block。因此，我們不再以單一『層』為切分單位，而是將其預先合併為較粗粒度的『區塊 (Block)』。 這個簡單的轉換將變數數量減少了一個數量級，將求解時間從小時級縮短到了</a:t>
            </a:r>
            <a:r>
              <a:rPr b="1" lang="en-US">
                <a:solidFill>
                  <a:schemeClr val="dk1"/>
                </a:solidFill>
              </a:rPr>
              <a:t>秒級</a:t>
            </a:r>
            <a:r>
              <a:rPr lang="en-US">
                <a:solidFill>
                  <a:schemeClr val="dk1"/>
                </a:solidFill>
              </a:rPr>
              <a:t>。這讓 PPipe 具備了實用性，能夠在硬體資源變動時快速重新生成調度策略。」</a:t>
            </a:r>
            <a:endParaRPr>
              <a:solidFill>
                <a:schemeClr val="dk1"/>
              </a:solidFill>
            </a:endParaRPr>
          </a:p>
        </p:txBody>
      </p:sp>
      <p:sp>
        <p:nvSpPr>
          <p:cNvPr id="157" name="Google Shape;1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剛剛介紹了控制層的靜態規劃。如果這個世界是完美的，我們的演講到這裡就可以結束了。但遺憾的是，真實的資料中心環境充滿了 </a:t>
            </a:r>
            <a:r>
              <a:rPr b="1" lang="en-US">
                <a:solidFill>
                  <a:schemeClr val="dk1"/>
                </a:solidFill>
              </a:rPr>
              <a:t>『運行時變異 (Runtime Variance)』</a:t>
            </a: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這一頁展示了兩個主要的干擾因素： </a:t>
            </a:r>
            <a:endParaRPr>
              <a:solidFill>
                <a:schemeClr val="dk1"/>
              </a:solidFill>
            </a:endParaRPr>
          </a:p>
          <a:p>
            <a:pPr indent="0" lvl="0" marL="0" rtl="0" algn="l">
              <a:spcBef>
                <a:spcPts val="0"/>
              </a:spcBef>
              <a:spcAft>
                <a:spcPts val="0"/>
              </a:spcAft>
              <a:buNone/>
            </a:pPr>
            <a:r>
              <a:rPr lang="en-US">
                <a:solidFill>
                  <a:schemeClr val="dk1"/>
                </a:solidFill>
              </a:rPr>
              <a:t>第一是 </a:t>
            </a:r>
            <a:r>
              <a:rPr b="1" lang="en-US">
                <a:solidFill>
                  <a:schemeClr val="dk1"/>
                </a:solidFill>
              </a:rPr>
              <a:t>流量的隨機性 (Stochastic Arrivals)</a:t>
            </a:r>
            <a:r>
              <a:rPr lang="en-US">
                <a:solidFill>
                  <a:schemeClr val="dk1"/>
                </a:solidFill>
              </a:rPr>
              <a:t>。使用者的請求不會像節拍器一樣規律到達，而是具有高度的突發性（Bursty）。 </a:t>
            </a:r>
            <a:endParaRPr>
              <a:solidFill>
                <a:schemeClr val="dk1"/>
              </a:solidFill>
            </a:endParaRPr>
          </a:p>
          <a:p>
            <a:pPr indent="0" lvl="0" marL="0" rtl="0" algn="l">
              <a:spcBef>
                <a:spcPts val="0"/>
              </a:spcBef>
              <a:spcAft>
                <a:spcPts val="0"/>
              </a:spcAft>
              <a:buNone/>
            </a:pPr>
            <a:r>
              <a:rPr lang="en-US">
                <a:solidFill>
                  <a:schemeClr val="dk1"/>
                </a:solidFill>
              </a:rPr>
              <a:t>第二是 </a:t>
            </a:r>
            <a:r>
              <a:rPr b="1" lang="en-US">
                <a:solidFill>
                  <a:schemeClr val="dk1"/>
                </a:solidFill>
              </a:rPr>
              <a:t>網路競爭 (Network Contention)</a:t>
            </a:r>
            <a:r>
              <a:rPr lang="en-US">
                <a:solidFill>
                  <a:schemeClr val="dk1"/>
                </a:solidFill>
              </a:rPr>
              <a:t>。在多租戶的雲端環境中，網路頻寬是共享資源，傳輸延遲會隨時波動。</a:t>
            </a:r>
            <a:endParaRPr>
              <a:solidFill>
                <a:schemeClr val="dk1"/>
              </a:solidFill>
            </a:endParaRPr>
          </a:p>
          <a:p>
            <a:pPr indent="0" lvl="0" marL="0" rtl="0" algn="l">
              <a:spcBef>
                <a:spcPts val="0"/>
              </a:spcBef>
              <a:spcAft>
                <a:spcPts val="0"/>
              </a:spcAft>
              <a:buNone/>
            </a:pPr>
            <a:r>
              <a:rPr lang="en-US">
                <a:solidFill>
                  <a:schemeClr val="dk1"/>
                </a:solidFill>
              </a:rPr>
              <a:t>這意味著，MILP 算出來的『平均』最佳解，在面對『瞬間』的尖峰負載時可能會失效。如果我們盲目地照表操課，請求就會在管線的某個階段開始堆積，最終導致嚴重的 </a:t>
            </a:r>
            <a:r>
              <a:rPr b="1" lang="en-US">
                <a:solidFill>
                  <a:schemeClr val="dk1"/>
                </a:solidFill>
              </a:rPr>
              <a:t>尾端延遲 (Tail Latency)</a:t>
            </a:r>
            <a:r>
              <a:rPr lang="en-US">
                <a:solidFill>
                  <a:schemeClr val="dk1"/>
                </a:solidFill>
              </a:rPr>
              <a:t>，甚至違反 SLO。因此，我們需要一個動態的機制來修正這些偏差。」</a:t>
            </a:r>
            <a:endParaRPr>
              <a:solidFill>
                <a:schemeClr val="dk1"/>
              </a:solidFill>
            </a:endParaRPr>
          </a:p>
        </p:txBody>
      </p:sp>
      <p:sp>
        <p:nvSpPr>
          <p:cNvPr id="164" name="Google Shape;1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「為了應對剛才提到的動態變異，我們在數據層引入了一種 </a:t>
            </a:r>
            <a:r>
              <a:rPr b="1" lang="en-US">
                <a:solidFill>
                  <a:schemeClr val="dk1"/>
                </a:solidFill>
              </a:rPr>
              <a:t>『前瞻性 (Look-ahead)』</a:t>
            </a:r>
            <a:r>
              <a:rPr lang="en-US">
                <a:solidFill>
                  <a:schemeClr val="dk1"/>
                </a:solidFill>
              </a:rPr>
              <a:t> 的調度機制，稱為 </a:t>
            </a:r>
            <a:r>
              <a:rPr b="1" lang="en-US">
                <a:solidFill>
                  <a:schemeClr val="dk1"/>
                </a:solidFill>
              </a:rPr>
              <a:t>資源預留 (Resource Reservation)</a:t>
            </a: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這個機制分為兩個關鍵步驟：</a:t>
            </a:r>
            <a:endParaRPr>
              <a:solidFill>
                <a:schemeClr val="dk1"/>
              </a:solidFill>
            </a:endParaRPr>
          </a:p>
          <a:p>
            <a:pPr indent="0" lvl="0" marL="0" rtl="0" algn="l">
              <a:spcBef>
                <a:spcPts val="0"/>
              </a:spcBef>
              <a:spcAft>
                <a:spcPts val="0"/>
              </a:spcAft>
              <a:buNone/>
            </a:pPr>
            <a:r>
              <a:rPr lang="en-US">
                <a:solidFill>
                  <a:schemeClr val="dk1"/>
                </a:solidFill>
              </a:rPr>
              <a:t>第一步是 </a:t>
            </a:r>
            <a:r>
              <a:rPr b="1" lang="en-US">
                <a:solidFill>
                  <a:schemeClr val="dk1"/>
                </a:solidFill>
              </a:rPr>
              <a:t>Probe (探測)</a:t>
            </a:r>
            <a:r>
              <a:rPr lang="en-US">
                <a:solidFill>
                  <a:schemeClr val="dk1"/>
                </a:solidFill>
              </a:rPr>
              <a:t>。 當一批請求到達時，調度器不會直接把它們丟進管線，而是先進行一次虛擬的『路徑模擬』。系統會檢查管線中每一個階段當下的 GPU 負載與網路可用頻寬，並計算出這批請求若現在發送，預計的完成時間 (ECT) 是多少。</a:t>
            </a:r>
            <a:endParaRPr>
              <a:solidFill>
                <a:schemeClr val="dk1"/>
              </a:solidFill>
            </a:endParaRPr>
          </a:p>
          <a:p>
            <a:pPr indent="0" lvl="0" marL="0" rtl="0" algn="l">
              <a:spcBef>
                <a:spcPts val="0"/>
              </a:spcBef>
              <a:spcAft>
                <a:spcPts val="0"/>
              </a:spcAft>
              <a:buNone/>
            </a:pPr>
            <a:r>
              <a:rPr lang="en-US">
                <a:solidFill>
                  <a:schemeClr val="dk1"/>
                </a:solidFill>
              </a:rPr>
              <a:t>第二步是 </a:t>
            </a:r>
            <a:r>
              <a:rPr b="1" lang="en-US">
                <a:solidFill>
                  <a:schemeClr val="dk1"/>
                </a:solidFill>
              </a:rPr>
              <a:t>Reserve (預留決策)</a:t>
            </a:r>
            <a:r>
              <a:rPr lang="en-US">
                <a:solidFill>
                  <a:schemeClr val="dk1"/>
                </a:solidFill>
              </a:rPr>
              <a:t>。 我們將計算出的 ECT 與 SLO 進行比對： 如果 </a:t>
            </a:r>
            <a:r>
              <a:rPr b="1" lang="en-US">
                <a:solidFill>
                  <a:schemeClr val="dk1"/>
                </a:solidFill>
              </a:rPr>
              <a:t>ECT &lt;= SLO</a:t>
            </a:r>
            <a:r>
              <a:rPr lang="en-US">
                <a:solidFill>
                  <a:schemeClr val="dk1"/>
                </a:solidFill>
              </a:rPr>
              <a:t>，代表這條路是通暢的，系統會立即鎖定相關資源並發送請求。 如果 </a:t>
            </a:r>
            <a:r>
              <a:rPr b="1" lang="en-US">
                <a:solidFill>
                  <a:schemeClr val="dk1"/>
                </a:solidFill>
              </a:rPr>
              <a:t>ECT &gt; SLO</a:t>
            </a:r>
            <a:r>
              <a:rPr lang="en-US">
                <a:solidFill>
                  <a:schemeClr val="dk1"/>
                </a:solidFill>
              </a:rPr>
              <a:t>，代表現在發送註定會超時。與其浪費資源去跑一個註定失敗的請求，系統會選擇暫時等待 (Wait) 或在極端情況下丟棄 (Drop)。</a:t>
            </a:r>
            <a:endParaRPr>
              <a:solidFill>
                <a:schemeClr val="dk1"/>
              </a:solidFill>
            </a:endParaRPr>
          </a:p>
          <a:p>
            <a:pPr indent="0" lvl="0" marL="0" rtl="0" algn="l">
              <a:spcBef>
                <a:spcPts val="0"/>
              </a:spcBef>
              <a:spcAft>
                <a:spcPts val="0"/>
              </a:spcAft>
              <a:buNone/>
            </a:pPr>
            <a:r>
              <a:rPr lang="en-US">
                <a:solidFill>
                  <a:schemeClr val="dk1"/>
                </a:solidFill>
              </a:rPr>
              <a:t>透過這種 </a:t>
            </a:r>
            <a:r>
              <a:rPr b="1" lang="en-US">
                <a:solidFill>
                  <a:schemeClr val="dk1"/>
                </a:solidFill>
              </a:rPr>
              <a:t>『先確認、後執行』</a:t>
            </a:r>
            <a:r>
              <a:rPr lang="en-US">
                <a:solidFill>
                  <a:schemeClr val="dk1"/>
                </a:solidFill>
              </a:rPr>
              <a:t> 的策略，我們確保了每一批進入管線的請求，都有極高的機率能準時完成，從根本上消除了管線內的擁塞。」</a:t>
            </a:r>
            <a:endParaRPr>
              <a:solidFill>
                <a:schemeClr val="dk1"/>
              </a:solidFill>
            </a:endParaRPr>
          </a:p>
        </p:txBody>
      </p:sp>
      <p:sp>
        <p:nvSpPr>
          <p:cNvPr id="171" name="Google Shape;17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介紹實驗結果之前，首先說明我們的實驗環境設置。為了全方位評估 PPipe 的效能，</a:t>
            </a:r>
            <a:r>
              <a:rPr lang="en-US">
                <a:solidFill>
                  <a:srgbClr val="FF0000"/>
                </a:solidFill>
              </a:rPr>
              <a:t>作者</a:t>
            </a:r>
            <a:r>
              <a:rPr lang="en-US">
                <a:solidFill>
                  <a:schemeClr val="dk1"/>
                </a:solidFill>
              </a:rPr>
              <a:t>採用了 </a:t>
            </a:r>
            <a:r>
              <a:rPr b="1" lang="en-US">
                <a:solidFill>
                  <a:schemeClr val="dk1"/>
                </a:solidFill>
              </a:rPr>
              <a:t>『模擬』與『實機』並行</a:t>
            </a:r>
            <a:r>
              <a:rPr lang="en-US">
                <a:solidFill>
                  <a:schemeClr val="dk1"/>
                </a:solidFill>
              </a:rPr>
              <a:t> 的策略。</a:t>
            </a:r>
            <a:endParaRPr>
              <a:solidFill>
                <a:schemeClr val="dk1"/>
              </a:solidFill>
            </a:endParaRPr>
          </a:p>
          <a:p>
            <a:pPr indent="0" lvl="0" marL="0" rtl="0" algn="l">
              <a:spcBef>
                <a:spcPts val="0"/>
              </a:spcBef>
              <a:spcAft>
                <a:spcPts val="0"/>
              </a:spcAft>
              <a:buNone/>
            </a:pPr>
            <a:r>
              <a:rPr lang="en-US">
                <a:solidFill>
                  <a:schemeClr val="dk1"/>
                </a:solidFill>
              </a:rPr>
              <a:t>在實機測試方面，我們在 </a:t>
            </a:r>
            <a:r>
              <a:rPr b="1" lang="en-US">
                <a:solidFill>
                  <a:schemeClr val="dk1"/>
                </a:solidFill>
              </a:rPr>
              <a:t>Google Cloud Platform</a:t>
            </a:r>
            <a:r>
              <a:rPr lang="en-US">
                <a:solidFill>
                  <a:schemeClr val="dk1"/>
                </a:solidFill>
              </a:rPr>
              <a:t> 上搭建了一個由 16 張 GPU 組成的異構叢集。請注意硬體的選擇：我們涵蓋了從高階的 NVIDIA V100、L4，到中低階的 T4，甚至是老舊的 P4。這種橫跨四個世代的硬體組合，忠實還原了真實數據中心新舊混雜的現狀。</a:t>
            </a:r>
            <a:endParaRPr>
              <a:solidFill>
                <a:schemeClr val="dk1"/>
              </a:solidFill>
            </a:endParaRPr>
          </a:p>
          <a:p>
            <a:pPr indent="0" lvl="0" marL="0" rtl="0" algn="l">
              <a:spcBef>
                <a:spcPts val="0"/>
              </a:spcBef>
              <a:spcAft>
                <a:spcPts val="0"/>
              </a:spcAft>
              <a:buNone/>
            </a:pPr>
            <a:r>
              <a:rPr lang="en-US">
                <a:solidFill>
                  <a:schemeClr val="dk1"/>
                </a:solidFill>
              </a:rPr>
              <a:t>在工作負載（Workloads）方面，我們選用了 </a:t>
            </a:r>
            <a:r>
              <a:rPr b="1" lang="en-US">
                <a:solidFill>
                  <a:schemeClr val="dk1"/>
                </a:solidFill>
              </a:rPr>
              <a:t>18 種主流的深度學習模型</a:t>
            </a:r>
            <a:r>
              <a:rPr lang="en-US">
                <a:solidFill>
                  <a:schemeClr val="dk1"/>
                </a:solidFill>
              </a:rPr>
              <a:t>，包括卷積神經網路（如 ResNet, EfficientNet）以及最新的 Vision Transformers (ViT)。此外，為了模擬真實世界的流量波動，我們使用了 </a:t>
            </a:r>
            <a:r>
              <a:rPr b="1" lang="en-US">
                <a:solidFill>
                  <a:schemeClr val="dk1"/>
                </a:solidFill>
              </a:rPr>
              <a:t>Azure Functions 的公開 Trace</a:t>
            </a:r>
            <a:r>
              <a:rPr lang="en-US">
                <a:solidFill>
                  <a:schemeClr val="dk1"/>
                </a:solidFill>
              </a:rPr>
              <a:t> 來生成請求，確保測試包含真實的突發性（Burstiness）。</a:t>
            </a:r>
            <a:endParaRPr>
              <a:solidFill>
                <a:schemeClr val="dk1"/>
              </a:solidFill>
            </a:endParaRPr>
          </a:p>
          <a:p>
            <a:pPr indent="0" lvl="0" marL="0" rtl="0" algn="l">
              <a:spcBef>
                <a:spcPts val="0"/>
              </a:spcBef>
              <a:spcAft>
                <a:spcPts val="0"/>
              </a:spcAft>
              <a:buNone/>
            </a:pPr>
            <a:r>
              <a:rPr lang="en-US">
                <a:solidFill>
                  <a:schemeClr val="dk1"/>
                </a:solidFill>
              </a:rPr>
              <a:t>最後，我們將 PPipe 與兩個基準（Baselines）進行比較： 一是 </a:t>
            </a:r>
            <a:r>
              <a:rPr b="1" lang="en-US">
                <a:solidFill>
                  <a:schemeClr val="dk1"/>
                </a:solidFill>
              </a:rPr>
              <a:t>NP (No-Partitioning)</a:t>
            </a:r>
            <a:r>
              <a:rPr lang="en-US">
                <a:solidFill>
                  <a:schemeClr val="dk1"/>
                </a:solidFill>
              </a:rPr>
              <a:t>，代表目前的工業界標準做法。 二是 </a:t>
            </a:r>
            <a:r>
              <a:rPr b="1" lang="en-US">
                <a:solidFill>
                  <a:schemeClr val="dk1"/>
                </a:solidFill>
              </a:rPr>
              <a:t>DART-r</a:t>
            </a:r>
            <a:r>
              <a:rPr lang="en-US">
                <a:solidFill>
                  <a:schemeClr val="dk1"/>
                </a:solidFill>
              </a:rPr>
              <a:t>，代表學術界最先進的管線化系統。這確保了我們的比較是公平且具代表性的。」</a:t>
            </a:r>
            <a:endParaRPr>
              <a:solidFill>
                <a:schemeClr val="dk1"/>
              </a:solidFill>
            </a:endParaRPr>
          </a:p>
        </p:txBody>
      </p:sp>
      <p:sp>
        <p:nvSpPr>
          <p:cNvPr id="178" name="Google Shape;1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現在，讓我們來看最關鍵的效能指標：服務吞吐量 (Serving Throughput)。</a:t>
            </a:r>
            <a:endParaRPr/>
          </a:p>
          <a:p>
            <a:pPr indent="0" lvl="0" marL="0" rtl="0" algn="l">
              <a:spcBef>
                <a:spcPts val="0"/>
              </a:spcBef>
              <a:spcAft>
                <a:spcPts val="0"/>
              </a:spcAft>
              <a:buNone/>
            </a:pPr>
            <a:r>
              <a:rPr lang="en-US"/>
              <a:t>請看這張長條圖。橫軸代表不同的模型，縱軸代表正規化後的吞吐量。藍色是我們的基準 NP，紅色是競爭對手 DART-r，而綠色是我們的 PPipe。</a:t>
            </a:r>
            <a:endParaRPr/>
          </a:p>
          <a:p>
            <a:pPr indent="0" lvl="0" marL="0" rtl="0" algn="l">
              <a:spcBef>
                <a:spcPts val="0"/>
              </a:spcBef>
              <a:spcAft>
                <a:spcPts val="0"/>
              </a:spcAft>
              <a:buNone/>
            </a:pPr>
            <a:r>
              <a:rPr lang="en-US">
                <a:solidFill>
                  <a:schemeClr val="dk1"/>
                </a:solidFill>
              </a:rPr>
              <a:t>實驗結果顯示，在必須滿足 </a:t>
            </a:r>
            <a:r>
              <a:rPr b="1" lang="en-US">
                <a:solidFill>
                  <a:schemeClr val="dk1"/>
                </a:solidFill>
              </a:rPr>
              <a:t>99% 請求都能在 SLO 內完成</a:t>
            </a:r>
            <a:r>
              <a:rPr lang="en-US">
                <a:solidFill>
                  <a:schemeClr val="dk1"/>
                </a:solidFill>
              </a:rPr>
              <a:t> 的嚴格前提下，PPipe 展現了壓倒性的優勢。 與工業標準 NP 相比，我們的吞吐量提升了 </a:t>
            </a:r>
            <a:r>
              <a:rPr b="1" lang="en-US">
                <a:solidFill>
                  <a:schemeClr val="dk1"/>
                </a:solidFill>
              </a:rPr>
              <a:t>32.2% 到 75.1%</a:t>
            </a:r>
            <a:r>
              <a:rPr lang="en-US">
                <a:solidFill>
                  <a:schemeClr val="dk1"/>
                </a:solidFill>
              </a:rPr>
              <a:t>。 即便是與學術界最先進的管線系統 DART-r 相比，我們依然保持顯著領先。</a:t>
            </a:r>
            <a:endParaRPr>
              <a:solidFill>
                <a:schemeClr val="dk1"/>
              </a:solidFill>
            </a:endParaRPr>
          </a:p>
          <a:p>
            <a:pPr indent="0" lvl="0" marL="0" rtl="0" algn="l">
              <a:spcBef>
                <a:spcPts val="0"/>
              </a:spcBef>
              <a:spcAft>
                <a:spcPts val="0"/>
              </a:spcAft>
              <a:buNone/>
            </a:pPr>
            <a:r>
              <a:rPr lang="en-US">
                <a:solidFill>
                  <a:schemeClr val="dk1"/>
                </a:solidFill>
              </a:rPr>
              <a:t>這證明了兩件事： 第一，我們的『切分策略』成功地讓低階 GPU 分擔了運算壓力。 第二，我們的『Pool-Based 架構』有效地減少了傳統管線中常見的『氣泡 (Bubbles)』或空轉時間，讓整個叢集的流水線更加緊湊、高效。」</a:t>
            </a:r>
            <a:endParaRPr>
              <a:solidFill>
                <a:schemeClr val="dk1"/>
              </a:solidFill>
            </a:endParaRPr>
          </a:p>
        </p:txBody>
      </p:sp>
      <p:sp>
        <p:nvSpPr>
          <p:cNvPr id="185" name="Google Shape;1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了解了吞吐量的提升後，我們進一步分析其背後的驅動因素：</a:t>
            </a:r>
            <a:r>
              <a:rPr b="1" lang="en-US">
                <a:solidFill>
                  <a:schemeClr val="dk1"/>
                </a:solidFill>
              </a:rPr>
              <a:t>GPU 資源利用率 (Resource Utilization)</a:t>
            </a: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請看到這張圖表。我們將 GPU 分為低階（如 P4）與高階（如 L4/V100）兩個群組來看。</a:t>
            </a:r>
            <a:endParaRPr>
              <a:solidFill>
                <a:schemeClr val="dk1"/>
              </a:solidFill>
            </a:endParaRPr>
          </a:p>
          <a:p>
            <a:pPr indent="0" lvl="0" marL="0" rtl="0" algn="l">
              <a:spcBef>
                <a:spcPts val="0"/>
              </a:spcBef>
              <a:spcAft>
                <a:spcPts val="0"/>
              </a:spcAft>
              <a:buNone/>
            </a:pPr>
            <a:r>
              <a:rPr lang="en-US">
                <a:solidFill>
                  <a:schemeClr val="dk1"/>
                </a:solidFill>
              </a:rPr>
              <a:t>首先關注</a:t>
            </a:r>
            <a:r>
              <a:rPr b="1" lang="en-US">
                <a:solidFill>
                  <a:schemeClr val="dk1"/>
                </a:solidFill>
              </a:rPr>
              <a:t>低階 GPU</a:t>
            </a:r>
            <a:r>
              <a:rPr lang="en-US">
                <a:solidFill>
                  <a:schemeClr val="dk1"/>
                </a:solidFill>
              </a:rPr>
              <a:t>（圖中較低的柱狀部分）。在基準方法 NP 中，由於 P4 無法滿足嚴格的 SLO，調度器幾乎不敢分配任務給它，導致利用率極低，處於閒置狀態。 然而，在 PPipe 的架構下，利用率顯著提升了 </a:t>
            </a:r>
            <a:r>
              <a:rPr b="1" lang="en-US">
                <a:solidFill>
                  <a:schemeClr val="dk1"/>
                </a:solidFill>
              </a:rPr>
              <a:t>41.1% 到 65.5%</a:t>
            </a:r>
            <a:r>
              <a:rPr lang="en-US">
                <a:solidFill>
                  <a:schemeClr val="dk1"/>
                </a:solidFill>
              </a:rPr>
              <a:t>。這證實了我們的切分演算法成功地將適合的計算層卸載到了這些舊硬體上。</a:t>
            </a:r>
            <a:endParaRPr>
              <a:solidFill>
                <a:schemeClr val="dk1"/>
              </a:solidFill>
            </a:endParaRPr>
          </a:p>
          <a:p>
            <a:pPr indent="0" lvl="0" marL="0" rtl="0" algn="l">
              <a:spcBef>
                <a:spcPts val="0"/>
              </a:spcBef>
              <a:spcAft>
                <a:spcPts val="0"/>
              </a:spcAft>
              <a:buNone/>
            </a:pPr>
            <a:r>
              <a:rPr lang="en-US">
                <a:solidFill>
                  <a:schemeClr val="dk1"/>
                </a:solidFill>
              </a:rPr>
              <a:t>同時，請注意</a:t>
            </a:r>
            <a:r>
              <a:rPr b="1" lang="en-US">
                <a:solidFill>
                  <a:schemeClr val="dk1"/>
                </a:solidFill>
              </a:rPr>
              <a:t>高階 GPU</a:t>
            </a:r>
            <a:r>
              <a:rPr lang="en-US">
                <a:solidFill>
                  <a:schemeClr val="dk1"/>
                </a:solidFill>
              </a:rPr>
              <a:t> 的表現。它們的利用率並沒有因為分工而下降，反而維持在高檔。這表示 PPipe 實現了理想的異構協同：低階卡處理輕量層，高階卡處理重量層，整個叢集的運算資源都被充分榨乾，沒有絲毫浪費。</a:t>
            </a:r>
            <a:endParaRPr>
              <a:solidFill>
                <a:schemeClr val="dk1"/>
              </a:solidFill>
            </a:endParaRPr>
          </a:p>
        </p:txBody>
      </p:sp>
      <p:sp>
        <p:nvSpPr>
          <p:cNvPr id="194" name="Google Shape;1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除了吞吐量，對於即時服務來說，更關鍵的指標是 </a:t>
            </a:r>
            <a:r>
              <a:rPr b="1" lang="en-US">
                <a:solidFill>
                  <a:schemeClr val="dk1"/>
                </a:solidFill>
              </a:rPr>
              <a:t>『尾端延遲 (Tail Latency)』</a:t>
            </a:r>
            <a:r>
              <a:rPr lang="en-US">
                <a:solidFill>
                  <a:schemeClr val="dk1"/>
                </a:solidFill>
              </a:rPr>
              <a:t>，也就是第 99 百分位 (P99) 的延遲表現。</a:t>
            </a:r>
            <a:endParaRPr>
              <a:solidFill>
                <a:schemeClr val="dk1"/>
              </a:solidFill>
            </a:endParaRPr>
          </a:p>
          <a:p>
            <a:pPr indent="0" lvl="0" marL="0" rtl="0" algn="l">
              <a:spcBef>
                <a:spcPts val="0"/>
              </a:spcBef>
              <a:spcAft>
                <a:spcPts val="0"/>
              </a:spcAft>
              <a:buNone/>
            </a:pPr>
            <a:r>
              <a:rPr lang="en-US">
                <a:solidFill>
                  <a:schemeClr val="dk1"/>
                </a:solidFill>
              </a:rPr>
              <a:t>請看這張 CDF（累積分布函數）圖。橫軸是延遲時間，縱軸是累計百分比。 紅線代表基準方法 NP。大家可以觀察到它有一條非常長的『尾巴』，這意味著在面對突發流量時，NP 會發生嚴重的排隊阻塞，導致許多請求遠遠超過了 SLO（圖中虛線處），造成服務違規。</a:t>
            </a:r>
            <a:endParaRPr>
              <a:solidFill>
                <a:schemeClr val="dk1"/>
              </a:solidFill>
            </a:endParaRPr>
          </a:p>
          <a:p>
            <a:pPr indent="0" lvl="0" marL="0" rtl="0" algn="l">
              <a:spcBef>
                <a:spcPts val="0"/>
              </a:spcBef>
              <a:spcAft>
                <a:spcPts val="0"/>
              </a:spcAft>
              <a:buNone/>
            </a:pPr>
            <a:r>
              <a:rPr lang="en-US">
                <a:solidFill>
                  <a:schemeClr val="dk1"/>
                </a:solidFill>
              </a:rPr>
              <a:t>反觀綠線的 PPipe。這條曲線非常陡峭且收斂，幾乎所有的請求都落在 SLO 的時間範圍內。 數據顯示，PPipe 將 P99 延遲降低了 </a:t>
            </a:r>
            <a:r>
              <a:rPr b="1" lang="en-US">
                <a:solidFill>
                  <a:schemeClr val="dk1"/>
                </a:solidFill>
              </a:rPr>
              <a:t>2.5 到 4.2 倍</a:t>
            </a: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這歸功於我們在數據層設計的 </a:t>
            </a:r>
            <a:r>
              <a:rPr b="1" lang="en-US">
                <a:solidFill>
                  <a:schemeClr val="dk1"/>
                </a:solidFill>
              </a:rPr>
              <a:t>『資源預留機制』</a:t>
            </a:r>
            <a:r>
              <a:rPr lang="en-US">
                <a:solidFill>
                  <a:schemeClr val="dk1"/>
                </a:solidFill>
              </a:rPr>
              <a:t>。它有效地阻擋了無法負荷的請求進入管線，避免了系統內部的擁塞崩潰。這證明了 PPipe 能夠在高吞吐量的同時，依然保證極高的服務穩定性。</a:t>
            </a:r>
            <a:endParaRPr>
              <a:solidFill>
                <a:schemeClr val="dk1"/>
              </a:solidFill>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在展示了實驗成果後，我們來討論 PPipe 與現有相關工作的定位差異。目前的相關研究主要可以分為兩大類：</a:t>
            </a:r>
            <a:endParaRPr>
              <a:solidFill>
                <a:schemeClr val="dk1"/>
              </a:solidFill>
            </a:endParaRPr>
          </a:p>
          <a:p>
            <a:pPr indent="0" lvl="0" marL="0" rtl="0" algn="l">
              <a:spcBef>
                <a:spcPts val="0"/>
              </a:spcBef>
              <a:spcAft>
                <a:spcPts val="0"/>
              </a:spcAft>
              <a:buNone/>
            </a:pPr>
            <a:r>
              <a:rPr lang="en-US">
                <a:solidFill>
                  <a:schemeClr val="dk1"/>
                </a:solidFill>
              </a:rPr>
              <a:t>第一類是 </a:t>
            </a:r>
            <a:r>
              <a:rPr b="1" lang="en-US">
                <a:solidFill>
                  <a:schemeClr val="dk1"/>
                </a:solidFill>
              </a:rPr>
              <a:t>『叢集調度系統 (Cluster Scheduling)』</a:t>
            </a:r>
            <a:r>
              <a:rPr lang="en-US">
                <a:solidFill>
                  <a:schemeClr val="dk1"/>
                </a:solidFill>
              </a:rPr>
              <a:t>，如 Orca 或 Clockwork。 這些系統非常擅長在同質環境中做負載均衡，但它們通常將 GPU 視為不可分割的單元（Black-box）。面對我們這種新舊混雜的異構環境，它們無法處理單卡效能的巨大落差，往往導致低階卡被閒置。</a:t>
            </a:r>
            <a:endParaRPr>
              <a:solidFill>
                <a:schemeClr val="dk1"/>
              </a:solidFill>
            </a:endParaRPr>
          </a:p>
          <a:p>
            <a:pPr indent="0" lvl="0" marL="0" rtl="0" algn="l">
              <a:spcBef>
                <a:spcPts val="0"/>
              </a:spcBef>
              <a:spcAft>
                <a:spcPts val="0"/>
              </a:spcAft>
              <a:buNone/>
            </a:pPr>
            <a:r>
              <a:rPr lang="en-US">
                <a:solidFill>
                  <a:schemeClr val="dk1"/>
                </a:solidFill>
              </a:rPr>
              <a:t>第二類是 </a:t>
            </a:r>
            <a:r>
              <a:rPr b="1" lang="en-US">
                <a:solidFill>
                  <a:schemeClr val="dk1"/>
                </a:solidFill>
              </a:rPr>
              <a:t>『平行化推論 (Parallel Inference)』</a:t>
            </a:r>
            <a:r>
              <a:rPr lang="en-US">
                <a:solidFill>
                  <a:schemeClr val="dk1"/>
                </a:solidFill>
              </a:rPr>
              <a:t>，如 AlpaServe 或 Tensor Parallelism。 這些技術雖然能拆分模型，但通常依賴高頻寬互連（如 NVLink），且多針對『模型平行』而非『管線平行』。現有的管線化工作（如 PipeDream）則多聚焦於『訓練』階段的吞吐量，忽略了推論服務對『低延遲 (Latency)』的嚴格要求。</a:t>
            </a:r>
            <a:endParaRPr>
              <a:solidFill>
                <a:schemeClr val="dk1"/>
              </a:solidFill>
            </a:endParaRPr>
          </a:p>
        </p:txBody>
      </p:sp>
      <p:sp>
        <p:nvSpPr>
          <p:cNvPr id="208" name="Google Shape;20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以上是關於 PPipe 系統的完整報告。我們相信這項研究為資料中心的異構資源管理提供了一個嶄新且高效的思路。</a:t>
            </a:r>
            <a:endParaRPr/>
          </a:p>
          <a:p>
            <a:pPr indent="0" lvl="0" marL="0" rtl="0" algn="l">
              <a:spcBef>
                <a:spcPts val="0"/>
              </a:spcBef>
              <a:spcAft>
                <a:spcPts val="0"/>
              </a:spcAft>
              <a:buNone/>
            </a:pPr>
            <a:r>
              <a:rPr lang="en-US"/>
              <a:t>非常感謝各位的聆聽與時間。如果在場的各位前輩或專家對我們的演算法設計、或是實驗細節有任何疑問或建議，都非常歡迎提出指教。謝謝！</a:t>
            </a:r>
            <a:endParaRPr/>
          </a:p>
          <a:p>
            <a:pPr indent="0" lvl="0" marL="0" rtl="0" algn="l">
              <a:spcBef>
                <a:spcPts val="0"/>
              </a:spcBef>
              <a:spcAft>
                <a:spcPts val="0"/>
              </a:spcAft>
              <a:buNone/>
            </a:pPr>
            <a:r>
              <a:rPr lang="en-US">
                <a:solidFill>
                  <a:schemeClr val="dk1"/>
                </a:solidFill>
              </a:rPr>
              <a:t>最後，容我總結本篇論文的貢獻。</a:t>
            </a:r>
            <a:endParaRPr>
              <a:solidFill>
                <a:schemeClr val="dk1"/>
              </a:solidFill>
            </a:endParaRPr>
          </a:p>
          <a:p>
            <a:pPr indent="0" lvl="0" marL="0" rtl="0" algn="l">
              <a:spcBef>
                <a:spcPts val="0"/>
              </a:spcBef>
              <a:spcAft>
                <a:spcPts val="0"/>
              </a:spcAft>
              <a:buNone/>
            </a:pPr>
            <a:r>
              <a:rPr lang="en-US">
                <a:solidFill>
                  <a:schemeClr val="dk1"/>
                </a:solidFill>
              </a:rPr>
              <a:t>針對現代資料中心面臨的『異構 GPU 閒置』問題，我們提出了 </a:t>
            </a:r>
            <a:r>
              <a:rPr b="1" lang="en-US">
                <a:solidFill>
                  <a:schemeClr val="dk1"/>
                </a:solidFill>
              </a:rPr>
              <a:t>PPipe</a:t>
            </a:r>
            <a:r>
              <a:rPr lang="en-US">
                <a:solidFill>
                  <a:schemeClr val="dk1"/>
                </a:solidFill>
              </a:rPr>
              <a:t> 系統。 首先，我們打破了傳統思維，證明了低階 GPU 在適當的模型切分下，依然具備可觀的運算潛力。 其次，我們設計了創新的 </a:t>
            </a:r>
            <a:r>
              <a:rPr b="1" lang="en-US">
                <a:solidFill>
                  <a:schemeClr val="dk1"/>
                </a:solidFill>
              </a:rPr>
              <a:t>『基於資源池的管線平行化 (Pool-Based Pipeline Parallelism)』</a:t>
            </a:r>
            <a:r>
              <a:rPr lang="en-US">
                <a:solidFill>
                  <a:schemeClr val="dk1"/>
                </a:solidFill>
              </a:rPr>
              <a:t> 架構，結合了控制層的 </a:t>
            </a:r>
            <a:r>
              <a:rPr b="1" lang="en-US">
                <a:solidFill>
                  <a:schemeClr val="dk1"/>
                </a:solidFill>
              </a:rPr>
              <a:t>MILP 優化</a:t>
            </a:r>
            <a:r>
              <a:rPr lang="en-US">
                <a:solidFill>
                  <a:schemeClr val="dk1"/>
                </a:solidFill>
              </a:rPr>
              <a:t> 與數據層的 </a:t>
            </a:r>
            <a:r>
              <a:rPr b="1" lang="en-US">
                <a:solidFill>
                  <a:schemeClr val="dk1"/>
                </a:solidFill>
              </a:rPr>
              <a:t>資源預留機制</a:t>
            </a:r>
            <a:r>
              <a:rPr lang="en-US">
                <a:solidFill>
                  <a:schemeClr val="dk1"/>
                </a:solidFill>
              </a:rPr>
              <a:t>，成功解決了動態環境下的調度難題。</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實驗結果證實，PPipe 不僅將服務吞吐量提升了 </a:t>
            </a:r>
            <a:r>
              <a:rPr b="1" lang="en-US">
                <a:solidFill>
                  <a:schemeClr val="dk1"/>
                </a:solidFill>
              </a:rPr>
              <a:t>75%</a:t>
            </a:r>
            <a:r>
              <a:rPr lang="en-US">
                <a:solidFill>
                  <a:schemeClr val="dk1"/>
                </a:solidFill>
              </a:rPr>
              <a:t>，更將尾端延遲降低了 </a:t>
            </a:r>
            <a:r>
              <a:rPr b="1" lang="en-US">
                <a:solidFill>
                  <a:schemeClr val="dk1"/>
                </a:solidFill>
              </a:rPr>
              <a:t>4 倍</a:t>
            </a:r>
            <a:r>
              <a:rPr lang="en-US">
                <a:solidFill>
                  <a:schemeClr val="dk1"/>
                </a:solidFill>
              </a:rPr>
              <a:t>，成功在異構叢集中實現了高效率與高穩定性的雙贏。</a:t>
            </a:r>
            <a:endParaRPr/>
          </a:p>
        </p:txBody>
      </p:sp>
      <p:sp>
        <p:nvSpPr>
          <p:cNvPr id="215" name="Google Shape;21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3477d7032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b3477d703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youtube.com/watch?v=o6dCNFgb-T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377500" y="914025"/>
            <a:ext cx="8556900" cy="2447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PPipe: Efficient Video Analytics Serving on Heterogeneous GPU Clusters</a:t>
            </a:r>
            <a:endParaRPr sz="4400">
              <a:solidFill>
                <a:schemeClr val="dk1"/>
              </a:solidFill>
              <a:latin typeface="Calibri"/>
              <a:ea typeface="Calibri"/>
              <a:cs typeface="Calibri"/>
              <a:sym typeface="Calibri"/>
            </a:endParaRPr>
          </a:p>
          <a:p>
            <a:pPr indent="0" lvl="0" marL="0" rtl="0" algn="ctr">
              <a:spcBef>
                <a:spcPts val="0"/>
              </a:spcBef>
              <a:spcAft>
                <a:spcPts val="0"/>
              </a:spcAft>
              <a:buClr>
                <a:srgbClr val="888888"/>
              </a:buClr>
              <a:buSzPct val="100000"/>
              <a:buFont typeface="Arial"/>
              <a:buNone/>
            </a:pPr>
            <a:r>
              <a:rPr lang="en-US" sz="3200">
                <a:solidFill>
                  <a:srgbClr val="888888"/>
                </a:solidFill>
              </a:rPr>
              <a:t>基於資源池的管線平行化技術</a:t>
            </a:r>
            <a:endParaRPr sz="3200">
              <a:solidFill>
                <a:srgbClr val="888888"/>
              </a:solidFill>
            </a:endParaRPr>
          </a:p>
          <a:p>
            <a:pPr indent="0" lvl="0" marL="0" rtl="0" algn="ctr">
              <a:spcBef>
                <a:spcPts val="0"/>
              </a:spcBef>
              <a:spcAft>
                <a:spcPts val="0"/>
              </a:spcAft>
              <a:buClr>
                <a:srgbClr val="888888"/>
              </a:buClr>
              <a:buSzPct val="100000"/>
              <a:buFont typeface="Arial"/>
              <a:buNone/>
            </a:pPr>
            <a:r>
              <a:rPr lang="en-US" sz="3200">
                <a:solidFill>
                  <a:srgbClr val="888888"/>
                </a:solidFill>
              </a:rPr>
              <a:t>在</a:t>
            </a:r>
            <a:r>
              <a:rPr lang="en-US" sz="3200">
                <a:solidFill>
                  <a:srgbClr val="888888"/>
                </a:solidFill>
              </a:rPr>
              <a:t>異構 GPU 叢集上的高效視訊分析服務系統</a:t>
            </a:r>
            <a:endParaRPr sz="3200">
              <a:solidFill>
                <a:srgbClr val="888888"/>
              </a:solidFill>
            </a:endParaRPr>
          </a:p>
        </p:txBody>
      </p:sp>
      <p:sp>
        <p:nvSpPr>
          <p:cNvPr id="85" name="Google Shape;85;p1"/>
          <p:cNvSpPr txBox="1"/>
          <p:nvPr/>
        </p:nvSpPr>
        <p:spPr>
          <a:xfrm>
            <a:off x="4655900" y="3198300"/>
            <a:ext cx="4488000" cy="6921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US" sz="1100">
                <a:solidFill>
                  <a:srgbClr val="000000"/>
                </a:solidFill>
              </a:rPr>
              <a:t>論文作者：</a:t>
            </a:r>
            <a:r>
              <a:rPr b="1" lang="en-US" sz="1100">
                <a:solidFill>
                  <a:schemeClr val="dk1"/>
                </a:solidFill>
              </a:rPr>
              <a:t>Z. Jonny Kong</a:t>
            </a:r>
            <a:r>
              <a:rPr lang="en-US" sz="1100">
                <a:solidFill>
                  <a:schemeClr val="dk1"/>
                </a:solidFill>
              </a:rPr>
              <a:t>、</a:t>
            </a:r>
            <a:r>
              <a:rPr b="1" lang="en-US" sz="1100">
                <a:solidFill>
                  <a:schemeClr val="dk1"/>
                </a:solidFill>
              </a:rPr>
              <a:t>Qiang Xu</a:t>
            </a:r>
            <a:r>
              <a:rPr lang="en-US" sz="1100">
                <a:solidFill>
                  <a:schemeClr val="dk1"/>
                </a:solidFill>
              </a:rPr>
              <a:t> &amp; Y. Charlie Hu</a:t>
            </a:r>
            <a:endParaRPr sz="1100">
              <a:solidFill>
                <a:srgbClr val="000000"/>
              </a:solidFill>
            </a:endParaRPr>
          </a:p>
          <a:p>
            <a:pPr indent="0" lvl="0" marL="0" rtl="0" algn="l">
              <a:spcBef>
                <a:spcPts val="0"/>
              </a:spcBef>
              <a:spcAft>
                <a:spcPts val="0"/>
              </a:spcAft>
              <a:buNone/>
            </a:pPr>
            <a:r>
              <a:rPr lang="en-US" sz="1100">
                <a:solidFill>
                  <a:srgbClr val="000000"/>
                </a:solidFill>
              </a:rPr>
              <a:t>資料來源：</a:t>
            </a:r>
            <a:r>
              <a:rPr lang="en-US" sz="1100"/>
              <a:t>USENIX ATC '25 (Kong et al.)</a:t>
            </a:r>
            <a:endParaRPr sz="1100"/>
          </a:p>
          <a:p>
            <a:pPr indent="0" lvl="0" marL="0" rtl="0" algn="l">
              <a:spcBef>
                <a:spcPts val="0"/>
              </a:spcBef>
              <a:spcAft>
                <a:spcPts val="0"/>
              </a:spcAft>
              <a:buNone/>
            </a:pPr>
            <a:r>
              <a:rPr lang="en-US" sz="1100"/>
              <a:t>會議演說：</a:t>
            </a:r>
            <a:r>
              <a:rPr lang="en-US" sz="1100" u="sng">
                <a:solidFill>
                  <a:schemeClr val="hlink"/>
                </a:solidFill>
                <a:hlinkClick r:id="rId3"/>
              </a:rPr>
              <a:t>https://www.youtube.com/watch?v=o6dCNFgb-Tk</a:t>
            </a:r>
            <a:endParaRPr sz="1100"/>
          </a:p>
        </p:txBody>
      </p:sp>
      <p:sp>
        <p:nvSpPr>
          <p:cNvPr id="86" name="Google Shape;86;p1"/>
          <p:cNvSpPr txBox="1"/>
          <p:nvPr/>
        </p:nvSpPr>
        <p:spPr>
          <a:xfrm>
            <a:off x="311700" y="4076725"/>
            <a:ext cx="8520600" cy="1701600"/>
          </a:xfrm>
          <a:prstGeom prst="rect">
            <a:avLst/>
          </a:prstGeom>
          <a:noFill/>
          <a:ln>
            <a:noFill/>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US" sz="2800">
                <a:solidFill>
                  <a:srgbClr val="595959"/>
                </a:solidFill>
              </a:rPr>
              <a:t>第17組</a:t>
            </a:r>
            <a:endParaRPr sz="2800">
              <a:solidFill>
                <a:srgbClr val="595959"/>
              </a:solidFill>
            </a:endParaRPr>
          </a:p>
          <a:p>
            <a:pPr indent="0" lvl="0" marL="0" rtl="0" algn="ctr">
              <a:spcBef>
                <a:spcPts val="0"/>
              </a:spcBef>
              <a:spcAft>
                <a:spcPts val="0"/>
              </a:spcAft>
              <a:buNone/>
            </a:pPr>
            <a:r>
              <a:t/>
            </a:r>
            <a:endParaRPr sz="2800">
              <a:solidFill>
                <a:srgbClr val="595959"/>
              </a:solidFill>
            </a:endParaRPr>
          </a:p>
          <a:p>
            <a:pPr indent="0" lvl="0" marL="0" rtl="0" algn="ctr">
              <a:spcBef>
                <a:spcPts val="0"/>
              </a:spcBef>
              <a:spcAft>
                <a:spcPts val="0"/>
              </a:spcAft>
              <a:buNone/>
            </a:pPr>
            <a:r>
              <a:rPr lang="en-US" sz="2800">
                <a:solidFill>
                  <a:srgbClr val="595959"/>
                </a:solidFill>
              </a:rPr>
              <a:t>410551015 陳瑤光</a:t>
            </a:r>
            <a:endParaRPr sz="2800">
              <a:solidFill>
                <a:srgbClr val="595959"/>
              </a:solidFill>
            </a:endParaRPr>
          </a:p>
          <a:p>
            <a:pPr indent="0" lvl="0" marL="0" rtl="0" algn="ctr">
              <a:spcBef>
                <a:spcPts val="0"/>
              </a:spcBef>
              <a:spcAft>
                <a:spcPts val="0"/>
              </a:spcAft>
              <a:buNone/>
            </a:pPr>
            <a:r>
              <a:rPr lang="en-US" sz="2800">
                <a:solidFill>
                  <a:srgbClr val="595959"/>
                </a:solidFill>
              </a:rPr>
              <a:t>414551016 劉順松</a:t>
            </a:r>
            <a:endParaRPr sz="2800">
              <a:solidFill>
                <a:srgbClr val="595959"/>
              </a:solidFill>
            </a:endParaRPr>
          </a:p>
        </p:txBody>
      </p:sp>
      <p:sp>
        <p:nvSpPr>
          <p:cNvPr id="87" name="Google Shape;87;p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簡報大綱 (Agenda)</a:t>
            </a:r>
            <a:endParaRPr/>
          </a:p>
        </p:txBody>
      </p:sp>
      <p:sp>
        <p:nvSpPr>
          <p:cNvPr id="93" name="Google Shape;93;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342900" lvl="0" marL="342900" rtl="0" algn="l">
              <a:spcBef>
                <a:spcPts val="400"/>
              </a:spcBef>
              <a:spcAft>
                <a:spcPts val="0"/>
              </a:spcAft>
              <a:buClr>
                <a:schemeClr val="dk1"/>
              </a:buClr>
              <a:buSzPts val="2000"/>
              <a:buChar char="•"/>
            </a:pPr>
            <a:r>
              <a:rPr lang="en-US" sz="2000"/>
              <a:t>1. 背景與動機 (Background &amp; Motivation)</a:t>
            </a:r>
            <a:endParaRPr/>
          </a:p>
          <a:p>
            <a:pPr indent="-342900" lvl="0" marL="342900" rtl="0" algn="l">
              <a:spcBef>
                <a:spcPts val="1400"/>
              </a:spcBef>
              <a:spcAft>
                <a:spcPts val="0"/>
              </a:spcAft>
              <a:buClr>
                <a:schemeClr val="dk1"/>
              </a:buClr>
              <a:buSzPts val="2000"/>
              <a:buChar char="•"/>
            </a:pPr>
            <a:r>
              <a:rPr lang="en-US" sz="2000"/>
              <a:t>2. 關鍵洞察 (Key Insights)</a:t>
            </a:r>
            <a:endParaRPr/>
          </a:p>
          <a:p>
            <a:pPr indent="-342900" lvl="0" marL="342900" rtl="0" algn="l">
              <a:spcBef>
                <a:spcPts val="1400"/>
              </a:spcBef>
              <a:spcAft>
                <a:spcPts val="0"/>
              </a:spcAft>
              <a:buClr>
                <a:schemeClr val="dk1"/>
              </a:buClr>
              <a:buSzPts val="2000"/>
              <a:buChar char="•"/>
            </a:pPr>
            <a:r>
              <a:rPr lang="en-US" sz="2000"/>
              <a:t>3. PPipe 系統架構 (System Architecture)</a:t>
            </a:r>
            <a:endParaRPr/>
          </a:p>
          <a:p>
            <a:pPr indent="-342900" lvl="0" marL="342900" rtl="0" algn="l">
              <a:spcBef>
                <a:spcPts val="1400"/>
              </a:spcBef>
              <a:spcAft>
                <a:spcPts val="0"/>
              </a:spcAft>
              <a:buClr>
                <a:schemeClr val="dk1"/>
              </a:buClr>
              <a:buSzPts val="2000"/>
              <a:buChar char="•"/>
            </a:pPr>
            <a:r>
              <a:rPr lang="en-US" sz="2000"/>
              <a:t>4. 控制層：基於 MILP 的規劃 (Control Plane)</a:t>
            </a:r>
            <a:endParaRPr/>
          </a:p>
          <a:p>
            <a:pPr indent="-342900" lvl="0" marL="342900" rtl="0" algn="l">
              <a:spcBef>
                <a:spcPts val="1400"/>
              </a:spcBef>
              <a:spcAft>
                <a:spcPts val="0"/>
              </a:spcAft>
              <a:buClr>
                <a:schemeClr val="dk1"/>
              </a:buClr>
              <a:buSzPts val="2000"/>
              <a:buChar char="•"/>
            </a:pPr>
            <a:r>
              <a:rPr lang="en-US" sz="2000"/>
              <a:t>5. 數據層：資源預留機制 (Data Plane)</a:t>
            </a:r>
            <a:endParaRPr/>
          </a:p>
          <a:p>
            <a:pPr indent="-342900" lvl="0" marL="342900" rtl="0" algn="l">
              <a:spcBef>
                <a:spcPts val="1400"/>
              </a:spcBef>
              <a:spcAft>
                <a:spcPts val="0"/>
              </a:spcAft>
              <a:buClr>
                <a:schemeClr val="dk1"/>
              </a:buClr>
              <a:buSzPts val="2000"/>
              <a:buChar char="•"/>
            </a:pPr>
            <a:r>
              <a:rPr lang="en-US" sz="2000"/>
              <a:t>6. 實驗評估 (Evaluation)</a:t>
            </a:r>
            <a:endParaRPr/>
          </a:p>
          <a:p>
            <a:pPr indent="-342900" lvl="0" marL="342900" rtl="0" algn="l">
              <a:spcBef>
                <a:spcPts val="1400"/>
              </a:spcBef>
              <a:spcAft>
                <a:spcPts val="0"/>
              </a:spcAft>
              <a:buClr>
                <a:schemeClr val="dk1"/>
              </a:buClr>
              <a:buSzPts val="2000"/>
              <a:buChar char="•"/>
            </a:pPr>
            <a:r>
              <a:rPr lang="en-US" sz="2000"/>
              <a:t>7. 結論 (Conclusion)</a:t>
            </a:r>
            <a:endParaRPr/>
          </a:p>
        </p:txBody>
      </p:sp>
      <p:sp>
        <p:nvSpPr>
          <p:cNvPr id="94" name="Google Shape;94;p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背景：視訊分析服務的挑戰</a:t>
            </a:r>
            <a:endParaRPr/>
          </a:p>
        </p:txBody>
      </p:sp>
      <p:sp>
        <p:nvSpPr>
          <p:cNvPr id="100" name="Google Shape;100;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視訊分析 (Video Analytics) 的特性：</a:t>
            </a:r>
            <a:endParaRPr/>
          </a:p>
          <a:p>
            <a:pPr indent="-285750" lvl="1" marL="742950" rtl="0" algn="l">
              <a:spcBef>
                <a:spcPts val="1400"/>
              </a:spcBef>
              <a:spcAft>
                <a:spcPts val="0"/>
              </a:spcAft>
              <a:buClr>
                <a:schemeClr val="dk1"/>
              </a:buClr>
              <a:buSzPts val="2000"/>
              <a:buChar char="–"/>
            </a:pPr>
            <a:r>
              <a:rPr lang="en-US" sz="2000"/>
              <a:t>  - 計算密集 (Compute-intensive)：依賴 DNN (如 ResNet, ViT)。</a:t>
            </a:r>
            <a:endParaRPr/>
          </a:p>
          <a:p>
            <a:pPr indent="-285750" lvl="1" marL="742950" rtl="0" algn="l">
              <a:spcBef>
                <a:spcPts val="1400"/>
              </a:spcBef>
              <a:spcAft>
                <a:spcPts val="0"/>
              </a:spcAft>
              <a:buClr>
                <a:schemeClr val="dk1"/>
              </a:buClr>
              <a:buSzPts val="2000"/>
              <a:buChar char="–"/>
            </a:pPr>
            <a:r>
              <a:rPr lang="en-US" sz="2000"/>
              <a:t>  - 延遲敏感 (Latency-bound)：通常要求 &lt; 200ms 的 SLO。</a:t>
            </a:r>
            <a:endParaRPr/>
          </a:p>
          <a:p>
            <a:pPr indent="-285750" lvl="1" marL="742950" rtl="0" algn="l">
              <a:spcBef>
                <a:spcPts val="1400"/>
              </a:spcBef>
              <a:spcAft>
                <a:spcPts val="0"/>
              </a:spcAft>
              <a:buClr>
                <a:schemeClr val="dk1"/>
              </a:buClr>
              <a:buSzPts val="2000"/>
              <a:buChar char="–"/>
            </a:pPr>
            <a:r>
              <a:rPr lang="en-US" sz="2000"/>
              <a:t>  - 流量突發 (Bursty Traffic)：負載隨時間劇烈波動。</a:t>
            </a:r>
            <a:endParaRPr/>
          </a:p>
          <a:p>
            <a:pPr indent="-342900" lvl="0" marL="342900" rtl="0" algn="l">
              <a:spcBef>
                <a:spcPts val="1400"/>
              </a:spcBef>
              <a:spcAft>
                <a:spcPts val="0"/>
              </a:spcAft>
              <a:buClr>
                <a:schemeClr val="dk1"/>
              </a:buClr>
              <a:buSzPts val="2000"/>
              <a:buChar char="•"/>
            </a:pPr>
            <a:r>
              <a:rPr lang="en-US" sz="2000"/>
              <a:t>硬體環境：異構 GPU 叢集 (Heterogeneous Clusters)：</a:t>
            </a:r>
            <a:endParaRPr/>
          </a:p>
          <a:p>
            <a:pPr indent="-285750" lvl="1" marL="742950" rtl="0" algn="l">
              <a:spcBef>
                <a:spcPts val="1400"/>
              </a:spcBef>
              <a:spcAft>
                <a:spcPts val="0"/>
              </a:spcAft>
              <a:buClr>
                <a:schemeClr val="dk1"/>
              </a:buClr>
              <a:buSzPts val="2000"/>
              <a:buChar char="–"/>
            </a:pPr>
            <a:r>
              <a:rPr lang="en-US" sz="2000"/>
              <a:t>  - 為了降低成本 (TCO)，資料中心混合使用新舊 GPU。</a:t>
            </a:r>
            <a:endParaRPr/>
          </a:p>
          <a:p>
            <a:pPr indent="-285750" lvl="1" marL="742950" rtl="0" algn="l">
              <a:spcBef>
                <a:spcPts val="1400"/>
              </a:spcBef>
              <a:spcAft>
                <a:spcPts val="0"/>
              </a:spcAft>
              <a:buClr>
                <a:schemeClr val="dk1"/>
              </a:buClr>
              <a:buSzPts val="2000"/>
              <a:buChar char="–"/>
            </a:pPr>
            <a:r>
              <a:rPr lang="en-US" sz="2000"/>
              <a:t>  - 例如：NVIDIA L4 (新, 快) 與 NVIDIA P4 (舊, 慢) 並存。</a:t>
            </a:r>
            <a:endParaRPr/>
          </a:p>
        </p:txBody>
      </p:sp>
      <p:sp>
        <p:nvSpPr>
          <p:cNvPr id="101" name="Google Shape;101;p3"/>
          <p:cNvSpPr txBox="1"/>
          <p:nvPr/>
        </p:nvSpPr>
        <p:spPr>
          <a:xfrm>
            <a:off x="457200" y="6217920"/>
            <a:ext cx="822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rgbClr val="646464"/>
                </a:solidFill>
                <a:latin typeface="Calibri"/>
                <a:ea typeface="Calibri"/>
                <a:cs typeface="Calibri"/>
                <a:sym typeface="Calibri"/>
              </a:rPr>
              <a:t>[建議配圖] 左側放視訊監控示意圖，右側放不同世代 GPU 的圖示。</a:t>
            </a:r>
            <a:endParaRPr/>
          </a:p>
        </p:txBody>
      </p:sp>
      <p:sp>
        <p:nvSpPr>
          <p:cNvPr id="102" name="Google Shape;102;p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問題陳述：低階 GPU 的利用難題</a:t>
            </a:r>
            <a:endParaRPr/>
          </a:p>
        </p:txBody>
      </p:sp>
      <p:sp>
        <p:nvSpPr>
          <p:cNvPr id="108" name="Google Shape;108;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342900" lvl="0" marL="342900" rtl="0" algn="l">
              <a:spcBef>
                <a:spcPts val="400"/>
              </a:spcBef>
              <a:spcAft>
                <a:spcPts val="0"/>
              </a:spcAft>
              <a:buClr>
                <a:schemeClr val="dk1"/>
              </a:buClr>
              <a:buSzPts val="2000"/>
              <a:buChar char="•"/>
            </a:pPr>
            <a:r>
              <a:rPr lang="en-US" sz="2000"/>
              <a:t>低階 GPU (Low-end GPUs, e.g., P4) 的限制：</a:t>
            </a:r>
            <a:endParaRPr/>
          </a:p>
          <a:p>
            <a:pPr indent="-285750" lvl="1" marL="742950" rtl="0" algn="l">
              <a:spcBef>
                <a:spcPts val="1400"/>
              </a:spcBef>
              <a:spcAft>
                <a:spcPts val="0"/>
              </a:spcAft>
              <a:buClr>
                <a:schemeClr val="dk1"/>
              </a:buClr>
              <a:buSzPts val="2000"/>
              <a:buChar char="–"/>
            </a:pPr>
            <a:r>
              <a:rPr lang="en-US" sz="2000"/>
              <a:t>  - 運算能力弱：推論延遲可能是高階卡的 3-8 倍。</a:t>
            </a:r>
            <a:endParaRPr/>
          </a:p>
          <a:p>
            <a:pPr indent="-285750" lvl="1" marL="742950" rtl="0" algn="l">
              <a:spcBef>
                <a:spcPts val="1400"/>
              </a:spcBef>
              <a:spcAft>
                <a:spcPts val="0"/>
              </a:spcAft>
              <a:buClr>
                <a:schemeClr val="dk1"/>
              </a:buClr>
              <a:buSzPts val="2000"/>
              <a:buChar char="–"/>
            </a:pPr>
            <a:r>
              <a:rPr lang="en-US" sz="2000"/>
              <a:t>  - 無法滿足 SLO：單獨運行現代模型時，延遲常超過限制。</a:t>
            </a:r>
            <a:endParaRPr/>
          </a:p>
          <a:p>
            <a:pPr indent="-342900" lvl="0" marL="342900" rtl="0" algn="l">
              <a:spcBef>
                <a:spcPts val="1400"/>
              </a:spcBef>
              <a:spcAft>
                <a:spcPts val="0"/>
              </a:spcAft>
              <a:buClr>
                <a:schemeClr val="dk1"/>
              </a:buClr>
              <a:buSzPts val="2000"/>
              <a:buChar char="•"/>
            </a:pPr>
            <a:r>
              <a:rPr lang="en-US" sz="2000"/>
              <a:t>現狀導致的資源浪費：</a:t>
            </a:r>
            <a:endParaRPr/>
          </a:p>
          <a:p>
            <a:pPr indent="-285750" lvl="1" marL="742950" rtl="0" algn="l">
              <a:spcBef>
                <a:spcPts val="1400"/>
              </a:spcBef>
              <a:spcAft>
                <a:spcPts val="0"/>
              </a:spcAft>
              <a:buClr>
                <a:schemeClr val="dk1"/>
              </a:buClr>
              <a:buSzPts val="2000"/>
              <a:buChar char="–"/>
            </a:pPr>
            <a:r>
              <a:rPr lang="en-US" sz="2000"/>
              <a:t>  - 為了保證服務品質，系統傾向只調度高階 GPU。</a:t>
            </a:r>
            <a:endParaRPr/>
          </a:p>
          <a:p>
            <a:pPr indent="-285750" lvl="1" marL="742950" rtl="0" algn="l">
              <a:spcBef>
                <a:spcPts val="1400"/>
              </a:spcBef>
              <a:spcAft>
                <a:spcPts val="0"/>
              </a:spcAft>
              <a:buClr>
                <a:schemeClr val="dk1"/>
              </a:buClr>
              <a:buSzPts val="2000"/>
              <a:buChar char="–"/>
            </a:pPr>
            <a:r>
              <a:rPr lang="en-US" sz="2000"/>
              <a:t>  - 結果：高階 GPU 過載，低階 GPU 閒置 (Under-utilized)。</a:t>
            </a:r>
            <a:endParaRPr/>
          </a:p>
          <a:p>
            <a:pPr indent="-285750" lvl="1" marL="742950" rtl="0" algn="l">
              <a:spcBef>
                <a:spcPts val="1400"/>
              </a:spcBef>
              <a:spcAft>
                <a:spcPts val="0"/>
              </a:spcAft>
              <a:buClr>
                <a:schemeClr val="dk1"/>
              </a:buClr>
              <a:buSzPts val="2000"/>
              <a:buChar char="–"/>
            </a:pPr>
            <a:r>
              <a:rPr lang="en-US" sz="2000"/>
              <a:t>  - 核心問題：如何讓「慢」的 GPU 也能貢獻價值？</a:t>
            </a:r>
            <a:endParaRPr/>
          </a:p>
        </p:txBody>
      </p:sp>
      <p:sp>
        <p:nvSpPr>
          <p:cNvPr id="109" name="Google Shape;109;p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關鍵洞察 (1)：層級效能異質性</a:t>
            </a:r>
            <a:endParaRPr/>
          </a:p>
        </p:txBody>
      </p:sp>
      <p:sp>
        <p:nvSpPr>
          <p:cNvPr id="115" name="Google Shape;115;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並非所有層 (Layers) 在舊 GPU 上都一樣慢：</a:t>
            </a:r>
            <a:endParaRPr/>
          </a:p>
          <a:p>
            <a:pPr indent="-285750" lvl="1" marL="742950" rtl="0" algn="l">
              <a:spcBef>
                <a:spcPts val="1400"/>
              </a:spcBef>
              <a:spcAft>
                <a:spcPts val="0"/>
              </a:spcAft>
              <a:buClr>
                <a:schemeClr val="dk1"/>
              </a:buClr>
              <a:buSzPts val="2000"/>
              <a:buChar char="–"/>
            </a:pPr>
            <a:r>
              <a:rPr lang="en-US" sz="2000"/>
              <a:t>  - 觀察：模型的不同層對硬體的敏感度不同。</a:t>
            </a:r>
            <a:endParaRPr/>
          </a:p>
          <a:p>
            <a:pPr indent="-285750" lvl="1" marL="742950" rtl="0" algn="l">
              <a:spcBef>
                <a:spcPts val="1400"/>
              </a:spcBef>
              <a:spcAft>
                <a:spcPts val="0"/>
              </a:spcAft>
              <a:buClr>
                <a:schemeClr val="dk1"/>
              </a:buClr>
              <a:buSzPts val="2000"/>
              <a:buChar char="–"/>
            </a:pPr>
            <a:r>
              <a:rPr lang="en-US" sz="2000"/>
              <a:t>  - 發現：某些層在 P4 上運行僅比 L4 慢 1.7 倍，其他則慢 8 倍。</a:t>
            </a:r>
            <a:endParaRPr/>
          </a:p>
          <a:p>
            <a:pPr indent="-342900" lvl="0" marL="342900" rtl="0" algn="l">
              <a:spcBef>
                <a:spcPts val="1400"/>
              </a:spcBef>
              <a:spcAft>
                <a:spcPts val="0"/>
              </a:spcAft>
              <a:buClr>
                <a:schemeClr val="dk1"/>
              </a:buClr>
              <a:buSzPts val="2000"/>
              <a:buChar char="•"/>
            </a:pPr>
            <a:r>
              <a:rPr lang="en-US" sz="2000"/>
              <a:t>策略：</a:t>
            </a:r>
            <a:endParaRPr/>
          </a:p>
          <a:p>
            <a:pPr indent="-285750" lvl="1" marL="742950" rtl="0" algn="l">
              <a:spcBef>
                <a:spcPts val="1400"/>
              </a:spcBef>
              <a:spcAft>
                <a:spcPts val="0"/>
              </a:spcAft>
              <a:buClr>
                <a:schemeClr val="dk1"/>
              </a:buClr>
              <a:buSzPts val="2000"/>
              <a:buChar char="–"/>
            </a:pPr>
            <a:r>
              <a:rPr lang="en-US" sz="2000"/>
              <a:t>  - 將「舊卡擅長」的層分配給舊卡。</a:t>
            </a:r>
            <a:endParaRPr/>
          </a:p>
          <a:p>
            <a:pPr indent="-285750" lvl="1" marL="742950" rtl="0" algn="l">
              <a:spcBef>
                <a:spcPts val="1400"/>
              </a:spcBef>
              <a:spcAft>
                <a:spcPts val="0"/>
              </a:spcAft>
              <a:buClr>
                <a:schemeClr val="dk1"/>
              </a:buClr>
              <a:buSzPts val="2000"/>
              <a:buChar char="–"/>
            </a:pPr>
            <a:r>
              <a:rPr lang="en-US" sz="2000"/>
              <a:t>  - 將「計算密集」的層保留給新卡。</a:t>
            </a:r>
            <a:endParaRPr/>
          </a:p>
          <a:p>
            <a:pPr indent="-285750" lvl="1" marL="742950" rtl="0" algn="l">
              <a:spcBef>
                <a:spcPts val="1400"/>
              </a:spcBef>
              <a:spcAft>
                <a:spcPts val="0"/>
              </a:spcAft>
              <a:buClr>
                <a:schemeClr val="dk1"/>
              </a:buClr>
              <a:buSzPts val="2000"/>
              <a:buChar char="–"/>
            </a:pPr>
            <a:r>
              <a:rPr lang="en-US" sz="2000"/>
              <a:t>  - 透過細粒度的模型切分 (Model Partitioning) 來平衡負載。</a:t>
            </a:r>
            <a:endParaRPr/>
          </a:p>
        </p:txBody>
      </p:sp>
      <p:sp>
        <p:nvSpPr>
          <p:cNvPr id="116" name="Google Shape;116;p5"/>
          <p:cNvSpPr txBox="1"/>
          <p:nvPr/>
        </p:nvSpPr>
        <p:spPr>
          <a:xfrm>
            <a:off x="457200" y="6217920"/>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rgbClr val="646464"/>
                </a:solidFill>
                <a:latin typeface="Calibri"/>
                <a:ea typeface="Calibri"/>
                <a:cs typeface="Calibri"/>
                <a:sym typeface="Calibri"/>
              </a:rPr>
              <a:t>論文中的 Fig 2，顯示不同層在 P4 與 L4 的延遲比率(Speedup ratio)。</a:t>
            </a:r>
            <a:endParaRPr/>
          </a:p>
        </p:txBody>
      </p:sp>
      <p:sp>
        <p:nvSpPr>
          <p:cNvPr id="117" name="Google Shape;117;p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18" name="Google Shape;118;p5"/>
          <p:cNvPicPr preferRelativeResize="0"/>
          <p:nvPr/>
        </p:nvPicPr>
        <p:blipFill>
          <a:blip r:embed="rId3">
            <a:alphaModFix/>
          </a:blip>
          <a:stretch>
            <a:fillRect/>
          </a:stretch>
        </p:blipFill>
        <p:spPr>
          <a:xfrm>
            <a:off x="4894725" y="4814325"/>
            <a:ext cx="3695575" cy="1629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關鍵洞察 (2)：管線平行化 (Pipeline Parallelism)</a:t>
            </a:r>
            <a:endParaRPr/>
          </a:p>
        </p:txBody>
      </p:sp>
      <p:sp>
        <p:nvSpPr>
          <p:cNvPr id="124" name="Google Shape;124;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傳統用途：</a:t>
            </a:r>
            <a:endParaRPr/>
          </a:p>
          <a:p>
            <a:pPr indent="-285750" lvl="1" marL="742950" rtl="0" algn="l">
              <a:spcBef>
                <a:spcPts val="1400"/>
              </a:spcBef>
              <a:spcAft>
                <a:spcPts val="0"/>
              </a:spcAft>
              <a:buClr>
                <a:schemeClr val="dk1"/>
              </a:buClr>
              <a:buSzPts val="2000"/>
              <a:buChar char="–"/>
            </a:pPr>
            <a:r>
              <a:rPr lang="en-US" sz="2000"/>
              <a:t>  - 主要用於 LLM 訓練，以增加吞吐量。</a:t>
            </a:r>
            <a:endParaRPr/>
          </a:p>
          <a:p>
            <a:pPr indent="-342900" lvl="0" marL="342900" rtl="0" algn="l">
              <a:spcBef>
                <a:spcPts val="1400"/>
              </a:spcBef>
              <a:spcAft>
                <a:spcPts val="0"/>
              </a:spcAft>
              <a:buClr>
                <a:schemeClr val="dk1"/>
              </a:buClr>
              <a:buSzPts val="2000"/>
              <a:buChar char="•"/>
            </a:pPr>
            <a:r>
              <a:rPr lang="en-US" sz="2000"/>
              <a:t>PPipe 的創新應用：</a:t>
            </a:r>
            <a:endParaRPr/>
          </a:p>
          <a:p>
            <a:pPr indent="-285750" lvl="1" marL="742950" rtl="0" algn="l">
              <a:spcBef>
                <a:spcPts val="1400"/>
              </a:spcBef>
              <a:spcAft>
                <a:spcPts val="0"/>
              </a:spcAft>
              <a:buClr>
                <a:schemeClr val="dk1"/>
              </a:buClr>
              <a:buSzPts val="2000"/>
              <a:buChar char="–"/>
            </a:pPr>
            <a:r>
              <a:rPr lang="en-US" sz="2000"/>
              <a:t>  - 用於「推論服務 (Inference Serving)」。</a:t>
            </a:r>
            <a:endParaRPr/>
          </a:p>
          <a:p>
            <a:pPr indent="-285750" lvl="1" marL="742950" rtl="0" algn="l">
              <a:spcBef>
                <a:spcPts val="1400"/>
              </a:spcBef>
              <a:spcAft>
                <a:spcPts val="0"/>
              </a:spcAft>
              <a:buClr>
                <a:schemeClr val="dk1"/>
              </a:buClr>
              <a:buSzPts val="2000"/>
              <a:buChar char="–"/>
            </a:pPr>
            <a:r>
              <a:rPr lang="en-US" sz="2000"/>
              <a:t>  - 將模型切分為多個階段 (Stages)。</a:t>
            </a:r>
            <a:endParaRPr/>
          </a:p>
          <a:p>
            <a:pPr indent="-285750" lvl="1" marL="742950" rtl="0" algn="l">
              <a:spcBef>
                <a:spcPts val="1400"/>
              </a:spcBef>
              <a:spcAft>
                <a:spcPts val="0"/>
              </a:spcAft>
              <a:buClr>
                <a:schemeClr val="dk1"/>
              </a:buClr>
              <a:buSzPts val="2000"/>
              <a:buChar char="–"/>
            </a:pPr>
            <a:r>
              <a:rPr lang="en-US" sz="2000"/>
              <a:t>  - 每個階段可以在不同的硬體上並行處理不同批次 (Batch) 的請求。</a:t>
            </a:r>
            <a:endParaRPr/>
          </a:p>
          <a:p>
            <a:pPr indent="-285750" lvl="1" marL="742950" rtl="0" algn="l">
              <a:spcBef>
                <a:spcPts val="1400"/>
              </a:spcBef>
              <a:spcAft>
                <a:spcPts val="0"/>
              </a:spcAft>
              <a:buClr>
                <a:schemeClr val="dk1"/>
              </a:buClr>
              <a:buSzPts val="2000"/>
              <a:buChar char="–"/>
            </a:pPr>
            <a:r>
              <a:rPr lang="en-US" sz="2000"/>
              <a:t>  - 允許異構硬體協同工作，打破「單卡單模型」的限制。</a:t>
            </a:r>
            <a:endParaRPr/>
          </a:p>
        </p:txBody>
      </p:sp>
      <p:sp>
        <p:nvSpPr>
          <p:cNvPr id="125" name="Google Shape;125;p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核心解法：基於資源池的管線 (Pool-Based)</a:t>
            </a:r>
            <a:endParaRPr/>
          </a:p>
        </p:txBody>
      </p:sp>
      <p:sp>
        <p:nvSpPr>
          <p:cNvPr id="131" name="Google Shape;131;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傳統管線 (Single-Chain) 的缺點：</a:t>
            </a:r>
            <a:endParaRPr/>
          </a:p>
          <a:p>
            <a:pPr indent="-285750" lvl="1" marL="742950" rtl="0" algn="l">
              <a:spcBef>
                <a:spcPts val="1400"/>
              </a:spcBef>
              <a:spcAft>
                <a:spcPts val="0"/>
              </a:spcAft>
              <a:buClr>
                <a:schemeClr val="dk1"/>
              </a:buClr>
              <a:buSzPts val="2000"/>
              <a:buChar char="–"/>
            </a:pPr>
            <a:r>
              <a:rPr lang="en-US" sz="2000"/>
              <a:t>  - GPU 1 -&gt; GPU 2 -&gt; GPU 3。</a:t>
            </a:r>
            <a:endParaRPr/>
          </a:p>
          <a:p>
            <a:pPr indent="-285750" lvl="1" marL="742950" rtl="0" algn="l">
              <a:spcBef>
                <a:spcPts val="1400"/>
              </a:spcBef>
              <a:spcAft>
                <a:spcPts val="0"/>
              </a:spcAft>
              <a:buClr>
                <a:schemeClr val="dk1"/>
              </a:buClr>
              <a:buSzPts val="2000"/>
              <a:buChar char="–"/>
            </a:pPr>
            <a:r>
              <a:rPr lang="en-US" sz="2000"/>
              <a:t>  - 缺乏彈性，任何一個節點變慢都會阻塞整個管線 (Head-of-line blocking)。</a:t>
            </a:r>
            <a:endParaRPr/>
          </a:p>
          <a:p>
            <a:pPr indent="-342900" lvl="0" marL="342900" rtl="0" algn="l">
              <a:spcBef>
                <a:spcPts val="1400"/>
              </a:spcBef>
              <a:spcAft>
                <a:spcPts val="0"/>
              </a:spcAft>
              <a:buClr>
                <a:schemeClr val="dk1"/>
              </a:buClr>
              <a:buSzPts val="2000"/>
              <a:buChar char="•"/>
            </a:pPr>
            <a:r>
              <a:rPr lang="en-US" sz="2000"/>
              <a:t>PPipe 的 Pool-Based 設計：</a:t>
            </a:r>
            <a:endParaRPr/>
          </a:p>
          <a:p>
            <a:pPr indent="-285750" lvl="1" marL="742950" rtl="0" algn="l">
              <a:spcBef>
                <a:spcPts val="1400"/>
              </a:spcBef>
              <a:spcAft>
                <a:spcPts val="0"/>
              </a:spcAft>
              <a:buClr>
                <a:schemeClr val="dk1"/>
              </a:buClr>
              <a:buSzPts val="2000"/>
              <a:buChar char="–"/>
            </a:pPr>
            <a:r>
              <a:rPr lang="en-US" sz="2000"/>
              <a:t>  - 每個階段由一個「GPU 資源池」負責 (例如：3 個 P4 組成 Stage 1)。</a:t>
            </a:r>
            <a:endParaRPr/>
          </a:p>
          <a:p>
            <a:pPr indent="-285750" lvl="1" marL="742950" rtl="0" algn="l">
              <a:spcBef>
                <a:spcPts val="1400"/>
              </a:spcBef>
              <a:spcAft>
                <a:spcPts val="0"/>
              </a:spcAft>
              <a:buClr>
                <a:schemeClr val="dk1"/>
              </a:buClr>
              <a:buSzPts val="2000"/>
              <a:buChar char="–"/>
            </a:pPr>
            <a:r>
              <a:rPr lang="en-US" sz="2000"/>
              <a:t>  - M-to-N 的映射：Stage i 的任意 GPU 可傳給 Stage i+1 的任意 GPU。</a:t>
            </a:r>
            <a:endParaRPr/>
          </a:p>
          <a:p>
            <a:pPr indent="-285750" lvl="1" marL="742950" rtl="0" algn="l">
              <a:spcBef>
                <a:spcPts val="1400"/>
              </a:spcBef>
              <a:spcAft>
                <a:spcPts val="0"/>
              </a:spcAft>
              <a:buClr>
                <a:schemeClr val="dk1"/>
              </a:buClr>
              <a:buSzPts val="2000"/>
              <a:buChar char="–"/>
            </a:pPr>
            <a:r>
              <a:rPr lang="en-US" sz="2000"/>
              <a:t>  - 優勢：負載均衡、容錯性高、可動態擴縮。</a:t>
            </a:r>
            <a:endParaRPr/>
          </a:p>
        </p:txBody>
      </p:sp>
      <p:sp>
        <p:nvSpPr>
          <p:cNvPr id="132" name="Google Shape;132;p7"/>
          <p:cNvSpPr txBox="1"/>
          <p:nvPr/>
        </p:nvSpPr>
        <p:spPr>
          <a:xfrm>
            <a:off x="457200" y="6217920"/>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rgbClr val="646464"/>
                </a:solidFill>
                <a:latin typeface="Calibri"/>
                <a:ea typeface="Calibri"/>
                <a:cs typeface="Calibri"/>
                <a:sym typeface="Calibri"/>
              </a:rPr>
              <a:t>繪製 Pool-Based 架構圖：多個 GPU 組成一個 Stage Pool。</a:t>
            </a:r>
            <a:endParaRPr/>
          </a:p>
        </p:txBody>
      </p:sp>
      <p:sp>
        <p:nvSpPr>
          <p:cNvPr id="133" name="Google Shape;133;p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b3477d7032_0_10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39" name="Google Shape;139;g3b3477d7032_0_103"/>
          <p:cNvPicPr preferRelativeResize="0"/>
          <p:nvPr/>
        </p:nvPicPr>
        <p:blipFill>
          <a:blip r:embed="rId3">
            <a:alphaModFix/>
          </a:blip>
          <a:stretch>
            <a:fillRect/>
          </a:stretch>
        </p:blipFill>
        <p:spPr>
          <a:xfrm>
            <a:off x="496100" y="948075"/>
            <a:ext cx="8190700" cy="4996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PPipe 系統架構：兩層設計</a:t>
            </a:r>
            <a:endParaRPr/>
          </a:p>
        </p:txBody>
      </p:sp>
      <p:sp>
        <p:nvSpPr>
          <p:cNvPr id="145" name="Google Shape;145;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1. 控制層 (Control Plane) - 離線規劃：</a:t>
            </a:r>
            <a:endParaRPr/>
          </a:p>
          <a:p>
            <a:pPr indent="-285750" lvl="1" marL="742950" rtl="0" algn="l">
              <a:spcBef>
                <a:spcPts val="1400"/>
              </a:spcBef>
              <a:spcAft>
                <a:spcPts val="0"/>
              </a:spcAft>
              <a:buClr>
                <a:schemeClr val="dk1"/>
              </a:buClr>
              <a:buSzPts val="2000"/>
              <a:buChar char="–"/>
            </a:pPr>
            <a:r>
              <a:rPr lang="en-US" sz="2000"/>
              <a:t>  - 輸入：叢集狀態、模型資訊、SLO 要求。</a:t>
            </a:r>
            <a:endParaRPr/>
          </a:p>
          <a:p>
            <a:pPr indent="-285750" lvl="1" marL="742950" rtl="0" algn="l">
              <a:spcBef>
                <a:spcPts val="1400"/>
              </a:spcBef>
              <a:spcAft>
                <a:spcPts val="0"/>
              </a:spcAft>
              <a:buClr>
                <a:schemeClr val="dk1"/>
              </a:buClr>
              <a:buSzPts val="2000"/>
              <a:buChar char="–"/>
            </a:pPr>
            <a:r>
              <a:rPr lang="en-US" sz="2000"/>
              <a:t>  - 核心演算法：MILP (混合整數線性規劃)。</a:t>
            </a:r>
            <a:endParaRPr/>
          </a:p>
          <a:p>
            <a:pPr indent="-285750" lvl="1" marL="742950" rtl="0" algn="l">
              <a:spcBef>
                <a:spcPts val="1400"/>
              </a:spcBef>
              <a:spcAft>
                <a:spcPts val="0"/>
              </a:spcAft>
              <a:buClr>
                <a:schemeClr val="dk1"/>
              </a:buClr>
              <a:buSzPts val="2000"/>
              <a:buChar char="–"/>
            </a:pPr>
            <a:r>
              <a:rPr lang="en-US" sz="2000"/>
              <a:t>  - 輸出：最佳的模型切分策略與硬體分配。</a:t>
            </a:r>
            <a:endParaRPr/>
          </a:p>
          <a:p>
            <a:pPr indent="-342900" lvl="0" marL="342900" rtl="0" algn="l">
              <a:spcBef>
                <a:spcPts val="1400"/>
              </a:spcBef>
              <a:spcAft>
                <a:spcPts val="0"/>
              </a:spcAft>
              <a:buClr>
                <a:schemeClr val="dk1"/>
              </a:buClr>
              <a:buSzPts val="2000"/>
              <a:buChar char="•"/>
            </a:pPr>
            <a:r>
              <a:rPr lang="en-US" sz="2000"/>
              <a:t>2. 數據層 (Data Plane) - 在線調度：</a:t>
            </a:r>
            <a:endParaRPr/>
          </a:p>
          <a:p>
            <a:pPr indent="-285750" lvl="1" marL="742950" rtl="0" algn="l">
              <a:spcBef>
                <a:spcPts val="1400"/>
              </a:spcBef>
              <a:spcAft>
                <a:spcPts val="0"/>
              </a:spcAft>
              <a:buClr>
                <a:schemeClr val="dk1"/>
              </a:buClr>
              <a:buSzPts val="2000"/>
              <a:buChar char="–"/>
            </a:pPr>
            <a:r>
              <a:rPr lang="en-US" sz="2000"/>
              <a:t>  - 處理即時請求。</a:t>
            </a:r>
            <a:endParaRPr/>
          </a:p>
          <a:p>
            <a:pPr indent="-285750" lvl="1" marL="742950" rtl="0" algn="l">
              <a:spcBef>
                <a:spcPts val="1400"/>
              </a:spcBef>
              <a:spcAft>
                <a:spcPts val="0"/>
              </a:spcAft>
              <a:buClr>
                <a:schemeClr val="dk1"/>
              </a:buClr>
              <a:buSzPts val="2000"/>
              <a:buChar char="–"/>
            </a:pPr>
            <a:r>
              <a:rPr lang="en-US" sz="2000"/>
              <a:t>  - 核心機制：資源預留 (Resource Reservation)。</a:t>
            </a:r>
            <a:endParaRPr/>
          </a:p>
          <a:p>
            <a:pPr indent="-285750" lvl="1" marL="742950" rtl="0" algn="l">
              <a:spcBef>
                <a:spcPts val="1400"/>
              </a:spcBef>
              <a:spcAft>
                <a:spcPts val="0"/>
              </a:spcAft>
              <a:buClr>
                <a:schemeClr val="dk1"/>
              </a:buClr>
              <a:buSzPts val="2000"/>
              <a:buChar char="–"/>
            </a:pPr>
            <a:r>
              <a:rPr lang="en-US" sz="2000"/>
              <a:t>  - 解決運行時的變異 (Runtime Variance)。</a:t>
            </a:r>
            <a:endParaRPr/>
          </a:p>
        </p:txBody>
      </p:sp>
      <p:sp>
        <p:nvSpPr>
          <p:cNvPr id="146" name="Google Shape;146;p8"/>
          <p:cNvSpPr txBox="1"/>
          <p:nvPr/>
        </p:nvSpPr>
        <p:spPr>
          <a:xfrm>
            <a:off x="457200" y="6217920"/>
            <a:ext cx="822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rgbClr val="646464"/>
                </a:solidFill>
                <a:latin typeface="Calibri"/>
                <a:ea typeface="Calibri"/>
                <a:cs typeface="Calibri"/>
                <a:sym typeface="Calibri"/>
              </a:rPr>
              <a:t>[建議配圖] 系統架構方塊圖 (System Overview Diagram)。</a:t>
            </a:r>
            <a:endParaRPr/>
          </a:p>
        </p:txBody>
      </p:sp>
      <p:sp>
        <p:nvSpPr>
          <p:cNvPr id="147" name="Google Shape;147;p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控制層：基於 MILP 的全域規劃</a:t>
            </a:r>
            <a:endParaRPr/>
          </a:p>
        </p:txBody>
      </p:sp>
      <p:sp>
        <p:nvSpPr>
          <p:cNvPr id="153" name="Google Shape;153;p9"/>
          <p:cNvSpPr txBox="1"/>
          <p:nvPr>
            <p:ph idx="1" type="body"/>
          </p:nvPr>
        </p:nvSpPr>
        <p:spPr>
          <a:xfrm>
            <a:off x="457200" y="1351025"/>
            <a:ext cx="8229600" cy="45261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400"/>
              </a:spcBef>
              <a:spcAft>
                <a:spcPts val="0"/>
              </a:spcAft>
              <a:buClr>
                <a:schemeClr val="dk1"/>
              </a:buClr>
              <a:buSzPts val="2000"/>
              <a:buChar char="•"/>
            </a:pPr>
            <a:r>
              <a:rPr lang="en-US" sz="2000"/>
              <a:t>目標函數 (Objective)：</a:t>
            </a:r>
            <a:endParaRPr/>
          </a:p>
          <a:p>
            <a:pPr indent="-285750" lvl="1" marL="742950" rtl="0" algn="l">
              <a:spcBef>
                <a:spcPts val="1400"/>
              </a:spcBef>
              <a:spcAft>
                <a:spcPts val="0"/>
              </a:spcAft>
              <a:buClr>
                <a:schemeClr val="dk1"/>
              </a:buClr>
              <a:buSzPts val="2000"/>
              <a:buChar char="–"/>
            </a:pPr>
            <a:r>
              <a:rPr lang="en-US" sz="2000"/>
              <a:t>  - 最大化叢集的整體服務吞吐量 (Throughput)。</a:t>
            </a:r>
            <a:endParaRPr/>
          </a:p>
          <a:p>
            <a:pPr indent="-342900" lvl="0" marL="342900" rtl="0" algn="l">
              <a:spcBef>
                <a:spcPts val="1400"/>
              </a:spcBef>
              <a:spcAft>
                <a:spcPts val="0"/>
              </a:spcAft>
              <a:buClr>
                <a:schemeClr val="dk1"/>
              </a:buClr>
              <a:buSzPts val="2000"/>
              <a:buChar char="•"/>
            </a:pPr>
            <a:r>
              <a:rPr lang="en-US" sz="2000"/>
              <a:t>決策變數 (Decision Variables)：</a:t>
            </a:r>
            <a:endParaRPr/>
          </a:p>
          <a:p>
            <a:pPr indent="-285750" lvl="1" marL="742950" rtl="0" algn="l">
              <a:spcBef>
                <a:spcPts val="1400"/>
              </a:spcBef>
              <a:spcAft>
                <a:spcPts val="0"/>
              </a:spcAft>
              <a:buClr>
                <a:schemeClr val="dk1"/>
              </a:buClr>
              <a:buSzPts val="2000"/>
              <a:buChar char="–"/>
            </a:pPr>
            <a:r>
              <a:rPr lang="en-US" sz="2000"/>
              <a:t>  - 模型切分點 (Cut points)。</a:t>
            </a:r>
            <a:endParaRPr/>
          </a:p>
          <a:p>
            <a:pPr indent="-285750" lvl="1" marL="742950" rtl="0" algn="l">
              <a:spcBef>
                <a:spcPts val="1400"/>
              </a:spcBef>
              <a:spcAft>
                <a:spcPts val="0"/>
              </a:spcAft>
              <a:buClr>
                <a:schemeClr val="dk1"/>
              </a:buClr>
              <a:buSzPts val="2000"/>
              <a:buChar char="–"/>
            </a:pPr>
            <a:r>
              <a:rPr lang="en-US" sz="2000"/>
              <a:t>  - 每個階段分配的 GPU 類型與數量。</a:t>
            </a:r>
            <a:endParaRPr/>
          </a:p>
          <a:p>
            <a:pPr indent="-285750" lvl="1" marL="742950" rtl="0" algn="l">
              <a:spcBef>
                <a:spcPts val="1400"/>
              </a:spcBef>
              <a:spcAft>
                <a:spcPts val="0"/>
              </a:spcAft>
              <a:buClr>
                <a:schemeClr val="dk1"/>
              </a:buClr>
              <a:buSzPts val="2000"/>
              <a:buChar char="–"/>
            </a:pPr>
            <a:r>
              <a:rPr lang="en-US" sz="2000"/>
              <a:t>  - 每個階段的 Batch Size。</a:t>
            </a:r>
            <a:endParaRPr/>
          </a:p>
          <a:p>
            <a:pPr indent="-342900" lvl="0" marL="342900" rtl="0" algn="l">
              <a:spcBef>
                <a:spcPts val="1400"/>
              </a:spcBef>
              <a:spcAft>
                <a:spcPts val="0"/>
              </a:spcAft>
              <a:buClr>
                <a:schemeClr val="dk1"/>
              </a:buClr>
              <a:buSzPts val="2000"/>
              <a:buChar char="•"/>
            </a:pPr>
            <a:r>
              <a:rPr lang="en-US" sz="2000"/>
              <a:t>限制條件 (Constraints)：</a:t>
            </a:r>
            <a:endParaRPr/>
          </a:p>
          <a:p>
            <a:pPr indent="-285750" lvl="1" marL="742950" rtl="0" algn="l">
              <a:spcBef>
                <a:spcPts val="1400"/>
              </a:spcBef>
              <a:spcAft>
                <a:spcPts val="0"/>
              </a:spcAft>
              <a:buClr>
                <a:schemeClr val="dk1"/>
              </a:buClr>
              <a:buSzPts val="2000"/>
              <a:buChar char="–"/>
            </a:pPr>
            <a:r>
              <a:rPr lang="en-US" sz="2000"/>
              <a:t>  - 端對端延遲 &lt;= SLO (例如 200ms)。</a:t>
            </a:r>
            <a:endParaRPr/>
          </a:p>
          <a:p>
            <a:pPr indent="-285750" lvl="1" marL="742950" rtl="0" algn="l">
              <a:spcBef>
                <a:spcPts val="1400"/>
              </a:spcBef>
              <a:spcAft>
                <a:spcPts val="0"/>
              </a:spcAft>
              <a:buClr>
                <a:schemeClr val="dk1"/>
              </a:buClr>
              <a:buSzPts val="2000"/>
              <a:buChar char="–"/>
            </a:pPr>
            <a:r>
              <a:rPr lang="en-US" sz="2000"/>
              <a:t>  - 記憶體容量限制。</a:t>
            </a:r>
            <a:endParaRPr/>
          </a:p>
          <a:p>
            <a:pPr indent="-285750" lvl="1" marL="742950" rtl="0" algn="l">
              <a:spcBef>
                <a:spcPts val="1400"/>
              </a:spcBef>
              <a:spcAft>
                <a:spcPts val="0"/>
              </a:spcAft>
              <a:buClr>
                <a:schemeClr val="dk1"/>
              </a:buClr>
              <a:buSzPts val="2000"/>
              <a:buChar char="–"/>
            </a:pPr>
            <a:r>
              <a:rPr lang="en-US" sz="2000"/>
              <a:t>  - 管線各階段的處理速率匹配 (Pipeline Saturation)。</a:t>
            </a:r>
            <a:endParaRPr/>
          </a:p>
        </p:txBody>
      </p:sp>
      <p:sp>
        <p:nvSpPr>
          <p:cNvPr id="154" name="Google Shape;154;p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控制層：優化與預分區策略</a:t>
            </a:r>
            <a:endParaRPr/>
          </a:p>
        </p:txBody>
      </p:sp>
      <p:sp>
        <p:nvSpPr>
          <p:cNvPr id="160" name="Google Shape;160;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挑戰：</a:t>
            </a:r>
            <a:endParaRPr/>
          </a:p>
          <a:p>
            <a:pPr indent="-285750" lvl="1" marL="742950" rtl="0" algn="l">
              <a:spcBef>
                <a:spcPts val="1400"/>
              </a:spcBef>
              <a:spcAft>
                <a:spcPts val="0"/>
              </a:spcAft>
              <a:buClr>
                <a:schemeClr val="dk1"/>
              </a:buClr>
              <a:buSzPts val="2000"/>
              <a:buChar char="–"/>
            </a:pPr>
            <a:r>
              <a:rPr lang="en-US" sz="2000"/>
              <a:t>  - MILP 在大型叢集與深層模型下的搜尋空間極大 (NP-hard)。</a:t>
            </a:r>
            <a:endParaRPr/>
          </a:p>
          <a:p>
            <a:pPr indent="-342900" lvl="0" marL="342900" rtl="0" algn="l">
              <a:spcBef>
                <a:spcPts val="1400"/>
              </a:spcBef>
              <a:spcAft>
                <a:spcPts val="0"/>
              </a:spcAft>
              <a:buClr>
                <a:schemeClr val="dk1"/>
              </a:buClr>
              <a:buSzPts val="2000"/>
              <a:buChar char="•"/>
            </a:pPr>
            <a:r>
              <a:rPr lang="en-US" sz="2000"/>
              <a:t>優化技術：基於區塊的預分區 (Block-based Pre-partitioning)：</a:t>
            </a:r>
            <a:endParaRPr/>
          </a:p>
          <a:p>
            <a:pPr indent="-285750" lvl="1" marL="742950" rtl="0" algn="l">
              <a:spcBef>
                <a:spcPts val="1400"/>
              </a:spcBef>
              <a:spcAft>
                <a:spcPts val="0"/>
              </a:spcAft>
              <a:buClr>
                <a:schemeClr val="dk1"/>
              </a:buClr>
              <a:buSzPts val="2000"/>
              <a:buChar char="–"/>
            </a:pPr>
            <a:r>
              <a:rPr lang="en-US" sz="2000"/>
              <a:t>  - 不以「層 (Layer)」為單位，而是以「區塊 (Block, 如 ResBlock)」為單位。</a:t>
            </a:r>
            <a:endParaRPr/>
          </a:p>
          <a:p>
            <a:pPr indent="-285750" lvl="1" marL="742950" rtl="0" algn="l">
              <a:spcBef>
                <a:spcPts val="1400"/>
              </a:spcBef>
              <a:spcAft>
                <a:spcPts val="0"/>
              </a:spcAft>
              <a:buClr>
                <a:schemeClr val="dk1"/>
              </a:buClr>
              <a:buSzPts val="2000"/>
              <a:buChar char="–"/>
            </a:pPr>
            <a:r>
              <a:rPr lang="en-US" sz="2000"/>
              <a:t>  - 將數百層的模型簡化為數十個區塊。</a:t>
            </a:r>
            <a:endParaRPr/>
          </a:p>
          <a:p>
            <a:pPr indent="-285750" lvl="1" marL="742950" rtl="0" algn="l">
              <a:spcBef>
                <a:spcPts val="1400"/>
              </a:spcBef>
              <a:spcAft>
                <a:spcPts val="0"/>
              </a:spcAft>
              <a:buClr>
                <a:schemeClr val="dk1"/>
              </a:buClr>
              <a:buSzPts val="2000"/>
              <a:buChar char="–"/>
            </a:pPr>
            <a:r>
              <a:rPr lang="en-US" sz="2000"/>
              <a:t>  - 大幅降低 MILP 求解時間，從數小時縮短至秒級。</a:t>
            </a:r>
            <a:endParaRPr/>
          </a:p>
          <a:p>
            <a:pPr indent="-285750" lvl="1" marL="742950" rtl="0" algn="l">
              <a:spcBef>
                <a:spcPts val="1400"/>
              </a:spcBef>
              <a:spcAft>
                <a:spcPts val="0"/>
              </a:spcAft>
              <a:buClr>
                <a:schemeClr val="dk1"/>
              </a:buClr>
              <a:buSzPts val="2000"/>
              <a:buChar char="–"/>
            </a:pPr>
            <a:r>
              <a:rPr lang="en-US" sz="2000"/>
              <a:t>  - 確保即時適應叢集資源變化。</a:t>
            </a:r>
            <a:endParaRPr/>
          </a:p>
        </p:txBody>
      </p:sp>
      <p:sp>
        <p:nvSpPr>
          <p:cNvPr id="161" name="Google Shape;161;p1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數據層：應對動態環境的挑戰</a:t>
            </a:r>
            <a:endParaRPr/>
          </a:p>
        </p:txBody>
      </p:sp>
      <p:sp>
        <p:nvSpPr>
          <p:cNvPr id="167" name="Google Shape;16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MILP 的規劃是靜態的，但現實是動態的：</a:t>
            </a:r>
            <a:endParaRPr/>
          </a:p>
          <a:p>
            <a:pPr indent="-285750" lvl="1" marL="742950" rtl="0" algn="l">
              <a:spcBef>
                <a:spcPts val="1400"/>
              </a:spcBef>
              <a:spcAft>
                <a:spcPts val="0"/>
              </a:spcAft>
              <a:buClr>
                <a:schemeClr val="dk1"/>
              </a:buClr>
              <a:buSzPts val="2000"/>
              <a:buChar char="–"/>
            </a:pPr>
            <a:r>
              <a:rPr lang="en-US" sz="2000"/>
              <a:t>  - 流量到達是隨機的 (Stochastic arrivals)。</a:t>
            </a:r>
            <a:endParaRPr/>
          </a:p>
          <a:p>
            <a:pPr indent="-285750" lvl="1" marL="742950" rtl="0" algn="l">
              <a:spcBef>
                <a:spcPts val="1400"/>
              </a:spcBef>
              <a:spcAft>
                <a:spcPts val="0"/>
              </a:spcAft>
              <a:buClr>
                <a:schemeClr val="dk1"/>
              </a:buClr>
              <a:buSzPts val="2000"/>
              <a:buChar char="–"/>
            </a:pPr>
            <a:r>
              <a:rPr lang="en-US" sz="2000"/>
              <a:t>  - 網路頻寬競爭 (Network Contention) 導致傳輸延遲波動。</a:t>
            </a:r>
            <a:endParaRPr/>
          </a:p>
          <a:p>
            <a:pPr indent="-285750" lvl="1" marL="742950" rtl="0" algn="l">
              <a:spcBef>
                <a:spcPts val="1400"/>
              </a:spcBef>
              <a:spcAft>
                <a:spcPts val="0"/>
              </a:spcAft>
              <a:buClr>
                <a:schemeClr val="dk1"/>
              </a:buClr>
              <a:buSzPts val="2000"/>
              <a:buChar char="–"/>
            </a:pPr>
            <a:r>
              <a:rPr lang="en-US" sz="2000"/>
              <a:t>  - 實際執行時間的變異。</a:t>
            </a:r>
            <a:endParaRPr/>
          </a:p>
          <a:p>
            <a:pPr indent="-342900" lvl="0" marL="342900" rtl="0" algn="l">
              <a:spcBef>
                <a:spcPts val="1400"/>
              </a:spcBef>
              <a:spcAft>
                <a:spcPts val="0"/>
              </a:spcAft>
              <a:buClr>
                <a:schemeClr val="dk1"/>
              </a:buClr>
              <a:buSzPts val="2000"/>
              <a:buChar char="•"/>
            </a:pPr>
            <a:r>
              <a:rPr lang="en-US" sz="2000"/>
              <a:t>後果：</a:t>
            </a:r>
            <a:endParaRPr/>
          </a:p>
          <a:p>
            <a:pPr indent="-285750" lvl="1" marL="742950" rtl="0" algn="l">
              <a:spcBef>
                <a:spcPts val="1400"/>
              </a:spcBef>
              <a:spcAft>
                <a:spcPts val="0"/>
              </a:spcAft>
              <a:buClr>
                <a:schemeClr val="dk1"/>
              </a:buClr>
              <a:buSzPts val="2000"/>
              <a:buChar char="–"/>
            </a:pPr>
            <a:r>
              <a:rPr lang="en-US" sz="2000"/>
              <a:t>  - 若盲目照表操課，佇列 (Queue) 可能會堆積。</a:t>
            </a:r>
            <a:endParaRPr/>
          </a:p>
          <a:p>
            <a:pPr indent="-285750" lvl="1" marL="742950" rtl="0" algn="l">
              <a:spcBef>
                <a:spcPts val="1400"/>
              </a:spcBef>
              <a:spcAft>
                <a:spcPts val="0"/>
              </a:spcAft>
              <a:buClr>
                <a:schemeClr val="dk1"/>
              </a:buClr>
              <a:buSzPts val="2000"/>
              <a:buChar char="–"/>
            </a:pPr>
            <a:r>
              <a:rPr lang="en-US" sz="2000"/>
              <a:t>  - 導致請求在後段階段逾時 (SLO violation)。</a:t>
            </a:r>
            <a:endParaRPr/>
          </a:p>
        </p:txBody>
      </p:sp>
      <p:sp>
        <p:nvSpPr>
          <p:cNvPr id="168" name="Google Shape;168;p1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數據層：資源預留 (Resource Reservation)</a:t>
            </a:r>
            <a:endParaRPr/>
          </a:p>
        </p:txBody>
      </p:sp>
      <p:sp>
        <p:nvSpPr>
          <p:cNvPr id="174" name="Google Shape;174;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核心機制：Look-ahead Scheduling</a:t>
            </a:r>
            <a:endParaRPr/>
          </a:p>
          <a:p>
            <a:pPr indent="-342900" lvl="0" marL="342900" rtl="0" algn="l">
              <a:spcBef>
                <a:spcPts val="1400"/>
              </a:spcBef>
              <a:spcAft>
                <a:spcPts val="0"/>
              </a:spcAft>
              <a:buClr>
                <a:schemeClr val="dk1"/>
              </a:buClr>
              <a:buSzPts val="2000"/>
              <a:buChar char="•"/>
            </a:pPr>
            <a:r>
              <a:rPr lang="en-US" sz="2000"/>
              <a:t>步驟 1：Probe (探測)</a:t>
            </a:r>
            <a:endParaRPr/>
          </a:p>
          <a:p>
            <a:pPr indent="-285750" lvl="1" marL="742950" rtl="0" algn="l">
              <a:spcBef>
                <a:spcPts val="1400"/>
              </a:spcBef>
              <a:spcAft>
                <a:spcPts val="0"/>
              </a:spcAft>
              <a:buClr>
                <a:schemeClr val="dk1"/>
              </a:buClr>
              <a:buSzPts val="2000"/>
              <a:buChar char="–"/>
            </a:pPr>
            <a:r>
              <a:rPr lang="en-US" sz="2000"/>
              <a:t>  - 當一批請求到達時，調度器先模擬其在管線中的流動。</a:t>
            </a:r>
            <a:endParaRPr/>
          </a:p>
          <a:p>
            <a:pPr indent="-285750" lvl="1" marL="742950" rtl="0" algn="l">
              <a:spcBef>
                <a:spcPts val="1400"/>
              </a:spcBef>
              <a:spcAft>
                <a:spcPts val="0"/>
              </a:spcAft>
              <a:buClr>
                <a:schemeClr val="dk1"/>
              </a:buClr>
              <a:buSzPts val="2000"/>
              <a:buChar char="–"/>
            </a:pPr>
            <a:r>
              <a:rPr lang="en-US" sz="2000"/>
              <a:t>  - 檢查每個階段是否有空閒 GPU？網路頻寬是否足夠？</a:t>
            </a:r>
            <a:endParaRPr/>
          </a:p>
          <a:p>
            <a:pPr indent="-285750" lvl="1" marL="742950" rtl="0" algn="l">
              <a:spcBef>
                <a:spcPts val="1400"/>
              </a:spcBef>
              <a:spcAft>
                <a:spcPts val="0"/>
              </a:spcAft>
              <a:buClr>
                <a:schemeClr val="dk1"/>
              </a:buClr>
              <a:buSzPts val="2000"/>
              <a:buChar char="–"/>
            </a:pPr>
            <a:r>
              <a:rPr lang="en-US" sz="2000"/>
              <a:t>  - 計算預計完成時間 (Estimated Completion Time)。</a:t>
            </a:r>
            <a:endParaRPr/>
          </a:p>
          <a:p>
            <a:pPr indent="-342900" lvl="0" marL="342900" rtl="0" algn="l">
              <a:spcBef>
                <a:spcPts val="1400"/>
              </a:spcBef>
              <a:spcAft>
                <a:spcPts val="0"/>
              </a:spcAft>
              <a:buClr>
                <a:schemeClr val="dk1"/>
              </a:buClr>
              <a:buSzPts val="2000"/>
              <a:buChar char="•"/>
            </a:pPr>
            <a:r>
              <a:rPr lang="en-US" sz="2000"/>
              <a:t>步驟 2：Reserve or Wait (預留或等待)</a:t>
            </a:r>
            <a:endParaRPr/>
          </a:p>
          <a:p>
            <a:pPr indent="-285750" lvl="1" marL="742950" rtl="0" algn="l">
              <a:spcBef>
                <a:spcPts val="1400"/>
              </a:spcBef>
              <a:spcAft>
                <a:spcPts val="0"/>
              </a:spcAft>
              <a:buClr>
                <a:schemeClr val="dk1"/>
              </a:buClr>
              <a:buSzPts val="2000"/>
              <a:buChar char="–"/>
            </a:pPr>
            <a:r>
              <a:rPr lang="en-US" sz="2000"/>
              <a:t>  - 若預計時間 &lt;= SLO，則鎖定資源並發送請求。</a:t>
            </a:r>
            <a:endParaRPr/>
          </a:p>
          <a:p>
            <a:pPr indent="-285750" lvl="1" marL="742950" rtl="0" algn="l">
              <a:spcBef>
                <a:spcPts val="1400"/>
              </a:spcBef>
              <a:spcAft>
                <a:spcPts val="0"/>
              </a:spcAft>
              <a:buClr>
                <a:schemeClr val="dk1"/>
              </a:buClr>
              <a:buSzPts val="2000"/>
              <a:buChar char="–"/>
            </a:pPr>
            <a:r>
              <a:rPr lang="en-US" sz="2000"/>
              <a:t>  - 若否，則暫緩發送或丟棄 (Early Drop)，避免浪費資源。</a:t>
            </a:r>
            <a:endParaRPr/>
          </a:p>
          <a:p>
            <a:pPr indent="-285750" lvl="1" marL="742950" rtl="0" algn="l">
              <a:spcBef>
                <a:spcPts val="1400"/>
              </a:spcBef>
              <a:spcAft>
                <a:spcPts val="0"/>
              </a:spcAft>
              <a:buClr>
                <a:schemeClr val="dk1"/>
              </a:buClr>
              <a:buSzPts val="2000"/>
              <a:buChar char="–"/>
            </a:pPr>
            <a:r>
              <a:rPr lang="en-US" sz="2000"/>
              <a:t>  - 確保進入管線的請求有極高機率能成功完成。</a:t>
            </a:r>
            <a:endParaRPr/>
          </a:p>
        </p:txBody>
      </p:sp>
      <p:sp>
        <p:nvSpPr>
          <p:cNvPr id="175" name="Google Shape;175;p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實驗評估：環境設置</a:t>
            </a:r>
            <a:endParaRPr/>
          </a:p>
        </p:txBody>
      </p:sp>
      <p:sp>
        <p:nvSpPr>
          <p:cNvPr id="181" name="Google Shape;181;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400"/>
              </a:spcBef>
              <a:spcAft>
                <a:spcPts val="0"/>
              </a:spcAft>
              <a:buClr>
                <a:schemeClr val="dk1"/>
              </a:buClr>
              <a:buSzPts val="2000"/>
              <a:buChar char="•"/>
            </a:pPr>
            <a:r>
              <a:rPr lang="en-US" sz="2000"/>
              <a:t>測試平台：</a:t>
            </a:r>
            <a:endParaRPr/>
          </a:p>
          <a:p>
            <a:pPr indent="-285750" lvl="1" marL="742950" rtl="0" algn="l">
              <a:spcBef>
                <a:spcPts val="1400"/>
              </a:spcBef>
              <a:spcAft>
                <a:spcPts val="0"/>
              </a:spcAft>
              <a:buClr>
                <a:schemeClr val="dk1"/>
              </a:buClr>
              <a:buSzPts val="2000"/>
              <a:buChar char="–"/>
            </a:pPr>
            <a:r>
              <a:rPr lang="en-US" sz="2000"/>
              <a:t>  - 模擬器：100 GPU 大規模叢集。</a:t>
            </a:r>
            <a:endParaRPr/>
          </a:p>
          <a:p>
            <a:pPr indent="-285750" lvl="1" marL="742950" rtl="0" algn="l">
              <a:spcBef>
                <a:spcPts val="1400"/>
              </a:spcBef>
              <a:spcAft>
                <a:spcPts val="0"/>
              </a:spcAft>
              <a:buClr>
                <a:schemeClr val="dk1"/>
              </a:buClr>
              <a:buSzPts val="2000"/>
              <a:buChar char="–"/>
            </a:pPr>
            <a:r>
              <a:rPr lang="en-US" sz="2000"/>
              <a:t>  - 真實環境 (Google Cloud)：16 GPUs (V100, L4, T4, P4)。</a:t>
            </a:r>
            <a:endParaRPr/>
          </a:p>
          <a:p>
            <a:pPr indent="-342900" lvl="0" marL="342900" rtl="0" algn="l">
              <a:spcBef>
                <a:spcPts val="1400"/>
              </a:spcBef>
              <a:spcAft>
                <a:spcPts val="0"/>
              </a:spcAft>
              <a:buClr>
                <a:schemeClr val="dk1"/>
              </a:buClr>
              <a:buSzPts val="2000"/>
              <a:buChar char="•"/>
            </a:pPr>
            <a:r>
              <a:rPr lang="en-US" sz="2000"/>
              <a:t>工作負載 (Workloads)：</a:t>
            </a:r>
            <a:endParaRPr/>
          </a:p>
          <a:p>
            <a:pPr indent="-285750" lvl="1" marL="742950" rtl="0" algn="l">
              <a:spcBef>
                <a:spcPts val="1400"/>
              </a:spcBef>
              <a:spcAft>
                <a:spcPts val="0"/>
              </a:spcAft>
              <a:buClr>
                <a:schemeClr val="dk1"/>
              </a:buClr>
              <a:buSzPts val="2000"/>
              <a:buChar char="–"/>
            </a:pPr>
            <a:r>
              <a:rPr lang="en-US" sz="2000"/>
              <a:t>  - 模型：18 個主流 CNN 與 Transformer 模型 (ResNet, EfficientNet, ViT)。</a:t>
            </a:r>
            <a:endParaRPr/>
          </a:p>
          <a:p>
            <a:pPr indent="-285750" lvl="1" marL="742950" rtl="0" algn="l">
              <a:spcBef>
                <a:spcPts val="1400"/>
              </a:spcBef>
              <a:spcAft>
                <a:spcPts val="0"/>
              </a:spcAft>
              <a:buClr>
                <a:schemeClr val="dk1"/>
              </a:buClr>
              <a:buSzPts val="2000"/>
              <a:buChar char="–"/>
            </a:pPr>
            <a:r>
              <a:rPr lang="en-US" sz="2000"/>
              <a:t>  - 數據集：Azure Functions Trace (真實突發流量)。</a:t>
            </a:r>
            <a:endParaRPr/>
          </a:p>
          <a:p>
            <a:pPr indent="-342900" lvl="0" marL="342900" rtl="0" algn="l">
              <a:spcBef>
                <a:spcPts val="1400"/>
              </a:spcBef>
              <a:spcAft>
                <a:spcPts val="0"/>
              </a:spcAft>
              <a:buClr>
                <a:schemeClr val="dk1"/>
              </a:buClr>
              <a:buSzPts val="2000"/>
              <a:buChar char="•"/>
            </a:pPr>
            <a:r>
              <a:rPr lang="en-US" sz="2000"/>
              <a:t>比較基準 (Baselines)：</a:t>
            </a:r>
            <a:endParaRPr/>
          </a:p>
          <a:p>
            <a:pPr indent="-285750" lvl="1" marL="742950" rtl="0" algn="l">
              <a:spcBef>
                <a:spcPts val="1400"/>
              </a:spcBef>
              <a:spcAft>
                <a:spcPts val="0"/>
              </a:spcAft>
              <a:buClr>
                <a:schemeClr val="dk1"/>
              </a:buClr>
              <a:buSzPts val="2000"/>
              <a:buChar char="–"/>
            </a:pPr>
            <a:r>
              <a:rPr lang="en-US" sz="2000"/>
              <a:t>  - NP (No-Partitioning)：單機推論。</a:t>
            </a:r>
            <a:endParaRPr/>
          </a:p>
          <a:p>
            <a:pPr indent="-285750" lvl="1" marL="742950" rtl="0" algn="l">
              <a:spcBef>
                <a:spcPts val="1400"/>
              </a:spcBef>
              <a:spcAft>
                <a:spcPts val="0"/>
              </a:spcAft>
              <a:buClr>
                <a:schemeClr val="dk1"/>
              </a:buClr>
              <a:buSzPts val="2000"/>
              <a:buChar char="–"/>
            </a:pPr>
            <a:r>
              <a:rPr lang="en-US" sz="2000"/>
              <a:t>  - DART-r：現有最先進的管線推論系統 (改良版)。</a:t>
            </a:r>
            <a:endParaRPr/>
          </a:p>
        </p:txBody>
      </p:sp>
      <p:sp>
        <p:nvSpPr>
          <p:cNvPr id="182" name="Google Shape;182;p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實驗結果：吞吐量 (Throughput) 顯著提升</a:t>
            </a:r>
            <a:endParaRPr/>
          </a:p>
        </p:txBody>
      </p:sp>
      <p:sp>
        <p:nvSpPr>
          <p:cNvPr id="188" name="Google Shape;188;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整體效能：</a:t>
            </a:r>
            <a:endParaRPr/>
          </a:p>
          <a:p>
            <a:pPr indent="-285750" lvl="1" marL="742950" rtl="0" algn="l">
              <a:spcBef>
                <a:spcPts val="1400"/>
              </a:spcBef>
              <a:spcAft>
                <a:spcPts val="0"/>
              </a:spcAft>
              <a:buClr>
                <a:schemeClr val="dk1"/>
              </a:buClr>
              <a:buSzPts val="2000"/>
              <a:buChar char="–"/>
            </a:pPr>
            <a:r>
              <a:rPr lang="en-US" sz="2000"/>
              <a:t>  - 在滿足 99% SLO 的前提下。</a:t>
            </a:r>
            <a:endParaRPr/>
          </a:p>
          <a:p>
            <a:pPr indent="-285750" lvl="1" marL="742950" rtl="0" algn="l">
              <a:spcBef>
                <a:spcPts val="1400"/>
              </a:spcBef>
              <a:spcAft>
                <a:spcPts val="0"/>
              </a:spcAft>
              <a:buClr>
                <a:schemeClr val="dk1"/>
              </a:buClr>
              <a:buSzPts val="2000"/>
              <a:buChar char="–"/>
            </a:pPr>
            <a:r>
              <a:rPr lang="en-US" sz="2000"/>
              <a:t>  - PPipe 相比 NP 提升了 32.2% - 75.1% 的吞吐量。</a:t>
            </a:r>
            <a:endParaRPr/>
          </a:p>
          <a:p>
            <a:pPr indent="-285750" lvl="1" marL="742950" rtl="0" algn="l">
              <a:spcBef>
                <a:spcPts val="1400"/>
              </a:spcBef>
              <a:spcAft>
                <a:spcPts val="0"/>
              </a:spcAft>
              <a:buClr>
                <a:schemeClr val="dk1"/>
              </a:buClr>
              <a:buSzPts val="2000"/>
              <a:buChar char="–"/>
            </a:pPr>
            <a:r>
              <a:rPr lang="en-US" sz="2000"/>
              <a:t>  - 相比 DART-r 也有顯著優勢。</a:t>
            </a:r>
            <a:endParaRPr/>
          </a:p>
          <a:p>
            <a:pPr indent="-342900" lvl="0" marL="342900" rtl="0" algn="l">
              <a:spcBef>
                <a:spcPts val="1400"/>
              </a:spcBef>
              <a:spcAft>
                <a:spcPts val="0"/>
              </a:spcAft>
              <a:buClr>
                <a:schemeClr val="dk1"/>
              </a:buClr>
              <a:buSzPts val="2000"/>
              <a:buChar char="•"/>
            </a:pPr>
            <a:r>
              <a:rPr lang="en-US" sz="2000"/>
              <a:t>原因分析：</a:t>
            </a:r>
            <a:endParaRPr/>
          </a:p>
          <a:p>
            <a:pPr indent="-285750" lvl="1" marL="742950" rtl="0" algn="l">
              <a:spcBef>
                <a:spcPts val="1400"/>
              </a:spcBef>
              <a:spcAft>
                <a:spcPts val="0"/>
              </a:spcAft>
              <a:buClr>
                <a:schemeClr val="dk1"/>
              </a:buClr>
              <a:buSzPts val="2000"/>
              <a:buChar char="–"/>
            </a:pPr>
            <a:r>
              <a:rPr lang="en-US" sz="2000"/>
              <a:t>  - 有效利用了閒置的低階 GPU。</a:t>
            </a:r>
            <a:endParaRPr/>
          </a:p>
          <a:p>
            <a:pPr indent="-285750" lvl="1" marL="742950" rtl="0" algn="l">
              <a:spcBef>
                <a:spcPts val="1400"/>
              </a:spcBef>
              <a:spcAft>
                <a:spcPts val="0"/>
              </a:spcAft>
              <a:buClr>
                <a:schemeClr val="dk1"/>
              </a:buClr>
              <a:buSzPts val="2000"/>
              <a:buChar char="–"/>
            </a:pPr>
            <a:r>
              <a:rPr lang="en-US" sz="2000"/>
              <a:t>  - Pool-Based 架構減少了管線阻塞 (Bubbles)。</a:t>
            </a:r>
            <a:endParaRPr/>
          </a:p>
        </p:txBody>
      </p:sp>
      <p:sp>
        <p:nvSpPr>
          <p:cNvPr id="189" name="Google Shape;189;p14"/>
          <p:cNvSpPr txBox="1"/>
          <p:nvPr/>
        </p:nvSpPr>
        <p:spPr>
          <a:xfrm>
            <a:off x="457200" y="6217920"/>
            <a:ext cx="822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rgbClr val="646464"/>
                </a:solidFill>
                <a:latin typeface="Calibri"/>
                <a:ea typeface="Calibri"/>
                <a:cs typeface="Calibri"/>
                <a:sym typeface="Calibri"/>
              </a:rPr>
              <a:t>[建議配圖] 論文中的 Fig 6 (Throughput Comparison Bar Chart)。</a:t>
            </a:r>
            <a:endParaRPr/>
          </a:p>
        </p:txBody>
      </p:sp>
      <p:sp>
        <p:nvSpPr>
          <p:cNvPr id="190" name="Google Shape;190;p1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91" name="Google Shape;191;p14"/>
          <p:cNvPicPr preferRelativeResize="0"/>
          <p:nvPr/>
        </p:nvPicPr>
        <p:blipFill>
          <a:blip r:embed="rId3">
            <a:alphaModFix/>
          </a:blip>
          <a:stretch>
            <a:fillRect/>
          </a:stretch>
        </p:blipFill>
        <p:spPr>
          <a:xfrm>
            <a:off x="575850" y="4846696"/>
            <a:ext cx="5513301" cy="1874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實驗結果：GPU 利用率分析</a:t>
            </a:r>
            <a:endParaRPr/>
          </a:p>
        </p:txBody>
      </p:sp>
      <p:sp>
        <p:nvSpPr>
          <p:cNvPr id="197" name="Google Shape;19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低階 GPU (P4) 的活化：</a:t>
            </a:r>
            <a:endParaRPr/>
          </a:p>
          <a:p>
            <a:pPr indent="-285750" lvl="1" marL="742950" rtl="0" algn="l">
              <a:spcBef>
                <a:spcPts val="1400"/>
              </a:spcBef>
              <a:spcAft>
                <a:spcPts val="0"/>
              </a:spcAft>
              <a:buClr>
                <a:schemeClr val="dk1"/>
              </a:buClr>
              <a:buSzPts val="2000"/>
              <a:buChar char="–"/>
            </a:pPr>
            <a:r>
              <a:rPr lang="en-US" sz="2000"/>
              <a:t>  - 利用率從 NP 的極低水平提升了 41.1% - 65.5%。</a:t>
            </a:r>
            <a:endParaRPr/>
          </a:p>
          <a:p>
            <a:pPr indent="-342900" lvl="0" marL="342900" rtl="0" algn="l">
              <a:spcBef>
                <a:spcPts val="1400"/>
              </a:spcBef>
              <a:spcAft>
                <a:spcPts val="0"/>
              </a:spcAft>
              <a:buClr>
                <a:schemeClr val="dk1"/>
              </a:buClr>
              <a:buSzPts val="2000"/>
              <a:buChar char="•"/>
            </a:pPr>
            <a:r>
              <a:rPr lang="en-US" sz="2000"/>
              <a:t>高階 GPU (L4/V100) 的維持：</a:t>
            </a:r>
            <a:endParaRPr/>
          </a:p>
          <a:p>
            <a:pPr indent="-285750" lvl="1" marL="742950" rtl="0" algn="l">
              <a:spcBef>
                <a:spcPts val="1400"/>
              </a:spcBef>
              <a:spcAft>
                <a:spcPts val="0"/>
              </a:spcAft>
              <a:buClr>
                <a:schemeClr val="dk1"/>
              </a:buClr>
              <a:buSzPts val="2000"/>
              <a:buChar char="–"/>
            </a:pPr>
            <a:r>
              <a:rPr lang="en-US" sz="2000"/>
              <a:t>  - 保持高利用率，專注於處理計算密集的層。</a:t>
            </a:r>
            <a:endParaRPr/>
          </a:p>
          <a:p>
            <a:pPr indent="-342900" lvl="0" marL="342900" rtl="0" algn="l">
              <a:spcBef>
                <a:spcPts val="1400"/>
              </a:spcBef>
              <a:spcAft>
                <a:spcPts val="0"/>
              </a:spcAft>
              <a:buClr>
                <a:schemeClr val="dk1"/>
              </a:buClr>
              <a:buSzPts val="2000"/>
              <a:buChar char="•"/>
            </a:pPr>
            <a:r>
              <a:rPr lang="en-US" sz="2000"/>
              <a:t>結論：</a:t>
            </a:r>
            <a:endParaRPr/>
          </a:p>
          <a:p>
            <a:pPr indent="-285750" lvl="1" marL="742950" rtl="0" algn="l">
              <a:spcBef>
                <a:spcPts val="1400"/>
              </a:spcBef>
              <a:spcAft>
                <a:spcPts val="0"/>
              </a:spcAft>
              <a:buClr>
                <a:schemeClr val="dk1"/>
              </a:buClr>
              <a:buSzPts val="2000"/>
              <a:buChar char="–"/>
            </a:pPr>
            <a:r>
              <a:rPr lang="en-US" sz="2000"/>
              <a:t>  - PPipe 成功實現了異構資源的「各盡其能」。</a:t>
            </a:r>
            <a:endParaRPr/>
          </a:p>
          <a:p>
            <a:pPr indent="-285750" lvl="1" marL="742950" rtl="0" algn="l">
              <a:spcBef>
                <a:spcPts val="1400"/>
              </a:spcBef>
              <a:spcAft>
                <a:spcPts val="0"/>
              </a:spcAft>
              <a:buClr>
                <a:schemeClr val="dk1"/>
              </a:buClr>
              <a:buSzPts val="2000"/>
              <a:buChar char="–"/>
            </a:pPr>
            <a:r>
              <a:rPr lang="en-US" sz="2000"/>
              <a:t>  - 顯著降低了每個請求的平均服務成本。</a:t>
            </a:r>
            <a:endParaRPr/>
          </a:p>
        </p:txBody>
      </p:sp>
      <p:sp>
        <p:nvSpPr>
          <p:cNvPr id="198" name="Google Shape;198;p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實驗結果：延遲分佈與系統開銷</a:t>
            </a:r>
            <a:endParaRPr/>
          </a:p>
        </p:txBody>
      </p:sp>
      <p:sp>
        <p:nvSpPr>
          <p:cNvPr id="204" name="Google Shape;204;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延遲分佈 (Latency Distribution)：</a:t>
            </a:r>
            <a:endParaRPr/>
          </a:p>
          <a:p>
            <a:pPr indent="-285750" lvl="1" marL="742950" rtl="0" algn="l">
              <a:spcBef>
                <a:spcPts val="1400"/>
              </a:spcBef>
              <a:spcAft>
                <a:spcPts val="0"/>
              </a:spcAft>
              <a:buClr>
                <a:schemeClr val="dk1"/>
              </a:buClr>
              <a:buSzPts val="2000"/>
              <a:buChar char="–"/>
            </a:pPr>
            <a:r>
              <a:rPr lang="en-US" sz="2000"/>
              <a:t>  - 雖然管線化增加了通訊開銷，但 PPipe 透過平行化降低了計算延遲。</a:t>
            </a:r>
            <a:endParaRPr/>
          </a:p>
          <a:p>
            <a:pPr indent="-285750" lvl="1" marL="742950" rtl="0" algn="l">
              <a:spcBef>
                <a:spcPts val="1400"/>
              </a:spcBef>
              <a:spcAft>
                <a:spcPts val="0"/>
              </a:spcAft>
              <a:buClr>
                <a:schemeClr val="dk1"/>
              </a:buClr>
              <a:buSzPts val="2000"/>
              <a:buChar char="–"/>
            </a:pPr>
            <a:r>
              <a:rPr lang="en-US" sz="2000"/>
              <a:t>  - 尾端延遲 (Tail Latency, P99) 控制在 SLO 範圍內。</a:t>
            </a:r>
            <a:endParaRPr/>
          </a:p>
          <a:p>
            <a:pPr indent="-342900" lvl="0" marL="342900" rtl="0" algn="l">
              <a:spcBef>
                <a:spcPts val="1400"/>
              </a:spcBef>
              <a:spcAft>
                <a:spcPts val="0"/>
              </a:spcAft>
              <a:buClr>
                <a:schemeClr val="dk1"/>
              </a:buClr>
              <a:buSzPts val="2000"/>
              <a:buChar char="•"/>
            </a:pPr>
            <a:r>
              <a:rPr lang="en-US" sz="2000"/>
              <a:t>系統開銷 (Overhead)：</a:t>
            </a:r>
            <a:endParaRPr/>
          </a:p>
          <a:p>
            <a:pPr indent="-285750" lvl="1" marL="742950" rtl="0" algn="l">
              <a:spcBef>
                <a:spcPts val="1400"/>
              </a:spcBef>
              <a:spcAft>
                <a:spcPts val="0"/>
              </a:spcAft>
              <a:buClr>
                <a:schemeClr val="dk1"/>
              </a:buClr>
              <a:buSzPts val="2000"/>
              <a:buChar char="–"/>
            </a:pPr>
            <a:r>
              <a:rPr lang="en-US" sz="2000"/>
              <a:t>  - 控制層 (MILP) 是一次性的，不影響執行時。</a:t>
            </a:r>
            <a:endParaRPr/>
          </a:p>
          <a:p>
            <a:pPr indent="-285750" lvl="1" marL="742950" rtl="0" algn="l">
              <a:spcBef>
                <a:spcPts val="1400"/>
              </a:spcBef>
              <a:spcAft>
                <a:spcPts val="0"/>
              </a:spcAft>
              <a:buClr>
                <a:schemeClr val="dk1"/>
              </a:buClr>
              <a:buSzPts val="2000"/>
              <a:buChar char="–"/>
            </a:pPr>
            <a:r>
              <a:rPr lang="en-US" sz="2000"/>
              <a:t>  - 數據層 (Probe) 的計算開銷極低 (&lt; 1ms)，對即時服務影響可忽略。</a:t>
            </a:r>
            <a:endParaRPr/>
          </a:p>
        </p:txBody>
      </p:sp>
      <p:sp>
        <p:nvSpPr>
          <p:cNvPr id="205" name="Google Shape;205;p1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相關工作與討論</a:t>
            </a:r>
            <a:endParaRPr/>
          </a:p>
        </p:txBody>
      </p:sp>
      <p:sp>
        <p:nvSpPr>
          <p:cNvPr id="211" name="Google Shape;2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400"/>
              </a:spcBef>
              <a:spcAft>
                <a:spcPts val="0"/>
              </a:spcAft>
              <a:buClr>
                <a:schemeClr val="dk1"/>
              </a:buClr>
              <a:buSzPts val="2000"/>
              <a:buChar char="•"/>
            </a:pPr>
            <a:r>
              <a:rPr lang="en-US" sz="2000"/>
              <a:t>與 Model Parallelism (MP) 的區別：</a:t>
            </a:r>
            <a:endParaRPr/>
          </a:p>
          <a:p>
            <a:pPr indent="-285750" lvl="1" marL="742950" rtl="0" algn="l">
              <a:spcBef>
                <a:spcPts val="1400"/>
              </a:spcBef>
              <a:spcAft>
                <a:spcPts val="0"/>
              </a:spcAft>
              <a:buClr>
                <a:schemeClr val="dk1"/>
              </a:buClr>
              <a:buSzPts val="2000"/>
              <a:buChar char="–"/>
            </a:pPr>
            <a:r>
              <a:rPr lang="en-US" sz="2000"/>
              <a:t>  - MP (如 Tensor Parallelism) 需要高頻寬互連 (NVLink)，舊叢集不具備。</a:t>
            </a:r>
            <a:endParaRPr/>
          </a:p>
          <a:p>
            <a:pPr indent="-285750" lvl="1" marL="742950" rtl="0" algn="l">
              <a:spcBef>
                <a:spcPts val="1400"/>
              </a:spcBef>
              <a:spcAft>
                <a:spcPts val="0"/>
              </a:spcAft>
              <a:buClr>
                <a:schemeClr val="dk1"/>
              </a:buClr>
              <a:buSzPts val="2000"/>
              <a:buChar char="–"/>
            </a:pPr>
            <a:r>
              <a:rPr lang="en-US" sz="2000"/>
              <a:t>  - PPipe 依賴 PCIe/Ethernet，適用性更廣。</a:t>
            </a:r>
            <a:endParaRPr/>
          </a:p>
          <a:p>
            <a:pPr indent="-342900" lvl="0" marL="342900" rtl="0" algn="l">
              <a:spcBef>
                <a:spcPts val="1400"/>
              </a:spcBef>
              <a:spcAft>
                <a:spcPts val="0"/>
              </a:spcAft>
              <a:buClr>
                <a:schemeClr val="dk1"/>
              </a:buClr>
              <a:buSzPts val="2000"/>
              <a:buChar char="•"/>
            </a:pPr>
            <a:r>
              <a:rPr lang="en-US" sz="2000"/>
              <a:t>與其他 Serving Systems (如 Clockwork) 的區別：</a:t>
            </a:r>
            <a:endParaRPr/>
          </a:p>
          <a:p>
            <a:pPr indent="-285750" lvl="1" marL="742950" rtl="0" algn="l">
              <a:spcBef>
                <a:spcPts val="1400"/>
              </a:spcBef>
              <a:spcAft>
                <a:spcPts val="0"/>
              </a:spcAft>
              <a:buClr>
                <a:schemeClr val="dk1"/>
              </a:buClr>
              <a:buSzPts val="2000"/>
              <a:buChar char="–"/>
            </a:pPr>
            <a:r>
              <a:rPr lang="en-US" sz="2000"/>
              <a:t>  - 大多數系統假設硬體同質 (Homogeneous)。</a:t>
            </a:r>
            <a:endParaRPr/>
          </a:p>
          <a:p>
            <a:pPr indent="-285750" lvl="1" marL="742950" rtl="0" algn="l">
              <a:spcBef>
                <a:spcPts val="1400"/>
              </a:spcBef>
              <a:spcAft>
                <a:spcPts val="0"/>
              </a:spcAft>
              <a:buClr>
                <a:schemeClr val="dk1"/>
              </a:buClr>
              <a:buSzPts val="2000"/>
              <a:buChar char="–"/>
            </a:pPr>
            <a:r>
              <a:rPr lang="en-US" sz="2000"/>
              <a:t>  - PPipe 專為異構 (Heterogeneous) 設計。</a:t>
            </a:r>
            <a:endParaRPr/>
          </a:p>
          <a:p>
            <a:pPr indent="-342900" lvl="0" marL="342900" rtl="0" algn="l">
              <a:spcBef>
                <a:spcPts val="1400"/>
              </a:spcBef>
              <a:spcAft>
                <a:spcPts val="0"/>
              </a:spcAft>
              <a:buClr>
                <a:schemeClr val="dk1"/>
              </a:buClr>
              <a:buSzPts val="2000"/>
              <a:buChar char="•"/>
            </a:pPr>
            <a:r>
              <a:rPr lang="en-US" sz="2000"/>
              <a:t>適用場景限制：</a:t>
            </a:r>
            <a:endParaRPr/>
          </a:p>
          <a:p>
            <a:pPr indent="-285750" lvl="1" marL="742950" rtl="0" algn="l">
              <a:spcBef>
                <a:spcPts val="1400"/>
              </a:spcBef>
              <a:spcAft>
                <a:spcPts val="0"/>
              </a:spcAft>
              <a:buClr>
                <a:schemeClr val="dk1"/>
              </a:buClr>
              <a:buSzPts val="2000"/>
              <a:buChar char="–"/>
            </a:pPr>
            <a:r>
              <a:rPr lang="en-US" sz="2000"/>
              <a:t>  - 適合層數多、可切分的 DNN。</a:t>
            </a:r>
            <a:endParaRPr/>
          </a:p>
          <a:p>
            <a:pPr indent="-285750" lvl="1" marL="742950" rtl="0" algn="l">
              <a:spcBef>
                <a:spcPts val="1400"/>
              </a:spcBef>
              <a:spcAft>
                <a:spcPts val="0"/>
              </a:spcAft>
              <a:buClr>
                <a:schemeClr val="dk1"/>
              </a:buClr>
              <a:buSzPts val="2000"/>
              <a:buChar char="–"/>
            </a:pPr>
            <a:r>
              <a:rPr lang="en-US" sz="2000"/>
              <a:t>  - 網路頻寬不能過低，否則通訊會成為瓶頸。</a:t>
            </a:r>
            <a:endParaRPr/>
          </a:p>
        </p:txBody>
      </p:sp>
      <p:sp>
        <p:nvSpPr>
          <p:cNvPr id="212" name="Google Shape;212;p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結論</a:t>
            </a:r>
            <a:endParaRPr/>
          </a:p>
        </p:txBody>
      </p:sp>
      <p:sp>
        <p:nvSpPr>
          <p:cNvPr id="218" name="Google Shape;218;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400"/>
              </a:spcBef>
              <a:spcAft>
                <a:spcPts val="0"/>
              </a:spcAft>
              <a:buClr>
                <a:schemeClr val="dk1"/>
              </a:buClr>
              <a:buSzPts val="2000"/>
              <a:buChar char="•"/>
            </a:pPr>
            <a:r>
              <a:rPr lang="en-US" sz="2000"/>
              <a:t>PPipe 的主要貢獻：</a:t>
            </a:r>
            <a:endParaRPr/>
          </a:p>
          <a:p>
            <a:pPr indent="-342900" lvl="0" marL="342900" rtl="0" algn="l">
              <a:spcBef>
                <a:spcPts val="1400"/>
              </a:spcBef>
              <a:spcAft>
                <a:spcPts val="0"/>
              </a:spcAft>
              <a:buClr>
                <a:schemeClr val="dk1"/>
              </a:buClr>
              <a:buSzPts val="2000"/>
              <a:buChar char="•"/>
            </a:pPr>
            <a:r>
              <a:rPr lang="en-US" sz="2000"/>
              <a:t>  1. 提出 Pool-Based Pipeline Parallelism，解決異構叢集推論難題。</a:t>
            </a:r>
            <a:endParaRPr/>
          </a:p>
          <a:p>
            <a:pPr indent="-342900" lvl="0" marL="342900" rtl="0" algn="l">
              <a:spcBef>
                <a:spcPts val="1400"/>
              </a:spcBef>
              <a:spcAft>
                <a:spcPts val="0"/>
              </a:spcAft>
              <a:buClr>
                <a:schemeClr val="dk1"/>
              </a:buClr>
              <a:buSzPts val="2000"/>
              <a:buChar char="•"/>
            </a:pPr>
            <a:r>
              <a:rPr lang="en-US" sz="2000"/>
              <a:t>  2. 結合 MILP 靜態規劃與資源預留動態調度，最大化效能。</a:t>
            </a:r>
            <a:endParaRPr/>
          </a:p>
          <a:p>
            <a:pPr indent="-342900" lvl="0" marL="342900" rtl="0" algn="l">
              <a:spcBef>
                <a:spcPts val="1400"/>
              </a:spcBef>
              <a:spcAft>
                <a:spcPts val="0"/>
              </a:spcAft>
              <a:buClr>
                <a:schemeClr val="dk1"/>
              </a:buClr>
              <a:buSzPts val="2000"/>
              <a:buChar char="•"/>
            </a:pPr>
            <a:r>
              <a:rPr lang="en-US" sz="2000"/>
              <a:t>  3. 實驗證明在真實雲端環境中顯著提升吞吐量與資源利用率。</a:t>
            </a:r>
            <a:endParaRPr/>
          </a:p>
          <a:p>
            <a:pPr indent="-342900" lvl="0" marL="342900" rtl="0" algn="l">
              <a:spcBef>
                <a:spcPts val="1400"/>
              </a:spcBef>
              <a:spcAft>
                <a:spcPts val="0"/>
              </a:spcAft>
              <a:buClr>
                <a:schemeClr val="dk1"/>
              </a:buClr>
              <a:buSzPts val="2000"/>
              <a:buChar char="•"/>
            </a:pPr>
            <a:r>
              <a:rPr lang="en-US" sz="2000"/>
              <a:t>未來展望：</a:t>
            </a:r>
            <a:endParaRPr/>
          </a:p>
          <a:p>
            <a:pPr indent="-285750" lvl="1" marL="742950" rtl="0" algn="l">
              <a:spcBef>
                <a:spcPts val="1400"/>
              </a:spcBef>
              <a:spcAft>
                <a:spcPts val="0"/>
              </a:spcAft>
              <a:buClr>
                <a:schemeClr val="dk1"/>
              </a:buClr>
              <a:buSzPts val="2000"/>
              <a:buChar char="–"/>
            </a:pPr>
            <a:r>
              <a:rPr lang="en-US" sz="2000"/>
              <a:t>  - 擴展至大型語言模型 (LLM) 的推論服務。</a:t>
            </a:r>
            <a:endParaRPr/>
          </a:p>
          <a:p>
            <a:pPr indent="-285750" lvl="1" marL="742950" rtl="0" algn="l">
              <a:spcBef>
                <a:spcPts val="1400"/>
              </a:spcBef>
              <a:spcAft>
                <a:spcPts val="0"/>
              </a:spcAft>
              <a:buClr>
                <a:schemeClr val="dk1"/>
              </a:buClr>
              <a:buSzPts val="2000"/>
              <a:buChar char="–"/>
            </a:pPr>
            <a:r>
              <a:rPr lang="en-US" sz="2000"/>
              <a:t>  - 整合更複雜的網路拓撲感知調度。</a:t>
            </a:r>
            <a:endParaRPr/>
          </a:p>
        </p:txBody>
      </p:sp>
      <p:sp>
        <p:nvSpPr>
          <p:cNvPr id="219" name="Google Shape;219;p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b3477d7032_0_9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25" name="Google Shape;225;g3b3477d7032_0_90"/>
          <p:cNvSpPr txBox="1"/>
          <p:nvPr/>
        </p:nvSpPr>
        <p:spPr>
          <a:xfrm>
            <a:off x="311700" y="2248075"/>
            <a:ext cx="8520600" cy="205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5220">
                <a:solidFill>
                  <a:srgbClr val="000000"/>
                </a:solidFill>
              </a:rPr>
              <a:t>Thank you for listening!</a:t>
            </a:r>
            <a:endParaRPr sz="282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