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7099300" cy="10234600"/>
  <p:embeddedFontLst>
    <p:embeddedFont>
      <p:font typeface="Palatino Linotype"/>
      <p:regular r:id="rId26"/>
      <p:bold r:id="rId27"/>
      <p:italic r:id="rId28"/>
      <p:boldItalic r:id="rId29"/>
    </p:embeddedFont>
    <p:embeddedFont>
      <p:font typeface="Radley"/>
      <p:regular r:id="rId30"/>
      <p: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hXWRSUxBRImujhANeFe78fw06D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alatinoLinotype-regular.fntdata"/><Relationship Id="rId25" Type="http://schemas.openxmlformats.org/officeDocument/2006/relationships/slide" Target="slides/slide21.xml"/><Relationship Id="rId28" Type="http://schemas.openxmlformats.org/officeDocument/2006/relationships/font" Target="fonts/PalatinoLinotype-italic.fntdata"/><Relationship Id="rId27" Type="http://schemas.openxmlformats.org/officeDocument/2006/relationships/font" Target="fonts/PalatinoLinotype-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alatinoLinotype-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Radley-italic.fntdata"/><Relationship Id="rId30" Type="http://schemas.openxmlformats.org/officeDocument/2006/relationships/font" Target="fonts/Radley-regular.fntdata"/><Relationship Id="rId11" Type="http://schemas.openxmlformats.org/officeDocument/2006/relationships/slide" Target="slides/slide7.xml"/><Relationship Id="rId10" Type="http://schemas.openxmlformats.org/officeDocument/2006/relationships/slide" Target="slides/slide6.xml"/><Relationship Id="rId32"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3076363" cy="513508"/>
          </a:xfrm>
          <a:prstGeom prst="rect">
            <a:avLst/>
          </a:prstGeom>
          <a:noFill/>
          <a:ln>
            <a:noFill/>
          </a:ln>
        </p:spPr>
        <p:txBody>
          <a:bodyPr anchorCtr="0" anchor="t" bIns="49500" lIns="99025" spcFirstLastPara="1" rIns="99025" wrap="square" tIns="49500">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021295" y="0"/>
            <a:ext cx="3076363" cy="513508"/>
          </a:xfrm>
          <a:prstGeom prst="rect">
            <a:avLst/>
          </a:prstGeom>
          <a:noFill/>
          <a:ln>
            <a:noFill/>
          </a:ln>
        </p:spPr>
        <p:txBody>
          <a:bodyPr anchorCtr="0" anchor="t" bIns="49500" lIns="99025" spcFirstLastPara="1" rIns="99025" wrap="square" tIns="49500">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9721108"/>
            <a:ext cx="3076363" cy="513507"/>
          </a:xfrm>
          <a:prstGeom prst="rect">
            <a:avLst/>
          </a:prstGeom>
          <a:noFill/>
          <a:ln>
            <a:noFill/>
          </a:ln>
        </p:spPr>
        <p:txBody>
          <a:bodyPr anchorCtr="0" anchor="b" bIns="49500" lIns="99025" spcFirstLastPara="1" rIns="99025" wrap="square" tIns="49500">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p2: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93" name="Google Shape;93;p2: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rPr lang="en-US"/>
              <a:t>Good Morning, My name is Chun-Feng Wu.</a:t>
            </a:r>
            <a:br>
              <a:rPr lang="en-US"/>
            </a:br>
            <a:r>
              <a:rPr lang="en-US"/>
              <a:t>In this presentation, I will briefly introduce myself and share some key idea of my researches.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Intensive data movement is one of the critical issue when Von-Neumann machines enter the big data era.</a:t>
            </a:r>
            <a:endParaRPr/>
          </a:p>
          <a:p>
            <a:pPr indent="0" lvl="0" marL="0" rtl="0" algn="l">
              <a:spcBef>
                <a:spcPts val="0"/>
              </a:spcBef>
              <a:spcAft>
                <a:spcPts val="0"/>
              </a:spcAft>
              <a:buNone/>
            </a:pPr>
            <a:r>
              <a:rPr lang="en-US"/>
              <a:t>To deal with this issue, my research is to enable a fast, large and device-friendly next-generation computing system.</a:t>
            </a:r>
            <a:endParaRPr/>
          </a:p>
        </p:txBody>
      </p:sp>
      <p:sp>
        <p:nvSpPr>
          <p:cNvPr id="101" name="Google Shape;101;p3: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4: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4: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rPr lang="en-US"/>
              <a:t>This is the agenda.</a:t>
            </a:r>
            <a:endParaRPr/>
          </a:p>
          <a:p>
            <a:pPr indent="0" lvl="0" marL="0" rtl="0" algn="l">
              <a:spcBef>
                <a:spcPts val="0"/>
              </a:spcBef>
              <a:spcAft>
                <a:spcPts val="0"/>
              </a:spcAft>
              <a:buNone/>
            </a:pPr>
            <a:r>
              <a:rPr lang="en-US"/>
              <a:t>I will first give a brief self-introduction including awards, cooperation experiences, and publication.</a:t>
            </a:r>
            <a:endParaRPr/>
          </a:p>
          <a:p>
            <a:pPr indent="0" lvl="0" marL="0" rtl="0" algn="l">
              <a:spcBef>
                <a:spcPts val="0"/>
              </a:spcBef>
              <a:spcAft>
                <a:spcPts val="0"/>
              </a:spcAft>
              <a:buNone/>
            </a:pPr>
            <a:r>
              <a:rPr lang="en-US"/>
              <a:t>After that, I will give a deep dive into my research – the next-generation computing system, and present my future plan.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 will then talk about the reason for applying your department, as well as my course plan in the end of presentation.</a:t>
            </a:r>
            <a:endParaRPr/>
          </a:p>
        </p:txBody>
      </p:sp>
      <p:sp>
        <p:nvSpPr>
          <p:cNvPr id="107" name="Google Shape;107;p4: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15" name="Google Shape;115;p5: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6: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6: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56" name="Google Shape;156;p6: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7: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184" name="Google Shape;184;p7: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14" name="Google Shape;214;p8: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9: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p9: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269" name="Google Shape;269;p9: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0: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0: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05" name="Google Shape;305;p10: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1: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1: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48" name="Google Shape;348;p11: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2: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6" name="Google Shape;386;p12: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387" name="Google Shape;387;p12: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3: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0" name="Google Shape;400;p13: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marR="0" rtl="0" algn="l">
              <a:lnSpc>
                <a:spcPct val="100000"/>
              </a:lnSpc>
              <a:spcBef>
                <a:spcPts val="0"/>
              </a:spcBef>
              <a:spcAft>
                <a:spcPts val="0"/>
              </a:spcAft>
              <a:buClr>
                <a:schemeClr val="dk1"/>
              </a:buClr>
              <a:buSzPts val="1200"/>
              <a:buFont typeface="Calibri"/>
              <a:buNone/>
            </a:pPr>
            <a:r>
              <a:rPr lang="en-US"/>
              <a:t>Fortunately, enterprises have launched several emerging devices to deal with the challenge of data movements.</a:t>
            </a:r>
            <a:endParaRPr/>
          </a:p>
          <a:p>
            <a:pPr indent="0" lvl="0" marL="0" rtl="0" algn="l">
              <a:spcBef>
                <a:spcPts val="0"/>
              </a:spcBef>
              <a:spcAft>
                <a:spcPts val="0"/>
              </a:spcAft>
              <a:buNone/>
            </a:pPr>
            <a:r>
              <a:rPr lang="en-US"/>
              <a:t>In 2011, Intel initiated the first NVMe protocol to improve the throughput of peripheral buses.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(click)</a:t>
            </a:r>
            <a:endParaRPr/>
          </a:p>
          <a:p>
            <a:pPr indent="0" lvl="0" marL="0" rtl="0" algn="l">
              <a:spcBef>
                <a:spcPts val="0"/>
              </a:spcBef>
              <a:spcAft>
                <a:spcPts val="0"/>
              </a:spcAft>
              <a:buNone/>
            </a:pPr>
            <a:r>
              <a:rPr lang="en-US"/>
              <a:t>In 2017, Samsung and Intel launched ultra-low-latency SSDs. </a:t>
            </a:r>
            <a:endParaRPr/>
          </a:p>
          <a:p>
            <a:pPr indent="0" lvl="0" marL="0" rtl="0" algn="l">
              <a:spcBef>
                <a:spcPts val="0"/>
              </a:spcBef>
              <a:spcAft>
                <a:spcPts val="0"/>
              </a:spcAft>
              <a:buNone/>
            </a:pPr>
            <a:r>
              <a:rPr lang="en-US"/>
              <a:t>Their access latency can reach around 5 microseconds, which is ten times faster than common SSDs.</a:t>
            </a:r>
            <a:br>
              <a:rPr lang="en-US"/>
            </a:br>
            <a:r>
              <a:rPr lang="en-US"/>
              <a:t>By the way, the time of running some OS functions is also around 5 microseconds.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(click)</a:t>
            </a:r>
            <a:endParaRPr/>
          </a:p>
          <a:p>
            <a:pPr indent="0" lvl="0" marL="0" rtl="0" algn="l">
              <a:spcBef>
                <a:spcPts val="0"/>
              </a:spcBef>
              <a:spcAft>
                <a:spcPts val="0"/>
              </a:spcAft>
              <a:buNone/>
            </a:pPr>
            <a:r>
              <a:rPr lang="en-US"/>
              <a:t>Under the trend of high throughput and ultra-low-latency, the performance gap between storage and memory devices is shrinking quickly.</a:t>
            </a:r>
            <a:endParaRPr/>
          </a:p>
          <a:p>
            <a:pPr indent="0" lvl="0" marL="0" rtl="0" algn="l">
              <a:spcBef>
                <a:spcPts val="0"/>
              </a:spcBef>
              <a:spcAft>
                <a:spcPts val="0"/>
              </a:spcAft>
              <a:buNone/>
            </a:pPr>
            <a:r>
              <a:rPr lang="en-US"/>
              <a:t>So, enterprises like intel and HPE propose storage-class memory devices by placing storage devices on the DIMM memory module, so as to strike a balance between price and performance.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(click)</a:t>
            </a:r>
            <a:endParaRPr/>
          </a:p>
          <a:p>
            <a:pPr indent="0" lvl="0" marL="0" rtl="0" algn="l">
              <a:spcBef>
                <a:spcPts val="0"/>
              </a:spcBef>
              <a:spcAft>
                <a:spcPts val="0"/>
              </a:spcAft>
              <a:buNone/>
            </a:pPr>
            <a:r>
              <a:rPr lang="en-US"/>
              <a:t>As the manufacturing technology becomes mature, some memory devices start to support processing capability.</a:t>
            </a:r>
            <a:br>
              <a:rPr lang="en-US"/>
            </a:br>
            <a:r>
              <a:rPr lang="en-US"/>
              <a:t>For example, TSMC proposes a memory chip and Samsung launches their AXDIMM devices.</a:t>
            </a:r>
            <a:endParaRPr/>
          </a:p>
          <a:p>
            <a:pPr indent="0" lvl="0" marL="0" rtl="0" algn="l">
              <a:spcBef>
                <a:spcPts val="0"/>
              </a:spcBef>
              <a:spcAft>
                <a:spcPts val="0"/>
              </a:spcAft>
              <a:buNone/>
            </a:pPr>
            <a:r>
              <a:rPr lang="en-US"/>
              <a:t>Both devices can support processing-in-memory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However, due to the manufacturing limitation, and the outdated design of operating system, we might still face some critical challenges while using these devices.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說法材料：</a:t>
            </a:r>
            <a:endParaRPr/>
          </a:p>
          <a:p>
            <a:pPr indent="0" lvl="0" marL="0" marR="0" rtl="0" algn="l">
              <a:lnSpc>
                <a:spcPct val="100000"/>
              </a:lnSpc>
              <a:spcBef>
                <a:spcPts val="0"/>
              </a:spcBef>
              <a:spcAft>
                <a:spcPts val="0"/>
              </a:spcAft>
              <a:buClr>
                <a:schemeClr val="dk1"/>
              </a:buClr>
              <a:buSzPts val="1200"/>
              <a:buFont typeface="Calibri"/>
              <a:buNone/>
            </a:pPr>
            <a:r>
              <a:rPr b="1" lang="en-US" sz="1200">
                <a:solidFill>
                  <a:schemeClr val="dk1"/>
                </a:solidFill>
                <a:latin typeface="Calibri"/>
                <a:ea typeface="Calibri"/>
                <a:cs typeface="Calibri"/>
                <a:sym typeface="Calibri"/>
              </a:rPr>
              <a:t>A 40nm 64Kb 56.67TOPS/W Read-Disturb-Tolerant Compute- in-Memory/Digital RRAM Macro with Active-Feedback-Based Read and In-Situ Write Verification </a:t>
            </a:r>
            <a:endParaRPr/>
          </a:p>
          <a:p>
            <a:pPr indent="0" lvl="0" marL="0" rtl="0" algn="l">
              <a:spcBef>
                <a:spcPts val="0"/>
              </a:spcBef>
              <a:spcAft>
                <a:spcPts val="0"/>
              </a:spcAft>
              <a:buNone/>
            </a:pPr>
            <a:r>
              <a:rPr lang="en-US"/>
              <a:t>https://cc.cnetcontent.com/vcs/hp-ent/inline-content/SI/C/2/C2B3385377589DDEF3AC5CE77AA40BE213B401C2_source.PDF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sz="1200"/>
              <a:t>除了DRAM之外，非揮發性記憶體NVM被視為擴充主記憶體的候選。</a:t>
            </a:r>
            <a:endParaRPr sz="1200"/>
          </a:p>
          <a:p>
            <a:pPr indent="0" lvl="0" marL="0" rtl="0" algn="l">
              <a:spcBef>
                <a:spcPts val="0"/>
              </a:spcBef>
              <a:spcAft>
                <a:spcPts val="0"/>
              </a:spcAft>
              <a:buNone/>
            </a:pPr>
            <a:r>
              <a:rPr lang="en-US" sz="1200"/>
              <a:t>主要原因是NVM技術近10年來有著顯著的發展，其中快閃記憶體NAND Flash的發展最為成熟</a:t>
            </a:r>
            <a:br>
              <a:rPr lang="en-US" sz="1200"/>
            </a:br>
            <a:r>
              <a:rPr lang="en-US" sz="1200"/>
              <a:t>以價格來說，NAND Flash相較於DRAM可以節省三十倍甚至四十倍的價格，此外由於製成的不同，NAND Flash已經可以提供TB等級的容量</a:t>
            </a:r>
            <a:endParaRPr sz="1200"/>
          </a:p>
          <a:p>
            <a:pPr indent="0" lvl="0" marL="0" rtl="0" algn="l">
              <a:spcBef>
                <a:spcPts val="0"/>
              </a:spcBef>
              <a:spcAft>
                <a:spcPts val="0"/>
              </a:spcAft>
              <a:buNone/>
            </a:pPr>
            <a:r>
              <a:rPr lang="en-US" sz="1200"/>
              <a:t>然而，僅管NAND Flash的存取速度在近幾年有的大福度的提生，相較於DRAM的50ns來說還是存在不小的performance gap.因此以NAND Flash支援主記憶體延伸 performance還是一大關鍵</a:t>
            </a:r>
            <a:endParaRPr sz="1200"/>
          </a:p>
          <a:p>
            <a:pPr indent="0" lvl="0" marL="0" rtl="0" algn="l">
              <a:spcBef>
                <a:spcPts val="0"/>
              </a:spcBef>
              <a:spcAft>
                <a:spcPts val="0"/>
              </a:spcAft>
              <a:buNone/>
            </a:pPr>
            <a:r>
              <a:t/>
            </a:r>
            <a:endParaRPr/>
          </a:p>
        </p:txBody>
      </p:sp>
      <p:sp>
        <p:nvSpPr>
          <p:cNvPr id="401" name="Google Shape;401;p13: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4:notes"/>
          <p:cNvSpPr txBox="1"/>
          <p:nvPr>
            <p:ph idx="1" type="body"/>
          </p:nvPr>
        </p:nvSpPr>
        <p:spPr>
          <a:xfrm>
            <a:off x="709930" y="4925408"/>
            <a:ext cx="5679440" cy="4029878"/>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58" name="Google Shape;458;p14: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15: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15: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495" name="Google Shape;495;p15: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6: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16: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03" name="Google Shape;503;p16: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17:notes"/>
          <p:cNvSpPr txBox="1"/>
          <p:nvPr>
            <p:ph idx="1" type="body"/>
          </p:nvPr>
        </p:nvSpPr>
        <p:spPr>
          <a:xfrm>
            <a:off x="709930" y="4925408"/>
            <a:ext cx="5679440" cy="4029878"/>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10" name="Google Shape;510;p17: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18: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5" name="Google Shape;545;p18: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marR="0" rtl="0" algn="l">
              <a:lnSpc>
                <a:spcPct val="100000"/>
              </a:lnSpc>
              <a:spcBef>
                <a:spcPts val="0"/>
              </a:spcBef>
              <a:spcAft>
                <a:spcPts val="0"/>
              </a:spcAft>
              <a:buClr>
                <a:schemeClr val="dk1"/>
              </a:buClr>
              <a:buSzPts val="1200"/>
              <a:buFont typeface="Calibri"/>
              <a:buNone/>
            </a:pPr>
            <a:r>
              <a:rPr lang="en-US"/>
              <a:t>http://byteliu.com/2019/05/10/Linux-The-block-I-O-layer/</a:t>
            </a:r>
            <a:endParaRPr/>
          </a:p>
          <a:p>
            <a:pPr indent="0" lvl="0" marL="0" rtl="0" algn="l">
              <a:spcBef>
                <a:spcPts val="0"/>
              </a:spcBef>
              <a:spcAft>
                <a:spcPts val="0"/>
              </a:spcAft>
              <a:buNone/>
            </a:pPr>
            <a:br>
              <a:rPr lang="en-US"/>
            </a:br>
            <a:r>
              <a:rPr lang="en-US"/>
              <a:t>https://www.oreilly.com/library/view/understanding-the-linux/0596005652/ch14s03.html</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https://www.seagate.com/files/www-content/product-content/ssd-fam/nvme-ssd/nytro-xf1440-ssd/_shared/docs/an-introduction-to-nvme-tp690-1-1605us.pdf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https://www.linuxjournal.com/article/8110</a:t>
            </a:r>
            <a:endParaRPr/>
          </a:p>
          <a:p>
            <a:pPr indent="0" lvl="0" marL="0" rtl="0" algn="l">
              <a:spcBef>
                <a:spcPts val="0"/>
              </a:spcBef>
              <a:spcAft>
                <a:spcPts val="0"/>
              </a:spcAft>
              <a:buNone/>
            </a:pPr>
            <a:br>
              <a:rPr lang="en-US"/>
            </a:br>
            <a:r>
              <a:rPr b="0" i="0" lang="en-US" sz="1200">
                <a:solidFill>
                  <a:schemeClr val="dk1"/>
                </a:solidFill>
                <a:latin typeface="Calibri"/>
                <a:ea typeface="Calibri"/>
                <a:cs typeface="Calibri"/>
                <a:sym typeface="Calibri"/>
              </a:rPr>
              <a:t>The I/O Scheduler</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Although block device drivers are able to transfer a single sector at a time, the block I/O layer does not perform an individual I/O operation for each sector to be accessed on disk; this would lead to poor disk performance, because locating the physical position of a sector on the disk surface is quite time-consuming. Instead, the kernel tries, whenever possible, to cluster several sectors and handle them as a whole, thus reducing the average number of head movements.</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When a kernel component wishes to read or write some disk data, it actually creates a </a:t>
            </a:r>
            <a:r>
              <a:rPr b="0" i="1" lang="en-US" sz="1200">
                <a:solidFill>
                  <a:schemeClr val="dk1"/>
                </a:solidFill>
                <a:latin typeface="Calibri"/>
                <a:ea typeface="Calibri"/>
                <a:cs typeface="Calibri"/>
                <a:sym typeface="Calibri"/>
              </a:rPr>
              <a:t>block device request</a:t>
            </a:r>
            <a:r>
              <a:rPr b="0" i="0" lang="en-US" sz="1200">
                <a:solidFill>
                  <a:schemeClr val="dk1"/>
                </a:solidFill>
                <a:latin typeface="Calibri"/>
                <a:ea typeface="Calibri"/>
                <a:cs typeface="Calibri"/>
                <a:sym typeface="Calibri"/>
              </a:rPr>
              <a:t>. That request essentially describes the requested sectors and the kind of operation to be performed on them (read or write). However, the kernel does not satisfy a request as soon as it is created—the I/O operation is just scheduled and will be performed at a later time. This artificial delay is paradoxically the crucial mechanism for boosting the performance of block devices. When a new block data transfer is requested, the kernel checks whether it can be satisfied by slightly enlarging a previous request that is still waiting (i.e., whether the new request can be satisfied without further seek operations). Because disks tend to be accessed sequentially, this simple mechanism is very effective.</a:t>
            </a:r>
            <a:endParaRPr/>
          </a:p>
          <a:p>
            <a:pPr indent="0" lvl="0" marL="0" rtl="0" algn="l">
              <a:spcBef>
                <a:spcPts val="0"/>
              </a:spcBef>
              <a:spcAft>
                <a:spcPts val="0"/>
              </a:spcAft>
              <a:buNone/>
            </a:pPr>
            <a:r>
              <a:rPr b="0" i="0" lang="en-US" sz="1200">
                <a:solidFill>
                  <a:schemeClr val="dk1"/>
                </a:solidFill>
                <a:latin typeface="Calibri"/>
                <a:ea typeface="Calibri"/>
                <a:cs typeface="Calibri"/>
                <a:sym typeface="Calibri"/>
              </a:rPr>
              <a:t>Deferring requests complicates block device handling. For instance, suppose a process opens a regular file and, consequently, a filesystem driver wants to read the corresponding inode from disk. The ...</a:t>
            </a:r>
            <a:endParaRPr/>
          </a:p>
          <a:p>
            <a:pPr indent="0" lvl="0" marL="0" rtl="0" algn="l">
              <a:spcBef>
                <a:spcPts val="0"/>
              </a:spcBef>
              <a:spcAft>
                <a:spcPts val="0"/>
              </a:spcAft>
              <a:buNone/>
            </a:pPr>
            <a:r>
              <a:t/>
            </a:r>
            <a:endParaRPr/>
          </a:p>
        </p:txBody>
      </p:sp>
      <p:sp>
        <p:nvSpPr>
          <p:cNvPr id="546" name="Google Shape;546;p18: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9:notes"/>
          <p:cNvSpPr txBox="1"/>
          <p:nvPr>
            <p:ph idx="1" type="body"/>
          </p:nvPr>
        </p:nvSpPr>
        <p:spPr>
          <a:xfrm>
            <a:off x="709930" y="4925408"/>
            <a:ext cx="5679440" cy="4029878"/>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576" name="Google Shape;576;p19: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20:notes"/>
          <p:cNvSpPr txBox="1"/>
          <p:nvPr>
            <p:ph idx="1" type="body"/>
          </p:nvPr>
        </p:nvSpPr>
        <p:spPr>
          <a:xfrm>
            <a:off x="709930" y="4925408"/>
            <a:ext cx="5679440" cy="4029878"/>
          </a:xfrm>
          <a:prstGeom prst="rect">
            <a:avLst/>
          </a:prstGeom>
        </p:spPr>
        <p:txBody>
          <a:bodyPr anchorCtr="0" anchor="t" bIns="49500" lIns="99025" spcFirstLastPara="1" rIns="99025" wrap="square" tIns="49500">
            <a:noAutofit/>
          </a:bodyPr>
          <a:lstStyle/>
          <a:p>
            <a:pPr indent="0" lvl="0" marL="0" rtl="0" algn="l">
              <a:spcBef>
                <a:spcPts val="0"/>
              </a:spcBef>
              <a:spcAft>
                <a:spcPts val="0"/>
              </a:spcAft>
              <a:buNone/>
            </a:pPr>
            <a:r>
              <a:t/>
            </a:r>
            <a:endParaRPr/>
          </a:p>
        </p:txBody>
      </p:sp>
      <p:sp>
        <p:nvSpPr>
          <p:cNvPr id="602" name="Google Shape;602;p20: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21:notes"/>
          <p:cNvSpPr/>
          <p:nvPr>
            <p:ph idx="2" type="sldImg"/>
          </p:nvPr>
        </p:nvSpPr>
        <p:spPr>
          <a:xfrm>
            <a:off x="481013" y="1279525"/>
            <a:ext cx="6137275" cy="3452813"/>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p21:notes"/>
          <p:cNvSpPr txBox="1"/>
          <p:nvPr>
            <p:ph idx="1" type="body"/>
          </p:nvPr>
        </p:nvSpPr>
        <p:spPr>
          <a:xfrm>
            <a:off x="709930" y="4925408"/>
            <a:ext cx="5679440" cy="4029878"/>
          </a:xfrm>
          <a:prstGeom prst="rect">
            <a:avLst/>
          </a:prstGeom>
          <a:noFill/>
          <a:ln>
            <a:noFill/>
          </a:ln>
        </p:spPr>
        <p:txBody>
          <a:bodyPr anchorCtr="0" anchor="t" bIns="49500" lIns="99025" spcFirstLastPara="1" rIns="99025" wrap="square" tIns="49500">
            <a:noAutofit/>
          </a:bodyPr>
          <a:lstStyle/>
          <a:p>
            <a:pPr indent="0" lvl="0" marL="0" rtl="0" algn="l">
              <a:spcBef>
                <a:spcPts val="0"/>
              </a:spcBef>
              <a:spcAft>
                <a:spcPts val="0"/>
              </a:spcAft>
              <a:buNone/>
            </a:pPr>
            <a:r>
              <a:rPr lang="en-US"/>
              <a:t>Thanks for your listening</a:t>
            </a:r>
            <a:endParaRPr/>
          </a:p>
        </p:txBody>
      </p:sp>
      <p:sp>
        <p:nvSpPr>
          <p:cNvPr id="610" name="Google Shape;610;p21:notes"/>
          <p:cNvSpPr txBox="1"/>
          <p:nvPr>
            <p:ph idx="12" type="sldNum"/>
          </p:nvPr>
        </p:nvSpPr>
        <p:spPr>
          <a:xfrm>
            <a:off x="4021295" y="9721108"/>
            <a:ext cx="3076363" cy="513507"/>
          </a:xfrm>
          <a:prstGeom prst="rect">
            <a:avLst/>
          </a:prstGeom>
          <a:noFill/>
          <a:ln>
            <a:noFill/>
          </a:ln>
        </p:spPr>
        <p:txBody>
          <a:bodyPr anchorCtr="0" anchor="b" bIns="49500" lIns="99025" spcFirstLastPara="1" rIns="99025" wrap="square" tIns="495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pic>
        <p:nvPicPr>
          <p:cNvPr descr="一張含有 符號, 標誌, 圖形, 圓形 的圖片&#10;&#10;自動產生的描述" id="15" name="Google Shape;15;p23"/>
          <p:cNvPicPr preferRelativeResize="0"/>
          <p:nvPr/>
        </p:nvPicPr>
        <p:blipFill rotWithShape="1">
          <a:blip r:embed="rId2">
            <a:alphaModFix/>
          </a:blip>
          <a:srcRect b="0" l="0" r="0" t="0"/>
          <a:stretch/>
        </p:blipFill>
        <p:spPr>
          <a:xfrm>
            <a:off x="0" y="-224301"/>
            <a:ext cx="1892426" cy="18924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 name="Shape 16"/>
        <p:cNvGrpSpPr/>
        <p:nvPr/>
      </p:nvGrpSpPr>
      <p:grpSpPr>
        <a:xfrm>
          <a:off x="0" y="0"/>
          <a:ext cx="0" cy="0"/>
          <a:chOff x="0" y="0"/>
          <a:chExt cx="0" cy="0"/>
        </a:xfrm>
      </p:grpSpPr>
      <p:sp>
        <p:nvSpPr>
          <p:cNvPr id="17" name="Google Shape;17;p24"/>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400"/>
              <a:buFont typeface="Calibri"/>
              <a:buNone/>
              <a:defRPr b="1" sz="440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4"/>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lvl1pPr indent="-406400" lvl="0" marL="457200" algn="just">
              <a:lnSpc>
                <a:spcPct val="100000"/>
              </a:lnSpc>
              <a:spcBef>
                <a:spcPts val="0"/>
              </a:spcBef>
              <a:spcAft>
                <a:spcPts val="0"/>
              </a:spcAft>
              <a:buClr>
                <a:srgbClr val="333333"/>
              </a:buClr>
              <a:buSzPts val="2800"/>
              <a:buFont typeface="Calibri"/>
              <a:buChar char="•"/>
              <a:defRPr sz="2800">
                <a:latin typeface="Calibri"/>
                <a:ea typeface="Calibri"/>
                <a:cs typeface="Calibri"/>
                <a:sym typeface="Calibri"/>
              </a:defRPr>
            </a:lvl1pPr>
            <a:lvl2pPr indent="-381000" lvl="1" marL="914400" algn="just">
              <a:lnSpc>
                <a:spcPct val="100000"/>
              </a:lnSpc>
              <a:spcBef>
                <a:spcPts val="0"/>
              </a:spcBef>
              <a:spcAft>
                <a:spcPts val="0"/>
              </a:spcAft>
              <a:buClr>
                <a:srgbClr val="333333"/>
              </a:buClr>
              <a:buSzPts val="2400"/>
              <a:buFont typeface="Calibri"/>
              <a:buChar char="–"/>
              <a:defRPr sz="2400">
                <a:latin typeface="Calibri"/>
                <a:ea typeface="Calibri"/>
                <a:cs typeface="Calibri"/>
                <a:sym typeface="Calibri"/>
              </a:defRPr>
            </a:lvl2pPr>
            <a:lvl3pPr indent="-355600" lvl="2" marL="1371600" algn="just">
              <a:lnSpc>
                <a:spcPct val="100000"/>
              </a:lnSpc>
              <a:spcBef>
                <a:spcPts val="0"/>
              </a:spcBef>
              <a:spcAft>
                <a:spcPts val="0"/>
              </a:spcAft>
              <a:buClr>
                <a:srgbClr val="333333"/>
              </a:buClr>
              <a:buSzPts val="2000"/>
              <a:buFont typeface="Calibri"/>
              <a:buChar char="•"/>
              <a:defRPr sz="2000">
                <a:latin typeface="Calibri"/>
                <a:ea typeface="Calibri"/>
                <a:cs typeface="Calibri"/>
                <a:sym typeface="Calibri"/>
              </a:defRPr>
            </a:lvl3pPr>
            <a:lvl4pPr indent="-381000" lvl="3" marL="1828800" algn="just">
              <a:lnSpc>
                <a:spcPct val="100000"/>
              </a:lnSpc>
              <a:spcBef>
                <a:spcPts val="0"/>
              </a:spcBef>
              <a:spcAft>
                <a:spcPts val="0"/>
              </a:spcAft>
              <a:buClr>
                <a:srgbClr val="333333"/>
              </a:buClr>
              <a:buSzPts val="2400"/>
              <a:buFont typeface="Calibri"/>
              <a:buChar char="–"/>
              <a:defRPr sz="2400">
                <a:latin typeface="Calibri"/>
                <a:ea typeface="Calibri"/>
                <a:cs typeface="Calibri"/>
                <a:sym typeface="Calibri"/>
              </a:defRPr>
            </a:lvl4pPr>
            <a:lvl5pPr indent="-381000" lvl="4" marL="2286000" algn="just">
              <a:lnSpc>
                <a:spcPct val="100000"/>
              </a:lnSpc>
              <a:spcBef>
                <a:spcPts val="0"/>
              </a:spcBef>
              <a:spcAft>
                <a:spcPts val="0"/>
              </a:spcAft>
              <a:buClr>
                <a:srgbClr val="333333"/>
              </a:buClr>
              <a:buSzPts val="2400"/>
              <a:buFont typeface="Calibri"/>
              <a:buChar char="»"/>
              <a:defRPr sz="2400">
                <a:latin typeface="Calibri"/>
                <a:ea typeface="Calibri"/>
                <a:cs typeface="Calibri"/>
                <a:sym typeface="Calibri"/>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24"/>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600" u="none" cap="none" strike="noStrike">
                <a:solidFill>
                  <a:schemeClr val="dk1"/>
                </a:solidFill>
                <a:latin typeface="Calibri"/>
                <a:ea typeface="Calibri"/>
                <a:cs typeface="Calibri"/>
                <a:sym typeface="Calibri"/>
              </a:defRPr>
            </a:lvl1pPr>
            <a:lvl2pPr indent="0" lvl="1" marL="0" algn="ctr">
              <a:spcBef>
                <a:spcPts val="0"/>
              </a:spcBef>
              <a:buNone/>
              <a:defRPr b="0" i="0" sz="1600" u="none" cap="none" strike="noStrike">
                <a:solidFill>
                  <a:schemeClr val="dk1"/>
                </a:solidFill>
                <a:latin typeface="Calibri"/>
                <a:ea typeface="Calibri"/>
                <a:cs typeface="Calibri"/>
                <a:sym typeface="Calibri"/>
              </a:defRPr>
            </a:lvl2pPr>
            <a:lvl3pPr indent="0" lvl="2" marL="0" algn="ctr">
              <a:spcBef>
                <a:spcPts val="0"/>
              </a:spcBef>
              <a:buNone/>
              <a:defRPr b="0" i="0" sz="1600" u="none" cap="none" strike="noStrike">
                <a:solidFill>
                  <a:schemeClr val="dk1"/>
                </a:solidFill>
                <a:latin typeface="Calibri"/>
                <a:ea typeface="Calibri"/>
                <a:cs typeface="Calibri"/>
                <a:sym typeface="Calibri"/>
              </a:defRPr>
            </a:lvl3pPr>
            <a:lvl4pPr indent="0" lvl="3" marL="0" algn="ctr">
              <a:spcBef>
                <a:spcPts val="0"/>
              </a:spcBef>
              <a:buNone/>
              <a:defRPr b="0" i="0" sz="1600" u="none" cap="none" strike="noStrike">
                <a:solidFill>
                  <a:schemeClr val="dk1"/>
                </a:solidFill>
                <a:latin typeface="Calibri"/>
                <a:ea typeface="Calibri"/>
                <a:cs typeface="Calibri"/>
                <a:sym typeface="Calibri"/>
              </a:defRPr>
            </a:lvl4pPr>
            <a:lvl5pPr indent="0" lvl="4" marL="0" algn="ctr">
              <a:spcBef>
                <a:spcPts val="0"/>
              </a:spcBef>
              <a:buNone/>
              <a:defRPr b="0" i="0" sz="1600" u="none" cap="none" strike="noStrike">
                <a:solidFill>
                  <a:schemeClr val="dk1"/>
                </a:solidFill>
                <a:latin typeface="Calibri"/>
                <a:ea typeface="Calibri"/>
                <a:cs typeface="Calibri"/>
                <a:sym typeface="Calibri"/>
              </a:defRPr>
            </a:lvl5pPr>
            <a:lvl6pPr indent="0" lvl="5" marL="0" algn="ctr">
              <a:spcBef>
                <a:spcPts val="0"/>
              </a:spcBef>
              <a:buNone/>
              <a:defRPr b="0" i="0" sz="1600" u="none" cap="none" strike="noStrike">
                <a:solidFill>
                  <a:schemeClr val="dk1"/>
                </a:solidFill>
                <a:latin typeface="Calibri"/>
                <a:ea typeface="Calibri"/>
                <a:cs typeface="Calibri"/>
                <a:sym typeface="Calibri"/>
              </a:defRPr>
            </a:lvl6pPr>
            <a:lvl7pPr indent="0" lvl="6" marL="0" algn="ctr">
              <a:spcBef>
                <a:spcPts val="0"/>
              </a:spcBef>
              <a:buNone/>
              <a:defRPr b="0" i="0" sz="1600" u="none" cap="none" strike="noStrike">
                <a:solidFill>
                  <a:schemeClr val="dk1"/>
                </a:solidFill>
                <a:latin typeface="Calibri"/>
                <a:ea typeface="Calibri"/>
                <a:cs typeface="Calibri"/>
                <a:sym typeface="Calibri"/>
              </a:defRPr>
            </a:lvl7pPr>
            <a:lvl8pPr indent="0" lvl="7" marL="0" algn="ctr">
              <a:spcBef>
                <a:spcPts val="0"/>
              </a:spcBef>
              <a:buNone/>
              <a:defRPr b="0" i="0" sz="1600" u="none" cap="none" strike="noStrike">
                <a:solidFill>
                  <a:schemeClr val="dk1"/>
                </a:solidFill>
                <a:latin typeface="Calibri"/>
                <a:ea typeface="Calibri"/>
                <a:cs typeface="Calibri"/>
                <a:sym typeface="Calibri"/>
              </a:defRPr>
            </a:lvl8pPr>
            <a:lvl9pPr indent="0" lvl="8" marL="0" algn="ctr">
              <a:spcBef>
                <a:spcPts val="0"/>
              </a:spcBef>
              <a:buNone/>
              <a:defRPr b="0" i="0" sz="1600" u="none" cap="none" strike="noStrike">
                <a:solidFill>
                  <a:schemeClr val="dk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US"/>
              <a:t>‹#›</a:t>
            </a:fld>
            <a:endParaRPr/>
          </a:p>
        </p:txBody>
      </p:sp>
      <p:sp>
        <p:nvSpPr>
          <p:cNvPr id="20" name="Google Shape;20;p24"/>
          <p:cNvSpPr txBox="1"/>
          <p:nvPr/>
        </p:nvSpPr>
        <p:spPr>
          <a:xfrm>
            <a:off x="0" y="-37131"/>
            <a:ext cx="4750018"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200" u="none" cap="none" strike="noStrike">
                <a:solidFill>
                  <a:srgbClr val="D8D8D8"/>
                </a:solidFill>
                <a:latin typeface="Radley"/>
                <a:ea typeface="Radley"/>
                <a:cs typeface="Radley"/>
                <a:sym typeface="Radley"/>
              </a:rPr>
              <a:t>National Yang Ming Chiao Tung University, Prof. Chun-Feng Wu</a:t>
            </a:r>
            <a:endParaRPr b="1" i="0" sz="1200">
              <a:solidFill>
                <a:srgbClr val="D8D8D8"/>
              </a:solidFill>
              <a:latin typeface="Radley"/>
              <a:ea typeface="Radley"/>
              <a:cs typeface="Radley"/>
              <a:sym typeface="Radley"/>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2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80"/>
              </a:spcBef>
              <a:spcAft>
                <a:spcPts val="0"/>
              </a:spcAft>
              <a:buClr>
                <a:srgbClr val="888888"/>
              </a:buClr>
              <a:buSzPts val="2400"/>
              <a:buFont typeface="Calibri"/>
              <a:buNone/>
              <a:defRPr sz="2400">
                <a:solidFill>
                  <a:srgbClr val="888888"/>
                </a:solidFill>
              </a:defRPr>
            </a:lvl1pPr>
            <a:lvl2pPr indent="-228600" lvl="1" marL="914400" algn="l">
              <a:lnSpc>
                <a:spcPct val="100000"/>
              </a:lnSpc>
              <a:spcBef>
                <a:spcPts val="400"/>
              </a:spcBef>
              <a:spcAft>
                <a:spcPts val="0"/>
              </a:spcAft>
              <a:buClr>
                <a:srgbClr val="888888"/>
              </a:buClr>
              <a:buSzPts val="2000"/>
              <a:buFont typeface="Calibri"/>
              <a:buNone/>
              <a:defRPr sz="2000">
                <a:solidFill>
                  <a:srgbClr val="888888"/>
                </a:solidFill>
              </a:defRPr>
            </a:lvl2pPr>
            <a:lvl3pPr indent="-228600" lvl="2" marL="1371600" algn="l">
              <a:lnSpc>
                <a:spcPct val="100000"/>
              </a:lnSpc>
              <a:spcBef>
                <a:spcPts val="360"/>
              </a:spcBef>
              <a:spcAft>
                <a:spcPts val="0"/>
              </a:spcAft>
              <a:buClr>
                <a:srgbClr val="888888"/>
              </a:buClr>
              <a:buSzPts val="1800"/>
              <a:buFont typeface="Calibri"/>
              <a:buNone/>
              <a:defRPr sz="1800">
                <a:solidFill>
                  <a:srgbClr val="888888"/>
                </a:solidFill>
              </a:defRPr>
            </a:lvl3pPr>
            <a:lvl4pPr indent="-228600" lvl="3" marL="1828800" algn="l">
              <a:lnSpc>
                <a:spcPct val="100000"/>
              </a:lnSpc>
              <a:spcBef>
                <a:spcPts val="320"/>
              </a:spcBef>
              <a:spcAft>
                <a:spcPts val="0"/>
              </a:spcAft>
              <a:buClr>
                <a:srgbClr val="888888"/>
              </a:buClr>
              <a:buSzPts val="1600"/>
              <a:buFont typeface="Calibri"/>
              <a:buNone/>
              <a:defRPr sz="1600">
                <a:solidFill>
                  <a:srgbClr val="888888"/>
                </a:solidFill>
              </a:defRPr>
            </a:lvl4pPr>
            <a:lvl5pPr indent="-228600" lvl="4" marL="2286000" algn="l">
              <a:lnSpc>
                <a:spcPct val="100000"/>
              </a:lnSpc>
              <a:spcBef>
                <a:spcPts val="320"/>
              </a:spcBef>
              <a:spcAft>
                <a:spcPts val="0"/>
              </a:spcAft>
              <a:buClr>
                <a:srgbClr val="888888"/>
              </a:buClr>
              <a:buSzPts val="1600"/>
              <a:buFont typeface="Calibri"/>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25"/>
          <p:cNvSpPr txBox="1"/>
          <p:nvPr>
            <p:ph idx="10" type="dt"/>
          </p:nvPr>
        </p:nvSpPr>
        <p:spPr>
          <a:xfrm>
            <a:off x="348342" y="6356350"/>
            <a:ext cx="1800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5"/>
          <p:cNvSpPr txBox="1"/>
          <p:nvPr>
            <p:ph idx="11" type="ftr"/>
          </p:nvPr>
        </p:nvSpPr>
        <p:spPr>
          <a:xfrm>
            <a:off x="2510971" y="6356350"/>
            <a:ext cx="717005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25"/>
          <p:cNvSpPr txBox="1"/>
          <p:nvPr>
            <p:ph idx="12" type="sldNum"/>
          </p:nvPr>
        </p:nvSpPr>
        <p:spPr>
          <a:xfrm>
            <a:off x="10043658" y="6356350"/>
            <a:ext cx="1800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26"/>
          <p:cNvSpPr txBox="1"/>
          <p:nvPr>
            <p:ph type="title"/>
          </p:nvPr>
        </p:nvSpPr>
        <p:spPr>
          <a:xfrm>
            <a:off x="348343" y="365125"/>
            <a:ext cx="11495314"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333333"/>
              </a:buClr>
              <a:buSzPts val="1800"/>
              <a:buChar char="•"/>
              <a:defRPr/>
            </a:lvl1pPr>
            <a:lvl2pPr indent="-342900" lvl="1" marL="914400" algn="l">
              <a:lnSpc>
                <a:spcPct val="100000"/>
              </a:lnSpc>
              <a:spcBef>
                <a:spcPts val="360"/>
              </a:spcBef>
              <a:spcAft>
                <a:spcPts val="0"/>
              </a:spcAft>
              <a:buClr>
                <a:srgbClr val="333333"/>
              </a:buClr>
              <a:buSzPts val="1800"/>
              <a:buChar char="–"/>
              <a:defRPr/>
            </a:lvl2pPr>
            <a:lvl3pPr indent="-342900" lvl="2" marL="1371600" algn="l">
              <a:lnSpc>
                <a:spcPct val="100000"/>
              </a:lnSpc>
              <a:spcBef>
                <a:spcPts val="360"/>
              </a:spcBef>
              <a:spcAft>
                <a:spcPts val="0"/>
              </a:spcAft>
              <a:buClr>
                <a:srgbClr val="333333"/>
              </a:buClr>
              <a:buSzPts val="1800"/>
              <a:buChar char="•"/>
              <a:defRPr/>
            </a:lvl3pPr>
            <a:lvl4pPr indent="-342900" lvl="3" marL="1828800" algn="l">
              <a:lnSpc>
                <a:spcPct val="100000"/>
              </a:lnSpc>
              <a:spcBef>
                <a:spcPts val="360"/>
              </a:spcBef>
              <a:spcAft>
                <a:spcPts val="0"/>
              </a:spcAft>
              <a:buClr>
                <a:srgbClr val="333333"/>
              </a:buClr>
              <a:buSzPts val="1800"/>
              <a:buChar char="–"/>
              <a:defRPr/>
            </a:lvl4pPr>
            <a:lvl5pPr indent="-342900" lvl="4" marL="2286000" algn="l">
              <a:lnSpc>
                <a:spcPct val="100000"/>
              </a:lnSpc>
              <a:spcBef>
                <a:spcPts val="360"/>
              </a:spcBef>
              <a:spcAft>
                <a:spcPts val="0"/>
              </a:spcAft>
              <a:buClr>
                <a:srgbClr val="333333"/>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333333"/>
              </a:buClr>
              <a:buSzPts val="1800"/>
              <a:buChar char="•"/>
              <a:defRPr/>
            </a:lvl1pPr>
            <a:lvl2pPr indent="-342900" lvl="1" marL="914400" algn="l">
              <a:lnSpc>
                <a:spcPct val="100000"/>
              </a:lnSpc>
              <a:spcBef>
                <a:spcPts val="360"/>
              </a:spcBef>
              <a:spcAft>
                <a:spcPts val="0"/>
              </a:spcAft>
              <a:buClr>
                <a:srgbClr val="333333"/>
              </a:buClr>
              <a:buSzPts val="1800"/>
              <a:buChar char="–"/>
              <a:defRPr/>
            </a:lvl2pPr>
            <a:lvl3pPr indent="-342900" lvl="2" marL="1371600" algn="l">
              <a:lnSpc>
                <a:spcPct val="100000"/>
              </a:lnSpc>
              <a:spcBef>
                <a:spcPts val="360"/>
              </a:spcBef>
              <a:spcAft>
                <a:spcPts val="0"/>
              </a:spcAft>
              <a:buClr>
                <a:srgbClr val="333333"/>
              </a:buClr>
              <a:buSzPts val="1800"/>
              <a:buChar char="•"/>
              <a:defRPr/>
            </a:lvl3pPr>
            <a:lvl4pPr indent="-342900" lvl="3" marL="1828800" algn="l">
              <a:lnSpc>
                <a:spcPct val="100000"/>
              </a:lnSpc>
              <a:spcBef>
                <a:spcPts val="360"/>
              </a:spcBef>
              <a:spcAft>
                <a:spcPts val="0"/>
              </a:spcAft>
              <a:buClr>
                <a:srgbClr val="333333"/>
              </a:buClr>
              <a:buSzPts val="1800"/>
              <a:buChar char="–"/>
              <a:defRPr/>
            </a:lvl4pPr>
            <a:lvl5pPr indent="-342900" lvl="4" marL="2286000" algn="l">
              <a:lnSpc>
                <a:spcPct val="100000"/>
              </a:lnSpc>
              <a:spcBef>
                <a:spcPts val="360"/>
              </a:spcBef>
              <a:spcAft>
                <a:spcPts val="0"/>
              </a:spcAft>
              <a:buClr>
                <a:srgbClr val="333333"/>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6"/>
          <p:cNvSpPr txBox="1"/>
          <p:nvPr>
            <p:ph idx="10" type="dt"/>
          </p:nvPr>
        </p:nvSpPr>
        <p:spPr>
          <a:xfrm>
            <a:off x="348342" y="6356350"/>
            <a:ext cx="1800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6"/>
          <p:cNvSpPr txBox="1"/>
          <p:nvPr>
            <p:ph idx="11" type="ftr"/>
          </p:nvPr>
        </p:nvSpPr>
        <p:spPr>
          <a:xfrm>
            <a:off x="2510971" y="6356350"/>
            <a:ext cx="717005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26"/>
          <p:cNvSpPr txBox="1"/>
          <p:nvPr>
            <p:ph idx="12" type="sldNum"/>
          </p:nvPr>
        </p:nvSpPr>
        <p:spPr>
          <a:xfrm>
            <a:off x="10043658" y="6356350"/>
            <a:ext cx="1800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2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rgbClr val="333333"/>
              </a:buClr>
              <a:buSzPts val="2400"/>
              <a:buFont typeface="Calibri"/>
              <a:buNone/>
              <a:defRPr b="1" sz="2400"/>
            </a:lvl1pPr>
            <a:lvl2pPr indent="-228600" lvl="1" marL="914400" algn="l">
              <a:lnSpc>
                <a:spcPct val="100000"/>
              </a:lnSpc>
              <a:spcBef>
                <a:spcPts val="400"/>
              </a:spcBef>
              <a:spcAft>
                <a:spcPts val="0"/>
              </a:spcAft>
              <a:buClr>
                <a:srgbClr val="333333"/>
              </a:buClr>
              <a:buSzPts val="2000"/>
              <a:buFont typeface="Calibri"/>
              <a:buNone/>
              <a:defRPr b="1" sz="2000"/>
            </a:lvl2pPr>
            <a:lvl3pPr indent="-228600" lvl="2" marL="1371600" algn="l">
              <a:lnSpc>
                <a:spcPct val="100000"/>
              </a:lnSpc>
              <a:spcBef>
                <a:spcPts val="360"/>
              </a:spcBef>
              <a:spcAft>
                <a:spcPts val="0"/>
              </a:spcAft>
              <a:buClr>
                <a:srgbClr val="333333"/>
              </a:buClr>
              <a:buSzPts val="1800"/>
              <a:buFont typeface="Calibri"/>
              <a:buNone/>
              <a:defRPr b="1" sz="1800"/>
            </a:lvl3pPr>
            <a:lvl4pPr indent="-228600" lvl="3" marL="1828800" algn="l">
              <a:lnSpc>
                <a:spcPct val="100000"/>
              </a:lnSpc>
              <a:spcBef>
                <a:spcPts val="320"/>
              </a:spcBef>
              <a:spcAft>
                <a:spcPts val="0"/>
              </a:spcAft>
              <a:buClr>
                <a:srgbClr val="333333"/>
              </a:buClr>
              <a:buSzPts val="1600"/>
              <a:buFont typeface="Calibri"/>
              <a:buNone/>
              <a:defRPr b="1" sz="1600"/>
            </a:lvl4pPr>
            <a:lvl5pPr indent="-228600" lvl="4" marL="2286000" algn="l">
              <a:lnSpc>
                <a:spcPct val="100000"/>
              </a:lnSpc>
              <a:spcBef>
                <a:spcPts val="320"/>
              </a:spcBef>
              <a:spcAft>
                <a:spcPts val="0"/>
              </a:spcAft>
              <a:buClr>
                <a:srgbClr val="333333"/>
              </a:buClr>
              <a:buSzPts val="1600"/>
              <a:buFont typeface="Calibri"/>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2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333333"/>
              </a:buClr>
              <a:buSzPts val="1800"/>
              <a:buChar char="•"/>
              <a:defRPr/>
            </a:lvl1pPr>
            <a:lvl2pPr indent="-342900" lvl="1" marL="914400" algn="l">
              <a:lnSpc>
                <a:spcPct val="100000"/>
              </a:lnSpc>
              <a:spcBef>
                <a:spcPts val="360"/>
              </a:spcBef>
              <a:spcAft>
                <a:spcPts val="0"/>
              </a:spcAft>
              <a:buClr>
                <a:srgbClr val="333333"/>
              </a:buClr>
              <a:buSzPts val="1800"/>
              <a:buChar char="–"/>
              <a:defRPr/>
            </a:lvl2pPr>
            <a:lvl3pPr indent="-342900" lvl="2" marL="1371600" algn="l">
              <a:lnSpc>
                <a:spcPct val="100000"/>
              </a:lnSpc>
              <a:spcBef>
                <a:spcPts val="360"/>
              </a:spcBef>
              <a:spcAft>
                <a:spcPts val="0"/>
              </a:spcAft>
              <a:buClr>
                <a:srgbClr val="333333"/>
              </a:buClr>
              <a:buSzPts val="1800"/>
              <a:buChar char="•"/>
              <a:defRPr/>
            </a:lvl3pPr>
            <a:lvl4pPr indent="-342900" lvl="3" marL="1828800" algn="l">
              <a:lnSpc>
                <a:spcPct val="100000"/>
              </a:lnSpc>
              <a:spcBef>
                <a:spcPts val="360"/>
              </a:spcBef>
              <a:spcAft>
                <a:spcPts val="0"/>
              </a:spcAft>
              <a:buClr>
                <a:srgbClr val="333333"/>
              </a:buClr>
              <a:buSzPts val="1800"/>
              <a:buChar char="–"/>
              <a:defRPr/>
            </a:lvl4pPr>
            <a:lvl5pPr indent="-342900" lvl="4" marL="2286000" algn="l">
              <a:lnSpc>
                <a:spcPct val="100000"/>
              </a:lnSpc>
              <a:spcBef>
                <a:spcPts val="360"/>
              </a:spcBef>
              <a:spcAft>
                <a:spcPts val="0"/>
              </a:spcAft>
              <a:buClr>
                <a:srgbClr val="333333"/>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rgbClr val="333333"/>
              </a:buClr>
              <a:buSzPts val="2400"/>
              <a:buFont typeface="Calibri"/>
              <a:buNone/>
              <a:defRPr b="1" sz="2400"/>
            </a:lvl1pPr>
            <a:lvl2pPr indent="-228600" lvl="1" marL="914400" algn="l">
              <a:lnSpc>
                <a:spcPct val="100000"/>
              </a:lnSpc>
              <a:spcBef>
                <a:spcPts val="400"/>
              </a:spcBef>
              <a:spcAft>
                <a:spcPts val="0"/>
              </a:spcAft>
              <a:buClr>
                <a:srgbClr val="333333"/>
              </a:buClr>
              <a:buSzPts val="2000"/>
              <a:buFont typeface="Calibri"/>
              <a:buNone/>
              <a:defRPr b="1" sz="2000"/>
            </a:lvl2pPr>
            <a:lvl3pPr indent="-228600" lvl="2" marL="1371600" algn="l">
              <a:lnSpc>
                <a:spcPct val="100000"/>
              </a:lnSpc>
              <a:spcBef>
                <a:spcPts val="360"/>
              </a:spcBef>
              <a:spcAft>
                <a:spcPts val="0"/>
              </a:spcAft>
              <a:buClr>
                <a:srgbClr val="333333"/>
              </a:buClr>
              <a:buSzPts val="1800"/>
              <a:buFont typeface="Calibri"/>
              <a:buNone/>
              <a:defRPr b="1" sz="1800"/>
            </a:lvl3pPr>
            <a:lvl4pPr indent="-228600" lvl="3" marL="1828800" algn="l">
              <a:lnSpc>
                <a:spcPct val="100000"/>
              </a:lnSpc>
              <a:spcBef>
                <a:spcPts val="320"/>
              </a:spcBef>
              <a:spcAft>
                <a:spcPts val="0"/>
              </a:spcAft>
              <a:buClr>
                <a:srgbClr val="333333"/>
              </a:buClr>
              <a:buSzPts val="1600"/>
              <a:buFont typeface="Calibri"/>
              <a:buNone/>
              <a:defRPr b="1" sz="1600"/>
            </a:lvl4pPr>
            <a:lvl5pPr indent="-228600" lvl="4" marL="2286000" algn="l">
              <a:lnSpc>
                <a:spcPct val="100000"/>
              </a:lnSpc>
              <a:spcBef>
                <a:spcPts val="320"/>
              </a:spcBef>
              <a:spcAft>
                <a:spcPts val="0"/>
              </a:spcAft>
              <a:buClr>
                <a:srgbClr val="333333"/>
              </a:buClr>
              <a:buSzPts val="1600"/>
              <a:buFont typeface="Calibri"/>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2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333333"/>
              </a:buClr>
              <a:buSzPts val="1800"/>
              <a:buChar char="•"/>
              <a:defRPr/>
            </a:lvl1pPr>
            <a:lvl2pPr indent="-342900" lvl="1" marL="914400" algn="l">
              <a:lnSpc>
                <a:spcPct val="100000"/>
              </a:lnSpc>
              <a:spcBef>
                <a:spcPts val="360"/>
              </a:spcBef>
              <a:spcAft>
                <a:spcPts val="0"/>
              </a:spcAft>
              <a:buClr>
                <a:srgbClr val="333333"/>
              </a:buClr>
              <a:buSzPts val="1800"/>
              <a:buChar char="–"/>
              <a:defRPr/>
            </a:lvl2pPr>
            <a:lvl3pPr indent="-342900" lvl="2" marL="1371600" algn="l">
              <a:lnSpc>
                <a:spcPct val="100000"/>
              </a:lnSpc>
              <a:spcBef>
                <a:spcPts val="360"/>
              </a:spcBef>
              <a:spcAft>
                <a:spcPts val="0"/>
              </a:spcAft>
              <a:buClr>
                <a:srgbClr val="333333"/>
              </a:buClr>
              <a:buSzPts val="1800"/>
              <a:buChar char="•"/>
              <a:defRPr/>
            </a:lvl3pPr>
            <a:lvl4pPr indent="-342900" lvl="3" marL="1828800" algn="l">
              <a:lnSpc>
                <a:spcPct val="100000"/>
              </a:lnSpc>
              <a:spcBef>
                <a:spcPts val="360"/>
              </a:spcBef>
              <a:spcAft>
                <a:spcPts val="0"/>
              </a:spcAft>
              <a:buClr>
                <a:srgbClr val="333333"/>
              </a:buClr>
              <a:buSzPts val="1800"/>
              <a:buChar char="–"/>
              <a:defRPr/>
            </a:lvl4pPr>
            <a:lvl5pPr indent="-342900" lvl="4" marL="2286000" algn="l">
              <a:lnSpc>
                <a:spcPct val="100000"/>
              </a:lnSpc>
              <a:spcBef>
                <a:spcPts val="360"/>
              </a:spcBef>
              <a:spcAft>
                <a:spcPts val="0"/>
              </a:spcAft>
              <a:buClr>
                <a:srgbClr val="333333"/>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7"/>
          <p:cNvSpPr txBox="1"/>
          <p:nvPr>
            <p:ph idx="10" type="dt"/>
          </p:nvPr>
        </p:nvSpPr>
        <p:spPr>
          <a:xfrm>
            <a:off x="348342" y="6356350"/>
            <a:ext cx="1800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7"/>
          <p:cNvSpPr txBox="1"/>
          <p:nvPr>
            <p:ph idx="11" type="ftr"/>
          </p:nvPr>
        </p:nvSpPr>
        <p:spPr>
          <a:xfrm>
            <a:off x="2510971" y="6356350"/>
            <a:ext cx="717005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2" name="Google Shape;42;p27"/>
          <p:cNvSpPr txBox="1"/>
          <p:nvPr>
            <p:ph idx="12" type="sldNum"/>
          </p:nvPr>
        </p:nvSpPr>
        <p:spPr>
          <a:xfrm>
            <a:off x="10043658" y="6356350"/>
            <a:ext cx="1800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28"/>
          <p:cNvSpPr txBox="1"/>
          <p:nvPr>
            <p:ph type="title"/>
          </p:nvPr>
        </p:nvSpPr>
        <p:spPr>
          <a:xfrm>
            <a:off x="348343" y="365125"/>
            <a:ext cx="11495314"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8"/>
          <p:cNvSpPr txBox="1"/>
          <p:nvPr>
            <p:ph idx="10" type="dt"/>
          </p:nvPr>
        </p:nvSpPr>
        <p:spPr>
          <a:xfrm>
            <a:off x="348342" y="6356350"/>
            <a:ext cx="1800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8"/>
          <p:cNvSpPr txBox="1"/>
          <p:nvPr>
            <p:ph idx="11" type="ftr"/>
          </p:nvPr>
        </p:nvSpPr>
        <p:spPr>
          <a:xfrm>
            <a:off x="2510971" y="6356350"/>
            <a:ext cx="717005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7" name="Google Shape;47;p28"/>
          <p:cNvSpPr txBox="1"/>
          <p:nvPr>
            <p:ph idx="12" type="sldNum"/>
          </p:nvPr>
        </p:nvSpPr>
        <p:spPr>
          <a:xfrm>
            <a:off x="10043658" y="6356350"/>
            <a:ext cx="1800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9"/>
          <p:cNvSpPr txBox="1"/>
          <p:nvPr>
            <p:ph idx="10" type="dt"/>
          </p:nvPr>
        </p:nvSpPr>
        <p:spPr>
          <a:xfrm>
            <a:off x="348342" y="6356350"/>
            <a:ext cx="1800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9"/>
          <p:cNvSpPr txBox="1"/>
          <p:nvPr>
            <p:ph idx="11" type="ftr"/>
          </p:nvPr>
        </p:nvSpPr>
        <p:spPr>
          <a:xfrm>
            <a:off x="2510971" y="6356350"/>
            <a:ext cx="717005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1" name="Google Shape;51;p29"/>
          <p:cNvSpPr txBox="1"/>
          <p:nvPr>
            <p:ph idx="12" type="sldNum"/>
          </p:nvPr>
        </p:nvSpPr>
        <p:spPr>
          <a:xfrm>
            <a:off x="10043658" y="6356350"/>
            <a:ext cx="1800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333333"/>
              </a:buClr>
              <a:buSzPts val="3200"/>
              <a:buFont typeface="Calibri"/>
              <a:buChar char="•"/>
              <a:defRPr sz="3200"/>
            </a:lvl1pPr>
            <a:lvl2pPr indent="-406400" lvl="1" marL="914400" algn="l">
              <a:lnSpc>
                <a:spcPct val="100000"/>
              </a:lnSpc>
              <a:spcBef>
                <a:spcPts val="560"/>
              </a:spcBef>
              <a:spcAft>
                <a:spcPts val="0"/>
              </a:spcAft>
              <a:buClr>
                <a:srgbClr val="333333"/>
              </a:buClr>
              <a:buSzPts val="2800"/>
              <a:buFont typeface="Calibri"/>
              <a:buChar char="–"/>
              <a:defRPr sz="2800"/>
            </a:lvl2pPr>
            <a:lvl3pPr indent="-381000" lvl="2" marL="1371600" algn="l">
              <a:lnSpc>
                <a:spcPct val="100000"/>
              </a:lnSpc>
              <a:spcBef>
                <a:spcPts val="480"/>
              </a:spcBef>
              <a:spcAft>
                <a:spcPts val="0"/>
              </a:spcAft>
              <a:buClr>
                <a:srgbClr val="333333"/>
              </a:buClr>
              <a:buSzPts val="2400"/>
              <a:buFont typeface="Calibri"/>
              <a:buChar char="•"/>
              <a:defRPr sz="2400"/>
            </a:lvl3pPr>
            <a:lvl4pPr indent="-355600" lvl="3" marL="1828800" algn="l">
              <a:lnSpc>
                <a:spcPct val="100000"/>
              </a:lnSpc>
              <a:spcBef>
                <a:spcPts val="400"/>
              </a:spcBef>
              <a:spcAft>
                <a:spcPts val="0"/>
              </a:spcAft>
              <a:buClr>
                <a:srgbClr val="333333"/>
              </a:buClr>
              <a:buSzPts val="2000"/>
              <a:buFont typeface="Calibri"/>
              <a:buChar char="–"/>
              <a:defRPr sz="2000"/>
            </a:lvl4pPr>
            <a:lvl5pPr indent="-355600" lvl="4" marL="2286000" algn="l">
              <a:lnSpc>
                <a:spcPct val="100000"/>
              </a:lnSpc>
              <a:spcBef>
                <a:spcPts val="400"/>
              </a:spcBef>
              <a:spcAft>
                <a:spcPts val="0"/>
              </a:spcAft>
              <a:buClr>
                <a:srgbClr val="333333"/>
              </a:buClr>
              <a:buSzPts val="2000"/>
              <a:buFont typeface="Calibri"/>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5" name="Google Shape;55;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rgbClr val="333333"/>
              </a:buClr>
              <a:buSzPts val="1600"/>
              <a:buFont typeface="Calibri"/>
              <a:buNone/>
              <a:defRPr sz="1600"/>
            </a:lvl1pPr>
            <a:lvl2pPr indent="-228600" lvl="1" marL="914400" algn="l">
              <a:lnSpc>
                <a:spcPct val="100000"/>
              </a:lnSpc>
              <a:spcBef>
                <a:spcPts val="280"/>
              </a:spcBef>
              <a:spcAft>
                <a:spcPts val="0"/>
              </a:spcAft>
              <a:buClr>
                <a:srgbClr val="333333"/>
              </a:buClr>
              <a:buSzPts val="1400"/>
              <a:buFont typeface="Calibri"/>
              <a:buNone/>
              <a:defRPr sz="1400"/>
            </a:lvl2pPr>
            <a:lvl3pPr indent="-228600" lvl="2" marL="1371600" algn="l">
              <a:lnSpc>
                <a:spcPct val="100000"/>
              </a:lnSpc>
              <a:spcBef>
                <a:spcPts val="240"/>
              </a:spcBef>
              <a:spcAft>
                <a:spcPts val="0"/>
              </a:spcAft>
              <a:buClr>
                <a:srgbClr val="333333"/>
              </a:buClr>
              <a:buSzPts val="1200"/>
              <a:buFont typeface="Calibri"/>
              <a:buNone/>
              <a:defRPr sz="1200"/>
            </a:lvl3pPr>
            <a:lvl4pPr indent="-228600" lvl="3" marL="1828800" algn="l">
              <a:lnSpc>
                <a:spcPct val="100000"/>
              </a:lnSpc>
              <a:spcBef>
                <a:spcPts val="200"/>
              </a:spcBef>
              <a:spcAft>
                <a:spcPts val="0"/>
              </a:spcAft>
              <a:buClr>
                <a:srgbClr val="333333"/>
              </a:buClr>
              <a:buSzPts val="1000"/>
              <a:buFont typeface="Calibri"/>
              <a:buNone/>
              <a:defRPr sz="1000"/>
            </a:lvl4pPr>
            <a:lvl5pPr indent="-228600" lvl="4" marL="2286000" algn="l">
              <a:lnSpc>
                <a:spcPct val="100000"/>
              </a:lnSpc>
              <a:spcBef>
                <a:spcPts val="200"/>
              </a:spcBef>
              <a:spcAft>
                <a:spcPts val="0"/>
              </a:spcAft>
              <a:buClr>
                <a:srgbClr val="333333"/>
              </a:buClr>
              <a:buSzPts val="1000"/>
              <a:buFont typeface="Calibri"/>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p30"/>
          <p:cNvSpPr txBox="1"/>
          <p:nvPr>
            <p:ph idx="10" type="dt"/>
          </p:nvPr>
        </p:nvSpPr>
        <p:spPr>
          <a:xfrm>
            <a:off x="348342" y="6356350"/>
            <a:ext cx="1800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0"/>
          <p:cNvSpPr txBox="1"/>
          <p:nvPr>
            <p:ph idx="11" type="ftr"/>
          </p:nvPr>
        </p:nvSpPr>
        <p:spPr>
          <a:xfrm>
            <a:off x="2510971" y="6356350"/>
            <a:ext cx="717005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30"/>
          <p:cNvSpPr txBox="1"/>
          <p:nvPr>
            <p:ph idx="12" type="sldNum"/>
          </p:nvPr>
        </p:nvSpPr>
        <p:spPr>
          <a:xfrm>
            <a:off x="10043658" y="6356350"/>
            <a:ext cx="1800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31"/>
          <p:cNvSpPr/>
          <p:nvPr>
            <p:ph idx="2" type="pic"/>
          </p:nvPr>
        </p:nvSpPr>
        <p:spPr>
          <a:xfrm>
            <a:off x="5183188" y="987425"/>
            <a:ext cx="6172200" cy="4873625"/>
          </a:xfrm>
          <a:prstGeom prst="rect">
            <a:avLst/>
          </a:prstGeom>
          <a:noFill/>
          <a:ln>
            <a:noFill/>
          </a:ln>
        </p:spPr>
      </p:sp>
      <p:sp>
        <p:nvSpPr>
          <p:cNvPr id="62" name="Google Shape;62;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rgbClr val="333333"/>
              </a:buClr>
              <a:buSzPts val="1600"/>
              <a:buFont typeface="Calibri"/>
              <a:buNone/>
              <a:defRPr sz="1600"/>
            </a:lvl1pPr>
            <a:lvl2pPr indent="-228600" lvl="1" marL="914400" algn="l">
              <a:lnSpc>
                <a:spcPct val="100000"/>
              </a:lnSpc>
              <a:spcBef>
                <a:spcPts val="280"/>
              </a:spcBef>
              <a:spcAft>
                <a:spcPts val="0"/>
              </a:spcAft>
              <a:buClr>
                <a:srgbClr val="333333"/>
              </a:buClr>
              <a:buSzPts val="1400"/>
              <a:buFont typeface="Calibri"/>
              <a:buNone/>
              <a:defRPr sz="1400"/>
            </a:lvl2pPr>
            <a:lvl3pPr indent="-228600" lvl="2" marL="1371600" algn="l">
              <a:lnSpc>
                <a:spcPct val="100000"/>
              </a:lnSpc>
              <a:spcBef>
                <a:spcPts val="240"/>
              </a:spcBef>
              <a:spcAft>
                <a:spcPts val="0"/>
              </a:spcAft>
              <a:buClr>
                <a:srgbClr val="333333"/>
              </a:buClr>
              <a:buSzPts val="1200"/>
              <a:buFont typeface="Calibri"/>
              <a:buNone/>
              <a:defRPr sz="1200"/>
            </a:lvl3pPr>
            <a:lvl4pPr indent="-228600" lvl="3" marL="1828800" algn="l">
              <a:lnSpc>
                <a:spcPct val="100000"/>
              </a:lnSpc>
              <a:spcBef>
                <a:spcPts val="200"/>
              </a:spcBef>
              <a:spcAft>
                <a:spcPts val="0"/>
              </a:spcAft>
              <a:buClr>
                <a:srgbClr val="333333"/>
              </a:buClr>
              <a:buSzPts val="1000"/>
              <a:buFont typeface="Calibri"/>
              <a:buNone/>
              <a:defRPr sz="1000"/>
            </a:lvl4pPr>
            <a:lvl5pPr indent="-228600" lvl="4" marL="2286000" algn="l">
              <a:lnSpc>
                <a:spcPct val="100000"/>
              </a:lnSpc>
              <a:spcBef>
                <a:spcPts val="200"/>
              </a:spcBef>
              <a:spcAft>
                <a:spcPts val="0"/>
              </a:spcAft>
              <a:buClr>
                <a:srgbClr val="333333"/>
              </a:buClr>
              <a:buSzPts val="1000"/>
              <a:buFont typeface="Calibri"/>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31"/>
          <p:cNvSpPr txBox="1"/>
          <p:nvPr>
            <p:ph idx="10" type="dt"/>
          </p:nvPr>
        </p:nvSpPr>
        <p:spPr>
          <a:xfrm>
            <a:off x="348342" y="6356350"/>
            <a:ext cx="1800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1"/>
          <p:cNvSpPr txBox="1"/>
          <p:nvPr>
            <p:ph idx="11" type="ftr"/>
          </p:nvPr>
        </p:nvSpPr>
        <p:spPr>
          <a:xfrm>
            <a:off x="2510971" y="6356350"/>
            <a:ext cx="717005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5" name="Google Shape;65;p31"/>
          <p:cNvSpPr txBox="1"/>
          <p:nvPr>
            <p:ph idx="12" type="sldNum"/>
          </p:nvPr>
        </p:nvSpPr>
        <p:spPr>
          <a:xfrm>
            <a:off x="10043658" y="6356350"/>
            <a:ext cx="1800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32"/>
          <p:cNvSpPr txBox="1"/>
          <p:nvPr>
            <p:ph type="title"/>
          </p:nvPr>
        </p:nvSpPr>
        <p:spPr>
          <a:xfrm>
            <a:off x="348343" y="365125"/>
            <a:ext cx="11495314"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2"/>
          <p:cNvSpPr txBox="1"/>
          <p:nvPr>
            <p:ph idx="1" type="body"/>
          </p:nvPr>
        </p:nvSpPr>
        <p:spPr>
          <a:xfrm rot="5400000">
            <a:off x="3920331" y="-1746363"/>
            <a:ext cx="4351338" cy="1149531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333333"/>
              </a:buClr>
              <a:buSzPts val="1800"/>
              <a:buChar char="•"/>
              <a:defRPr/>
            </a:lvl1pPr>
            <a:lvl2pPr indent="-342900" lvl="1" marL="914400" algn="l">
              <a:lnSpc>
                <a:spcPct val="100000"/>
              </a:lnSpc>
              <a:spcBef>
                <a:spcPts val="360"/>
              </a:spcBef>
              <a:spcAft>
                <a:spcPts val="0"/>
              </a:spcAft>
              <a:buClr>
                <a:srgbClr val="333333"/>
              </a:buClr>
              <a:buSzPts val="1800"/>
              <a:buChar char="–"/>
              <a:defRPr/>
            </a:lvl2pPr>
            <a:lvl3pPr indent="-342900" lvl="2" marL="1371600" algn="l">
              <a:lnSpc>
                <a:spcPct val="100000"/>
              </a:lnSpc>
              <a:spcBef>
                <a:spcPts val="360"/>
              </a:spcBef>
              <a:spcAft>
                <a:spcPts val="0"/>
              </a:spcAft>
              <a:buClr>
                <a:srgbClr val="333333"/>
              </a:buClr>
              <a:buSzPts val="1800"/>
              <a:buChar char="•"/>
              <a:defRPr/>
            </a:lvl3pPr>
            <a:lvl4pPr indent="-342900" lvl="3" marL="1828800" algn="l">
              <a:lnSpc>
                <a:spcPct val="100000"/>
              </a:lnSpc>
              <a:spcBef>
                <a:spcPts val="360"/>
              </a:spcBef>
              <a:spcAft>
                <a:spcPts val="0"/>
              </a:spcAft>
              <a:buClr>
                <a:srgbClr val="333333"/>
              </a:buClr>
              <a:buSzPts val="1800"/>
              <a:buChar char="–"/>
              <a:defRPr/>
            </a:lvl4pPr>
            <a:lvl5pPr indent="-342900" lvl="4" marL="2286000" algn="l">
              <a:lnSpc>
                <a:spcPct val="100000"/>
              </a:lnSpc>
              <a:spcBef>
                <a:spcPts val="360"/>
              </a:spcBef>
              <a:spcAft>
                <a:spcPts val="0"/>
              </a:spcAft>
              <a:buClr>
                <a:srgbClr val="333333"/>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2"/>
          <p:cNvSpPr txBox="1"/>
          <p:nvPr>
            <p:ph idx="10" type="dt"/>
          </p:nvPr>
        </p:nvSpPr>
        <p:spPr>
          <a:xfrm>
            <a:off x="348342" y="6356350"/>
            <a:ext cx="1800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2"/>
          <p:cNvSpPr txBox="1"/>
          <p:nvPr>
            <p:ph idx="11" type="ftr"/>
          </p:nvPr>
        </p:nvSpPr>
        <p:spPr>
          <a:xfrm>
            <a:off x="2510971" y="6356350"/>
            <a:ext cx="717005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32"/>
          <p:cNvSpPr txBox="1"/>
          <p:nvPr>
            <p:ph idx="12" type="sldNum"/>
          </p:nvPr>
        </p:nvSpPr>
        <p:spPr>
          <a:xfrm>
            <a:off x="10043658" y="6356350"/>
            <a:ext cx="1800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3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333333"/>
              </a:buClr>
              <a:buSzPts val="1800"/>
              <a:buChar char="•"/>
              <a:defRPr/>
            </a:lvl1pPr>
            <a:lvl2pPr indent="-342900" lvl="1" marL="914400" algn="l">
              <a:lnSpc>
                <a:spcPct val="100000"/>
              </a:lnSpc>
              <a:spcBef>
                <a:spcPts val="360"/>
              </a:spcBef>
              <a:spcAft>
                <a:spcPts val="0"/>
              </a:spcAft>
              <a:buClr>
                <a:srgbClr val="333333"/>
              </a:buClr>
              <a:buSzPts val="1800"/>
              <a:buChar char="–"/>
              <a:defRPr/>
            </a:lvl2pPr>
            <a:lvl3pPr indent="-342900" lvl="2" marL="1371600" algn="l">
              <a:lnSpc>
                <a:spcPct val="100000"/>
              </a:lnSpc>
              <a:spcBef>
                <a:spcPts val="360"/>
              </a:spcBef>
              <a:spcAft>
                <a:spcPts val="0"/>
              </a:spcAft>
              <a:buClr>
                <a:srgbClr val="333333"/>
              </a:buClr>
              <a:buSzPts val="1800"/>
              <a:buChar char="•"/>
              <a:defRPr/>
            </a:lvl3pPr>
            <a:lvl4pPr indent="-342900" lvl="3" marL="1828800" algn="l">
              <a:lnSpc>
                <a:spcPct val="100000"/>
              </a:lnSpc>
              <a:spcBef>
                <a:spcPts val="360"/>
              </a:spcBef>
              <a:spcAft>
                <a:spcPts val="0"/>
              </a:spcAft>
              <a:buClr>
                <a:srgbClr val="333333"/>
              </a:buClr>
              <a:buSzPts val="1800"/>
              <a:buChar char="–"/>
              <a:defRPr/>
            </a:lvl4pPr>
            <a:lvl5pPr indent="-342900" lvl="4" marL="2286000" algn="l">
              <a:lnSpc>
                <a:spcPct val="100000"/>
              </a:lnSpc>
              <a:spcBef>
                <a:spcPts val="360"/>
              </a:spcBef>
              <a:spcAft>
                <a:spcPts val="0"/>
              </a:spcAft>
              <a:buClr>
                <a:srgbClr val="333333"/>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3"/>
          <p:cNvSpPr txBox="1"/>
          <p:nvPr>
            <p:ph idx="10" type="dt"/>
          </p:nvPr>
        </p:nvSpPr>
        <p:spPr>
          <a:xfrm>
            <a:off x="348342" y="6356350"/>
            <a:ext cx="18000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3"/>
          <p:cNvSpPr txBox="1"/>
          <p:nvPr>
            <p:ph idx="11" type="ftr"/>
          </p:nvPr>
        </p:nvSpPr>
        <p:spPr>
          <a:xfrm>
            <a:off x="2510971" y="6356350"/>
            <a:ext cx="7170058"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33"/>
          <p:cNvSpPr txBox="1"/>
          <p:nvPr>
            <p:ph idx="12" type="sldNum"/>
          </p:nvPr>
        </p:nvSpPr>
        <p:spPr>
          <a:xfrm>
            <a:off x="10043658" y="6356350"/>
            <a:ext cx="18000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348343" y="365125"/>
            <a:ext cx="11495314" cy="1325563"/>
          </a:xfrm>
          <a:prstGeom prst="rect">
            <a:avLst/>
          </a:prstGeom>
          <a:noFill/>
          <a:ln>
            <a:noFill/>
          </a:ln>
        </p:spPr>
        <p:txBody>
          <a:bodyPr anchorCtr="0" anchor="ctr" bIns="45700" lIns="91425" spcFirstLastPara="1" rIns="91425" wrap="square" tIns="45700">
            <a:normAutofit/>
          </a:bodyPr>
          <a:lstStyle>
            <a:lvl1pPr lvl="0" marR="0" rtl="0" algn="ctr">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
          <p:cNvSpPr txBox="1"/>
          <p:nvPr>
            <p:ph idx="1" type="body"/>
          </p:nvPr>
        </p:nvSpPr>
        <p:spPr>
          <a:xfrm>
            <a:off x="348343" y="1825625"/>
            <a:ext cx="11495314" cy="4351338"/>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rgbClr val="333333"/>
              </a:buClr>
              <a:buSzPts val="3200"/>
              <a:buFont typeface="Calibri"/>
              <a:buChar char="•"/>
              <a:defRPr b="0" i="0" sz="3200" u="none" cap="none" strike="noStrike">
                <a:solidFill>
                  <a:srgbClr val="333333"/>
                </a:solidFill>
                <a:latin typeface="Calibri"/>
                <a:ea typeface="Calibri"/>
                <a:cs typeface="Calibri"/>
                <a:sym typeface="Calibri"/>
              </a:defRPr>
            </a:lvl1pPr>
            <a:lvl2pPr indent="-431800" lvl="1" marL="914400" marR="0" rtl="0" algn="l">
              <a:lnSpc>
                <a:spcPct val="100000"/>
              </a:lnSpc>
              <a:spcBef>
                <a:spcPts val="640"/>
              </a:spcBef>
              <a:spcAft>
                <a:spcPts val="0"/>
              </a:spcAft>
              <a:buClr>
                <a:srgbClr val="333333"/>
              </a:buClr>
              <a:buSzPts val="3200"/>
              <a:buFont typeface="Calibri"/>
              <a:buChar char="–"/>
              <a:defRPr b="0" i="0" sz="3200" u="none" cap="none" strike="noStrike">
                <a:solidFill>
                  <a:srgbClr val="333333"/>
                </a:solidFill>
                <a:latin typeface="Calibri"/>
                <a:ea typeface="Calibri"/>
                <a:cs typeface="Calibri"/>
                <a:sym typeface="Calibri"/>
              </a:defRPr>
            </a:lvl2pPr>
            <a:lvl3pPr indent="-431800" lvl="2" marL="1371600" marR="0" rtl="0" algn="l">
              <a:lnSpc>
                <a:spcPct val="100000"/>
              </a:lnSpc>
              <a:spcBef>
                <a:spcPts val="640"/>
              </a:spcBef>
              <a:spcAft>
                <a:spcPts val="0"/>
              </a:spcAft>
              <a:buClr>
                <a:srgbClr val="333333"/>
              </a:buClr>
              <a:buSzPts val="3200"/>
              <a:buFont typeface="Calibri"/>
              <a:buChar char="•"/>
              <a:defRPr b="0" i="0" sz="3200" u="none" cap="none" strike="noStrike">
                <a:solidFill>
                  <a:srgbClr val="333333"/>
                </a:solidFill>
                <a:latin typeface="Calibri"/>
                <a:ea typeface="Calibri"/>
                <a:cs typeface="Calibri"/>
                <a:sym typeface="Calibri"/>
              </a:defRPr>
            </a:lvl3pPr>
            <a:lvl4pPr indent="-431800" lvl="3" marL="1828800" marR="0" rtl="0" algn="l">
              <a:lnSpc>
                <a:spcPct val="100000"/>
              </a:lnSpc>
              <a:spcBef>
                <a:spcPts val="640"/>
              </a:spcBef>
              <a:spcAft>
                <a:spcPts val="0"/>
              </a:spcAft>
              <a:buClr>
                <a:srgbClr val="333333"/>
              </a:buClr>
              <a:buSzPts val="3200"/>
              <a:buFont typeface="Calibri"/>
              <a:buChar char="–"/>
              <a:defRPr b="0" i="0" sz="3200" u="none" cap="none" strike="noStrike">
                <a:solidFill>
                  <a:srgbClr val="333333"/>
                </a:solidFill>
                <a:latin typeface="Calibri"/>
                <a:ea typeface="Calibri"/>
                <a:cs typeface="Calibri"/>
                <a:sym typeface="Calibri"/>
              </a:defRPr>
            </a:lvl4pPr>
            <a:lvl5pPr indent="-431800" lvl="4" marL="2286000" marR="0" rtl="0" algn="l">
              <a:lnSpc>
                <a:spcPct val="100000"/>
              </a:lnSpc>
              <a:spcBef>
                <a:spcPts val="640"/>
              </a:spcBef>
              <a:spcAft>
                <a:spcPts val="0"/>
              </a:spcAft>
              <a:buClr>
                <a:srgbClr val="333333"/>
              </a:buClr>
              <a:buSzPts val="3200"/>
              <a:buFont typeface="Calibri"/>
              <a:buChar char="»"/>
              <a:defRPr b="0" i="0" sz="3200" u="none" cap="none" strike="noStrike">
                <a:solidFill>
                  <a:srgbClr val="333333"/>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2"/>
          <p:cNvSpPr txBox="1"/>
          <p:nvPr>
            <p:ph idx="10" type="dt"/>
          </p:nvPr>
        </p:nvSpPr>
        <p:spPr>
          <a:xfrm>
            <a:off x="0" y="6477000"/>
            <a:ext cx="18000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2"/>
          <p:cNvSpPr txBox="1"/>
          <p:nvPr>
            <p:ph idx="12" type="sldNum"/>
          </p:nvPr>
        </p:nvSpPr>
        <p:spPr>
          <a:xfrm>
            <a:off x="10392000" y="6476999"/>
            <a:ext cx="18000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rgbClr val="888888"/>
                </a:solidFill>
                <a:latin typeface="Arial"/>
                <a:ea typeface="Arial"/>
                <a:cs typeface="Arial"/>
                <a:sym typeface="Arial"/>
              </a:defRPr>
            </a:lvl1pPr>
            <a:lvl2pPr indent="0" lvl="1" marL="0" marR="0" rtl="0" algn="r">
              <a:spcBef>
                <a:spcPts val="0"/>
              </a:spcBef>
              <a:buNone/>
              <a:defRPr b="1" i="0" sz="1200" u="none" cap="none" strike="noStrike">
                <a:solidFill>
                  <a:srgbClr val="888888"/>
                </a:solidFill>
                <a:latin typeface="Arial"/>
                <a:ea typeface="Arial"/>
                <a:cs typeface="Arial"/>
                <a:sym typeface="Arial"/>
              </a:defRPr>
            </a:lvl2pPr>
            <a:lvl3pPr indent="0" lvl="2" marL="0" marR="0" rtl="0" algn="r">
              <a:spcBef>
                <a:spcPts val="0"/>
              </a:spcBef>
              <a:buNone/>
              <a:defRPr b="1" i="0" sz="1200" u="none" cap="none" strike="noStrike">
                <a:solidFill>
                  <a:srgbClr val="888888"/>
                </a:solidFill>
                <a:latin typeface="Arial"/>
                <a:ea typeface="Arial"/>
                <a:cs typeface="Arial"/>
                <a:sym typeface="Arial"/>
              </a:defRPr>
            </a:lvl3pPr>
            <a:lvl4pPr indent="0" lvl="3" marL="0" marR="0" rtl="0" algn="r">
              <a:spcBef>
                <a:spcPts val="0"/>
              </a:spcBef>
              <a:buNone/>
              <a:defRPr b="1" i="0" sz="1200" u="none" cap="none" strike="noStrike">
                <a:solidFill>
                  <a:srgbClr val="888888"/>
                </a:solidFill>
                <a:latin typeface="Arial"/>
                <a:ea typeface="Arial"/>
                <a:cs typeface="Arial"/>
                <a:sym typeface="Arial"/>
              </a:defRPr>
            </a:lvl4pPr>
            <a:lvl5pPr indent="0" lvl="4" marL="0" marR="0" rtl="0" algn="r">
              <a:spcBef>
                <a:spcPts val="0"/>
              </a:spcBef>
              <a:buNone/>
              <a:defRPr b="1" i="0" sz="1200" u="none" cap="none" strike="noStrike">
                <a:solidFill>
                  <a:srgbClr val="888888"/>
                </a:solidFill>
                <a:latin typeface="Arial"/>
                <a:ea typeface="Arial"/>
                <a:cs typeface="Arial"/>
                <a:sym typeface="Arial"/>
              </a:defRPr>
            </a:lvl5pPr>
            <a:lvl6pPr indent="0" lvl="5" marL="0" marR="0" rtl="0" algn="r">
              <a:spcBef>
                <a:spcPts val="0"/>
              </a:spcBef>
              <a:buNone/>
              <a:defRPr b="1" i="0" sz="1200" u="none" cap="none" strike="noStrike">
                <a:solidFill>
                  <a:srgbClr val="888888"/>
                </a:solidFill>
                <a:latin typeface="Arial"/>
                <a:ea typeface="Arial"/>
                <a:cs typeface="Arial"/>
                <a:sym typeface="Arial"/>
              </a:defRPr>
            </a:lvl6pPr>
            <a:lvl7pPr indent="0" lvl="6" marL="0" marR="0" rtl="0" algn="r">
              <a:spcBef>
                <a:spcPts val="0"/>
              </a:spcBef>
              <a:buNone/>
              <a:defRPr b="1" i="0" sz="1200" u="none" cap="none" strike="noStrike">
                <a:solidFill>
                  <a:srgbClr val="888888"/>
                </a:solidFill>
                <a:latin typeface="Arial"/>
                <a:ea typeface="Arial"/>
                <a:cs typeface="Arial"/>
                <a:sym typeface="Arial"/>
              </a:defRPr>
            </a:lvl7pPr>
            <a:lvl8pPr indent="0" lvl="7" marL="0" marR="0" rtl="0" algn="r">
              <a:spcBef>
                <a:spcPts val="0"/>
              </a:spcBef>
              <a:buNone/>
              <a:defRPr b="1" i="0" sz="1200" u="none" cap="none" strike="noStrike">
                <a:solidFill>
                  <a:srgbClr val="888888"/>
                </a:solidFill>
                <a:latin typeface="Arial"/>
                <a:ea typeface="Arial"/>
                <a:cs typeface="Arial"/>
                <a:sym typeface="Arial"/>
              </a:defRPr>
            </a:lvl8pPr>
            <a:lvl9pPr indent="0" lvl="8" marL="0" marR="0" rtl="0" algn="r">
              <a:spcBef>
                <a:spcPts val="0"/>
              </a:spcBef>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cfwu@g.harvard.edu" TargetMode="External"/><Relationship Id="rId4" Type="http://schemas.openxmlformats.org/officeDocument/2006/relationships/hyperlink" Target="https://cfwu417.github.io/" TargetMode="External"/><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nycu.webex.com/meet/cfwu41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1" Type="http://schemas.openxmlformats.org/officeDocument/2006/relationships/image" Target="../media/image15.jpg"/><Relationship Id="rId10" Type="http://schemas.openxmlformats.org/officeDocument/2006/relationships/image" Target="../media/image11.jpg"/><Relationship Id="rId13" Type="http://schemas.openxmlformats.org/officeDocument/2006/relationships/image" Target="../media/image24.png"/><Relationship Id="rId12" Type="http://schemas.openxmlformats.org/officeDocument/2006/relationships/image" Target="../media/image19.png"/><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17.png"/><Relationship Id="rId9" Type="http://schemas.openxmlformats.org/officeDocument/2006/relationships/image" Target="../media/image12.png"/><Relationship Id="rId5" Type="http://schemas.openxmlformats.org/officeDocument/2006/relationships/image" Target="../media/image10.png"/><Relationship Id="rId6" Type="http://schemas.openxmlformats.org/officeDocument/2006/relationships/image" Target="../media/image14.png"/><Relationship Id="rId7" Type="http://schemas.openxmlformats.org/officeDocument/2006/relationships/image" Target="../media/image13.jpg"/><Relationship Id="rId8"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nvSpPr>
        <p:spPr>
          <a:xfrm>
            <a:off x="632691" y="1653411"/>
            <a:ext cx="10926618" cy="191627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4400" u="none" cap="none" strike="noStrike">
                <a:solidFill>
                  <a:srgbClr val="750F6D"/>
                </a:solidFill>
                <a:latin typeface="Calibri"/>
                <a:ea typeface="Calibri"/>
                <a:cs typeface="Calibri"/>
                <a:sym typeface="Calibri"/>
              </a:rPr>
              <a:t>Operating System</a:t>
            </a:r>
            <a:br>
              <a:rPr b="1" i="0" lang="en-US" sz="4400" u="none" cap="none" strike="noStrike">
                <a:solidFill>
                  <a:srgbClr val="750F6D"/>
                </a:solidFill>
                <a:latin typeface="Calibri"/>
                <a:ea typeface="Calibri"/>
                <a:cs typeface="Calibri"/>
                <a:sym typeface="Calibri"/>
              </a:rPr>
            </a:br>
            <a:r>
              <a:rPr b="1" i="0" lang="en-US" sz="4400" u="none" cap="none" strike="noStrike">
                <a:solidFill>
                  <a:srgbClr val="750F6D"/>
                </a:solidFill>
                <a:latin typeface="Calibri"/>
                <a:ea typeface="Calibri"/>
                <a:cs typeface="Calibri"/>
                <a:sym typeface="Calibri"/>
              </a:rPr>
              <a:t>(114 Autumn)</a:t>
            </a:r>
            <a:endParaRPr/>
          </a:p>
        </p:txBody>
      </p:sp>
      <p:sp>
        <p:nvSpPr>
          <p:cNvPr id="84" name="Google Shape;84;p1"/>
          <p:cNvSpPr txBox="1"/>
          <p:nvPr/>
        </p:nvSpPr>
        <p:spPr>
          <a:xfrm>
            <a:off x="1132114" y="3762490"/>
            <a:ext cx="9927772" cy="1318491"/>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Palatino Linotype"/>
              <a:buNone/>
            </a:pPr>
            <a:r>
              <a:rPr b="1" i="0" lang="en-US" sz="2800" u="none" cap="none" strike="noStrike">
                <a:solidFill>
                  <a:schemeClr val="dk1"/>
                </a:solidFill>
                <a:latin typeface="Palatino Linotype"/>
                <a:ea typeface="Palatino Linotype"/>
                <a:cs typeface="Palatino Linotype"/>
                <a:sym typeface="Palatino Linotype"/>
              </a:rPr>
              <a:t>Chun-Feng Wu (</a:t>
            </a:r>
            <a:r>
              <a:rPr b="1" i="0" lang="en-US" sz="2800" u="none" cap="none" strike="noStrike">
                <a:solidFill>
                  <a:schemeClr val="dk1"/>
                </a:solidFill>
                <a:latin typeface="Arial"/>
                <a:ea typeface="Arial"/>
                <a:cs typeface="Arial"/>
                <a:sym typeface="Arial"/>
              </a:rPr>
              <a:t>吳俊峯</a:t>
            </a:r>
            <a:r>
              <a:rPr b="1" i="0" lang="en-US" sz="2800" u="none" cap="none" strike="noStrike">
                <a:solidFill>
                  <a:schemeClr val="dk1"/>
                </a:solidFill>
                <a:latin typeface="Palatino Linotype"/>
                <a:ea typeface="Palatino Linotype"/>
                <a:cs typeface="Palatino Linotype"/>
                <a:sym typeface="Palatino Linotype"/>
              </a:rPr>
              <a:t>)</a:t>
            </a:r>
            <a:endParaRPr/>
          </a:p>
          <a:p>
            <a:pPr indent="0" lvl="0" marL="0" marR="0" rtl="0" algn="ctr">
              <a:lnSpc>
                <a:spcPct val="100000"/>
              </a:lnSpc>
              <a:spcBef>
                <a:spcPts val="400"/>
              </a:spcBef>
              <a:spcAft>
                <a:spcPts val="0"/>
              </a:spcAft>
              <a:buClr>
                <a:schemeClr val="dk1"/>
              </a:buClr>
              <a:buSzPts val="2000"/>
              <a:buFont typeface="Palatino Linotype"/>
              <a:buNone/>
            </a:pPr>
            <a:r>
              <a:rPr b="1" i="0" lang="en-US" sz="2000" u="none" cap="none" strike="noStrike">
                <a:solidFill>
                  <a:schemeClr val="dk1"/>
                </a:solidFill>
                <a:latin typeface="Palatino Linotype"/>
                <a:ea typeface="Palatino Linotype"/>
                <a:cs typeface="Palatino Linotype"/>
                <a:sym typeface="Palatino Linotype"/>
              </a:rPr>
              <a:t>Assistant Professor, National Yang Ming Chiao Tung University</a:t>
            </a:r>
            <a:endParaRPr/>
          </a:p>
        </p:txBody>
      </p:sp>
      <p:grpSp>
        <p:nvGrpSpPr>
          <p:cNvPr id="85" name="Google Shape;85;p1"/>
          <p:cNvGrpSpPr/>
          <p:nvPr/>
        </p:nvGrpSpPr>
        <p:grpSpPr>
          <a:xfrm>
            <a:off x="4539533" y="4639104"/>
            <a:ext cx="3482385" cy="1144694"/>
            <a:chOff x="4604975" y="4666826"/>
            <a:chExt cx="3482385" cy="1144694"/>
          </a:xfrm>
        </p:grpSpPr>
        <p:sp>
          <p:nvSpPr>
            <p:cNvPr id="86" name="Google Shape;86;p1"/>
            <p:cNvSpPr/>
            <p:nvPr/>
          </p:nvSpPr>
          <p:spPr>
            <a:xfrm>
              <a:off x="6003635" y="4666826"/>
              <a:ext cx="18473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b="0" i="0" sz="2400" u="none" cap="none" strike="noStrike">
                <a:solidFill>
                  <a:schemeClr val="lt1"/>
                </a:solidFill>
                <a:latin typeface="Palatino Linotype"/>
                <a:ea typeface="Palatino Linotype"/>
                <a:cs typeface="Palatino Linotype"/>
                <a:sym typeface="Palatino Linotype"/>
              </a:endParaRPr>
            </a:p>
          </p:txBody>
        </p:sp>
        <p:sp>
          <p:nvSpPr>
            <p:cNvPr id="87" name="Google Shape;87;p1"/>
            <p:cNvSpPr txBox="1"/>
            <p:nvPr/>
          </p:nvSpPr>
          <p:spPr>
            <a:xfrm>
              <a:off x="4911634" y="4786024"/>
              <a:ext cx="3175726" cy="102549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F3F3F"/>
                </a:buClr>
                <a:buSzPts val="1800"/>
                <a:buFont typeface="Palatino Linotype"/>
                <a:buNone/>
              </a:pPr>
              <a:r>
                <a:rPr b="0" i="0" lang="en-US" sz="1800" u="sng" cap="none" strike="noStrike">
                  <a:solidFill>
                    <a:srgbClr val="3F3F3F"/>
                  </a:solidFill>
                  <a:latin typeface="Palatino Linotype"/>
                  <a:ea typeface="Palatino Linotype"/>
                  <a:cs typeface="Palatino Linotype"/>
                  <a:sym typeface="Palatino Linotype"/>
                  <a:hlinkClick r:id="rId3">
                    <a:extLst>
                      <a:ext uri="{A12FA001-AC4F-418D-AE19-62706E023703}">
                        <ahyp:hlinkClr val="tx"/>
                      </a:ext>
                    </a:extLst>
                  </a:hlinkClick>
                </a:rPr>
                <a:t>cfwu417@</a:t>
              </a:r>
              <a:r>
                <a:rPr b="0" i="0" lang="en-US" sz="1800" u="sng" cap="none" strike="noStrike">
                  <a:solidFill>
                    <a:srgbClr val="3F3F3F"/>
                  </a:solidFill>
                  <a:latin typeface="Palatino Linotype"/>
                  <a:ea typeface="Palatino Linotype"/>
                  <a:cs typeface="Palatino Linotype"/>
                  <a:sym typeface="Palatino Linotype"/>
                </a:rPr>
                <a:t>cs.nycu.edu.tw</a:t>
              </a:r>
              <a:endParaRPr/>
            </a:p>
            <a:p>
              <a:pPr indent="0" lvl="0" marL="0" marR="0" rtl="0" algn="l">
                <a:lnSpc>
                  <a:spcPct val="100000"/>
                </a:lnSpc>
                <a:spcBef>
                  <a:spcPts val="360"/>
                </a:spcBef>
                <a:spcAft>
                  <a:spcPts val="0"/>
                </a:spcAft>
                <a:buClr>
                  <a:srgbClr val="3F3F3F"/>
                </a:buClr>
                <a:buSzPts val="1800"/>
                <a:buFont typeface="Palatino Linotype"/>
                <a:buNone/>
              </a:pPr>
              <a:r>
                <a:rPr b="0" i="0" lang="en-US" sz="1800" u="sng" cap="none" strike="noStrike">
                  <a:solidFill>
                    <a:srgbClr val="3F3F3F"/>
                  </a:solidFill>
                  <a:latin typeface="Palatino Linotype"/>
                  <a:ea typeface="Palatino Linotype"/>
                  <a:cs typeface="Palatino Linotype"/>
                  <a:sym typeface="Palatino Linotype"/>
                  <a:hlinkClick r:id="rId4">
                    <a:extLst>
                      <a:ext uri="{A12FA001-AC4F-418D-AE19-62706E023703}">
                        <ahyp:hlinkClr val="tx"/>
                      </a:ext>
                    </a:extLst>
                  </a:hlinkClick>
                </a:rPr>
                <a:t>https://cfwu417.github.io</a:t>
              </a:r>
              <a:endParaRPr b="0" i="0" sz="1800" u="none" cap="none" strike="noStrike">
                <a:solidFill>
                  <a:srgbClr val="3F3F3F"/>
                </a:solidFill>
                <a:latin typeface="Palatino Linotype"/>
                <a:ea typeface="Palatino Linotype"/>
                <a:cs typeface="Palatino Linotype"/>
                <a:sym typeface="Palatino Linotype"/>
              </a:endParaRPr>
            </a:p>
          </p:txBody>
        </p:sp>
        <p:pic>
          <p:nvPicPr>
            <p:cNvPr descr="Shape&#10;&#10;Description automatically generated with low confidence" id="88" name="Google Shape;88;p1"/>
            <p:cNvPicPr preferRelativeResize="0"/>
            <p:nvPr/>
          </p:nvPicPr>
          <p:blipFill rotWithShape="1">
            <a:blip r:embed="rId5">
              <a:alphaModFix/>
            </a:blip>
            <a:srcRect b="0" l="0" r="0" t="0"/>
            <a:stretch/>
          </p:blipFill>
          <p:spPr>
            <a:xfrm>
              <a:off x="4604975" y="4972996"/>
              <a:ext cx="360000" cy="360000"/>
            </a:xfrm>
            <a:prstGeom prst="rect">
              <a:avLst/>
            </a:prstGeom>
            <a:noFill/>
            <a:ln>
              <a:noFill/>
            </a:ln>
          </p:spPr>
        </p:pic>
        <p:pic>
          <p:nvPicPr>
            <p:cNvPr descr="Shape&#10;&#10;Description automatically generated with low confidence" id="89" name="Google Shape;89;p1"/>
            <p:cNvPicPr preferRelativeResize="0"/>
            <p:nvPr/>
          </p:nvPicPr>
          <p:blipFill rotWithShape="1">
            <a:blip r:embed="rId6">
              <a:alphaModFix/>
            </a:blip>
            <a:srcRect b="0" l="0" r="0" t="0"/>
            <a:stretch/>
          </p:blipFill>
          <p:spPr>
            <a:xfrm>
              <a:off x="4604975" y="5301873"/>
              <a:ext cx="360000" cy="360000"/>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Remind– Paper Presentation</a:t>
            </a:r>
            <a:endParaRPr/>
          </a:p>
        </p:txBody>
      </p:sp>
      <p:sp>
        <p:nvSpPr>
          <p:cNvPr id="96" name="Google Shape;96;p2"/>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rgbClr val="333333"/>
              </a:buClr>
              <a:buSzPts val="2800"/>
              <a:buFont typeface="Calibri"/>
              <a:buChar char="•"/>
            </a:pPr>
            <a:r>
              <a:rPr lang="en-US"/>
              <a:t>Should join online when you need to do the presentation.</a:t>
            </a:r>
            <a:endParaRPr/>
          </a:p>
          <a:p>
            <a:pPr indent="-285750" lvl="1" marL="742950" rtl="0" algn="just">
              <a:lnSpc>
                <a:spcPct val="100000"/>
              </a:lnSpc>
              <a:spcBef>
                <a:spcPts val="0"/>
              </a:spcBef>
              <a:spcAft>
                <a:spcPts val="0"/>
              </a:spcAft>
              <a:buClr>
                <a:srgbClr val="333333"/>
              </a:buClr>
              <a:buSzPts val="2400"/>
              <a:buFont typeface="Calibri"/>
              <a:buChar char="–"/>
            </a:pPr>
            <a:r>
              <a:rPr lang="en-US" u="sng">
                <a:solidFill>
                  <a:schemeClr val="hlink"/>
                </a:solidFill>
                <a:hlinkClick r:id="rId3"/>
              </a:rPr>
              <a:t>https://nycu.webex.com/meet/cfwu417</a:t>
            </a:r>
            <a:endParaRPr/>
          </a:p>
          <a:p>
            <a:pPr indent="-285750" lvl="1" marL="742950" rtl="0" algn="just">
              <a:lnSpc>
                <a:spcPct val="100000"/>
              </a:lnSpc>
              <a:spcBef>
                <a:spcPts val="0"/>
              </a:spcBef>
              <a:spcAft>
                <a:spcPts val="0"/>
              </a:spcAft>
              <a:buClr>
                <a:srgbClr val="333333"/>
              </a:buClr>
              <a:buSzPts val="2400"/>
              <a:buFont typeface="Calibri"/>
              <a:buChar char="–"/>
            </a:pPr>
            <a:r>
              <a:rPr lang="en-US"/>
              <a:t>Welcome everyone to join paper presentations </a:t>
            </a:r>
            <a:r>
              <a:rPr lang="en-US">
                <a:solidFill>
                  <a:srgbClr val="C00000"/>
                </a:solidFill>
              </a:rPr>
              <a:t>online every Friday</a:t>
            </a:r>
            <a:r>
              <a:rPr lang="en-US"/>
              <a:t>.</a:t>
            </a:r>
            <a:endParaRPr/>
          </a:p>
          <a:p>
            <a:pPr indent="-342900" lvl="0" marL="342900" rtl="0" algn="just">
              <a:lnSpc>
                <a:spcPct val="100000"/>
              </a:lnSpc>
              <a:spcBef>
                <a:spcPts val="0"/>
              </a:spcBef>
              <a:spcAft>
                <a:spcPts val="0"/>
              </a:spcAft>
              <a:buClr>
                <a:srgbClr val="333333"/>
              </a:buClr>
              <a:buSzPts val="2800"/>
              <a:buFont typeface="Calibri"/>
              <a:buChar char="•"/>
            </a:pPr>
            <a:r>
              <a:rPr lang="en-US"/>
              <a:t>What do we expect for the presentation (6-8min):</a:t>
            </a:r>
            <a:endParaRPr/>
          </a:p>
          <a:p>
            <a:pPr indent="-285750" lvl="1" marL="742950" rtl="0" algn="just">
              <a:lnSpc>
                <a:spcPct val="100000"/>
              </a:lnSpc>
              <a:spcBef>
                <a:spcPts val="0"/>
              </a:spcBef>
              <a:spcAft>
                <a:spcPts val="0"/>
              </a:spcAft>
              <a:buClr>
                <a:srgbClr val="333333"/>
              </a:buClr>
              <a:buSzPts val="2400"/>
              <a:buFont typeface="Calibri"/>
              <a:buChar char="–"/>
            </a:pPr>
            <a:r>
              <a:rPr lang="en-US"/>
              <a:t>Background, Trend (~2min)</a:t>
            </a:r>
            <a:endParaRPr/>
          </a:p>
          <a:p>
            <a:pPr indent="-285750" lvl="1" marL="742950" rtl="0" algn="just">
              <a:lnSpc>
                <a:spcPct val="100000"/>
              </a:lnSpc>
              <a:spcBef>
                <a:spcPts val="0"/>
              </a:spcBef>
              <a:spcAft>
                <a:spcPts val="0"/>
              </a:spcAft>
              <a:buClr>
                <a:srgbClr val="333333"/>
              </a:buClr>
              <a:buSzPts val="2400"/>
              <a:buFont typeface="Calibri"/>
              <a:buChar char="–"/>
            </a:pPr>
            <a:r>
              <a:rPr lang="en-US"/>
              <a:t>Related Works &amp; Observation &amp; Motivation (~2min)</a:t>
            </a:r>
            <a:endParaRPr/>
          </a:p>
          <a:p>
            <a:pPr indent="-285750" lvl="1" marL="742950" rtl="0" algn="just">
              <a:lnSpc>
                <a:spcPct val="100000"/>
              </a:lnSpc>
              <a:spcBef>
                <a:spcPts val="0"/>
              </a:spcBef>
              <a:spcAft>
                <a:spcPts val="0"/>
              </a:spcAft>
              <a:buClr>
                <a:srgbClr val="333333"/>
              </a:buClr>
              <a:buSzPts val="2400"/>
              <a:buFont typeface="Calibri"/>
              <a:buChar char="–"/>
            </a:pPr>
            <a:r>
              <a:rPr lang="en-US"/>
              <a:t>Methodology Concepts (~3min)</a:t>
            </a:r>
            <a:endParaRPr/>
          </a:p>
          <a:p>
            <a:pPr indent="-342900" lvl="0" marL="342900" rtl="0" algn="just">
              <a:lnSpc>
                <a:spcPct val="100000"/>
              </a:lnSpc>
              <a:spcBef>
                <a:spcPts val="0"/>
              </a:spcBef>
              <a:spcAft>
                <a:spcPts val="0"/>
              </a:spcAft>
              <a:buClr>
                <a:srgbClr val="333333"/>
              </a:buClr>
              <a:buSzPts val="2800"/>
              <a:buFont typeface="Calibri"/>
              <a:buChar char="•"/>
            </a:pPr>
            <a:r>
              <a:rPr lang="en-US"/>
              <a:t>Criteria: </a:t>
            </a:r>
            <a:endParaRPr/>
          </a:p>
          <a:p>
            <a:pPr indent="-285750" lvl="1" marL="742950" rtl="0" algn="just">
              <a:lnSpc>
                <a:spcPct val="100000"/>
              </a:lnSpc>
              <a:spcBef>
                <a:spcPts val="0"/>
              </a:spcBef>
              <a:spcAft>
                <a:spcPts val="0"/>
              </a:spcAft>
              <a:buClr>
                <a:srgbClr val="333333"/>
              </a:buClr>
              <a:buSzPts val="2400"/>
              <a:buFont typeface="Calibri"/>
              <a:buChar char="–"/>
            </a:pPr>
            <a:r>
              <a:rPr lang="en-US"/>
              <a:t>Make the motivation clear enough. (Organize the flow from background to related works and to challenges clear)</a:t>
            </a:r>
            <a:endParaRPr/>
          </a:p>
          <a:p>
            <a:pPr indent="-285750" lvl="1" marL="742950" rtl="0" algn="just">
              <a:lnSpc>
                <a:spcPct val="100000"/>
              </a:lnSpc>
              <a:spcBef>
                <a:spcPts val="0"/>
              </a:spcBef>
              <a:spcAft>
                <a:spcPts val="0"/>
              </a:spcAft>
              <a:buClr>
                <a:srgbClr val="333333"/>
              </a:buClr>
              <a:buSzPts val="2400"/>
              <a:buFont typeface="Calibri"/>
              <a:buChar char="–"/>
            </a:pPr>
            <a:r>
              <a:rPr lang="en-US"/>
              <a:t>Let the presentation easy-to-follow. (Some animations can help.)</a:t>
            </a:r>
            <a:endParaRPr/>
          </a:p>
          <a:p>
            <a:pPr indent="-285750" lvl="1" marL="742950" rtl="0" algn="just">
              <a:lnSpc>
                <a:spcPct val="100000"/>
              </a:lnSpc>
              <a:spcBef>
                <a:spcPts val="0"/>
              </a:spcBef>
              <a:spcAft>
                <a:spcPts val="0"/>
              </a:spcAft>
              <a:buClr>
                <a:srgbClr val="333333"/>
              </a:buClr>
              <a:buSzPts val="2400"/>
              <a:buFont typeface="Calibri"/>
              <a:buChar char="–"/>
            </a:pPr>
            <a:r>
              <a:rPr lang="en-US"/>
              <a:t>Point out the design concept of the methodology? (Do not go through the algorithm, please extract the high-level concept.)</a:t>
            </a:r>
            <a:endParaRPr/>
          </a:p>
          <a:p>
            <a:pPr indent="-285750" lvl="1" marL="742950" rtl="0" algn="just">
              <a:lnSpc>
                <a:spcPct val="100000"/>
              </a:lnSpc>
              <a:spcBef>
                <a:spcPts val="0"/>
              </a:spcBef>
              <a:spcAft>
                <a:spcPts val="0"/>
              </a:spcAft>
              <a:buClr>
                <a:srgbClr val="333333"/>
              </a:buClr>
              <a:buSzPts val="2400"/>
              <a:buFont typeface="Calibri"/>
              <a:buChar char="–"/>
            </a:pPr>
            <a:r>
              <a:rPr lang="en-US"/>
              <a:t>Do not let the presentation go over 8 mins</a:t>
            </a:r>
            <a:endParaRPr/>
          </a:p>
        </p:txBody>
      </p:sp>
      <p:sp>
        <p:nvSpPr>
          <p:cNvPr id="97" name="Google Shape;97;p2"/>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nvSpPr>
        <p:spPr>
          <a:xfrm>
            <a:off x="659614" y="2470860"/>
            <a:ext cx="10926618" cy="1916279"/>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4400">
                <a:solidFill>
                  <a:srgbClr val="750F6D"/>
                </a:solidFill>
                <a:latin typeface="Calibri"/>
                <a:ea typeface="Calibri"/>
                <a:cs typeface="Calibri"/>
                <a:sym typeface="Calibri"/>
              </a:rPr>
              <a:t>L1: Operating Systems a Recap</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latin typeface="Calibri"/>
                <a:ea typeface="Calibri"/>
                <a:cs typeface="Calibri"/>
                <a:sym typeface="Calibri"/>
              </a:rPr>
              <a:t>Agenda</a:t>
            </a:r>
            <a:endParaRPr sz="4000">
              <a:latin typeface="Calibri"/>
              <a:ea typeface="Calibri"/>
              <a:cs typeface="Calibri"/>
              <a:sym typeface="Calibri"/>
            </a:endParaRPr>
          </a:p>
        </p:txBody>
      </p:sp>
      <p:sp>
        <p:nvSpPr>
          <p:cNvPr id="110" name="Google Shape;110;p4"/>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Computer System Organization</a:t>
            </a:r>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What is Operating Systems &amp; Linux Kernel</a:t>
            </a:r>
            <a:endParaRPr sz="2800">
              <a:solidFill>
                <a:schemeClr val="dk1"/>
              </a:solidFill>
              <a:latin typeface="Calibri"/>
              <a:ea typeface="Calibri"/>
              <a:cs typeface="Calibri"/>
              <a:sym typeface="Calibri"/>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Operating System Structure</a:t>
            </a:r>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What topics will we cover</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Process &amp; Interrupts</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Main Memory Management</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I/O Devices &amp; Device Driver</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File System</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Challenge of OS</a:t>
            </a:r>
            <a:endParaRPr sz="2400">
              <a:solidFill>
                <a:schemeClr val="dk1"/>
              </a:solidFill>
              <a:latin typeface="Calibri"/>
              <a:ea typeface="Calibri"/>
              <a:cs typeface="Calibri"/>
              <a:sym typeface="Calibri"/>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Advance Topics: Graph Systems, Deep Recommendation System,</a:t>
            </a:r>
            <a:r>
              <a:rPr lang="en-US">
                <a:solidFill>
                  <a:schemeClr val="dk1"/>
                </a:solidFill>
              </a:rPr>
              <a:t> Key-Value Database,</a:t>
            </a:r>
            <a:r>
              <a:rPr lang="en-US" sz="2400">
                <a:solidFill>
                  <a:schemeClr val="dk1"/>
                </a:solidFill>
                <a:latin typeface="Calibri"/>
                <a:ea typeface="Calibri"/>
                <a:cs typeface="Calibri"/>
                <a:sym typeface="Calibri"/>
              </a:rPr>
              <a:t> Dedup</a:t>
            </a:r>
            <a:r>
              <a:rPr lang="en-US">
                <a:solidFill>
                  <a:schemeClr val="dk1"/>
                </a:solidFill>
                <a:latin typeface="Calibri"/>
                <a:ea typeface="Calibri"/>
                <a:cs typeface="Calibri"/>
                <a:sym typeface="Calibri"/>
              </a:rPr>
              <a:t>lication, </a:t>
            </a:r>
            <a:r>
              <a:rPr lang="en-US" sz="2400">
                <a:solidFill>
                  <a:schemeClr val="dk1"/>
                </a:solidFill>
                <a:latin typeface="Calibri"/>
                <a:ea typeface="Calibri"/>
                <a:cs typeface="Calibri"/>
                <a:sym typeface="Calibri"/>
              </a:rPr>
              <a:t>Data Center Computing, Virtualization Concepts</a:t>
            </a:r>
            <a:endParaRPr sz="2800">
              <a:solidFill>
                <a:schemeClr val="dk1"/>
              </a:solidFill>
              <a:latin typeface="Calibri"/>
              <a:ea typeface="Calibri"/>
              <a:cs typeface="Calibri"/>
              <a:sym typeface="Calibri"/>
            </a:endParaRPr>
          </a:p>
          <a:p>
            <a:pPr indent="-165100" lvl="0" marL="342900" rtl="0" algn="l">
              <a:lnSpc>
                <a:spcPct val="100000"/>
              </a:lnSpc>
              <a:spcBef>
                <a:spcPts val="0"/>
              </a:spcBef>
              <a:spcAft>
                <a:spcPts val="0"/>
              </a:spcAft>
              <a:buClr>
                <a:srgbClr val="333333"/>
              </a:buClr>
              <a:buSzPts val="2800"/>
              <a:buFont typeface="Calibri"/>
              <a:buNone/>
            </a:pPr>
            <a:r>
              <a:t/>
            </a:r>
            <a:endParaRPr sz="2800">
              <a:solidFill>
                <a:schemeClr val="dk1"/>
              </a:solidFill>
              <a:latin typeface="Calibri"/>
              <a:ea typeface="Calibri"/>
              <a:cs typeface="Calibri"/>
              <a:sym typeface="Calibri"/>
            </a:endParaRPr>
          </a:p>
        </p:txBody>
      </p:sp>
      <p:sp>
        <p:nvSpPr>
          <p:cNvPr id="111" name="Google Shape;111;p4"/>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idx="1" type="body"/>
          </p:nvPr>
        </p:nvSpPr>
        <p:spPr>
          <a:xfrm>
            <a:off x="177800" y="1238250"/>
            <a:ext cx="11836400" cy="5845456"/>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Introduction: </a:t>
            </a:r>
            <a:r>
              <a:rPr lang="en-US" sz="2800">
                <a:solidFill>
                  <a:srgbClr val="C00000"/>
                </a:solidFill>
                <a:latin typeface="Calibri"/>
                <a:ea typeface="Calibri"/>
                <a:cs typeface="Calibri"/>
                <a:sym typeface="Calibri"/>
              </a:rPr>
              <a:t>Computing</a:t>
            </a:r>
            <a:r>
              <a:rPr lang="en-US" sz="2800">
                <a:solidFill>
                  <a:schemeClr val="dk1"/>
                </a:solidFill>
                <a:latin typeface="Calibri"/>
                <a:ea typeface="Calibri"/>
                <a:cs typeface="Calibri"/>
                <a:sym typeface="Calibri"/>
              </a:rPr>
              <a:t> devices, </a:t>
            </a:r>
            <a:r>
              <a:rPr lang="en-US" sz="2800">
                <a:solidFill>
                  <a:srgbClr val="C00000"/>
                </a:solidFill>
                <a:latin typeface="Calibri"/>
                <a:ea typeface="Calibri"/>
                <a:cs typeface="Calibri"/>
                <a:sym typeface="Calibri"/>
              </a:rPr>
              <a:t>memory</a:t>
            </a:r>
            <a:r>
              <a:rPr lang="en-US" sz="2800">
                <a:solidFill>
                  <a:schemeClr val="dk1"/>
                </a:solidFill>
                <a:latin typeface="Calibri"/>
                <a:ea typeface="Calibri"/>
                <a:cs typeface="Calibri"/>
                <a:sym typeface="Calibri"/>
              </a:rPr>
              <a:t> devices (e.g., DRAM), and </a:t>
            </a:r>
            <a:r>
              <a:rPr lang="en-US" sz="2800">
                <a:solidFill>
                  <a:srgbClr val="C00000"/>
                </a:solidFill>
                <a:latin typeface="Calibri"/>
                <a:ea typeface="Calibri"/>
                <a:cs typeface="Calibri"/>
                <a:sym typeface="Calibri"/>
              </a:rPr>
              <a:t>I/O </a:t>
            </a:r>
            <a:r>
              <a:rPr lang="en-US" sz="2800">
                <a:solidFill>
                  <a:schemeClr val="dk1"/>
                </a:solidFill>
                <a:latin typeface="Calibri"/>
                <a:ea typeface="Calibri"/>
                <a:cs typeface="Calibri"/>
                <a:sym typeface="Calibri"/>
              </a:rPr>
              <a:t>devices (e.g., HDD, SDD, or network devices) are three main basic components.</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Software: The collection of programs, data, and instructions.</a:t>
            </a:r>
            <a:br>
              <a:rPr lang="en-U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Von-Neumann Architecture:</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CPU </a:t>
            </a:r>
            <a:r>
              <a:rPr lang="en-US" sz="2400">
                <a:solidFill>
                  <a:srgbClr val="C00000"/>
                </a:solidFill>
                <a:latin typeface="Calibri"/>
                <a:ea typeface="Calibri"/>
                <a:cs typeface="Calibri"/>
                <a:sym typeface="Calibri"/>
              </a:rPr>
              <a:t>fetches</a:t>
            </a:r>
            <a:r>
              <a:rPr lang="en-US" sz="2400">
                <a:solidFill>
                  <a:schemeClr val="dk1"/>
                </a:solidFill>
                <a:latin typeface="Calibri"/>
                <a:ea typeface="Calibri"/>
                <a:cs typeface="Calibri"/>
                <a:sym typeface="Calibri"/>
              </a:rPr>
              <a:t> an instruction from memory.</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Then, CPU </a:t>
            </a:r>
            <a:r>
              <a:rPr lang="en-US" sz="2400">
                <a:solidFill>
                  <a:srgbClr val="C00000"/>
                </a:solidFill>
                <a:latin typeface="Calibri"/>
                <a:ea typeface="Calibri"/>
                <a:cs typeface="Calibri"/>
                <a:sym typeface="Calibri"/>
              </a:rPr>
              <a:t>decodes and executes </a:t>
            </a:r>
            <a:r>
              <a:rPr lang="en-US" sz="2400">
                <a:solidFill>
                  <a:schemeClr val="dk1"/>
                </a:solidFill>
                <a:latin typeface="Calibri"/>
                <a:ea typeface="Calibri"/>
                <a:cs typeface="Calibri"/>
                <a:sym typeface="Calibri"/>
              </a:rPr>
              <a:t>the instruction.</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CPU fetches next data (</a:t>
            </a:r>
            <a:r>
              <a:rPr lang="en-US" sz="2400">
                <a:solidFill>
                  <a:srgbClr val="C00000"/>
                </a:solidFill>
                <a:latin typeface="Calibri"/>
                <a:ea typeface="Calibri"/>
                <a:cs typeface="Calibri"/>
                <a:sym typeface="Calibri"/>
              </a:rPr>
              <a:t>Automatically Increment PC</a:t>
            </a:r>
            <a:r>
              <a:rPr lang="en-US" sz="2400">
                <a:solidFill>
                  <a:schemeClr val="dk1"/>
                </a:solidFill>
                <a:latin typeface="Calibri"/>
                <a:ea typeface="Calibri"/>
                <a:cs typeface="Calibri"/>
                <a:sym typeface="Calibri"/>
              </a:rPr>
              <a:t>).</a:t>
            </a:r>
            <a:br>
              <a:rPr lang="en-US"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Challenges without Operating Systems:</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CPU will be solely occupied by one process.</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CPU shall wait for I/O devices. (1 ns vs 100 us).</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CPU cannot understand ”file” in I/O devices</a:t>
            </a:r>
            <a:r>
              <a:rPr lang="en-US">
                <a:solidFill>
                  <a:schemeClr val="dk1"/>
                </a:solidFill>
              </a:rPr>
              <a:t>.</a:t>
            </a:r>
            <a:endParaRPr sz="2400">
              <a:solidFill>
                <a:schemeClr val="dk1"/>
              </a:solidFill>
              <a:latin typeface="Calibri"/>
              <a:ea typeface="Calibri"/>
              <a:cs typeface="Calibri"/>
              <a:sym typeface="Calibri"/>
            </a:endParaRPr>
          </a:p>
        </p:txBody>
      </p:sp>
      <p:grpSp>
        <p:nvGrpSpPr>
          <p:cNvPr id="118" name="Google Shape;118;p5"/>
          <p:cNvGrpSpPr/>
          <p:nvPr/>
        </p:nvGrpSpPr>
        <p:grpSpPr>
          <a:xfrm>
            <a:off x="7495699" y="2876402"/>
            <a:ext cx="2430000" cy="3479843"/>
            <a:chOff x="7495699" y="2876402"/>
            <a:chExt cx="2430000" cy="3479843"/>
          </a:xfrm>
        </p:grpSpPr>
        <p:sp>
          <p:nvSpPr>
            <p:cNvPr id="119" name="Google Shape;119;p5"/>
            <p:cNvSpPr/>
            <p:nvPr/>
          </p:nvSpPr>
          <p:spPr>
            <a:xfrm>
              <a:off x="7496355" y="2876402"/>
              <a:ext cx="2428689" cy="1105196"/>
            </a:xfrm>
            <a:prstGeom prst="rect">
              <a:avLst/>
            </a:prstGeom>
            <a:solidFill>
              <a:srgbClr val="FEE599"/>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Compute (e.g., CPU)</a:t>
              </a:r>
              <a:endParaRPr/>
            </a:p>
          </p:txBody>
        </p:sp>
        <p:sp>
          <p:nvSpPr>
            <p:cNvPr id="120" name="Google Shape;120;p5"/>
            <p:cNvSpPr/>
            <p:nvPr/>
          </p:nvSpPr>
          <p:spPr>
            <a:xfrm>
              <a:off x="7495699" y="5683679"/>
              <a:ext cx="2430000" cy="672566"/>
            </a:xfrm>
            <a:prstGeom prst="rect">
              <a:avLst/>
            </a:prstGeom>
            <a:solidFill>
              <a:srgbClr val="C4E0B2"/>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I/O</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(e.g., HDD, SSD)</a:t>
              </a:r>
              <a:endParaRPr sz="1800">
                <a:solidFill>
                  <a:schemeClr val="dk1"/>
                </a:solidFill>
                <a:latin typeface="Calibri"/>
                <a:ea typeface="Calibri"/>
                <a:cs typeface="Calibri"/>
                <a:sym typeface="Calibri"/>
              </a:endParaRPr>
            </a:p>
          </p:txBody>
        </p:sp>
        <p:sp>
          <p:nvSpPr>
            <p:cNvPr id="121" name="Google Shape;121;p5"/>
            <p:cNvSpPr/>
            <p:nvPr/>
          </p:nvSpPr>
          <p:spPr>
            <a:xfrm>
              <a:off x="7495962" y="4325608"/>
              <a:ext cx="2429474" cy="672566"/>
            </a:xfrm>
            <a:prstGeom prst="rect">
              <a:avLst/>
            </a:prstGeom>
            <a:solidFill>
              <a:srgbClr val="F4B08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Memory</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(e.g., DRAM, NVM)</a:t>
              </a:r>
              <a:endParaRPr sz="1800">
                <a:solidFill>
                  <a:schemeClr val="dk1"/>
                </a:solidFill>
                <a:latin typeface="Calibri"/>
                <a:ea typeface="Calibri"/>
                <a:cs typeface="Calibri"/>
                <a:sym typeface="Calibri"/>
              </a:endParaRPr>
            </a:p>
          </p:txBody>
        </p:sp>
      </p:grpSp>
      <p:sp>
        <p:nvSpPr>
          <p:cNvPr id="122" name="Google Shape;122;p5"/>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Computer Organization</a:t>
            </a:r>
            <a:endParaRPr sz="4000">
              <a:latin typeface="Calibri"/>
              <a:ea typeface="Calibri"/>
              <a:cs typeface="Calibri"/>
              <a:sym typeface="Calibri"/>
            </a:endParaRPr>
          </a:p>
        </p:txBody>
      </p:sp>
      <p:sp>
        <p:nvSpPr>
          <p:cNvPr id="123" name="Google Shape;123;p5"/>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124" name="Google Shape;124;p5"/>
          <p:cNvGrpSpPr/>
          <p:nvPr/>
        </p:nvGrpSpPr>
        <p:grpSpPr>
          <a:xfrm>
            <a:off x="8740834" y="3980571"/>
            <a:ext cx="0" cy="1703108"/>
            <a:chOff x="8740834" y="3980571"/>
            <a:chExt cx="0" cy="1703108"/>
          </a:xfrm>
        </p:grpSpPr>
        <p:cxnSp>
          <p:nvCxnSpPr>
            <p:cNvPr id="125" name="Google Shape;125;p5"/>
            <p:cNvCxnSpPr/>
            <p:nvPr/>
          </p:nvCxnSpPr>
          <p:spPr>
            <a:xfrm rot="10800000">
              <a:off x="8740834" y="4998174"/>
              <a:ext cx="0" cy="685505"/>
            </a:xfrm>
            <a:prstGeom prst="straightConnector1">
              <a:avLst/>
            </a:prstGeom>
            <a:noFill/>
            <a:ln cap="flat" cmpd="sng" w="44450">
              <a:solidFill>
                <a:srgbClr val="C00000"/>
              </a:solidFill>
              <a:prstDash val="solid"/>
              <a:miter lim="800000"/>
              <a:headEnd len="med" w="med" type="triangle"/>
              <a:tailEnd len="med" w="med" type="triangle"/>
            </a:ln>
          </p:spPr>
        </p:cxnSp>
        <p:cxnSp>
          <p:nvCxnSpPr>
            <p:cNvPr id="126" name="Google Shape;126;p5"/>
            <p:cNvCxnSpPr/>
            <p:nvPr/>
          </p:nvCxnSpPr>
          <p:spPr>
            <a:xfrm rot="10800000">
              <a:off x="8740834" y="3980571"/>
              <a:ext cx="0" cy="351682"/>
            </a:xfrm>
            <a:prstGeom prst="straightConnector1">
              <a:avLst/>
            </a:prstGeom>
            <a:noFill/>
            <a:ln cap="flat" cmpd="sng" w="44450">
              <a:solidFill>
                <a:srgbClr val="C00000"/>
              </a:solidFill>
              <a:prstDash val="solid"/>
              <a:miter lim="800000"/>
              <a:headEnd len="med" w="med" type="triangle"/>
              <a:tailEnd len="med" w="med" type="triangle"/>
            </a:ln>
          </p:spPr>
        </p:cxnSp>
      </p:grpSp>
      <p:grpSp>
        <p:nvGrpSpPr>
          <p:cNvPr id="127" name="Google Shape;127;p5"/>
          <p:cNvGrpSpPr/>
          <p:nvPr/>
        </p:nvGrpSpPr>
        <p:grpSpPr>
          <a:xfrm>
            <a:off x="7603035" y="3288421"/>
            <a:ext cx="2178787" cy="620896"/>
            <a:chOff x="7603035" y="3288421"/>
            <a:chExt cx="2178787" cy="620896"/>
          </a:xfrm>
        </p:grpSpPr>
        <p:sp>
          <p:nvSpPr>
            <p:cNvPr id="128" name="Google Shape;128;p5"/>
            <p:cNvSpPr/>
            <p:nvPr/>
          </p:nvSpPr>
          <p:spPr>
            <a:xfrm>
              <a:off x="7603035" y="3288421"/>
              <a:ext cx="1204625" cy="620896"/>
            </a:xfrm>
            <a:prstGeom prst="rect">
              <a:avLst/>
            </a:prstGeom>
            <a:solidFill>
              <a:srgbClr val="FFD966"/>
            </a:solidFill>
            <a:ln cap="flat" cmpd="sng" w="12700">
              <a:solidFill>
                <a:schemeClr val="dk1"/>
              </a:solidFill>
              <a:prstDash val="solid"/>
              <a:miter lim="800000"/>
              <a:headEnd len="sm" w="sm" type="none"/>
              <a:tailEnd len="sm" w="sm" type="none"/>
            </a:ln>
          </p:spPr>
          <p:txBody>
            <a:bodyPr anchorCtr="0" anchor="t" bIns="45700" lIns="0" spcFirstLastPara="1" rIns="0"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Control Unit </a:t>
              </a:r>
              <a:endParaRPr/>
            </a:p>
          </p:txBody>
        </p:sp>
        <p:sp>
          <p:nvSpPr>
            <p:cNvPr id="129" name="Google Shape;129;p5"/>
            <p:cNvSpPr/>
            <p:nvPr/>
          </p:nvSpPr>
          <p:spPr>
            <a:xfrm>
              <a:off x="8914343" y="3288421"/>
              <a:ext cx="867479" cy="620896"/>
            </a:xfrm>
            <a:prstGeom prst="rect">
              <a:avLst/>
            </a:prstGeom>
            <a:solidFill>
              <a:srgbClr val="FFD966"/>
            </a:solidFill>
            <a:ln cap="flat" cmpd="sng" w="12700">
              <a:solidFill>
                <a:schemeClr val="dk1"/>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ALU</a:t>
              </a:r>
              <a:endParaRPr/>
            </a:p>
          </p:txBody>
        </p:sp>
      </p:grpSp>
      <p:sp>
        <p:nvSpPr>
          <p:cNvPr id="130" name="Google Shape;130;p5"/>
          <p:cNvSpPr/>
          <p:nvPr/>
        </p:nvSpPr>
        <p:spPr>
          <a:xfrm>
            <a:off x="7946051" y="3586521"/>
            <a:ext cx="518591" cy="284921"/>
          </a:xfrm>
          <a:prstGeom prst="rect">
            <a:avLst/>
          </a:prstGeom>
          <a:solidFill>
            <a:srgbClr val="BF9000"/>
          </a:solidFill>
          <a:ln cap="flat" cmpd="sng" w="12700">
            <a:solidFill>
              <a:schemeClr val="dk1"/>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en-US" sz="1400">
                <a:solidFill>
                  <a:schemeClr val="dk1"/>
                </a:solidFill>
                <a:latin typeface="Calibri"/>
                <a:ea typeface="Calibri"/>
                <a:cs typeface="Calibri"/>
                <a:sym typeface="Calibri"/>
              </a:rPr>
              <a:t>PC</a:t>
            </a:r>
            <a:endParaRPr/>
          </a:p>
        </p:txBody>
      </p:sp>
      <p:grpSp>
        <p:nvGrpSpPr>
          <p:cNvPr id="131" name="Google Shape;131;p5"/>
          <p:cNvGrpSpPr/>
          <p:nvPr/>
        </p:nvGrpSpPr>
        <p:grpSpPr>
          <a:xfrm>
            <a:off x="9908394" y="2876399"/>
            <a:ext cx="2200911" cy="3398668"/>
            <a:chOff x="9919969" y="2876399"/>
            <a:chExt cx="2200911" cy="3398668"/>
          </a:xfrm>
        </p:grpSpPr>
        <p:sp>
          <p:nvSpPr>
            <p:cNvPr id="132" name="Google Shape;132;p5"/>
            <p:cNvSpPr/>
            <p:nvPr/>
          </p:nvSpPr>
          <p:spPr>
            <a:xfrm>
              <a:off x="10454639" y="2876399"/>
              <a:ext cx="1666241" cy="3398668"/>
            </a:xfrm>
            <a:prstGeom prst="rect">
              <a:avLst/>
            </a:prstGeom>
            <a:solidFill>
              <a:srgbClr val="FBE4D4">
                <a:alpha val="84705"/>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3" name="Google Shape;133;p5"/>
            <p:cNvSpPr/>
            <p:nvPr/>
          </p:nvSpPr>
          <p:spPr>
            <a:xfrm rot="-5400000">
              <a:off x="8487971" y="4308398"/>
              <a:ext cx="3398666" cy="534671"/>
            </a:xfrm>
            <a:custGeom>
              <a:rect b="b" l="l" r="r" t="t"/>
              <a:pathLst>
                <a:path extrusionOk="0" h="754240" w="3398666">
                  <a:moveTo>
                    <a:pt x="0" y="754240"/>
                  </a:moveTo>
                  <a:lnTo>
                    <a:pt x="1276229" y="5080"/>
                  </a:lnTo>
                  <a:lnTo>
                    <a:pt x="1949717" y="0"/>
                  </a:lnTo>
                  <a:lnTo>
                    <a:pt x="3398666" y="754240"/>
                  </a:lnTo>
                  <a:lnTo>
                    <a:pt x="0" y="754240"/>
                  </a:lnTo>
                  <a:close/>
                </a:path>
              </a:pathLst>
            </a:custGeom>
            <a:gradFill>
              <a:gsLst>
                <a:gs pos="0">
                  <a:srgbClr val="FBE4D4">
                    <a:alpha val="84705"/>
                  </a:srgbClr>
                </a:gs>
                <a:gs pos="35000">
                  <a:srgbClr val="F7CAAC"/>
                </a:gs>
                <a:gs pos="100000">
                  <a:srgbClr val="F4B081"/>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4" name="Google Shape;134;p5"/>
            <p:cNvSpPr/>
            <p:nvPr/>
          </p:nvSpPr>
          <p:spPr>
            <a:xfrm>
              <a:off x="11005671" y="3070778"/>
              <a:ext cx="969106" cy="290993"/>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5" name="Google Shape;135;p5"/>
            <p:cNvSpPr/>
            <p:nvPr/>
          </p:nvSpPr>
          <p:spPr>
            <a:xfrm>
              <a:off x="11005671" y="3361771"/>
              <a:ext cx="969106" cy="290993"/>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Inst 1</a:t>
              </a:r>
              <a:endParaRPr sz="1800">
                <a:solidFill>
                  <a:schemeClr val="dk1"/>
                </a:solidFill>
                <a:latin typeface="Calibri"/>
                <a:ea typeface="Calibri"/>
                <a:cs typeface="Calibri"/>
                <a:sym typeface="Calibri"/>
              </a:endParaRPr>
            </a:p>
          </p:txBody>
        </p:sp>
        <p:sp>
          <p:nvSpPr>
            <p:cNvPr id="136" name="Google Shape;136;p5"/>
            <p:cNvSpPr/>
            <p:nvPr/>
          </p:nvSpPr>
          <p:spPr>
            <a:xfrm>
              <a:off x="11005671" y="3652764"/>
              <a:ext cx="969106" cy="290993"/>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Inst 2</a:t>
              </a:r>
              <a:endParaRPr sz="1800">
                <a:solidFill>
                  <a:schemeClr val="dk1"/>
                </a:solidFill>
                <a:latin typeface="Calibri"/>
                <a:ea typeface="Calibri"/>
                <a:cs typeface="Calibri"/>
                <a:sym typeface="Calibri"/>
              </a:endParaRPr>
            </a:p>
          </p:txBody>
        </p:sp>
        <p:sp>
          <p:nvSpPr>
            <p:cNvPr id="137" name="Google Shape;137;p5"/>
            <p:cNvSpPr/>
            <p:nvPr/>
          </p:nvSpPr>
          <p:spPr>
            <a:xfrm>
              <a:off x="11005670" y="3943757"/>
              <a:ext cx="969106" cy="290993"/>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Inst 3</a:t>
              </a:r>
              <a:endParaRPr sz="1800">
                <a:solidFill>
                  <a:schemeClr val="dk1"/>
                </a:solidFill>
                <a:latin typeface="Calibri"/>
                <a:ea typeface="Calibri"/>
                <a:cs typeface="Calibri"/>
                <a:sym typeface="Calibri"/>
              </a:endParaRPr>
            </a:p>
          </p:txBody>
        </p:sp>
        <p:sp>
          <p:nvSpPr>
            <p:cNvPr id="138" name="Google Shape;138;p5"/>
            <p:cNvSpPr/>
            <p:nvPr/>
          </p:nvSpPr>
          <p:spPr>
            <a:xfrm>
              <a:off x="11005669" y="4234750"/>
              <a:ext cx="969106" cy="290993"/>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9" name="Google Shape;139;p5"/>
            <p:cNvSpPr/>
            <p:nvPr/>
          </p:nvSpPr>
          <p:spPr>
            <a:xfrm>
              <a:off x="11005670" y="5421361"/>
              <a:ext cx="969106" cy="290993"/>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0" name="Google Shape;140;p5"/>
            <p:cNvSpPr/>
            <p:nvPr/>
          </p:nvSpPr>
          <p:spPr>
            <a:xfrm>
              <a:off x="11005669" y="5712354"/>
              <a:ext cx="969106" cy="290993"/>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1" name="Google Shape;141;p5"/>
            <p:cNvSpPr txBox="1"/>
            <p:nvPr/>
          </p:nvSpPr>
          <p:spPr>
            <a:xfrm>
              <a:off x="11369035" y="4462828"/>
              <a:ext cx="242374"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42" name="Google Shape;142;p5"/>
            <p:cNvSpPr/>
            <p:nvPr/>
          </p:nvSpPr>
          <p:spPr>
            <a:xfrm>
              <a:off x="11005669" y="4526992"/>
              <a:ext cx="969106" cy="894368"/>
            </a:xfrm>
            <a:prstGeom prst="rect">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nvGrpSpPr>
          <p:cNvPr id="143" name="Google Shape;143;p5"/>
          <p:cNvGrpSpPr/>
          <p:nvPr/>
        </p:nvGrpSpPr>
        <p:grpSpPr>
          <a:xfrm>
            <a:off x="10413053" y="3333487"/>
            <a:ext cx="586740" cy="369332"/>
            <a:chOff x="10413053" y="3333487"/>
            <a:chExt cx="586740" cy="369332"/>
          </a:xfrm>
        </p:grpSpPr>
        <p:sp>
          <p:nvSpPr>
            <p:cNvPr id="144" name="Google Shape;144;p5"/>
            <p:cNvSpPr txBox="1"/>
            <p:nvPr/>
          </p:nvSpPr>
          <p:spPr>
            <a:xfrm>
              <a:off x="10413053" y="3333487"/>
              <a:ext cx="4267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PC</a:t>
              </a:r>
              <a:endParaRPr b="1" sz="1800">
                <a:solidFill>
                  <a:schemeClr val="dk1"/>
                </a:solidFill>
                <a:latin typeface="Calibri"/>
                <a:ea typeface="Calibri"/>
                <a:cs typeface="Calibri"/>
                <a:sym typeface="Calibri"/>
              </a:endParaRPr>
            </a:p>
          </p:txBody>
        </p:sp>
        <p:cxnSp>
          <p:nvCxnSpPr>
            <p:cNvPr id="145" name="Google Shape;145;p5"/>
            <p:cNvCxnSpPr/>
            <p:nvPr/>
          </p:nvCxnSpPr>
          <p:spPr>
            <a:xfrm>
              <a:off x="10786070" y="3518153"/>
              <a:ext cx="213723" cy="0"/>
            </a:xfrm>
            <a:prstGeom prst="straightConnector1">
              <a:avLst/>
            </a:prstGeom>
            <a:noFill/>
            <a:ln cap="flat" cmpd="sng" w="38100">
              <a:solidFill>
                <a:schemeClr val="dk1"/>
              </a:solidFill>
              <a:prstDash val="solid"/>
              <a:miter lim="800000"/>
              <a:headEnd len="sm" w="sm" type="none"/>
              <a:tailEnd len="med" w="med" type="triangle"/>
            </a:ln>
          </p:spPr>
        </p:cxnSp>
      </p:grpSp>
      <p:sp>
        <p:nvSpPr>
          <p:cNvPr id="146" name="Google Shape;146;p5"/>
          <p:cNvSpPr txBox="1"/>
          <p:nvPr/>
        </p:nvSpPr>
        <p:spPr>
          <a:xfrm>
            <a:off x="9216758" y="6426629"/>
            <a:ext cx="290656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C00000"/>
                </a:solidFill>
                <a:latin typeface="Calibri"/>
                <a:ea typeface="Calibri"/>
                <a:cs typeface="Calibri"/>
                <a:sym typeface="Calibri"/>
              </a:rPr>
              <a:t>CPU only does routine work!</a:t>
            </a:r>
            <a:endParaRPr b="1" i="1" sz="1800">
              <a:solidFill>
                <a:srgbClr val="C00000"/>
              </a:solidFill>
              <a:latin typeface="Calibri"/>
              <a:ea typeface="Calibri"/>
              <a:cs typeface="Calibri"/>
              <a:sym typeface="Calibri"/>
            </a:endParaRPr>
          </a:p>
        </p:txBody>
      </p:sp>
      <p:grpSp>
        <p:nvGrpSpPr>
          <p:cNvPr id="147" name="Google Shape;147;p5"/>
          <p:cNvGrpSpPr/>
          <p:nvPr/>
        </p:nvGrpSpPr>
        <p:grpSpPr>
          <a:xfrm>
            <a:off x="10407354" y="3658696"/>
            <a:ext cx="586740" cy="369332"/>
            <a:chOff x="10413053" y="3333487"/>
            <a:chExt cx="586740" cy="369332"/>
          </a:xfrm>
        </p:grpSpPr>
        <p:sp>
          <p:nvSpPr>
            <p:cNvPr id="148" name="Google Shape;148;p5"/>
            <p:cNvSpPr txBox="1"/>
            <p:nvPr/>
          </p:nvSpPr>
          <p:spPr>
            <a:xfrm>
              <a:off x="10413053" y="3333487"/>
              <a:ext cx="4267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PC</a:t>
              </a:r>
              <a:endParaRPr b="1" sz="1800">
                <a:solidFill>
                  <a:schemeClr val="dk1"/>
                </a:solidFill>
                <a:latin typeface="Calibri"/>
                <a:ea typeface="Calibri"/>
                <a:cs typeface="Calibri"/>
                <a:sym typeface="Calibri"/>
              </a:endParaRPr>
            </a:p>
          </p:txBody>
        </p:sp>
        <p:cxnSp>
          <p:nvCxnSpPr>
            <p:cNvPr id="149" name="Google Shape;149;p5"/>
            <p:cNvCxnSpPr/>
            <p:nvPr/>
          </p:nvCxnSpPr>
          <p:spPr>
            <a:xfrm>
              <a:off x="10786070" y="3518153"/>
              <a:ext cx="213723" cy="0"/>
            </a:xfrm>
            <a:prstGeom prst="straightConnector1">
              <a:avLst/>
            </a:prstGeom>
            <a:noFill/>
            <a:ln cap="flat" cmpd="sng" w="38100">
              <a:solidFill>
                <a:schemeClr val="dk1"/>
              </a:solidFill>
              <a:prstDash val="solid"/>
              <a:miter lim="800000"/>
              <a:headEnd len="sm" w="sm" type="none"/>
              <a:tailEnd len="med" w="med" type="triangle"/>
            </a:ln>
          </p:spPr>
        </p:cxnSp>
      </p:grpSp>
      <p:sp>
        <p:nvSpPr>
          <p:cNvPr id="150" name="Google Shape;150;p5"/>
          <p:cNvSpPr txBox="1"/>
          <p:nvPr/>
        </p:nvSpPr>
        <p:spPr>
          <a:xfrm>
            <a:off x="944603" y="5381154"/>
            <a:ext cx="228934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C00000"/>
                </a:solidFill>
                <a:latin typeface="Calibri"/>
                <a:ea typeface="Calibri"/>
                <a:cs typeface="Calibri"/>
                <a:sym typeface="Calibri"/>
              </a:rPr>
              <a:t>Sol: Process Scheduler</a:t>
            </a:r>
            <a:endParaRPr b="1" i="1" sz="1800">
              <a:solidFill>
                <a:srgbClr val="C00000"/>
              </a:solidFill>
              <a:latin typeface="Calibri"/>
              <a:ea typeface="Calibri"/>
              <a:cs typeface="Calibri"/>
              <a:sym typeface="Calibri"/>
            </a:endParaRPr>
          </a:p>
        </p:txBody>
      </p:sp>
      <p:sp>
        <p:nvSpPr>
          <p:cNvPr id="151" name="Google Shape;151;p5"/>
          <p:cNvSpPr txBox="1"/>
          <p:nvPr/>
        </p:nvSpPr>
        <p:spPr>
          <a:xfrm>
            <a:off x="944603" y="6027097"/>
            <a:ext cx="409849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C00000"/>
                </a:solidFill>
                <a:latin typeface="Calibri"/>
                <a:ea typeface="Calibri"/>
                <a:cs typeface="Calibri"/>
                <a:sym typeface="Calibri"/>
              </a:rPr>
              <a:t>Sol: Page Fault Handler &amp; Context Switch</a:t>
            </a:r>
            <a:endParaRPr b="1" i="1" sz="1800">
              <a:solidFill>
                <a:srgbClr val="C00000"/>
              </a:solidFill>
              <a:latin typeface="Calibri"/>
              <a:ea typeface="Calibri"/>
              <a:cs typeface="Calibri"/>
              <a:sym typeface="Calibri"/>
            </a:endParaRPr>
          </a:p>
        </p:txBody>
      </p:sp>
      <p:sp>
        <p:nvSpPr>
          <p:cNvPr id="152" name="Google Shape;152;p5"/>
          <p:cNvSpPr txBox="1"/>
          <p:nvPr/>
        </p:nvSpPr>
        <p:spPr>
          <a:xfrm>
            <a:off x="944603" y="6532805"/>
            <a:ext cx="318991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rgbClr val="C00000"/>
                </a:solidFill>
                <a:latin typeface="Calibri"/>
                <a:ea typeface="Calibri"/>
                <a:cs typeface="Calibri"/>
                <a:sym typeface="Calibri"/>
              </a:rPr>
              <a:t>Sol: Device Driver &amp; File System</a:t>
            </a:r>
            <a:endParaRPr b="1" i="1" sz="1800">
              <a:solidFill>
                <a:srgbClr val="C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5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24"/>
                                        </p:tgtEl>
                                        <p:attrNameLst>
                                          <p:attrName>style.visibility</p:attrName>
                                        </p:attrNameLst>
                                      </p:cBhvr>
                                      <p:to>
                                        <p:strVal val="visible"/>
                                      </p:to>
                                    </p:set>
                                    <p:animEffect filter="fade" transition="in">
                                      <p:cBhvr>
                                        <p:cTn dur="500"/>
                                        <p:tgtEl>
                                          <p:spTgt spid="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1"/>
                                        </p:tgtEl>
                                        <p:attrNameLst>
                                          <p:attrName>style.visibility</p:attrName>
                                        </p:attrNameLst>
                                      </p:cBhvr>
                                      <p:to>
                                        <p:strVal val="visible"/>
                                      </p:to>
                                    </p:set>
                                    <p:animEffect filter="fade" transition="in">
                                      <p:cBhvr>
                                        <p:cTn dur="500"/>
                                        <p:tgtEl>
                                          <p:spTgt spid="1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par>
                                <p:cTn fill="hold" nodeType="withEffect" presetClass="entr" presetID="10" presetSubtype="0">
                                  <p:stCondLst>
                                    <p:cond delay="0"/>
                                  </p:stCondLst>
                                  <p:childTnLst>
                                    <p:set>
                                      <p:cBhvr>
                                        <p:cTn dur="1" fill="hold">
                                          <p:stCondLst>
                                            <p:cond delay="0"/>
                                          </p:stCondLst>
                                        </p:cTn>
                                        <p:tgtEl>
                                          <p:spTgt spid="143"/>
                                        </p:tgtEl>
                                        <p:attrNameLst>
                                          <p:attrName>style.visibility</p:attrName>
                                        </p:attrNameLst>
                                      </p:cBhvr>
                                      <p:to>
                                        <p:strVal val="visible"/>
                                      </p:to>
                                    </p:set>
                                    <p:animEffect filter="fade" transition="in">
                                      <p:cBhvr>
                                        <p:cTn dur="500"/>
                                        <p:tgtEl>
                                          <p:spTgt spid="1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gtEl>
                                        <p:attrNameLst>
                                          <p:attrName>style.visibility</p:attrName>
                                        </p:attrNameLst>
                                      </p:cBhvr>
                                      <p:to>
                                        <p:strVal val="visible"/>
                                      </p:to>
                                    </p:set>
                                    <p:animEffect filter="fade" transition="in">
                                      <p:cBhvr>
                                        <p:cTn dur="500"/>
                                        <p:tgtEl>
                                          <p:spTgt spid="146"/>
                                        </p:tgtEl>
                                      </p:cBhvr>
                                    </p:animEffect>
                                  </p:childTnLst>
                                </p:cTn>
                              </p:par>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500"/>
                                        <p:tgtEl>
                                          <p:spTgt spid="147"/>
                                        </p:tgtEl>
                                      </p:cBhvr>
                                    </p:animEffect>
                                  </p:childTnLst>
                                </p:cTn>
                              </p:par>
                              <p:par>
                                <p:cTn fill="hold" nodeType="withEffect" presetClass="exit" presetID="1" presetSubtype="0">
                                  <p:stCondLst>
                                    <p:cond delay="0"/>
                                  </p:stCondLst>
                                  <p:childTnLst>
                                    <p:set>
                                      <p:cBhvr>
                                        <p:cTn dur="1" fill="hold">
                                          <p:stCondLst>
                                            <p:cond delay="1"/>
                                          </p:stCondLst>
                                        </p:cTn>
                                        <p:tgtEl>
                                          <p:spTgt spid="143"/>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150"/>
                                        </p:tgtEl>
                                        <p:attrNameLst>
                                          <p:attrName>style.visibility</p:attrName>
                                        </p:attrNameLst>
                                      </p:cBhvr>
                                      <p:to>
                                        <p:strVal val="visible"/>
                                      </p:to>
                                    </p:set>
                                    <p:animEffect filter="fade" transition="in">
                                      <p:cBhvr>
                                        <p:cTn dur="500"/>
                                        <p:tgtEl>
                                          <p:spTgt spid="150"/>
                                        </p:tgtEl>
                                      </p:cBhvr>
                                    </p:animEffect>
                                  </p:childTnLst>
                                </p:cTn>
                              </p:par>
                              <p:par>
                                <p:cTn fill="hold" nodeType="with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par>
                                <p:cTn fill="hold" nodeType="withEffect" presetClass="entr" presetID="10" presetSubtype="0">
                                  <p:stCondLst>
                                    <p:cond delay="0"/>
                                  </p:stCondLst>
                                  <p:childTnLst>
                                    <p:set>
                                      <p:cBhvr>
                                        <p:cTn dur="1" fill="hold">
                                          <p:stCondLst>
                                            <p:cond delay="0"/>
                                          </p:stCondLst>
                                        </p:cTn>
                                        <p:tgtEl>
                                          <p:spTgt spid="152"/>
                                        </p:tgtEl>
                                        <p:attrNameLst>
                                          <p:attrName>style.visibility</p:attrName>
                                        </p:attrNameLst>
                                      </p:cBhvr>
                                      <p:to>
                                        <p:strVal val="visible"/>
                                      </p:to>
                                    </p:set>
                                    <p:animEffect filter="fade" transition="in">
                                      <p:cBhvr>
                                        <p:cTn dur="5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6"/>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latin typeface="Calibri"/>
                <a:ea typeface="Calibri"/>
                <a:cs typeface="Calibri"/>
                <a:sym typeface="Calibri"/>
              </a:rPr>
              <a:t>Roles of Operating System (OS)</a:t>
            </a:r>
            <a:endParaRPr sz="4000">
              <a:latin typeface="Calibri"/>
              <a:ea typeface="Calibri"/>
              <a:cs typeface="Calibri"/>
              <a:sym typeface="Calibri"/>
            </a:endParaRPr>
          </a:p>
        </p:txBody>
      </p:sp>
      <p:sp>
        <p:nvSpPr>
          <p:cNvPr id="159" name="Google Shape;159;p6"/>
          <p:cNvSpPr txBox="1"/>
          <p:nvPr>
            <p:ph idx="1" type="body"/>
          </p:nvPr>
        </p:nvSpPr>
        <p:spPr>
          <a:xfrm>
            <a:off x="177799" y="1238250"/>
            <a:ext cx="11709401" cy="54419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Goal: A software layer (middleware) stands between applications and computer’s hardware. The role of an OS is to </a:t>
            </a:r>
            <a:r>
              <a:rPr lang="en-US" sz="2800">
                <a:solidFill>
                  <a:srgbClr val="C00000"/>
                </a:solidFill>
                <a:latin typeface="Calibri"/>
                <a:ea typeface="Calibri"/>
                <a:cs typeface="Calibri"/>
                <a:sym typeface="Calibri"/>
              </a:rPr>
              <a:t>coordinate</a:t>
            </a:r>
            <a:r>
              <a:rPr lang="en-US" sz="2800">
                <a:solidFill>
                  <a:schemeClr val="dk1"/>
                </a:solidFill>
                <a:latin typeface="Calibri"/>
                <a:ea typeface="Calibri"/>
                <a:cs typeface="Calibri"/>
                <a:sym typeface="Calibri"/>
              </a:rPr>
              <a:t> and </a:t>
            </a:r>
            <a:r>
              <a:rPr lang="en-US" sz="2800">
                <a:solidFill>
                  <a:srgbClr val="C00000"/>
                </a:solidFill>
                <a:latin typeface="Calibri"/>
                <a:ea typeface="Calibri"/>
                <a:cs typeface="Calibri"/>
                <a:sym typeface="Calibri"/>
              </a:rPr>
              <a:t>manage hardware devices.</a:t>
            </a:r>
            <a:r>
              <a:rPr lang="en-US">
                <a:solidFill>
                  <a:srgbClr val="C00000"/>
                </a:solidFill>
              </a:rPr>
              <a:t> </a:t>
            </a:r>
            <a:r>
              <a:rPr lang="en-US" sz="2800">
                <a:solidFill>
                  <a:schemeClr val="dk1"/>
                </a:solidFill>
                <a:latin typeface="Calibri"/>
                <a:ea typeface="Calibri"/>
                <a:cs typeface="Calibri"/>
                <a:sym typeface="Calibri"/>
              </a:rPr>
              <a:t>(e.g., CPU, memory, storage devices).</a:t>
            </a:r>
            <a:br>
              <a:rPr lang="en-US" sz="2800">
                <a:solidFill>
                  <a:schemeClr val="dk1"/>
                </a:solidFill>
                <a:latin typeface="Calibri"/>
                <a:ea typeface="Calibri"/>
                <a:cs typeface="Calibri"/>
                <a:sym typeface="Calibri"/>
              </a:rPr>
            </a:br>
            <a:endParaRPr sz="2800">
              <a:solidFill>
                <a:schemeClr val="dk1"/>
              </a:solidFill>
              <a:latin typeface="Calibri"/>
              <a:ea typeface="Calibri"/>
              <a:cs typeface="Calibri"/>
              <a:sym typeface="Calibri"/>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OS’s Roles:</a:t>
            </a:r>
            <a:endParaRPr sz="2400">
              <a:solidFill>
                <a:schemeClr val="dk1"/>
              </a:solidFill>
              <a:latin typeface="Calibri"/>
              <a:ea typeface="Calibri"/>
              <a:cs typeface="Calibri"/>
              <a:sym typeface="Calibri"/>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Transparency: Users do not need to</a:t>
            </a: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worry about </a:t>
            </a:r>
            <a:r>
              <a:rPr lang="en-US" sz="2400">
                <a:solidFill>
                  <a:srgbClr val="C00000"/>
                </a:solidFill>
                <a:latin typeface="Calibri"/>
                <a:ea typeface="Calibri"/>
                <a:cs typeface="Calibri"/>
                <a:sym typeface="Calibri"/>
              </a:rPr>
              <a:t>hardware managements </a:t>
            </a:r>
            <a:br>
              <a:rPr lang="en-US" sz="2400">
                <a:solidFill>
                  <a:srgbClr val="C00000"/>
                </a:solidFill>
                <a:latin typeface="Calibri"/>
                <a:ea typeface="Calibri"/>
                <a:cs typeface="Calibri"/>
                <a:sym typeface="Calibri"/>
              </a:rPr>
            </a:br>
            <a:r>
              <a:rPr lang="en-US" sz="2400">
                <a:solidFill>
                  <a:srgbClr val="C00000"/>
                </a:solidFill>
                <a:latin typeface="Calibri"/>
                <a:ea typeface="Calibri"/>
                <a:cs typeface="Calibri"/>
                <a:sym typeface="Calibri"/>
              </a:rPr>
              <a:t>or contentions</a:t>
            </a:r>
            <a:r>
              <a:rPr lang="en-US" sz="2400">
                <a:solidFill>
                  <a:schemeClr val="dk1"/>
                </a:solidFill>
                <a:latin typeface="Calibri"/>
                <a:ea typeface="Calibri"/>
                <a:cs typeface="Calibri"/>
                <a:sym typeface="Calibri"/>
              </a:rPr>
              <a:t>.</a:t>
            </a:r>
            <a:endParaRPr sz="2400">
              <a:solidFill>
                <a:schemeClr val="dk1"/>
              </a:solidFill>
              <a:latin typeface="Calibri"/>
              <a:ea typeface="Calibri"/>
              <a:cs typeface="Calibri"/>
              <a:sym typeface="Calibri"/>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Resource Allocator: </a:t>
            </a:r>
            <a:r>
              <a:rPr lang="en-US" sz="2400">
                <a:solidFill>
                  <a:srgbClr val="C00000"/>
                </a:solidFill>
                <a:latin typeface="Calibri"/>
                <a:ea typeface="Calibri"/>
                <a:cs typeface="Calibri"/>
                <a:sym typeface="Calibri"/>
              </a:rPr>
              <a:t>Manage</a:t>
            </a:r>
            <a:r>
              <a:rPr lang="en-US" sz="2400">
                <a:solidFill>
                  <a:schemeClr val="dk1"/>
                </a:solidFill>
                <a:latin typeface="Calibri"/>
                <a:ea typeface="Calibri"/>
                <a:cs typeface="Calibri"/>
                <a:sym typeface="Calibri"/>
              </a:rPr>
              <a:t> CPU time, </a:t>
            </a: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memory space and I/O resources.</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Control Program: </a:t>
            </a:r>
            <a:r>
              <a:rPr lang="en-US" sz="2400">
                <a:solidFill>
                  <a:srgbClr val="C00000"/>
                </a:solidFill>
                <a:latin typeface="Calibri"/>
                <a:ea typeface="Calibri"/>
                <a:cs typeface="Calibri"/>
                <a:sym typeface="Calibri"/>
              </a:rPr>
              <a:t>Prevent errors </a:t>
            </a:r>
            <a:r>
              <a:rPr lang="en-US" sz="2400">
                <a:solidFill>
                  <a:schemeClr val="dk1"/>
                </a:solidFill>
                <a:latin typeface="Calibri"/>
                <a:ea typeface="Calibri"/>
                <a:cs typeface="Calibri"/>
                <a:sym typeface="Calibri"/>
              </a:rPr>
              <a:t>and </a:t>
            </a: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improper use of computers.</a:t>
            </a:r>
            <a:endParaRPr/>
          </a:p>
        </p:txBody>
      </p:sp>
      <p:sp>
        <p:nvSpPr>
          <p:cNvPr id="160" name="Google Shape;160;p6"/>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61" name="Google Shape;161;p6"/>
          <p:cNvSpPr/>
          <p:nvPr/>
        </p:nvSpPr>
        <p:spPr>
          <a:xfrm>
            <a:off x="6096000" y="3918840"/>
            <a:ext cx="5681460" cy="754379"/>
          </a:xfrm>
          <a:prstGeom prst="rect">
            <a:avLst/>
          </a:prstGeom>
          <a:solidFill>
            <a:srgbClr val="BBD6EE"/>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Operating System</a:t>
            </a:r>
            <a:endParaRPr sz="1600">
              <a:solidFill>
                <a:schemeClr val="dk1"/>
              </a:solidFill>
              <a:latin typeface="Calibri"/>
              <a:ea typeface="Calibri"/>
              <a:cs typeface="Calibri"/>
              <a:sym typeface="Calibri"/>
            </a:endParaRPr>
          </a:p>
        </p:txBody>
      </p:sp>
      <p:grpSp>
        <p:nvGrpSpPr>
          <p:cNvPr id="162" name="Google Shape;162;p6"/>
          <p:cNvGrpSpPr/>
          <p:nvPr/>
        </p:nvGrpSpPr>
        <p:grpSpPr>
          <a:xfrm>
            <a:off x="6096000" y="2892809"/>
            <a:ext cx="5681463" cy="540000"/>
            <a:chOff x="3253747" y="1238250"/>
            <a:chExt cx="5681463" cy="540000"/>
          </a:xfrm>
        </p:grpSpPr>
        <p:sp>
          <p:nvSpPr>
            <p:cNvPr id="163" name="Google Shape;163;p6"/>
            <p:cNvSpPr/>
            <p:nvPr/>
          </p:nvSpPr>
          <p:spPr>
            <a:xfrm>
              <a:off x="3253747" y="1238250"/>
              <a:ext cx="1800000"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Neural Networks</a:t>
              </a:r>
              <a:endParaRPr sz="1600">
                <a:solidFill>
                  <a:schemeClr val="dk1"/>
                </a:solidFill>
                <a:latin typeface="Calibri"/>
                <a:ea typeface="Calibri"/>
                <a:cs typeface="Calibri"/>
                <a:sym typeface="Calibri"/>
              </a:endParaRPr>
            </a:p>
          </p:txBody>
        </p:sp>
        <p:sp>
          <p:nvSpPr>
            <p:cNvPr id="164" name="Google Shape;164;p6"/>
            <p:cNvSpPr/>
            <p:nvPr/>
          </p:nvSpPr>
          <p:spPr>
            <a:xfrm>
              <a:off x="5196000" y="1238250"/>
              <a:ext cx="1800000"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Web Browsers</a:t>
              </a:r>
              <a:endParaRPr sz="1600">
                <a:solidFill>
                  <a:schemeClr val="dk1"/>
                </a:solidFill>
                <a:latin typeface="Calibri"/>
                <a:ea typeface="Calibri"/>
                <a:cs typeface="Calibri"/>
                <a:sym typeface="Calibri"/>
              </a:endParaRPr>
            </a:p>
          </p:txBody>
        </p:sp>
        <p:sp>
          <p:nvSpPr>
            <p:cNvPr id="165" name="Google Shape;165;p6"/>
            <p:cNvSpPr/>
            <p:nvPr/>
          </p:nvSpPr>
          <p:spPr>
            <a:xfrm>
              <a:off x="7135210" y="1238250"/>
              <a:ext cx="1800000"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 Video Players</a:t>
              </a:r>
              <a:endParaRPr sz="1600">
                <a:solidFill>
                  <a:schemeClr val="dk1"/>
                </a:solidFill>
                <a:latin typeface="Calibri"/>
                <a:ea typeface="Calibri"/>
                <a:cs typeface="Calibri"/>
                <a:sym typeface="Calibri"/>
              </a:endParaRPr>
            </a:p>
          </p:txBody>
        </p:sp>
      </p:grpSp>
      <p:sp>
        <p:nvSpPr>
          <p:cNvPr id="166" name="Google Shape;166;p6"/>
          <p:cNvSpPr/>
          <p:nvPr/>
        </p:nvSpPr>
        <p:spPr>
          <a:xfrm>
            <a:off x="6096000" y="5144264"/>
            <a:ext cx="5681460" cy="1219960"/>
          </a:xfrm>
          <a:prstGeom prst="rect">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Computer Hardware</a:t>
            </a:r>
            <a:endParaRPr sz="1600">
              <a:solidFill>
                <a:schemeClr val="dk1"/>
              </a:solidFill>
              <a:latin typeface="Calibri"/>
              <a:ea typeface="Calibri"/>
              <a:cs typeface="Calibri"/>
              <a:sym typeface="Calibri"/>
            </a:endParaRPr>
          </a:p>
        </p:txBody>
      </p:sp>
      <p:sp>
        <p:nvSpPr>
          <p:cNvPr id="167" name="Google Shape;167;p6"/>
          <p:cNvSpPr/>
          <p:nvPr/>
        </p:nvSpPr>
        <p:spPr>
          <a:xfrm>
            <a:off x="6365557" y="5510916"/>
            <a:ext cx="1422926" cy="677416"/>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Computing Devices</a:t>
            </a:r>
            <a:endParaRPr sz="1600">
              <a:solidFill>
                <a:schemeClr val="dk1"/>
              </a:solidFill>
              <a:latin typeface="Calibri"/>
              <a:ea typeface="Calibri"/>
              <a:cs typeface="Calibri"/>
              <a:sym typeface="Calibri"/>
            </a:endParaRPr>
          </a:p>
        </p:txBody>
      </p:sp>
      <p:sp>
        <p:nvSpPr>
          <p:cNvPr id="168" name="Google Shape;168;p6"/>
          <p:cNvSpPr/>
          <p:nvPr/>
        </p:nvSpPr>
        <p:spPr>
          <a:xfrm>
            <a:off x="8271973" y="5510916"/>
            <a:ext cx="1422926" cy="677416"/>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Memory Devices</a:t>
            </a:r>
            <a:endParaRPr sz="1600">
              <a:solidFill>
                <a:schemeClr val="dk1"/>
              </a:solidFill>
              <a:latin typeface="Calibri"/>
              <a:ea typeface="Calibri"/>
              <a:cs typeface="Calibri"/>
              <a:sym typeface="Calibri"/>
            </a:endParaRPr>
          </a:p>
        </p:txBody>
      </p:sp>
      <p:sp>
        <p:nvSpPr>
          <p:cNvPr id="169" name="Google Shape;169;p6"/>
          <p:cNvSpPr/>
          <p:nvPr/>
        </p:nvSpPr>
        <p:spPr>
          <a:xfrm>
            <a:off x="10178389" y="5510916"/>
            <a:ext cx="1422926" cy="677416"/>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I/O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Devices</a:t>
            </a:r>
            <a:endParaRPr sz="1600">
              <a:solidFill>
                <a:schemeClr val="dk1"/>
              </a:solidFill>
              <a:latin typeface="Calibri"/>
              <a:ea typeface="Calibri"/>
              <a:cs typeface="Calibri"/>
              <a:sym typeface="Calibri"/>
            </a:endParaRPr>
          </a:p>
        </p:txBody>
      </p:sp>
      <p:grpSp>
        <p:nvGrpSpPr>
          <p:cNvPr id="170" name="Google Shape;170;p6"/>
          <p:cNvGrpSpPr/>
          <p:nvPr/>
        </p:nvGrpSpPr>
        <p:grpSpPr>
          <a:xfrm>
            <a:off x="7068724" y="4673219"/>
            <a:ext cx="3829580" cy="486031"/>
            <a:chOff x="7068724" y="4673219"/>
            <a:chExt cx="3829580" cy="486031"/>
          </a:xfrm>
        </p:grpSpPr>
        <p:grpSp>
          <p:nvGrpSpPr>
            <p:cNvPr id="171" name="Google Shape;171;p6"/>
            <p:cNvGrpSpPr/>
            <p:nvPr/>
          </p:nvGrpSpPr>
          <p:grpSpPr>
            <a:xfrm>
              <a:off x="7085669" y="4673219"/>
              <a:ext cx="3812635" cy="486031"/>
              <a:chOff x="7085669" y="4673219"/>
              <a:chExt cx="3812635" cy="486031"/>
            </a:xfrm>
          </p:grpSpPr>
          <p:cxnSp>
            <p:nvCxnSpPr>
              <p:cNvPr id="172" name="Google Shape;172;p6"/>
              <p:cNvCxnSpPr/>
              <p:nvPr/>
            </p:nvCxnSpPr>
            <p:spPr>
              <a:xfrm>
                <a:off x="7085669" y="4673219"/>
                <a:ext cx="0" cy="486031"/>
              </a:xfrm>
              <a:prstGeom prst="straightConnector1">
                <a:avLst/>
              </a:prstGeom>
              <a:noFill/>
              <a:ln cap="flat" cmpd="sng" w="25400">
                <a:solidFill>
                  <a:schemeClr val="dk1"/>
                </a:solidFill>
                <a:prstDash val="solid"/>
                <a:miter lim="800000"/>
                <a:headEnd len="med" w="med" type="triangle"/>
                <a:tailEnd len="med" w="med" type="triangle"/>
              </a:ln>
            </p:spPr>
          </p:cxnSp>
          <p:cxnSp>
            <p:nvCxnSpPr>
              <p:cNvPr id="173" name="Google Shape;173;p6"/>
              <p:cNvCxnSpPr/>
              <p:nvPr/>
            </p:nvCxnSpPr>
            <p:spPr>
              <a:xfrm>
                <a:off x="8957571" y="4673219"/>
                <a:ext cx="0" cy="486031"/>
              </a:xfrm>
              <a:prstGeom prst="straightConnector1">
                <a:avLst/>
              </a:prstGeom>
              <a:noFill/>
              <a:ln cap="flat" cmpd="sng" w="25400">
                <a:solidFill>
                  <a:schemeClr val="dk1"/>
                </a:solidFill>
                <a:prstDash val="solid"/>
                <a:miter lim="800000"/>
                <a:headEnd len="med" w="med" type="triangle"/>
                <a:tailEnd len="med" w="med" type="triangle"/>
              </a:ln>
            </p:spPr>
          </p:cxnSp>
          <p:cxnSp>
            <p:nvCxnSpPr>
              <p:cNvPr id="174" name="Google Shape;174;p6"/>
              <p:cNvCxnSpPr/>
              <p:nvPr/>
            </p:nvCxnSpPr>
            <p:spPr>
              <a:xfrm>
                <a:off x="10898304" y="4673219"/>
                <a:ext cx="0" cy="486031"/>
              </a:xfrm>
              <a:prstGeom prst="straightConnector1">
                <a:avLst/>
              </a:prstGeom>
              <a:noFill/>
              <a:ln cap="flat" cmpd="sng" w="25400">
                <a:solidFill>
                  <a:schemeClr val="dk1"/>
                </a:solidFill>
                <a:prstDash val="solid"/>
                <a:miter lim="800000"/>
                <a:headEnd len="med" w="med" type="triangle"/>
                <a:tailEnd len="med" w="med" type="triangle"/>
              </a:ln>
            </p:spPr>
          </p:cxnSp>
        </p:grpSp>
        <p:sp>
          <p:nvSpPr>
            <p:cNvPr id="175" name="Google Shape;175;p6"/>
            <p:cNvSpPr txBox="1"/>
            <p:nvPr/>
          </p:nvSpPr>
          <p:spPr>
            <a:xfrm>
              <a:off x="7068724" y="4710419"/>
              <a:ext cx="193905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Resource Allocator</a:t>
              </a:r>
              <a:endParaRPr sz="1800">
                <a:solidFill>
                  <a:schemeClr val="dk1"/>
                </a:solidFill>
                <a:latin typeface="Calibri"/>
                <a:ea typeface="Calibri"/>
                <a:cs typeface="Calibri"/>
                <a:sym typeface="Calibri"/>
              </a:endParaRPr>
            </a:p>
          </p:txBody>
        </p:sp>
      </p:grpSp>
      <p:grpSp>
        <p:nvGrpSpPr>
          <p:cNvPr id="176" name="Google Shape;176;p6"/>
          <p:cNvGrpSpPr/>
          <p:nvPr/>
        </p:nvGrpSpPr>
        <p:grpSpPr>
          <a:xfrm>
            <a:off x="7064828" y="3432809"/>
            <a:ext cx="3812635" cy="486031"/>
            <a:chOff x="7064828" y="3432809"/>
            <a:chExt cx="3812635" cy="486031"/>
          </a:xfrm>
        </p:grpSpPr>
        <p:cxnSp>
          <p:nvCxnSpPr>
            <p:cNvPr id="177" name="Google Shape;177;p6"/>
            <p:cNvCxnSpPr/>
            <p:nvPr/>
          </p:nvCxnSpPr>
          <p:spPr>
            <a:xfrm>
              <a:off x="7064828" y="3432809"/>
              <a:ext cx="0" cy="486031"/>
            </a:xfrm>
            <a:prstGeom prst="straightConnector1">
              <a:avLst/>
            </a:prstGeom>
            <a:noFill/>
            <a:ln cap="flat" cmpd="sng" w="25400">
              <a:solidFill>
                <a:schemeClr val="dk1"/>
              </a:solidFill>
              <a:prstDash val="solid"/>
              <a:miter lim="800000"/>
              <a:headEnd len="med" w="med" type="triangle"/>
              <a:tailEnd len="med" w="med" type="triangle"/>
            </a:ln>
          </p:spPr>
        </p:cxnSp>
        <p:cxnSp>
          <p:nvCxnSpPr>
            <p:cNvPr id="178" name="Google Shape;178;p6"/>
            <p:cNvCxnSpPr/>
            <p:nvPr/>
          </p:nvCxnSpPr>
          <p:spPr>
            <a:xfrm>
              <a:off x="8936730" y="3432809"/>
              <a:ext cx="0" cy="486031"/>
            </a:xfrm>
            <a:prstGeom prst="straightConnector1">
              <a:avLst/>
            </a:prstGeom>
            <a:noFill/>
            <a:ln cap="flat" cmpd="sng" w="25400">
              <a:solidFill>
                <a:schemeClr val="dk1"/>
              </a:solidFill>
              <a:prstDash val="solid"/>
              <a:miter lim="800000"/>
              <a:headEnd len="med" w="med" type="triangle"/>
              <a:tailEnd len="med" w="med" type="triangle"/>
            </a:ln>
          </p:spPr>
        </p:cxnSp>
        <p:cxnSp>
          <p:nvCxnSpPr>
            <p:cNvPr id="179" name="Google Shape;179;p6"/>
            <p:cNvCxnSpPr/>
            <p:nvPr/>
          </p:nvCxnSpPr>
          <p:spPr>
            <a:xfrm>
              <a:off x="10877463" y="3432809"/>
              <a:ext cx="0" cy="486031"/>
            </a:xfrm>
            <a:prstGeom prst="straightConnector1">
              <a:avLst/>
            </a:prstGeom>
            <a:noFill/>
            <a:ln cap="flat" cmpd="sng" w="25400">
              <a:solidFill>
                <a:schemeClr val="dk1"/>
              </a:solidFill>
              <a:prstDash val="solid"/>
              <a:miter lim="800000"/>
              <a:headEnd len="med" w="med" type="triangle"/>
              <a:tailEnd len="med" w="med" type="triangle"/>
            </a:ln>
          </p:spPr>
        </p:cxnSp>
        <p:sp>
          <p:nvSpPr>
            <p:cNvPr id="180" name="Google Shape;180;p6"/>
            <p:cNvSpPr txBox="1"/>
            <p:nvPr/>
          </p:nvSpPr>
          <p:spPr>
            <a:xfrm>
              <a:off x="7108152" y="3495168"/>
              <a:ext cx="172688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Control Program</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6"/>
                                        </p:tgtEl>
                                        <p:attrNameLst>
                                          <p:attrName>style.visibility</p:attrName>
                                        </p:attrNameLst>
                                      </p:cBhvr>
                                      <p:to>
                                        <p:strVal val="visible"/>
                                      </p:to>
                                    </p:set>
                                    <p:animEffect filter="fade" transition="in">
                                      <p:cBhvr>
                                        <p:cTn dur="5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latin typeface="Calibri"/>
                <a:ea typeface="Calibri"/>
                <a:cs typeface="Calibri"/>
                <a:sym typeface="Calibri"/>
              </a:rPr>
              <a:t>Roles of Operating System (Count.)</a:t>
            </a:r>
            <a:endParaRPr sz="4000">
              <a:latin typeface="Calibri"/>
              <a:ea typeface="Calibri"/>
              <a:cs typeface="Calibri"/>
              <a:sym typeface="Calibri"/>
            </a:endParaRPr>
          </a:p>
        </p:txBody>
      </p:sp>
      <p:sp>
        <p:nvSpPr>
          <p:cNvPr id="187" name="Google Shape;187;p7"/>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Goal: A software layer (middleware) stands between applications and computer’s hardware. The role of an OS is to </a:t>
            </a:r>
            <a:r>
              <a:rPr lang="en-US" sz="2800">
                <a:solidFill>
                  <a:srgbClr val="C00000"/>
                </a:solidFill>
                <a:latin typeface="Calibri"/>
                <a:ea typeface="Calibri"/>
                <a:cs typeface="Calibri"/>
                <a:sym typeface="Calibri"/>
              </a:rPr>
              <a:t>coordinate</a:t>
            </a:r>
            <a:r>
              <a:rPr lang="en-US" sz="2800">
                <a:solidFill>
                  <a:schemeClr val="dk1"/>
                </a:solidFill>
                <a:latin typeface="Calibri"/>
                <a:ea typeface="Calibri"/>
                <a:cs typeface="Calibri"/>
                <a:sym typeface="Calibri"/>
              </a:rPr>
              <a:t> and </a:t>
            </a:r>
            <a:r>
              <a:rPr lang="en-US" sz="2800">
                <a:solidFill>
                  <a:srgbClr val="C00000"/>
                </a:solidFill>
                <a:latin typeface="Calibri"/>
                <a:ea typeface="Calibri"/>
                <a:cs typeface="Calibri"/>
                <a:sym typeface="Calibri"/>
              </a:rPr>
              <a:t>manage hardware devices. </a:t>
            </a:r>
            <a:r>
              <a:rPr lang="en-US" sz="2800">
                <a:solidFill>
                  <a:schemeClr val="dk1"/>
                </a:solidFill>
                <a:latin typeface="Calibri"/>
                <a:ea typeface="Calibri"/>
                <a:cs typeface="Calibri"/>
                <a:sym typeface="Calibri"/>
              </a:rPr>
              <a:t>(e.g., CPU, memory, storage devices).</a:t>
            </a:r>
            <a:br>
              <a:rPr lang="en-US" sz="2800">
                <a:solidFill>
                  <a:schemeClr val="dk1"/>
                </a:solidFill>
                <a:latin typeface="Calibri"/>
                <a:ea typeface="Calibri"/>
                <a:cs typeface="Calibri"/>
                <a:sym typeface="Calibri"/>
              </a:rPr>
            </a:br>
            <a:endParaRPr sz="2800">
              <a:solidFill>
                <a:schemeClr val="dk1"/>
              </a:solidFill>
              <a:latin typeface="Calibri"/>
              <a:ea typeface="Calibri"/>
              <a:cs typeface="Calibri"/>
              <a:sym typeface="Calibri"/>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Well-Known Components:</a:t>
            </a:r>
            <a:endParaRPr sz="2400">
              <a:solidFill>
                <a:schemeClr val="dk1"/>
              </a:solidFill>
              <a:latin typeface="Calibri"/>
              <a:ea typeface="Calibri"/>
              <a:cs typeface="Calibri"/>
              <a:sym typeface="Calibri"/>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Process Scheduler: Fairly allocate CPU </a:t>
            </a: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resources to applications.</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Memory Manager: Allocate memory, </a:t>
            </a: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locate pages, reclaim memory.</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Block I/O Layer: Manage I/O requests</a:t>
            </a:r>
            <a:br>
              <a:rPr lang="en-US">
                <a:solidFill>
                  <a:schemeClr val="dk1"/>
                </a:solidFill>
              </a:rPr>
            </a:br>
            <a:r>
              <a:rPr lang="en-US">
                <a:solidFill>
                  <a:schemeClr val="dk1"/>
                </a:solidFill>
              </a:rPr>
              <a:t>(Merge &amp; Schedule I/O)</a:t>
            </a:r>
            <a:endParaRPr sz="2400">
              <a:solidFill>
                <a:schemeClr val="dk1"/>
              </a:solidFill>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File System: Locate file contents, </a:t>
            </a: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partition devices, control permission.</a:t>
            </a:r>
            <a:endParaRPr/>
          </a:p>
        </p:txBody>
      </p:sp>
      <p:sp>
        <p:nvSpPr>
          <p:cNvPr id="188" name="Google Shape;188;p7"/>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189" name="Google Shape;189;p7"/>
          <p:cNvSpPr/>
          <p:nvPr/>
        </p:nvSpPr>
        <p:spPr>
          <a:xfrm>
            <a:off x="6096000" y="3918840"/>
            <a:ext cx="5681460" cy="1056895"/>
          </a:xfrm>
          <a:prstGeom prst="rect">
            <a:avLst/>
          </a:prstGeom>
          <a:solidFill>
            <a:srgbClr val="BBD6EE"/>
          </a:solid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Operating System</a:t>
            </a:r>
            <a:endParaRPr sz="1600">
              <a:solidFill>
                <a:schemeClr val="dk1"/>
              </a:solidFill>
              <a:latin typeface="Calibri"/>
              <a:ea typeface="Calibri"/>
              <a:cs typeface="Calibri"/>
              <a:sym typeface="Calibri"/>
            </a:endParaRPr>
          </a:p>
        </p:txBody>
      </p:sp>
      <p:grpSp>
        <p:nvGrpSpPr>
          <p:cNvPr id="190" name="Google Shape;190;p7"/>
          <p:cNvGrpSpPr/>
          <p:nvPr/>
        </p:nvGrpSpPr>
        <p:grpSpPr>
          <a:xfrm>
            <a:off x="6096000" y="2892809"/>
            <a:ext cx="5681463" cy="540000"/>
            <a:chOff x="3253747" y="1238250"/>
            <a:chExt cx="5681463" cy="540000"/>
          </a:xfrm>
        </p:grpSpPr>
        <p:sp>
          <p:nvSpPr>
            <p:cNvPr id="191" name="Google Shape;191;p7"/>
            <p:cNvSpPr/>
            <p:nvPr/>
          </p:nvSpPr>
          <p:spPr>
            <a:xfrm>
              <a:off x="3253747" y="1238250"/>
              <a:ext cx="1800000"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Neural Networks</a:t>
              </a:r>
              <a:endParaRPr sz="1600">
                <a:solidFill>
                  <a:schemeClr val="dk1"/>
                </a:solidFill>
                <a:latin typeface="Calibri"/>
                <a:ea typeface="Calibri"/>
                <a:cs typeface="Calibri"/>
                <a:sym typeface="Calibri"/>
              </a:endParaRPr>
            </a:p>
          </p:txBody>
        </p:sp>
        <p:sp>
          <p:nvSpPr>
            <p:cNvPr id="192" name="Google Shape;192;p7"/>
            <p:cNvSpPr/>
            <p:nvPr/>
          </p:nvSpPr>
          <p:spPr>
            <a:xfrm>
              <a:off x="5196000" y="1238250"/>
              <a:ext cx="1800000"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Web Browsers</a:t>
              </a:r>
              <a:endParaRPr sz="1600">
                <a:solidFill>
                  <a:schemeClr val="dk1"/>
                </a:solidFill>
                <a:latin typeface="Calibri"/>
                <a:ea typeface="Calibri"/>
                <a:cs typeface="Calibri"/>
                <a:sym typeface="Calibri"/>
              </a:endParaRPr>
            </a:p>
          </p:txBody>
        </p:sp>
        <p:sp>
          <p:nvSpPr>
            <p:cNvPr id="193" name="Google Shape;193;p7"/>
            <p:cNvSpPr/>
            <p:nvPr/>
          </p:nvSpPr>
          <p:spPr>
            <a:xfrm>
              <a:off x="7135210" y="1238250"/>
              <a:ext cx="1800000"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 Video Players</a:t>
              </a:r>
              <a:endParaRPr sz="1600">
                <a:solidFill>
                  <a:schemeClr val="dk1"/>
                </a:solidFill>
                <a:latin typeface="Calibri"/>
                <a:ea typeface="Calibri"/>
                <a:cs typeface="Calibri"/>
                <a:sym typeface="Calibri"/>
              </a:endParaRPr>
            </a:p>
          </p:txBody>
        </p:sp>
      </p:grpSp>
      <p:sp>
        <p:nvSpPr>
          <p:cNvPr id="194" name="Google Shape;194;p7"/>
          <p:cNvSpPr/>
          <p:nvPr/>
        </p:nvSpPr>
        <p:spPr>
          <a:xfrm>
            <a:off x="6096000" y="5453510"/>
            <a:ext cx="5681460" cy="1219960"/>
          </a:xfrm>
          <a:prstGeom prst="rect">
            <a:avLst/>
          </a:prstGeom>
          <a:noFill/>
          <a:ln cap="flat" cmpd="sng" w="190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Computer Hardware</a:t>
            </a:r>
            <a:endParaRPr sz="1600">
              <a:solidFill>
                <a:schemeClr val="dk1"/>
              </a:solidFill>
              <a:latin typeface="Calibri"/>
              <a:ea typeface="Calibri"/>
              <a:cs typeface="Calibri"/>
              <a:sym typeface="Calibri"/>
            </a:endParaRPr>
          </a:p>
        </p:txBody>
      </p:sp>
      <p:sp>
        <p:nvSpPr>
          <p:cNvPr id="195" name="Google Shape;195;p7"/>
          <p:cNvSpPr/>
          <p:nvPr/>
        </p:nvSpPr>
        <p:spPr>
          <a:xfrm>
            <a:off x="6365557" y="5820162"/>
            <a:ext cx="1422926" cy="677416"/>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Computing Devices</a:t>
            </a:r>
            <a:endParaRPr sz="1600">
              <a:solidFill>
                <a:schemeClr val="dk1"/>
              </a:solidFill>
              <a:latin typeface="Calibri"/>
              <a:ea typeface="Calibri"/>
              <a:cs typeface="Calibri"/>
              <a:sym typeface="Calibri"/>
            </a:endParaRPr>
          </a:p>
        </p:txBody>
      </p:sp>
      <p:sp>
        <p:nvSpPr>
          <p:cNvPr id="196" name="Google Shape;196;p7"/>
          <p:cNvSpPr/>
          <p:nvPr/>
        </p:nvSpPr>
        <p:spPr>
          <a:xfrm>
            <a:off x="8271973" y="5820162"/>
            <a:ext cx="1422926" cy="677416"/>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Memory Devices</a:t>
            </a:r>
            <a:endParaRPr sz="1600">
              <a:solidFill>
                <a:schemeClr val="dk1"/>
              </a:solidFill>
              <a:latin typeface="Calibri"/>
              <a:ea typeface="Calibri"/>
              <a:cs typeface="Calibri"/>
              <a:sym typeface="Calibri"/>
            </a:endParaRPr>
          </a:p>
        </p:txBody>
      </p:sp>
      <p:sp>
        <p:nvSpPr>
          <p:cNvPr id="197" name="Google Shape;197;p7"/>
          <p:cNvSpPr/>
          <p:nvPr/>
        </p:nvSpPr>
        <p:spPr>
          <a:xfrm>
            <a:off x="10178389" y="5820162"/>
            <a:ext cx="1422926" cy="677416"/>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I/O </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Devices</a:t>
            </a:r>
            <a:endParaRPr sz="1600">
              <a:solidFill>
                <a:schemeClr val="dk1"/>
              </a:solidFill>
              <a:latin typeface="Calibri"/>
              <a:ea typeface="Calibri"/>
              <a:cs typeface="Calibri"/>
              <a:sym typeface="Calibri"/>
            </a:endParaRPr>
          </a:p>
        </p:txBody>
      </p:sp>
      <p:grpSp>
        <p:nvGrpSpPr>
          <p:cNvPr id="198" name="Google Shape;198;p7"/>
          <p:cNvGrpSpPr/>
          <p:nvPr/>
        </p:nvGrpSpPr>
        <p:grpSpPr>
          <a:xfrm>
            <a:off x="7085669" y="4982465"/>
            <a:ext cx="3812635" cy="486031"/>
            <a:chOff x="7085669" y="4673219"/>
            <a:chExt cx="3812635" cy="486031"/>
          </a:xfrm>
        </p:grpSpPr>
        <p:cxnSp>
          <p:nvCxnSpPr>
            <p:cNvPr id="199" name="Google Shape;199;p7"/>
            <p:cNvCxnSpPr/>
            <p:nvPr/>
          </p:nvCxnSpPr>
          <p:spPr>
            <a:xfrm>
              <a:off x="7085669" y="4673219"/>
              <a:ext cx="0" cy="486031"/>
            </a:xfrm>
            <a:prstGeom prst="straightConnector1">
              <a:avLst/>
            </a:prstGeom>
            <a:noFill/>
            <a:ln cap="flat" cmpd="sng" w="25400">
              <a:solidFill>
                <a:schemeClr val="dk1"/>
              </a:solidFill>
              <a:prstDash val="solid"/>
              <a:miter lim="800000"/>
              <a:headEnd len="med" w="med" type="triangle"/>
              <a:tailEnd len="med" w="med" type="triangle"/>
            </a:ln>
          </p:spPr>
        </p:cxnSp>
        <p:cxnSp>
          <p:nvCxnSpPr>
            <p:cNvPr id="200" name="Google Shape;200;p7"/>
            <p:cNvCxnSpPr/>
            <p:nvPr/>
          </p:nvCxnSpPr>
          <p:spPr>
            <a:xfrm>
              <a:off x="8957571" y="4673219"/>
              <a:ext cx="0" cy="486031"/>
            </a:xfrm>
            <a:prstGeom prst="straightConnector1">
              <a:avLst/>
            </a:prstGeom>
            <a:noFill/>
            <a:ln cap="flat" cmpd="sng" w="25400">
              <a:solidFill>
                <a:schemeClr val="dk1"/>
              </a:solidFill>
              <a:prstDash val="solid"/>
              <a:miter lim="800000"/>
              <a:headEnd len="med" w="med" type="triangle"/>
              <a:tailEnd len="med" w="med" type="triangle"/>
            </a:ln>
          </p:spPr>
        </p:cxnSp>
        <p:cxnSp>
          <p:nvCxnSpPr>
            <p:cNvPr id="201" name="Google Shape;201;p7"/>
            <p:cNvCxnSpPr/>
            <p:nvPr/>
          </p:nvCxnSpPr>
          <p:spPr>
            <a:xfrm>
              <a:off x="10898304" y="4673219"/>
              <a:ext cx="0" cy="486031"/>
            </a:xfrm>
            <a:prstGeom prst="straightConnector1">
              <a:avLst/>
            </a:prstGeom>
            <a:noFill/>
            <a:ln cap="flat" cmpd="sng" w="25400">
              <a:solidFill>
                <a:schemeClr val="dk1"/>
              </a:solidFill>
              <a:prstDash val="solid"/>
              <a:miter lim="800000"/>
              <a:headEnd len="med" w="med" type="triangle"/>
              <a:tailEnd len="med" w="med" type="triangle"/>
            </a:ln>
          </p:spPr>
        </p:cxnSp>
      </p:grpSp>
      <p:grpSp>
        <p:nvGrpSpPr>
          <p:cNvPr id="202" name="Google Shape;202;p7"/>
          <p:cNvGrpSpPr/>
          <p:nvPr/>
        </p:nvGrpSpPr>
        <p:grpSpPr>
          <a:xfrm>
            <a:off x="7064828" y="3432809"/>
            <a:ext cx="3812635" cy="486031"/>
            <a:chOff x="7064828" y="3432809"/>
            <a:chExt cx="3812635" cy="486031"/>
          </a:xfrm>
        </p:grpSpPr>
        <p:cxnSp>
          <p:nvCxnSpPr>
            <p:cNvPr id="203" name="Google Shape;203;p7"/>
            <p:cNvCxnSpPr/>
            <p:nvPr/>
          </p:nvCxnSpPr>
          <p:spPr>
            <a:xfrm>
              <a:off x="7064828" y="3432809"/>
              <a:ext cx="0" cy="486031"/>
            </a:xfrm>
            <a:prstGeom prst="straightConnector1">
              <a:avLst/>
            </a:prstGeom>
            <a:noFill/>
            <a:ln cap="flat" cmpd="sng" w="25400">
              <a:solidFill>
                <a:schemeClr val="dk1"/>
              </a:solidFill>
              <a:prstDash val="solid"/>
              <a:miter lim="800000"/>
              <a:headEnd len="med" w="med" type="triangle"/>
              <a:tailEnd len="med" w="med" type="triangle"/>
            </a:ln>
          </p:spPr>
        </p:cxnSp>
        <p:cxnSp>
          <p:nvCxnSpPr>
            <p:cNvPr id="204" name="Google Shape;204;p7"/>
            <p:cNvCxnSpPr/>
            <p:nvPr/>
          </p:nvCxnSpPr>
          <p:spPr>
            <a:xfrm>
              <a:off x="8936730" y="3432809"/>
              <a:ext cx="0" cy="486031"/>
            </a:xfrm>
            <a:prstGeom prst="straightConnector1">
              <a:avLst/>
            </a:prstGeom>
            <a:noFill/>
            <a:ln cap="flat" cmpd="sng" w="25400">
              <a:solidFill>
                <a:schemeClr val="dk1"/>
              </a:solidFill>
              <a:prstDash val="solid"/>
              <a:miter lim="800000"/>
              <a:headEnd len="med" w="med" type="triangle"/>
              <a:tailEnd len="med" w="med" type="triangle"/>
            </a:ln>
          </p:spPr>
        </p:cxnSp>
        <p:cxnSp>
          <p:nvCxnSpPr>
            <p:cNvPr id="205" name="Google Shape;205;p7"/>
            <p:cNvCxnSpPr/>
            <p:nvPr/>
          </p:nvCxnSpPr>
          <p:spPr>
            <a:xfrm>
              <a:off x="10877463" y="3432809"/>
              <a:ext cx="0" cy="486031"/>
            </a:xfrm>
            <a:prstGeom prst="straightConnector1">
              <a:avLst/>
            </a:prstGeom>
            <a:noFill/>
            <a:ln cap="flat" cmpd="sng" w="25400">
              <a:solidFill>
                <a:schemeClr val="dk1"/>
              </a:solidFill>
              <a:prstDash val="solid"/>
              <a:miter lim="800000"/>
              <a:headEnd len="med" w="med" type="triangle"/>
              <a:tailEnd len="med" w="med" type="triangle"/>
            </a:ln>
          </p:spPr>
        </p:cxnSp>
      </p:grpSp>
      <p:sp>
        <p:nvSpPr>
          <p:cNvPr id="206" name="Google Shape;206;p7"/>
          <p:cNvSpPr/>
          <p:nvPr/>
        </p:nvSpPr>
        <p:spPr>
          <a:xfrm>
            <a:off x="6262961" y="4301402"/>
            <a:ext cx="1603733" cy="540000"/>
          </a:xfrm>
          <a:prstGeom prst="rect">
            <a:avLst/>
          </a:prstGeom>
          <a:solidFill>
            <a:srgbClr val="9CC2E5"/>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Process Scheduler</a:t>
            </a:r>
            <a:endParaRPr sz="1600">
              <a:solidFill>
                <a:schemeClr val="dk1"/>
              </a:solidFill>
              <a:latin typeface="Calibri"/>
              <a:ea typeface="Calibri"/>
              <a:cs typeface="Calibri"/>
              <a:sym typeface="Calibri"/>
            </a:endParaRPr>
          </a:p>
        </p:txBody>
      </p:sp>
      <p:sp>
        <p:nvSpPr>
          <p:cNvPr id="207" name="Google Shape;207;p7"/>
          <p:cNvSpPr/>
          <p:nvPr/>
        </p:nvSpPr>
        <p:spPr>
          <a:xfrm>
            <a:off x="8134863" y="4301402"/>
            <a:ext cx="1603733" cy="540000"/>
          </a:xfrm>
          <a:prstGeom prst="rect">
            <a:avLst/>
          </a:prstGeom>
          <a:solidFill>
            <a:srgbClr val="9CC2E5"/>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Memory Manager</a:t>
            </a:r>
            <a:endParaRPr sz="1600">
              <a:solidFill>
                <a:schemeClr val="dk1"/>
              </a:solidFill>
              <a:latin typeface="Calibri"/>
              <a:ea typeface="Calibri"/>
              <a:cs typeface="Calibri"/>
              <a:sym typeface="Calibri"/>
            </a:endParaRPr>
          </a:p>
        </p:txBody>
      </p:sp>
      <p:sp>
        <p:nvSpPr>
          <p:cNvPr id="208" name="Google Shape;208;p7"/>
          <p:cNvSpPr/>
          <p:nvPr/>
        </p:nvSpPr>
        <p:spPr>
          <a:xfrm>
            <a:off x="10016814" y="4630799"/>
            <a:ext cx="1603733" cy="210602"/>
          </a:xfrm>
          <a:prstGeom prst="rect">
            <a:avLst/>
          </a:prstGeom>
          <a:solidFill>
            <a:srgbClr val="9CC2E5"/>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Block I/O Layer</a:t>
            </a:r>
            <a:endParaRPr sz="1600">
              <a:solidFill>
                <a:schemeClr val="dk1"/>
              </a:solidFill>
              <a:latin typeface="Calibri"/>
              <a:ea typeface="Calibri"/>
              <a:cs typeface="Calibri"/>
              <a:sym typeface="Calibri"/>
            </a:endParaRPr>
          </a:p>
        </p:txBody>
      </p:sp>
      <p:sp>
        <p:nvSpPr>
          <p:cNvPr id="209" name="Google Shape;209;p7"/>
          <p:cNvSpPr/>
          <p:nvPr/>
        </p:nvSpPr>
        <p:spPr>
          <a:xfrm>
            <a:off x="10016814" y="4305401"/>
            <a:ext cx="1603733" cy="198939"/>
          </a:xfrm>
          <a:prstGeom prst="rect">
            <a:avLst/>
          </a:prstGeom>
          <a:solidFill>
            <a:srgbClr val="9CC2E5"/>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File System</a:t>
            </a:r>
            <a:endParaRPr sz="1600">
              <a:solidFill>
                <a:schemeClr val="dk1"/>
              </a:solidFill>
              <a:latin typeface="Calibri"/>
              <a:ea typeface="Calibri"/>
              <a:cs typeface="Calibri"/>
              <a:sym typeface="Calibri"/>
            </a:endParaRPr>
          </a:p>
        </p:txBody>
      </p:sp>
      <p:sp>
        <p:nvSpPr>
          <p:cNvPr id="210" name="Google Shape;210;p7"/>
          <p:cNvSpPr txBox="1"/>
          <p:nvPr/>
        </p:nvSpPr>
        <p:spPr>
          <a:xfrm>
            <a:off x="55418" y="4941455"/>
            <a:ext cx="18473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8"/>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latin typeface="Calibri"/>
                <a:ea typeface="Calibri"/>
                <a:cs typeface="Calibri"/>
                <a:sym typeface="Calibri"/>
              </a:rPr>
              <a:t>What is Linux Kernel</a:t>
            </a:r>
            <a:endParaRPr sz="4000">
              <a:latin typeface="Calibri"/>
              <a:ea typeface="Calibri"/>
              <a:cs typeface="Calibri"/>
              <a:sym typeface="Calibri"/>
            </a:endParaRPr>
          </a:p>
        </p:txBody>
      </p:sp>
      <p:sp>
        <p:nvSpPr>
          <p:cNvPr id="217" name="Google Shape;217;p8"/>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18" name="Google Shape;218;p8"/>
          <p:cNvSpPr/>
          <p:nvPr/>
        </p:nvSpPr>
        <p:spPr>
          <a:xfrm>
            <a:off x="7133063" y="2048723"/>
            <a:ext cx="4908553" cy="4625887"/>
          </a:xfrm>
          <a:prstGeom prst="rect">
            <a:avLst/>
          </a:prstGeom>
          <a:solidFill>
            <a:schemeClr val="lt1">
              <a:alpha val="7176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9" name="Google Shape;219;p8"/>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Linux Kernel: </a:t>
            </a:r>
            <a:r>
              <a:rPr lang="en-US">
                <a:solidFill>
                  <a:schemeClr val="dk1"/>
                </a:solidFill>
              </a:rPr>
              <a:t>A </a:t>
            </a:r>
            <a:r>
              <a:rPr lang="en-US" sz="2800">
                <a:solidFill>
                  <a:schemeClr val="dk1"/>
                </a:solidFill>
                <a:latin typeface="Calibri"/>
                <a:ea typeface="Calibri"/>
                <a:cs typeface="Calibri"/>
                <a:sym typeface="Calibri"/>
              </a:rPr>
              <a:t>process manager </a:t>
            </a:r>
            <a:r>
              <a:rPr lang="en-US">
                <a:solidFill>
                  <a:schemeClr val="dk1"/>
                </a:solidFill>
              </a:rPr>
              <a:t>consists of</a:t>
            </a:r>
            <a:r>
              <a:rPr lang="en-US" sz="2800">
                <a:solidFill>
                  <a:schemeClr val="dk1"/>
                </a:solidFill>
                <a:latin typeface="Calibri"/>
                <a:ea typeface="Calibri"/>
                <a:cs typeface="Calibri"/>
                <a:sym typeface="Calibri"/>
              </a:rPr>
              <a:t> a </a:t>
            </a:r>
            <a:r>
              <a:rPr lang="en-US" sz="2800">
                <a:solidFill>
                  <a:srgbClr val="C00000"/>
                </a:solidFill>
                <a:latin typeface="Calibri"/>
                <a:ea typeface="Calibri"/>
                <a:cs typeface="Calibri"/>
                <a:sym typeface="Calibri"/>
              </a:rPr>
              <a:t>bunch of C and Assembly code</a:t>
            </a:r>
            <a:r>
              <a:rPr lang="en-US" sz="2800">
                <a:solidFill>
                  <a:schemeClr val="dk1"/>
                </a:solidFill>
                <a:latin typeface="Calibri"/>
                <a:ea typeface="Calibri"/>
                <a:cs typeface="Calibri"/>
                <a:sym typeface="Calibri"/>
              </a:rPr>
              <a:t>.</a:t>
            </a:r>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Is Linux Kernel a Process: </a:t>
            </a:r>
            <a:r>
              <a:rPr lang="en-US" sz="2800">
                <a:solidFill>
                  <a:srgbClr val="C00000"/>
                </a:solidFill>
                <a:latin typeface="Calibri"/>
                <a:ea typeface="Calibri"/>
                <a:cs typeface="Calibri"/>
                <a:sym typeface="Calibri"/>
              </a:rPr>
              <a:t>No</a:t>
            </a:r>
            <a:r>
              <a:rPr lang="en-US" sz="2800">
                <a:solidFill>
                  <a:schemeClr val="dk1"/>
                </a:solidFill>
                <a:latin typeface="Calibri"/>
                <a:ea typeface="Calibri"/>
                <a:cs typeface="Calibri"/>
                <a:sym typeface="Calibri"/>
              </a:rPr>
              <a:t>, Not exactly.</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Each process shall have their own virtual address space.</a:t>
            </a:r>
            <a:br>
              <a:rPr lang="en-US"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a:p>
            <a:pPr indent="-190500" lvl="0" marL="342900" rtl="0" algn="l">
              <a:lnSpc>
                <a:spcPct val="100000"/>
              </a:lnSpc>
              <a:spcBef>
                <a:spcPts val="0"/>
              </a:spcBef>
              <a:spcAft>
                <a:spcPts val="0"/>
              </a:spcAft>
              <a:buClr>
                <a:srgbClr val="333333"/>
              </a:buClr>
              <a:buSzPts val="2400"/>
              <a:buFont typeface="Calibri"/>
              <a:buNone/>
            </a:pPr>
            <a:r>
              <a:t/>
            </a:r>
            <a:endParaRPr sz="2400">
              <a:solidFill>
                <a:schemeClr val="dk1"/>
              </a:solidFill>
              <a:latin typeface="Calibri"/>
              <a:ea typeface="Calibri"/>
              <a:cs typeface="Calibri"/>
              <a:sym typeface="Calibri"/>
            </a:endParaRPr>
          </a:p>
        </p:txBody>
      </p:sp>
      <p:sp>
        <p:nvSpPr>
          <p:cNvPr id="220" name="Google Shape;220;p8"/>
          <p:cNvSpPr txBox="1"/>
          <p:nvPr/>
        </p:nvSpPr>
        <p:spPr>
          <a:xfrm>
            <a:off x="2836636" y="5296175"/>
            <a:ext cx="221746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C00000"/>
                </a:solidFill>
                <a:latin typeface="Calibri"/>
                <a:ea typeface="Calibri"/>
                <a:cs typeface="Calibri"/>
                <a:sym typeface="Calibri"/>
              </a:rPr>
              <a:t>Virtual Address Space</a:t>
            </a:r>
            <a:endParaRPr sz="1800">
              <a:solidFill>
                <a:srgbClr val="C00000"/>
              </a:solidFill>
              <a:latin typeface="Calibri"/>
              <a:ea typeface="Calibri"/>
              <a:cs typeface="Calibri"/>
              <a:sym typeface="Calibri"/>
            </a:endParaRPr>
          </a:p>
        </p:txBody>
      </p:sp>
      <p:sp>
        <p:nvSpPr>
          <p:cNvPr id="221" name="Google Shape;221;p8"/>
          <p:cNvSpPr txBox="1"/>
          <p:nvPr/>
        </p:nvSpPr>
        <p:spPr>
          <a:xfrm>
            <a:off x="6024940" y="5296519"/>
            <a:ext cx="221746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C00000"/>
                </a:solidFill>
                <a:latin typeface="Calibri"/>
                <a:ea typeface="Calibri"/>
                <a:cs typeface="Calibri"/>
                <a:sym typeface="Calibri"/>
              </a:rPr>
              <a:t>Virtual Address Space</a:t>
            </a:r>
            <a:endParaRPr sz="1800">
              <a:solidFill>
                <a:srgbClr val="C00000"/>
              </a:solidFill>
              <a:latin typeface="Calibri"/>
              <a:ea typeface="Calibri"/>
              <a:cs typeface="Calibri"/>
              <a:sym typeface="Calibri"/>
            </a:endParaRPr>
          </a:p>
        </p:txBody>
      </p:sp>
      <p:grpSp>
        <p:nvGrpSpPr>
          <p:cNvPr id="222" name="Google Shape;222;p8"/>
          <p:cNvGrpSpPr/>
          <p:nvPr/>
        </p:nvGrpSpPr>
        <p:grpSpPr>
          <a:xfrm>
            <a:off x="3618190" y="2913771"/>
            <a:ext cx="5398436" cy="2467443"/>
            <a:chOff x="7345412" y="2759075"/>
            <a:chExt cx="4530466" cy="1747937"/>
          </a:xfrm>
        </p:grpSpPr>
        <p:pic>
          <p:nvPicPr>
            <p:cNvPr id="223" name="Google Shape;223;p8"/>
            <p:cNvPicPr preferRelativeResize="0"/>
            <p:nvPr/>
          </p:nvPicPr>
          <p:blipFill rotWithShape="1">
            <a:blip r:embed="rId3">
              <a:alphaModFix/>
            </a:blip>
            <a:srcRect b="0" l="0" r="0" t="0"/>
            <a:stretch/>
          </p:blipFill>
          <p:spPr>
            <a:xfrm>
              <a:off x="7345412" y="2987925"/>
              <a:ext cx="4392143" cy="1519087"/>
            </a:xfrm>
            <a:prstGeom prst="rect">
              <a:avLst/>
            </a:prstGeom>
            <a:noFill/>
            <a:ln>
              <a:noFill/>
            </a:ln>
          </p:spPr>
        </p:pic>
        <p:sp>
          <p:nvSpPr>
            <p:cNvPr id="224" name="Google Shape;224;p8"/>
            <p:cNvSpPr/>
            <p:nvPr/>
          </p:nvSpPr>
          <p:spPr>
            <a:xfrm>
              <a:off x="10961478" y="2759075"/>
              <a:ext cx="914400" cy="914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25" name="Google Shape;225;p8"/>
          <p:cNvSpPr txBox="1"/>
          <p:nvPr/>
        </p:nvSpPr>
        <p:spPr>
          <a:xfrm>
            <a:off x="4973299" y="2834979"/>
            <a:ext cx="18321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F5496"/>
                </a:solidFill>
                <a:latin typeface="Calibri"/>
                <a:ea typeface="Calibri"/>
                <a:cs typeface="Calibri"/>
                <a:sym typeface="Calibri"/>
              </a:rPr>
              <a:t>Page Frame (4KB)</a:t>
            </a:r>
            <a:endParaRPr sz="1800">
              <a:solidFill>
                <a:srgbClr val="2F5496"/>
              </a:solidFill>
              <a:latin typeface="Calibri"/>
              <a:ea typeface="Calibri"/>
              <a:cs typeface="Calibri"/>
              <a:sym typeface="Calibri"/>
            </a:endParaRPr>
          </a:p>
        </p:txBody>
      </p:sp>
      <p:cxnSp>
        <p:nvCxnSpPr>
          <p:cNvPr id="226" name="Google Shape;226;p8"/>
          <p:cNvCxnSpPr/>
          <p:nvPr/>
        </p:nvCxnSpPr>
        <p:spPr>
          <a:xfrm>
            <a:off x="5542400" y="3146561"/>
            <a:ext cx="173" cy="219384"/>
          </a:xfrm>
          <a:prstGeom prst="straightConnector1">
            <a:avLst/>
          </a:prstGeom>
          <a:noFill/>
          <a:ln cap="flat" cmpd="sng" w="25400">
            <a:solidFill>
              <a:srgbClr val="2F5496"/>
            </a:solidFill>
            <a:prstDash val="solid"/>
            <a:miter lim="800000"/>
            <a:headEnd len="sm" w="sm" type="none"/>
            <a:tailEnd len="sm" w="sm" type="none"/>
          </a:ln>
        </p:spPr>
      </p:cxnSp>
      <p:grpSp>
        <p:nvGrpSpPr>
          <p:cNvPr id="227" name="Google Shape;227;p8"/>
          <p:cNvGrpSpPr/>
          <p:nvPr/>
        </p:nvGrpSpPr>
        <p:grpSpPr>
          <a:xfrm>
            <a:off x="3720969" y="2834979"/>
            <a:ext cx="631455" cy="475824"/>
            <a:chOff x="6662281" y="2699762"/>
            <a:chExt cx="631455" cy="475824"/>
          </a:xfrm>
        </p:grpSpPr>
        <p:sp>
          <p:nvSpPr>
            <p:cNvPr id="228" name="Google Shape;228;p8"/>
            <p:cNvSpPr txBox="1"/>
            <p:nvPr/>
          </p:nvSpPr>
          <p:spPr>
            <a:xfrm>
              <a:off x="6662281" y="2699762"/>
              <a:ext cx="6314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F5496"/>
                  </a:solidFill>
                  <a:latin typeface="Calibri"/>
                  <a:ea typeface="Calibri"/>
                  <a:cs typeface="Calibri"/>
                  <a:sym typeface="Calibri"/>
                </a:rPr>
                <a:t>Page</a:t>
              </a:r>
              <a:endParaRPr sz="1800">
                <a:solidFill>
                  <a:srgbClr val="2F5496"/>
                </a:solidFill>
                <a:latin typeface="Calibri"/>
                <a:ea typeface="Calibri"/>
                <a:cs typeface="Calibri"/>
                <a:sym typeface="Calibri"/>
              </a:endParaRPr>
            </a:p>
          </p:txBody>
        </p:sp>
        <p:cxnSp>
          <p:nvCxnSpPr>
            <p:cNvPr id="229" name="Google Shape;229;p8"/>
            <p:cNvCxnSpPr/>
            <p:nvPr/>
          </p:nvCxnSpPr>
          <p:spPr>
            <a:xfrm>
              <a:off x="6978009" y="3011344"/>
              <a:ext cx="0" cy="164242"/>
            </a:xfrm>
            <a:prstGeom prst="straightConnector1">
              <a:avLst/>
            </a:prstGeom>
            <a:noFill/>
            <a:ln cap="flat" cmpd="sng" w="25400">
              <a:solidFill>
                <a:srgbClr val="2F5496"/>
              </a:solidFill>
              <a:prstDash val="solid"/>
              <a:miter lim="800000"/>
              <a:headEnd len="sm" w="sm" type="none"/>
              <a:tailEnd len="sm" w="sm" type="none"/>
            </a:ln>
          </p:spPr>
        </p:cxnSp>
      </p:grpSp>
      <p:sp>
        <p:nvSpPr>
          <p:cNvPr id="230" name="Google Shape;230;p8"/>
          <p:cNvSpPr/>
          <p:nvPr/>
        </p:nvSpPr>
        <p:spPr>
          <a:xfrm>
            <a:off x="2757579" y="3288365"/>
            <a:ext cx="2378936" cy="27378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8"/>
          <p:cNvSpPr/>
          <p:nvPr/>
        </p:nvSpPr>
        <p:spPr>
          <a:xfrm>
            <a:off x="5898600" y="3224045"/>
            <a:ext cx="2313774" cy="27378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8"/>
          <p:cNvSpPr txBox="1"/>
          <p:nvPr/>
        </p:nvSpPr>
        <p:spPr>
          <a:xfrm>
            <a:off x="4401206" y="4717122"/>
            <a:ext cx="23309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Physical Address Space</a:t>
            </a:r>
            <a:endParaRPr sz="1800">
              <a:solidFill>
                <a:srgbClr val="C00000"/>
              </a:solidFill>
              <a:latin typeface="Calibri"/>
              <a:ea typeface="Calibri"/>
              <a:cs typeface="Calibri"/>
              <a:sym typeface="Calibri"/>
            </a:endParaRPr>
          </a:p>
        </p:txBody>
      </p:sp>
      <p:sp>
        <p:nvSpPr>
          <p:cNvPr id="233" name="Google Shape;233;p8"/>
          <p:cNvSpPr txBox="1"/>
          <p:nvPr/>
        </p:nvSpPr>
        <p:spPr>
          <a:xfrm>
            <a:off x="3937862" y="2507609"/>
            <a:ext cx="417415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rgbClr val="C00000"/>
                </a:solidFill>
                <a:latin typeface="Calibri"/>
                <a:ea typeface="Calibri"/>
                <a:cs typeface="Calibri"/>
                <a:sym typeface="Calibri"/>
              </a:rPr>
              <a:t>Fixed size (e.g., 4KB) solves fragmentation!</a:t>
            </a:r>
            <a:endParaRPr sz="1800" u="sng">
              <a:solidFill>
                <a:srgbClr val="C00000"/>
              </a:solidFill>
              <a:latin typeface="Calibri"/>
              <a:ea typeface="Calibri"/>
              <a:cs typeface="Calibri"/>
              <a:sym typeface="Calibri"/>
            </a:endParaRPr>
          </a:p>
        </p:txBody>
      </p:sp>
      <p:sp>
        <p:nvSpPr>
          <p:cNvPr id="234" name="Google Shape;234;p8"/>
          <p:cNvSpPr txBox="1"/>
          <p:nvPr/>
        </p:nvSpPr>
        <p:spPr>
          <a:xfrm>
            <a:off x="3432142" y="2491554"/>
            <a:ext cx="49651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u="sng">
                <a:solidFill>
                  <a:srgbClr val="C00000"/>
                </a:solidFill>
                <a:latin typeface="Calibri"/>
                <a:ea typeface="Calibri"/>
                <a:cs typeface="Calibri"/>
                <a:sym typeface="Calibri"/>
              </a:rPr>
              <a:t>Virtual address space makes programming easier!</a:t>
            </a:r>
            <a:endParaRPr sz="1800" u="sng">
              <a:solidFill>
                <a:srgbClr val="C00000"/>
              </a:solidFill>
              <a:latin typeface="Calibri"/>
              <a:ea typeface="Calibri"/>
              <a:cs typeface="Calibri"/>
              <a:sym typeface="Calibri"/>
            </a:endParaRPr>
          </a:p>
        </p:txBody>
      </p:sp>
      <p:grpSp>
        <p:nvGrpSpPr>
          <p:cNvPr id="235" name="Google Shape;235;p8"/>
          <p:cNvGrpSpPr/>
          <p:nvPr/>
        </p:nvGrpSpPr>
        <p:grpSpPr>
          <a:xfrm>
            <a:off x="4650032" y="4804486"/>
            <a:ext cx="1927002" cy="1759158"/>
            <a:chOff x="7591344" y="4669269"/>
            <a:chExt cx="1927002" cy="1759158"/>
          </a:xfrm>
        </p:grpSpPr>
        <p:grpSp>
          <p:nvGrpSpPr>
            <p:cNvPr id="236" name="Google Shape;236;p8"/>
            <p:cNvGrpSpPr/>
            <p:nvPr/>
          </p:nvGrpSpPr>
          <p:grpSpPr>
            <a:xfrm>
              <a:off x="8101883" y="4669269"/>
              <a:ext cx="743769" cy="1425214"/>
              <a:chOff x="8093137" y="4581904"/>
              <a:chExt cx="743769" cy="1425214"/>
            </a:xfrm>
          </p:grpSpPr>
          <p:sp>
            <p:nvSpPr>
              <p:cNvPr id="237" name="Google Shape;237;p8"/>
              <p:cNvSpPr/>
              <p:nvPr/>
            </p:nvSpPr>
            <p:spPr>
              <a:xfrm>
                <a:off x="8093137" y="4581904"/>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8"/>
              <p:cNvSpPr/>
              <p:nvPr/>
            </p:nvSpPr>
            <p:spPr>
              <a:xfrm>
                <a:off x="8093137" y="4700579"/>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8"/>
              <p:cNvSpPr/>
              <p:nvPr/>
            </p:nvSpPr>
            <p:spPr>
              <a:xfrm>
                <a:off x="8093137" y="4819254"/>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0" name="Google Shape;240;p8"/>
              <p:cNvSpPr/>
              <p:nvPr/>
            </p:nvSpPr>
            <p:spPr>
              <a:xfrm>
                <a:off x="8093137" y="4937929"/>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1" name="Google Shape;241;p8"/>
              <p:cNvSpPr/>
              <p:nvPr/>
            </p:nvSpPr>
            <p:spPr>
              <a:xfrm>
                <a:off x="8093137" y="5056604"/>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2" name="Google Shape;242;p8"/>
              <p:cNvSpPr/>
              <p:nvPr/>
            </p:nvSpPr>
            <p:spPr>
              <a:xfrm>
                <a:off x="8093137" y="5175279"/>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8"/>
              <p:cNvSpPr/>
              <p:nvPr/>
            </p:nvSpPr>
            <p:spPr>
              <a:xfrm>
                <a:off x="8093137" y="5293954"/>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4" name="Google Shape;244;p8"/>
              <p:cNvSpPr/>
              <p:nvPr/>
            </p:nvSpPr>
            <p:spPr>
              <a:xfrm>
                <a:off x="8093137" y="5412629"/>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5" name="Google Shape;245;p8"/>
              <p:cNvSpPr/>
              <p:nvPr/>
            </p:nvSpPr>
            <p:spPr>
              <a:xfrm>
                <a:off x="8093137" y="5531304"/>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6" name="Google Shape;246;p8"/>
              <p:cNvSpPr/>
              <p:nvPr/>
            </p:nvSpPr>
            <p:spPr>
              <a:xfrm>
                <a:off x="8093137" y="5649979"/>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7" name="Google Shape;247;p8"/>
              <p:cNvSpPr/>
              <p:nvPr/>
            </p:nvSpPr>
            <p:spPr>
              <a:xfrm>
                <a:off x="8093137" y="5768654"/>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8" name="Google Shape;248;p8"/>
              <p:cNvSpPr/>
              <p:nvPr/>
            </p:nvSpPr>
            <p:spPr>
              <a:xfrm>
                <a:off x="8093137" y="5887332"/>
                <a:ext cx="743769" cy="119786"/>
              </a:xfrm>
              <a:prstGeom prst="rect">
                <a:avLst/>
              </a:prstGeom>
              <a:solidFill>
                <a:srgbClr val="B0B2B5"/>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49" name="Google Shape;249;p8"/>
            <p:cNvSpPr txBox="1"/>
            <p:nvPr/>
          </p:nvSpPr>
          <p:spPr>
            <a:xfrm>
              <a:off x="7591344" y="6120650"/>
              <a:ext cx="192700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Storage (e.g., HDD, SSD)</a:t>
              </a:r>
              <a:endParaRPr sz="1400">
                <a:solidFill>
                  <a:schemeClr val="dk1"/>
                </a:solidFill>
                <a:latin typeface="Calibri"/>
                <a:ea typeface="Calibri"/>
                <a:cs typeface="Calibri"/>
                <a:sym typeface="Calibri"/>
              </a:endParaRPr>
            </a:p>
          </p:txBody>
        </p:sp>
      </p:grpSp>
      <p:sp>
        <p:nvSpPr>
          <p:cNvPr id="250" name="Google Shape;250;p8"/>
          <p:cNvSpPr txBox="1"/>
          <p:nvPr/>
        </p:nvSpPr>
        <p:spPr>
          <a:xfrm>
            <a:off x="5301000" y="4031375"/>
            <a:ext cx="483146"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C00000"/>
                </a:solidFill>
                <a:latin typeface="Calibri"/>
                <a:ea typeface="Calibri"/>
                <a:cs typeface="Calibri"/>
                <a:sym typeface="Calibri"/>
              </a:rPr>
              <a:t>Data</a:t>
            </a:r>
            <a:endParaRPr b="1" sz="1200">
              <a:solidFill>
                <a:srgbClr val="C00000"/>
              </a:solidFill>
              <a:latin typeface="Calibri"/>
              <a:ea typeface="Calibri"/>
              <a:cs typeface="Calibri"/>
              <a:sym typeface="Calibri"/>
            </a:endParaRPr>
          </a:p>
        </p:txBody>
      </p:sp>
      <p:sp>
        <p:nvSpPr>
          <p:cNvPr id="251" name="Google Shape;251;p8"/>
          <p:cNvSpPr txBox="1"/>
          <p:nvPr/>
        </p:nvSpPr>
        <p:spPr>
          <a:xfrm>
            <a:off x="5659085" y="4441966"/>
            <a:ext cx="65877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C00000"/>
                </a:solidFill>
                <a:latin typeface="Calibri"/>
                <a:ea typeface="Calibri"/>
                <a:cs typeface="Calibri"/>
                <a:sym typeface="Calibri"/>
              </a:rPr>
              <a:t>Swap</a:t>
            </a:r>
            <a:r>
              <a:rPr b="1" lang="en-US" sz="1800">
                <a:solidFill>
                  <a:srgbClr val="C00000"/>
                </a:solidFill>
                <a:latin typeface="Calibri"/>
                <a:ea typeface="Calibri"/>
                <a:cs typeface="Calibri"/>
                <a:sym typeface="Calibri"/>
              </a:rPr>
              <a:t>!</a:t>
            </a:r>
            <a:endParaRPr b="1" sz="1800">
              <a:solidFill>
                <a:srgbClr val="C00000"/>
              </a:solidFill>
              <a:latin typeface="Calibri"/>
              <a:ea typeface="Calibri"/>
              <a:cs typeface="Calibri"/>
              <a:sym typeface="Calibri"/>
            </a:endParaRPr>
          </a:p>
        </p:txBody>
      </p:sp>
      <p:sp>
        <p:nvSpPr>
          <p:cNvPr id="252" name="Google Shape;252;p8"/>
          <p:cNvSpPr/>
          <p:nvPr/>
        </p:nvSpPr>
        <p:spPr>
          <a:xfrm>
            <a:off x="5919976" y="4100378"/>
            <a:ext cx="720000" cy="24706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8"/>
          <p:cNvSpPr txBox="1"/>
          <p:nvPr/>
        </p:nvSpPr>
        <p:spPr>
          <a:xfrm>
            <a:off x="7650594" y="4026150"/>
            <a:ext cx="4017529"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2F5496"/>
                </a:solidFill>
                <a:latin typeface="Calibri"/>
                <a:ea typeface="Calibri"/>
                <a:cs typeface="Calibri"/>
                <a:sym typeface="Calibri"/>
              </a:rPr>
              <a:t>Process B doesn’t need to know the data is swapped! So no code is changed.</a:t>
            </a:r>
            <a:endParaRPr sz="1400">
              <a:solidFill>
                <a:srgbClr val="2F5496"/>
              </a:solidFill>
              <a:latin typeface="Calibri"/>
              <a:ea typeface="Calibri"/>
              <a:cs typeface="Calibri"/>
              <a:sym typeface="Calibri"/>
            </a:endParaRPr>
          </a:p>
        </p:txBody>
      </p:sp>
      <p:cxnSp>
        <p:nvCxnSpPr>
          <p:cNvPr id="254" name="Google Shape;254;p8"/>
          <p:cNvCxnSpPr/>
          <p:nvPr/>
        </p:nvCxnSpPr>
        <p:spPr>
          <a:xfrm rot="10800000">
            <a:off x="7433092" y="4280647"/>
            <a:ext cx="220962" cy="0"/>
          </a:xfrm>
          <a:prstGeom prst="straightConnector1">
            <a:avLst/>
          </a:prstGeom>
          <a:noFill/>
          <a:ln cap="flat" cmpd="sng" w="19050">
            <a:solidFill>
              <a:srgbClr val="2F5496"/>
            </a:solidFill>
            <a:prstDash val="solid"/>
            <a:miter lim="800000"/>
            <a:headEnd len="sm" w="sm" type="none"/>
            <a:tailEnd len="sm" w="sm" type="none"/>
          </a:ln>
        </p:spPr>
      </p:cxnSp>
      <p:grpSp>
        <p:nvGrpSpPr>
          <p:cNvPr id="255" name="Google Shape;255;p8"/>
          <p:cNvGrpSpPr/>
          <p:nvPr/>
        </p:nvGrpSpPr>
        <p:grpSpPr>
          <a:xfrm>
            <a:off x="4349909" y="2760157"/>
            <a:ext cx="679610" cy="727613"/>
            <a:chOff x="6662281" y="2447973"/>
            <a:chExt cx="679610" cy="727613"/>
          </a:xfrm>
        </p:grpSpPr>
        <p:sp>
          <p:nvSpPr>
            <p:cNvPr id="256" name="Google Shape;256;p8"/>
            <p:cNvSpPr txBox="1"/>
            <p:nvPr/>
          </p:nvSpPr>
          <p:spPr>
            <a:xfrm>
              <a:off x="6662281" y="2447973"/>
              <a:ext cx="67961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F5496"/>
                  </a:solidFill>
                  <a:latin typeface="Calibri"/>
                  <a:ea typeface="Calibri"/>
                  <a:cs typeface="Calibri"/>
                  <a:sym typeface="Calibri"/>
                </a:rPr>
                <a:t>Page</a:t>
              </a:r>
              <a:endParaRPr/>
            </a:p>
            <a:p>
              <a:pPr indent="0" lvl="0" marL="0" marR="0" rtl="0" algn="l">
                <a:spcBef>
                  <a:spcPts val="0"/>
                </a:spcBef>
                <a:spcAft>
                  <a:spcPts val="0"/>
                </a:spcAft>
                <a:buNone/>
              </a:pPr>
              <a:r>
                <a:rPr lang="en-US" sz="1800">
                  <a:solidFill>
                    <a:srgbClr val="2F5496"/>
                  </a:solidFill>
                  <a:latin typeface="Calibri"/>
                  <a:ea typeface="Calibri"/>
                  <a:cs typeface="Calibri"/>
                  <a:sym typeface="Calibri"/>
                </a:rPr>
                <a:t>Table</a:t>
              </a:r>
              <a:endParaRPr sz="1800">
                <a:solidFill>
                  <a:srgbClr val="2F5496"/>
                </a:solidFill>
                <a:latin typeface="Calibri"/>
                <a:ea typeface="Calibri"/>
                <a:cs typeface="Calibri"/>
                <a:sym typeface="Calibri"/>
              </a:endParaRPr>
            </a:p>
          </p:txBody>
        </p:sp>
        <p:cxnSp>
          <p:nvCxnSpPr>
            <p:cNvPr id="257" name="Google Shape;257;p8"/>
            <p:cNvCxnSpPr/>
            <p:nvPr/>
          </p:nvCxnSpPr>
          <p:spPr>
            <a:xfrm>
              <a:off x="6978009" y="3011344"/>
              <a:ext cx="0" cy="164242"/>
            </a:xfrm>
            <a:prstGeom prst="straightConnector1">
              <a:avLst/>
            </a:prstGeom>
            <a:noFill/>
            <a:ln cap="flat" cmpd="sng" w="25400">
              <a:solidFill>
                <a:srgbClr val="2F5496"/>
              </a:solidFill>
              <a:prstDash val="solid"/>
              <a:miter lim="800000"/>
              <a:headEnd len="sm" w="sm" type="none"/>
              <a:tailEnd len="sm" w="sm" type="none"/>
            </a:ln>
          </p:spPr>
        </p:cxnSp>
      </p:grpSp>
      <p:grpSp>
        <p:nvGrpSpPr>
          <p:cNvPr id="258" name="Google Shape;258;p8"/>
          <p:cNvGrpSpPr/>
          <p:nvPr/>
        </p:nvGrpSpPr>
        <p:grpSpPr>
          <a:xfrm>
            <a:off x="6513807" y="4605961"/>
            <a:ext cx="2166365" cy="385338"/>
            <a:chOff x="6284011" y="2367821"/>
            <a:chExt cx="2166365" cy="385338"/>
          </a:xfrm>
        </p:grpSpPr>
        <p:sp>
          <p:nvSpPr>
            <p:cNvPr id="259" name="Google Shape;259;p8"/>
            <p:cNvSpPr txBox="1"/>
            <p:nvPr/>
          </p:nvSpPr>
          <p:spPr>
            <a:xfrm>
              <a:off x="6587430" y="2445382"/>
              <a:ext cx="186294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2F5496"/>
                  </a:solidFill>
                  <a:latin typeface="Calibri"/>
                  <a:ea typeface="Calibri"/>
                  <a:cs typeface="Calibri"/>
                  <a:sym typeface="Calibri"/>
                </a:rPr>
                <a:t>Change B’s page table. </a:t>
              </a:r>
              <a:endParaRPr sz="1400">
                <a:solidFill>
                  <a:srgbClr val="2F5496"/>
                </a:solidFill>
                <a:latin typeface="Calibri"/>
                <a:ea typeface="Calibri"/>
                <a:cs typeface="Calibri"/>
                <a:sym typeface="Calibri"/>
              </a:endParaRPr>
            </a:p>
          </p:txBody>
        </p:sp>
        <p:cxnSp>
          <p:nvCxnSpPr>
            <p:cNvPr id="260" name="Google Shape;260;p8"/>
            <p:cNvCxnSpPr/>
            <p:nvPr/>
          </p:nvCxnSpPr>
          <p:spPr>
            <a:xfrm rot="10800000">
              <a:off x="6284011" y="2367821"/>
              <a:ext cx="361976" cy="195951"/>
            </a:xfrm>
            <a:prstGeom prst="straightConnector1">
              <a:avLst/>
            </a:prstGeom>
            <a:noFill/>
            <a:ln cap="flat" cmpd="sng" w="19050">
              <a:solidFill>
                <a:srgbClr val="2F5496"/>
              </a:solidFill>
              <a:prstDash val="solid"/>
              <a:miter lim="800000"/>
              <a:headEnd len="sm" w="sm" type="none"/>
              <a:tailEnd len="sm" w="sm" type="none"/>
            </a:ln>
          </p:spPr>
        </p:cxnSp>
      </p:grpSp>
      <p:grpSp>
        <p:nvGrpSpPr>
          <p:cNvPr id="261" name="Google Shape;261;p8"/>
          <p:cNvGrpSpPr/>
          <p:nvPr/>
        </p:nvGrpSpPr>
        <p:grpSpPr>
          <a:xfrm>
            <a:off x="5394192" y="4294926"/>
            <a:ext cx="1725088" cy="1149380"/>
            <a:chOff x="5394192" y="4294926"/>
            <a:chExt cx="1725088" cy="1149380"/>
          </a:xfrm>
        </p:grpSpPr>
        <p:cxnSp>
          <p:nvCxnSpPr>
            <p:cNvPr id="262" name="Google Shape;262;p8"/>
            <p:cNvCxnSpPr/>
            <p:nvPr/>
          </p:nvCxnSpPr>
          <p:spPr>
            <a:xfrm flipH="1">
              <a:off x="5924512" y="4983054"/>
              <a:ext cx="307424" cy="461252"/>
            </a:xfrm>
            <a:prstGeom prst="straightConnector1">
              <a:avLst/>
            </a:prstGeom>
            <a:noFill/>
            <a:ln cap="flat" cmpd="sng" w="19050">
              <a:solidFill>
                <a:srgbClr val="C00000"/>
              </a:solidFill>
              <a:prstDash val="solid"/>
              <a:miter lim="800000"/>
              <a:headEnd len="sm" w="sm" type="none"/>
              <a:tailEnd len="med" w="med" type="triangle"/>
            </a:ln>
          </p:spPr>
        </p:cxnSp>
        <p:cxnSp>
          <p:nvCxnSpPr>
            <p:cNvPr id="263" name="Google Shape;263;p8"/>
            <p:cNvCxnSpPr/>
            <p:nvPr/>
          </p:nvCxnSpPr>
          <p:spPr>
            <a:xfrm flipH="1">
              <a:off x="6324775" y="4294926"/>
              <a:ext cx="315201" cy="506986"/>
            </a:xfrm>
            <a:prstGeom prst="straightConnector1">
              <a:avLst/>
            </a:prstGeom>
            <a:noFill/>
            <a:ln cap="flat" cmpd="sng" w="19050">
              <a:solidFill>
                <a:srgbClr val="C00000"/>
              </a:solidFill>
              <a:prstDash val="solid"/>
              <a:miter lim="800000"/>
              <a:headEnd len="sm" w="sm" type="none"/>
              <a:tailEnd len="med" w="med" type="triangle"/>
            </a:ln>
          </p:spPr>
        </p:cxnSp>
        <p:sp>
          <p:nvSpPr>
            <p:cNvPr id="264" name="Google Shape;264;p8"/>
            <p:cNvSpPr txBox="1"/>
            <p:nvPr/>
          </p:nvSpPr>
          <p:spPr>
            <a:xfrm>
              <a:off x="5394192" y="4722518"/>
              <a:ext cx="172508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C00000"/>
                  </a:solidFill>
                  <a:latin typeface="Calibri"/>
                  <a:ea typeface="Calibri"/>
                  <a:cs typeface="Calibri"/>
                  <a:sym typeface="Calibri"/>
                </a:rPr>
                <a:t>pte_to_swap_entry()</a:t>
              </a:r>
              <a:endParaRPr sz="1400">
                <a:solidFill>
                  <a:srgbClr val="C00000"/>
                </a:solidFill>
                <a:latin typeface="Calibri"/>
                <a:ea typeface="Calibri"/>
                <a:cs typeface="Calibri"/>
                <a:sym typeface="Calibri"/>
              </a:endParaRPr>
            </a:p>
          </p:txBody>
        </p:sp>
      </p:grpSp>
      <p:sp>
        <p:nvSpPr>
          <p:cNvPr id="265" name="Google Shape;265;p8"/>
          <p:cNvSpPr txBox="1"/>
          <p:nvPr/>
        </p:nvSpPr>
        <p:spPr>
          <a:xfrm>
            <a:off x="6625634" y="4164649"/>
            <a:ext cx="840295" cy="24622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595959"/>
                </a:solidFill>
                <a:latin typeface="Calibri"/>
                <a:ea typeface="Calibri"/>
                <a:cs typeface="Calibri"/>
                <a:sym typeface="Calibri"/>
              </a:rPr>
              <a:t>Non-Present</a:t>
            </a:r>
            <a:endParaRPr sz="1000">
              <a:solidFill>
                <a:srgbClr val="595959"/>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gtEl>
                                        <p:attrNameLst>
                                          <p:attrName>style.visibility</p:attrName>
                                        </p:attrNameLst>
                                      </p:cBhvr>
                                      <p:to>
                                        <p:strVal val="visible"/>
                                      </p:to>
                                    </p:set>
                                    <p:animEffect filter="fade" transition="in">
                                      <p:cBhvr>
                                        <p:cTn dur="500"/>
                                        <p:tgtEl>
                                          <p:spTgt spid="232"/>
                                        </p:tgtEl>
                                      </p:cBhvr>
                                    </p:animEffect>
                                  </p:childTnLst>
                                </p:cTn>
                              </p:par>
                              <p:par>
                                <p:cTn fill="hold" nodeType="with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par>
                                <p:cTn fill="hold" nodeType="withEffect" presetClass="entr" presetID="10" presetSubtype="0">
                                  <p:stCondLst>
                                    <p:cond delay="0"/>
                                  </p:stCondLst>
                                  <p:childTnLst>
                                    <p:set>
                                      <p:cBhvr>
                                        <p:cTn dur="1" fill="hold">
                                          <p:stCondLst>
                                            <p:cond delay="0"/>
                                          </p:stCondLst>
                                        </p:cTn>
                                        <p:tgtEl>
                                          <p:spTgt spid="222"/>
                                        </p:tgtEl>
                                        <p:attrNameLst>
                                          <p:attrName>style.visibility</p:attrName>
                                        </p:attrNameLst>
                                      </p:cBhvr>
                                      <p:to>
                                        <p:strVal val="visible"/>
                                      </p:to>
                                    </p:set>
                                    <p:animEffect filter="fade" transition="in">
                                      <p:cBhvr>
                                        <p:cTn dur="500"/>
                                        <p:tgtEl>
                                          <p:spTgt spid="222"/>
                                        </p:tgtEl>
                                      </p:cBhvr>
                                    </p:animEffect>
                                  </p:childTnLst>
                                </p:cTn>
                              </p:par>
                              <p:par>
                                <p:cTn fill="hold" nodeType="with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500"/>
                                        <p:tgtEl>
                                          <p:spTgt spid="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50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233"/>
                                        </p:tgtEl>
                                      </p:cBhvr>
                                    </p:animEffect>
                                    <p:set>
                                      <p:cBhvr>
                                        <p:cTn dur="1" fill="hold">
                                          <p:stCondLst>
                                            <p:cond delay="500"/>
                                          </p:stCondLst>
                                        </p:cTn>
                                        <p:tgtEl>
                                          <p:spTgt spid="233"/>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30"/>
                                        </p:tgtEl>
                                      </p:cBhvr>
                                    </p:animEffect>
                                    <p:set>
                                      <p:cBhvr>
                                        <p:cTn dur="1" fill="hold">
                                          <p:stCondLst>
                                            <p:cond delay="500"/>
                                          </p:stCondLst>
                                        </p:cTn>
                                        <p:tgtEl>
                                          <p:spTgt spid="23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231"/>
                                        </p:tgtEl>
                                      </p:cBhvr>
                                    </p:animEffect>
                                    <p:set>
                                      <p:cBhvr>
                                        <p:cTn dur="1" fill="hold">
                                          <p:stCondLst>
                                            <p:cond delay="500"/>
                                          </p:stCondLst>
                                        </p:cTn>
                                        <p:tgtEl>
                                          <p:spTgt spid="23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227"/>
                                        </p:tgtEl>
                                        <p:attrNameLst>
                                          <p:attrName>style.visibility</p:attrName>
                                        </p:attrNameLst>
                                      </p:cBhvr>
                                      <p:to>
                                        <p:strVal val="visible"/>
                                      </p:to>
                                    </p:set>
                                    <p:animEffect filter="fade" transition="in">
                                      <p:cBhvr>
                                        <p:cTn dur="500"/>
                                        <p:tgtEl>
                                          <p:spTgt spid="2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5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500"/>
                                        <p:tgtEl>
                                          <p:spTgt spid="255"/>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5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5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50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500"/>
                                        <p:tgtEl>
                                          <p:spTgt spid="253"/>
                                        </p:tgtEl>
                                      </p:cBhvr>
                                    </p:animEffect>
                                  </p:childTnLst>
                                </p:cTn>
                              </p:par>
                              <p:par>
                                <p:cTn fill="hold" nodeType="with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500"/>
                                        <p:tgtEl>
                                          <p:spTgt spid="254"/>
                                        </p:tgtEl>
                                      </p:cBhvr>
                                    </p:animEffect>
                                  </p:childTnLst>
                                </p:cTn>
                              </p:par>
                              <p:par>
                                <p:cTn fill="hold" nodeType="withEffect" presetClass="exit" presetID="10" presetSubtype="0">
                                  <p:stCondLst>
                                    <p:cond delay="0"/>
                                  </p:stCondLst>
                                  <p:childTnLst>
                                    <p:animEffect filter="fade" transition="out">
                                      <p:cBhvr>
                                        <p:cTn dur="500"/>
                                        <p:tgtEl>
                                          <p:spTgt spid="258"/>
                                        </p:tgtEl>
                                      </p:cBhvr>
                                    </p:animEffect>
                                    <p:set>
                                      <p:cBhvr>
                                        <p:cTn dur="1" fill="hold">
                                          <p:stCondLst>
                                            <p:cond delay="500"/>
                                          </p:stCondLst>
                                        </p:cTn>
                                        <p:tgtEl>
                                          <p:spTgt spid="258"/>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500"/>
                                        <p:tgtEl>
                                          <p:spTgt spid="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5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9"/>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latin typeface="Calibri"/>
                <a:ea typeface="Calibri"/>
                <a:cs typeface="Calibri"/>
                <a:sym typeface="Calibri"/>
              </a:rPr>
              <a:t>What is Linux Kernel (Count.)</a:t>
            </a:r>
            <a:endParaRPr sz="4000">
              <a:latin typeface="Calibri"/>
              <a:ea typeface="Calibri"/>
              <a:cs typeface="Calibri"/>
              <a:sym typeface="Calibri"/>
            </a:endParaRPr>
          </a:p>
        </p:txBody>
      </p:sp>
      <p:sp>
        <p:nvSpPr>
          <p:cNvPr id="272" name="Google Shape;272;p9"/>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273" name="Google Shape;273;p9"/>
          <p:cNvSpPr/>
          <p:nvPr/>
        </p:nvSpPr>
        <p:spPr>
          <a:xfrm>
            <a:off x="7133063" y="2048723"/>
            <a:ext cx="4908553" cy="4625887"/>
          </a:xfrm>
          <a:prstGeom prst="rect">
            <a:avLst/>
          </a:prstGeom>
          <a:solidFill>
            <a:schemeClr val="lt1">
              <a:alpha val="7176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4" name="Google Shape;274;p9"/>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Linux Kernel: </a:t>
            </a:r>
            <a:r>
              <a:rPr lang="en-US">
                <a:solidFill>
                  <a:schemeClr val="dk1"/>
                </a:solidFill>
              </a:rPr>
              <a:t>A </a:t>
            </a:r>
            <a:r>
              <a:rPr lang="en-US" sz="2800">
                <a:solidFill>
                  <a:schemeClr val="dk1"/>
                </a:solidFill>
                <a:latin typeface="Calibri"/>
                <a:ea typeface="Calibri"/>
                <a:cs typeface="Calibri"/>
                <a:sym typeface="Calibri"/>
              </a:rPr>
              <a:t>process manager </a:t>
            </a:r>
            <a:r>
              <a:rPr lang="en-US">
                <a:solidFill>
                  <a:schemeClr val="dk1"/>
                </a:solidFill>
              </a:rPr>
              <a:t>consists of</a:t>
            </a:r>
            <a:r>
              <a:rPr lang="en-US" sz="2800">
                <a:solidFill>
                  <a:schemeClr val="dk1"/>
                </a:solidFill>
                <a:latin typeface="Calibri"/>
                <a:ea typeface="Calibri"/>
                <a:cs typeface="Calibri"/>
                <a:sym typeface="Calibri"/>
              </a:rPr>
              <a:t> a </a:t>
            </a:r>
            <a:r>
              <a:rPr lang="en-US" sz="2800">
                <a:solidFill>
                  <a:srgbClr val="C00000"/>
                </a:solidFill>
                <a:latin typeface="Calibri"/>
                <a:ea typeface="Calibri"/>
                <a:cs typeface="Calibri"/>
                <a:sym typeface="Calibri"/>
              </a:rPr>
              <a:t>bunch of C and Assembly code</a:t>
            </a:r>
            <a:r>
              <a:rPr lang="en-US" sz="2800">
                <a:solidFill>
                  <a:schemeClr val="dk1"/>
                </a:solidFill>
                <a:latin typeface="Calibri"/>
                <a:ea typeface="Calibri"/>
                <a:cs typeface="Calibri"/>
                <a:sym typeface="Calibri"/>
              </a:rPr>
              <a:t>.</a:t>
            </a:r>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Is Linux Kernel a Process: </a:t>
            </a:r>
            <a:r>
              <a:rPr lang="en-US" sz="2800">
                <a:solidFill>
                  <a:srgbClr val="C00000"/>
                </a:solidFill>
                <a:latin typeface="Calibri"/>
                <a:ea typeface="Calibri"/>
                <a:cs typeface="Calibri"/>
                <a:sym typeface="Calibri"/>
              </a:rPr>
              <a:t>No</a:t>
            </a:r>
            <a:r>
              <a:rPr lang="en-US" sz="2800">
                <a:solidFill>
                  <a:schemeClr val="dk1"/>
                </a:solidFill>
                <a:latin typeface="Calibri"/>
                <a:ea typeface="Calibri"/>
                <a:cs typeface="Calibri"/>
                <a:sym typeface="Calibri"/>
              </a:rPr>
              <a:t>, Not exactly.</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Each process shall have their own virtual address space.</a:t>
            </a:r>
            <a:br>
              <a:rPr lang="en-US"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a:p>
            <a:pPr indent="-190500" lvl="0" marL="342900" rtl="0" algn="l">
              <a:lnSpc>
                <a:spcPct val="100000"/>
              </a:lnSpc>
              <a:spcBef>
                <a:spcPts val="0"/>
              </a:spcBef>
              <a:spcAft>
                <a:spcPts val="0"/>
              </a:spcAft>
              <a:buClr>
                <a:srgbClr val="333333"/>
              </a:buClr>
              <a:buSzPts val="2400"/>
              <a:buFont typeface="Calibri"/>
              <a:buNone/>
            </a:pPr>
            <a:r>
              <a:t/>
            </a:r>
            <a:endParaRPr sz="2400">
              <a:solidFill>
                <a:schemeClr val="dk1"/>
              </a:solidFill>
              <a:latin typeface="Calibri"/>
              <a:ea typeface="Calibri"/>
              <a:cs typeface="Calibri"/>
              <a:sym typeface="Calibri"/>
            </a:endParaRPr>
          </a:p>
        </p:txBody>
      </p:sp>
      <p:sp>
        <p:nvSpPr>
          <p:cNvPr id="275" name="Google Shape;275;p9"/>
          <p:cNvSpPr txBox="1"/>
          <p:nvPr/>
        </p:nvSpPr>
        <p:spPr>
          <a:xfrm>
            <a:off x="2836636" y="5296175"/>
            <a:ext cx="221746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C00000"/>
                </a:solidFill>
                <a:latin typeface="Calibri"/>
                <a:ea typeface="Calibri"/>
                <a:cs typeface="Calibri"/>
                <a:sym typeface="Calibri"/>
              </a:rPr>
              <a:t>Virtual Address Space</a:t>
            </a:r>
            <a:endParaRPr sz="1800">
              <a:solidFill>
                <a:srgbClr val="C00000"/>
              </a:solidFill>
              <a:latin typeface="Calibri"/>
              <a:ea typeface="Calibri"/>
              <a:cs typeface="Calibri"/>
              <a:sym typeface="Calibri"/>
            </a:endParaRPr>
          </a:p>
        </p:txBody>
      </p:sp>
      <p:sp>
        <p:nvSpPr>
          <p:cNvPr id="276" name="Google Shape;276;p9"/>
          <p:cNvSpPr txBox="1"/>
          <p:nvPr/>
        </p:nvSpPr>
        <p:spPr>
          <a:xfrm>
            <a:off x="6024940" y="5296519"/>
            <a:ext cx="221746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C00000"/>
                </a:solidFill>
                <a:latin typeface="Calibri"/>
                <a:ea typeface="Calibri"/>
                <a:cs typeface="Calibri"/>
                <a:sym typeface="Calibri"/>
              </a:rPr>
              <a:t>Virtual Address Space</a:t>
            </a:r>
            <a:endParaRPr sz="1800">
              <a:solidFill>
                <a:srgbClr val="C00000"/>
              </a:solidFill>
              <a:latin typeface="Calibri"/>
              <a:ea typeface="Calibri"/>
              <a:cs typeface="Calibri"/>
              <a:sym typeface="Calibri"/>
            </a:endParaRPr>
          </a:p>
        </p:txBody>
      </p:sp>
      <p:grpSp>
        <p:nvGrpSpPr>
          <p:cNvPr id="277" name="Google Shape;277;p9"/>
          <p:cNvGrpSpPr/>
          <p:nvPr/>
        </p:nvGrpSpPr>
        <p:grpSpPr>
          <a:xfrm>
            <a:off x="3618190" y="2913771"/>
            <a:ext cx="5398436" cy="2467443"/>
            <a:chOff x="7345412" y="2759075"/>
            <a:chExt cx="4530466" cy="1747937"/>
          </a:xfrm>
        </p:grpSpPr>
        <p:pic>
          <p:nvPicPr>
            <p:cNvPr id="278" name="Google Shape;278;p9"/>
            <p:cNvPicPr preferRelativeResize="0"/>
            <p:nvPr/>
          </p:nvPicPr>
          <p:blipFill rotWithShape="1">
            <a:blip r:embed="rId3">
              <a:alphaModFix/>
            </a:blip>
            <a:srcRect b="0" l="0" r="0" t="0"/>
            <a:stretch/>
          </p:blipFill>
          <p:spPr>
            <a:xfrm>
              <a:off x="7345412" y="2987925"/>
              <a:ext cx="4392143" cy="1519087"/>
            </a:xfrm>
            <a:prstGeom prst="rect">
              <a:avLst/>
            </a:prstGeom>
            <a:noFill/>
            <a:ln>
              <a:noFill/>
            </a:ln>
          </p:spPr>
        </p:pic>
        <p:sp>
          <p:nvSpPr>
            <p:cNvPr id="279" name="Google Shape;279;p9"/>
            <p:cNvSpPr/>
            <p:nvPr/>
          </p:nvSpPr>
          <p:spPr>
            <a:xfrm>
              <a:off x="10961478" y="2759075"/>
              <a:ext cx="914400" cy="914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280" name="Google Shape;280;p9"/>
          <p:cNvSpPr txBox="1"/>
          <p:nvPr/>
        </p:nvSpPr>
        <p:spPr>
          <a:xfrm>
            <a:off x="4973299" y="2834979"/>
            <a:ext cx="18321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F5496"/>
                </a:solidFill>
                <a:latin typeface="Calibri"/>
                <a:ea typeface="Calibri"/>
                <a:cs typeface="Calibri"/>
                <a:sym typeface="Calibri"/>
              </a:rPr>
              <a:t>Page Frame (4KB)</a:t>
            </a:r>
            <a:endParaRPr sz="1800">
              <a:solidFill>
                <a:srgbClr val="2F5496"/>
              </a:solidFill>
              <a:latin typeface="Calibri"/>
              <a:ea typeface="Calibri"/>
              <a:cs typeface="Calibri"/>
              <a:sym typeface="Calibri"/>
            </a:endParaRPr>
          </a:p>
        </p:txBody>
      </p:sp>
      <p:cxnSp>
        <p:nvCxnSpPr>
          <p:cNvPr id="281" name="Google Shape;281;p9"/>
          <p:cNvCxnSpPr/>
          <p:nvPr/>
        </p:nvCxnSpPr>
        <p:spPr>
          <a:xfrm>
            <a:off x="5542400" y="3146561"/>
            <a:ext cx="173" cy="219384"/>
          </a:xfrm>
          <a:prstGeom prst="straightConnector1">
            <a:avLst/>
          </a:prstGeom>
          <a:noFill/>
          <a:ln cap="flat" cmpd="sng" w="25400">
            <a:solidFill>
              <a:srgbClr val="2F5496"/>
            </a:solidFill>
            <a:prstDash val="solid"/>
            <a:miter lim="800000"/>
            <a:headEnd len="sm" w="sm" type="none"/>
            <a:tailEnd len="sm" w="sm" type="none"/>
          </a:ln>
        </p:spPr>
      </p:cxnSp>
      <p:grpSp>
        <p:nvGrpSpPr>
          <p:cNvPr id="282" name="Google Shape;282;p9"/>
          <p:cNvGrpSpPr/>
          <p:nvPr/>
        </p:nvGrpSpPr>
        <p:grpSpPr>
          <a:xfrm>
            <a:off x="3720969" y="2834979"/>
            <a:ext cx="631455" cy="475824"/>
            <a:chOff x="6662281" y="2699762"/>
            <a:chExt cx="631455" cy="475824"/>
          </a:xfrm>
        </p:grpSpPr>
        <p:sp>
          <p:nvSpPr>
            <p:cNvPr id="283" name="Google Shape;283;p9"/>
            <p:cNvSpPr txBox="1"/>
            <p:nvPr/>
          </p:nvSpPr>
          <p:spPr>
            <a:xfrm>
              <a:off x="6662281" y="2699762"/>
              <a:ext cx="6314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F5496"/>
                  </a:solidFill>
                  <a:latin typeface="Calibri"/>
                  <a:ea typeface="Calibri"/>
                  <a:cs typeface="Calibri"/>
                  <a:sym typeface="Calibri"/>
                </a:rPr>
                <a:t>Page</a:t>
              </a:r>
              <a:endParaRPr sz="1800">
                <a:solidFill>
                  <a:srgbClr val="2F5496"/>
                </a:solidFill>
                <a:latin typeface="Calibri"/>
                <a:ea typeface="Calibri"/>
                <a:cs typeface="Calibri"/>
                <a:sym typeface="Calibri"/>
              </a:endParaRPr>
            </a:p>
          </p:txBody>
        </p:sp>
        <p:cxnSp>
          <p:nvCxnSpPr>
            <p:cNvPr id="284" name="Google Shape;284;p9"/>
            <p:cNvCxnSpPr/>
            <p:nvPr/>
          </p:nvCxnSpPr>
          <p:spPr>
            <a:xfrm>
              <a:off x="6978009" y="3011344"/>
              <a:ext cx="0" cy="164242"/>
            </a:xfrm>
            <a:prstGeom prst="straightConnector1">
              <a:avLst/>
            </a:prstGeom>
            <a:noFill/>
            <a:ln cap="flat" cmpd="sng" w="25400">
              <a:solidFill>
                <a:srgbClr val="2F5496"/>
              </a:solidFill>
              <a:prstDash val="solid"/>
              <a:miter lim="800000"/>
              <a:headEnd len="sm" w="sm" type="none"/>
              <a:tailEnd len="sm" w="sm" type="none"/>
            </a:ln>
          </p:spPr>
        </p:cxnSp>
      </p:grpSp>
      <p:sp>
        <p:nvSpPr>
          <p:cNvPr id="285" name="Google Shape;285;p9"/>
          <p:cNvSpPr txBox="1"/>
          <p:nvPr/>
        </p:nvSpPr>
        <p:spPr>
          <a:xfrm>
            <a:off x="4401206" y="4717122"/>
            <a:ext cx="23309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Physical Address Space</a:t>
            </a:r>
            <a:endParaRPr sz="1800">
              <a:solidFill>
                <a:srgbClr val="C00000"/>
              </a:solidFill>
              <a:latin typeface="Calibri"/>
              <a:ea typeface="Calibri"/>
              <a:cs typeface="Calibri"/>
              <a:sym typeface="Calibri"/>
            </a:endParaRPr>
          </a:p>
        </p:txBody>
      </p:sp>
      <p:sp>
        <p:nvSpPr>
          <p:cNvPr id="286" name="Google Shape;286;p9"/>
          <p:cNvSpPr/>
          <p:nvPr/>
        </p:nvSpPr>
        <p:spPr>
          <a:xfrm>
            <a:off x="5919976" y="4100378"/>
            <a:ext cx="720000" cy="24706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287" name="Google Shape;287;p9"/>
          <p:cNvGrpSpPr/>
          <p:nvPr/>
        </p:nvGrpSpPr>
        <p:grpSpPr>
          <a:xfrm>
            <a:off x="4349909" y="2760157"/>
            <a:ext cx="679610" cy="727613"/>
            <a:chOff x="6662281" y="2447973"/>
            <a:chExt cx="679610" cy="727613"/>
          </a:xfrm>
        </p:grpSpPr>
        <p:sp>
          <p:nvSpPr>
            <p:cNvPr id="288" name="Google Shape;288;p9"/>
            <p:cNvSpPr txBox="1"/>
            <p:nvPr/>
          </p:nvSpPr>
          <p:spPr>
            <a:xfrm>
              <a:off x="6662281" y="2447973"/>
              <a:ext cx="67961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F5496"/>
                  </a:solidFill>
                  <a:latin typeface="Calibri"/>
                  <a:ea typeface="Calibri"/>
                  <a:cs typeface="Calibri"/>
                  <a:sym typeface="Calibri"/>
                </a:rPr>
                <a:t>Page</a:t>
              </a:r>
              <a:endParaRPr/>
            </a:p>
            <a:p>
              <a:pPr indent="0" lvl="0" marL="0" marR="0" rtl="0" algn="l">
                <a:spcBef>
                  <a:spcPts val="0"/>
                </a:spcBef>
                <a:spcAft>
                  <a:spcPts val="0"/>
                </a:spcAft>
                <a:buNone/>
              </a:pPr>
              <a:r>
                <a:rPr lang="en-US" sz="1800">
                  <a:solidFill>
                    <a:srgbClr val="2F5496"/>
                  </a:solidFill>
                  <a:latin typeface="Calibri"/>
                  <a:ea typeface="Calibri"/>
                  <a:cs typeface="Calibri"/>
                  <a:sym typeface="Calibri"/>
                </a:rPr>
                <a:t>Table</a:t>
              </a:r>
              <a:endParaRPr sz="1800">
                <a:solidFill>
                  <a:srgbClr val="2F5496"/>
                </a:solidFill>
                <a:latin typeface="Calibri"/>
                <a:ea typeface="Calibri"/>
                <a:cs typeface="Calibri"/>
                <a:sym typeface="Calibri"/>
              </a:endParaRPr>
            </a:p>
          </p:txBody>
        </p:sp>
        <p:cxnSp>
          <p:nvCxnSpPr>
            <p:cNvPr id="289" name="Google Shape;289;p9"/>
            <p:cNvCxnSpPr/>
            <p:nvPr/>
          </p:nvCxnSpPr>
          <p:spPr>
            <a:xfrm>
              <a:off x="6978009" y="3011344"/>
              <a:ext cx="0" cy="164242"/>
            </a:xfrm>
            <a:prstGeom prst="straightConnector1">
              <a:avLst/>
            </a:prstGeom>
            <a:noFill/>
            <a:ln cap="flat" cmpd="sng" w="25400">
              <a:solidFill>
                <a:srgbClr val="2F5496"/>
              </a:solidFill>
              <a:prstDash val="solid"/>
              <a:miter lim="800000"/>
              <a:headEnd len="sm" w="sm" type="none"/>
              <a:tailEnd len="sm" w="sm" type="none"/>
            </a:ln>
          </p:spPr>
        </p:cxnSp>
      </p:grpSp>
      <p:grpSp>
        <p:nvGrpSpPr>
          <p:cNvPr id="290" name="Google Shape;290;p9"/>
          <p:cNvGrpSpPr/>
          <p:nvPr/>
        </p:nvGrpSpPr>
        <p:grpSpPr>
          <a:xfrm>
            <a:off x="8964987" y="4541065"/>
            <a:ext cx="1445102" cy="1606156"/>
            <a:chOff x="9513110" y="4649472"/>
            <a:chExt cx="1445102" cy="1606156"/>
          </a:xfrm>
        </p:grpSpPr>
        <p:sp>
          <p:nvSpPr>
            <p:cNvPr id="291" name="Google Shape;291;p9"/>
            <p:cNvSpPr/>
            <p:nvPr/>
          </p:nvSpPr>
          <p:spPr>
            <a:xfrm>
              <a:off x="9513110" y="4649472"/>
              <a:ext cx="1439048" cy="690096"/>
            </a:xfrm>
            <a:prstGeom prst="rect">
              <a:avLst/>
            </a:prstGeom>
            <a:solidFill>
              <a:srgbClr val="F2F2F2"/>
            </a:solidFill>
            <a:ln cap="flat" cmpd="sng" w="1905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User</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Program</a:t>
              </a:r>
              <a:endParaRPr sz="1600">
                <a:solidFill>
                  <a:schemeClr val="dk1"/>
                </a:solidFill>
                <a:latin typeface="Calibri"/>
                <a:ea typeface="Calibri"/>
                <a:cs typeface="Calibri"/>
                <a:sym typeface="Calibri"/>
              </a:endParaRPr>
            </a:p>
          </p:txBody>
        </p:sp>
        <p:sp>
          <p:nvSpPr>
            <p:cNvPr id="292" name="Google Shape;292;p9"/>
            <p:cNvSpPr/>
            <p:nvPr/>
          </p:nvSpPr>
          <p:spPr>
            <a:xfrm>
              <a:off x="9519164" y="5565532"/>
              <a:ext cx="1439048" cy="690096"/>
            </a:xfrm>
            <a:prstGeom prst="rect">
              <a:avLst/>
            </a:prstGeom>
            <a:solidFill>
              <a:srgbClr val="F2F2F2"/>
            </a:solidFill>
            <a:ln cap="flat" cmpd="sng" w="1905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Process Data </a:t>
              </a:r>
              <a:endParaRPr sz="1600">
                <a:solidFill>
                  <a:schemeClr val="dk1"/>
                </a:solidFill>
                <a:latin typeface="Calibri"/>
                <a:ea typeface="Calibri"/>
                <a:cs typeface="Calibri"/>
                <a:sym typeface="Calibri"/>
              </a:endParaRPr>
            </a:p>
          </p:txBody>
        </p:sp>
      </p:grpSp>
      <p:grpSp>
        <p:nvGrpSpPr>
          <p:cNvPr id="293" name="Google Shape;293;p9"/>
          <p:cNvGrpSpPr/>
          <p:nvPr/>
        </p:nvGrpSpPr>
        <p:grpSpPr>
          <a:xfrm>
            <a:off x="8913965" y="2704737"/>
            <a:ext cx="2683651" cy="4037780"/>
            <a:chOff x="9462088" y="2813144"/>
            <a:chExt cx="2683651" cy="4037780"/>
          </a:xfrm>
        </p:grpSpPr>
        <p:sp>
          <p:nvSpPr>
            <p:cNvPr id="294" name="Google Shape;294;p9"/>
            <p:cNvSpPr/>
            <p:nvPr/>
          </p:nvSpPr>
          <p:spPr>
            <a:xfrm>
              <a:off x="11021232" y="2813144"/>
              <a:ext cx="138148" cy="1328928"/>
            </a:xfrm>
            <a:prstGeom prst="rightBrace">
              <a:avLst>
                <a:gd fmla="val 8333" name="adj1"/>
                <a:gd fmla="val 50000" name="adj2"/>
              </a:avLst>
            </a:prstGeom>
            <a:no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9"/>
            <p:cNvSpPr/>
            <p:nvPr/>
          </p:nvSpPr>
          <p:spPr>
            <a:xfrm>
              <a:off x="11015136" y="4175726"/>
              <a:ext cx="156436" cy="2319402"/>
            </a:xfrm>
            <a:prstGeom prst="rightBrace">
              <a:avLst>
                <a:gd fmla="val 8333" name="adj1"/>
                <a:gd fmla="val 50000" name="adj2"/>
              </a:avLst>
            </a:prstGeom>
            <a:no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296" name="Google Shape;296;p9"/>
            <p:cNvSpPr txBox="1"/>
            <p:nvPr/>
          </p:nvSpPr>
          <p:spPr>
            <a:xfrm>
              <a:off x="11159380" y="2877703"/>
              <a:ext cx="986359"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Kernel</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Address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Space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(Virtual)</a:t>
              </a:r>
              <a:endParaRPr sz="1800">
                <a:solidFill>
                  <a:schemeClr val="dk1"/>
                </a:solidFill>
                <a:latin typeface="Calibri"/>
                <a:ea typeface="Calibri"/>
                <a:cs typeface="Calibri"/>
                <a:sym typeface="Calibri"/>
              </a:endParaRPr>
            </a:p>
          </p:txBody>
        </p:sp>
        <p:sp>
          <p:nvSpPr>
            <p:cNvPr id="297" name="Google Shape;297;p9"/>
            <p:cNvSpPr txBox="1"/>
            <p:nvPr/>
          </p:nvSpPr>
          <p:spPr>
            <a:xfrm>
              <a:off x="11159380" y="4718435"/>
              <a:ext cx="986359"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User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Address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Space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(Virtual)</a:t>
              </a:r>
              <a:endParaRPr sz="1800">
                <a:solidFill>
                  <a:schemeClr val="dk1"/>
                </a:solidFill>
                <a:latin typeface="Calibri"/>
                <a:ea typeface="Calibri"/>
                <a:cs typeface="Calibri"/>
                <a:sym typeface="Calibri"/>
              </a:endParaRPr>
            </a:p>
          </p:txBody>
        </p:sp>
        <p:sp>
          <p:nvSpPr>
            <p:cNvPr id="298" name="Google Shape;298;p9"/>
            <p:cNvSpPr txBox="1"/>
            <p:nvPr/>
          </p:nvSpPr>
          <p:spPr>
            <a:xfrm>
              <a:off x="9462088" y="6481592"/>
              <a:ext cx="155305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Main Memory</a:t>
              </a:r>
              <a:endParaRPr sz="1800">
                <a:solidFill>
                  <a:schemeClr val="dk1"/>
                </a:solidFill>
                <a:latin typeface="Calibri"/>
                <a:ea typeface="Calibri"/>
                <a:cs typeface="Calibri"/>
                <a:sym typeface="Calibri"/>
              </a:endParaRPr>
            </a:p>
          </p:txBody>
        </p:sp>
        <p:sp>
          <p:nvSpPr>
            <p:cNvPr id="299" name="Google Shape;299;p9"/>
            <p:cNvSpPr/>
            <p:nvPr/>
          </p:nvSpPr>
          <p:spPr>
            <a:xfrm>
              <a:off x="9513460" y="4142072"/>
              <a:ext cx="1434240" cy="2353056"/>
            </a:xfrm>
            <a:prstGeom prst="rect">
              <a:avLst/>
            </a:prstGeom>
            <a:noFill/>
            <a:ln cap="flat" cmpd="sng" w="317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300" name="Google Shape;300;p9"/>
            <p:cNvSpPr/>
            <p:nvPr/>
          </p:nvSpPr>
          <p:spPr>
            <a:xfrm>
              <a:off x="9513460" y="2813144"/>
              <a:ext cx="1434240" cy="1328928"/>
            </a:xfrm>
            <a:prstGeom prst="rect">
              <a:avLst/>
            </a:prstGeom>
            <a:noFill/>
            <a:ln cap="flat" cmpd="sng" w="317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grpSp>
      <p:sp>
        <p:nvSpPr>
          <p:cNvPr id="301" name="Google Shape;301;p9"/>
          <p:cNvSpPr/>
          <p:nvPr/>
        </p:nvSpPr>
        <p:spPr>
          <a:xfrm rot="-5400000">
            <a:off x="6328698" y="3749346"/>
            <a:ext cx="3675615" cy="1570562"/>
          </a:xfrm>
          <a:custGeom>
            <a:rect b="b" l="l" r="r" t="t"/>
            <a:pathLst>
              <a:path extrusionOk="0" h="1570562" w="3675615">
                <a:moveTo>
                  <a:pt x="0" y="1570562"/>
                </a:moveTo>
                <a:lnTo>
                  <a:pt x="1363576" y="0"/>
                </a:lnTo>
                <a:lnTo>
                  <a:pt x="3072730" y="5167"/>
                </a:lnTo>
                <a:lnTo>
                  <a:pt x="3675615" y="1553966"/>
                </a:lnTo>
                <a:lnTo>
                  <a:pt x="0" y="1570562"/>
                </a:lnTo>
                <a:close/>
              </a:path>
            </a:pathLst>
          </a:custGeom>
          <a:gradFill>
            <a:gsLst>
              <a:gs pos="0">
                <a:schemeClr val="lt1"/>
              </a:gs>
              <a:gs pos="32994">
                <a:schemeClr val="lt1"/>
              </a:gs>
              <a:gs pos="54000">
                <a:srgbClr val="F2F2F2">
                  <a:alpha val="75686"/>
                </a:srgbClr>
              </a:gs>
              <a:gs pos="68000">
                <a:srgbClr val="E4E4E4"/>
              </a:gs>
              <a:gs pos="100000">
                <a:srgbClr val="A5A5A5"/>
              </a:gs>
            </a:gsLst>
            <a:lin ang="16200000" scaled="0"/>
          </a:gradFill>
          <a:ln>
            <a:noFill/>
          </a:ln>
          <a:effectLst>
            <a:outerShdw blurRad="50800" rotWithShape="0" algn="tr" dir="81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1"/>
                                        </p:tgtEl>
                                        <p:attrNameLst>
                                          <p:attrName>style.visibility</p:attrName>
                                        </p:attrNameLst>
                                      </p:cBhvr>
                                      <p:to>
                                        <p:strVal val="visible"/>
                                      </p:to>
                                    </p:set>
                                    <p:animEffect filter="fade" transition="in">
                                      <p:cBhvr>
                                        <p:cTn dur="500"/>
                                        <p:tgtEl>
                                          <p:spTgt spid="301"/>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500"/>
                                        <p:tgtEl>
                                          <p:spTgt spid="2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0"/>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latin typeface="Calibri"/>
                <a:ea typeface="Calibri"/>
                <a:cs typeface="Calibri"/>
                <a:sym typeface="Calibri"/>
              </a:rPr>
              <a:t>What is Linux Kernel (Count.)</a:t>
            </a:r>
            <a:endParaRPr sz="4000">
              <a:latin typeface="Calibri"/>
              <a:ea typeface="Calibri"/>
              <a:cs typeface="Calibri"/>
              <a:sym typeface="Calibri"/>
            </a:endParaRPr>
          </a:p>
        </p:txBody>
      </p:sp>
      <p:sp>
        <p:nvSpPr>
          <p:cNvPr id="308" name="Google Shape;308;p10"/>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309" name="Google Shape;309;p10"/>
          <p:cNvGrpSpPr/>
          <p:nvPr/>
        </p:nvGrpSpPr>
        <p:grpSpPr>
          <a:xfrm>
            <a:off x="9513110" y="4649472"/>
            <a:ext cx="1445102" cy="1606156"/>
            <a:chOff x="9513110" y="4649472"/>
            <a:chExt cx="1445102" cy="1606156"/>
          </a:xfrm>
        </p:grpSpPr>
        <p:sp>
          <p:nvSpPr>
            <p:cNvPr id="310" name="Google Shape;310;p10"/>
            <p:cNvSpPr/>
            <p:nvPr/>
          </p:nvSpPr>
          <p:spPr>
            <a:xfrm>
              <a:off x="9513110" y="4649472"/>
              <a:ext cx="1439048" cy="690096"/>
            </a:xfrm>
            <a:prstGeom prst="rect">
              <a:avLst/>
            </a:prstGeom>
            <a:solidFill>
              <a:srgbClr val="F2F2F2"/>
            </a:solidFill>
            <a:ln cap="flat" cmpd="sng" w="1905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User</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Program</a:t>
              </a:r>
              <a:endParaRPr sz="1600">
                <a:solidFill>
                  <a:schemeClr val="dk1"/>
                </a:solidFill>
                <a:latin typeface="Calibri"/>
                <a:ea typeface="Calibri"/>
                <a:cs typeface="Calibri"/>
                <a:sym typeface="Calibri"/>
              </a:endParaRPr>
            </a:p>
          </p:txBody>
        </p:sp>
        <p:sp>
          <p:nvSpPr>
            <p:cNvPr id="311" name="Google Shape;311;p10"/>
            <p:cNvSpPr/>
            <p:nvPr/>
          </p:nvSpPr>
          <p:spPr>
            <a:xfrm>
              <a:off x="9519164" y="5565532"/>
              <a:ext cx="1439048" cy="690096"/>
            </a:xfrm>
            <a:prstGeom prst="rect">
              <a:avLst/>
            </a:prstGeom>
            <a:solidFill>
              <a:srgbClr val="F2F2F2"/>
            </a:solidFill>
            <a:ln cap="flat" cmpd="sng" w="1905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Process Data </a:t>
              </a:r>
              <a:endParaRPr sz="1600">
                <a:solidFill>
                  <a:schemeClr val="dk1"/>
                </a:solidFill>
                <a:latin typeface="Calibri"/>
                <a:ea typeface="Calibri"/>
                <a:cs typeface="Calibri"/>
                <a:sym typeface="Calibri"/>
              </a:endParaRPr>
            </a:p>
          </p:txBody>
        </p:sp>
      </p:grpSp>
      <p:grpSp>
        <p:nvGrpSpPr>
          <p:cNvPr id="312" name="Google Shape;312;p10"/>
          <p:cNvGrpSpPr/>
          <p:nvPr/>
        </p:nvGrpSpPr>
        <p:grpSpPr>
          <a:xfrm>
            <a:off x="7517006" y="4389004"/>
            <a:ext cx="1993178" cy="755700"/>
            <a:chOff x="7517006" y="4389004"/>
            <a:chExt cx="1993178" cy="755700"/>
          </a:xfrm>
        </p:grpSpPr>
        <p:sp>
          <p:nvSpPr>
            <p:cNvPr id="313" name="Google Shape;313;p10"/>
            <p:cNvSpPr/>
            <p:nvPr/>
          </p:nvSpPr>
          <p:spPr>
            <a:xfrm>
              <a:off x="7517006" y="4584700"/>
              <a:ext cx="1150776" cy="289062"/>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User Mode</a:t>
              </a:r>
              <a:endParaRPr sz="1600">
                <a:solidFill>
                  <a:schemeClr val="dk1"/>
                </a:solidFill>
                <a:latin typeface="Calibri"/>
                <a:ea typeface="Calibri"/>
                <a:cs typeface="Calibri"/>
                <a:sym typeface="Calibri"/>
              </a:endParaRPr>
            </a:p>
          </p:txBody>
        </p:sp>
        <p:cxnSp>
          <p:nvCxnSpPr>
            <p:cNvPr id="314" name="Google Shape;314;p10"/>
            <p:cNvCxnSpPr>
              <a:stCxn id="315" idx="3"/>
            </p:cNvCxnSpPr>
            <p:nvPr/>
          </p:nvCxnSpPr>
          <p:spPr>
            <a:xfrm>
              <a:off x="8667784" y="4389004"/>
              <a:ext cx="842400" cy="755700"/>
            </a:xfrm>
            <a:prstGeom prst="bentConnector3">
              <a:avLst>
                <a:gd fmla="val 50000" name="adj1"/>
              </a:avLst>
            </a:prstGeom>
            <a:noFill/>
            <a:ln cap="flat" cmpd="sng" w="19050">
              <a:solidFill>
                <a:schemeClr val="dk1"/>
              </a:solidFill>
              <a:prstDash val="solid"/>
              <a:miter lim="800000"/>
              <a:headEnd len="med" w="med" type="triangle"/>
              <a:tailEnd len="sm" w="sm" type="none"/>
            </a:ln>
          </p:spPr>
        </p:cxnSp>
      </p:grpSp>
      <p:sp>
        <p:nvSpPr>
          <p:cNvPr id="316" name="Google Shape;316;p10"/>
          <p:cNvSpPr txBox="1"/>
          <p:nvPr/>
        </p:nvSpPr>
        <p:spPr>
          <a:xfrm>
            <a:off x="7481681" y="4218280"/>
            <a:ext cx="1221425"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a:solidFill>
                  <a:srgbClr val="C00000"/>
                </a:solidFill>
                <a:latin typeface="Calibri"/>
                <a:ea typeface="Calibri"/>
                <a:cs typeface="Calibri"/>
                <a:sym typeface="Calibri"/>
              </a:rPr>
              <a:t>Page Fault!!</a:t>
            </a:r>
            <a:endParaRPr b="1" i="1" sz="1600">
              <a:solidFill>
                <a:srgbClr val="C00000"/>
              </a:solidFill>
              <a:latin typeface="Calibri"/>
              <a:ea typeface="Calibri"/>
              <a:cs typeface="Calibri"/>
              <a:sym typeface="Calibri"/>
            </a:endParaRPr>
          </a:p>
        </p:txBody>
      </p:sp>
      <p:grpSp>
        <p:nvGrpSpPr>
          <p:cNvPr id="317" name="Google Shape;317;p10"/>
          <p:cNvGrpSpPr/>
          <p:nvPr/>
        </p:nvGrpSpPr>
        <p:grpSpPr>
          <a:xfrm>
            <a:off x="7510228" y="3316997"/>
            <a:ext cx="3437472" cy="1561841"/>
            <a:chOff x="7510228" y="3316997"/>
            <a:chExt cx="3437472" cy="1561841"/>
          </a:xfrm>
        </p:grpSpPr>
        <p:sp>
          <p:nvSpPr>
            <p:cNvPr id="318" name="Google Shape;318;p10"/>
            <p:cNvSpPr/>
            <p:nvPr/>
          </p:nvSpPr>
          <p:spPr>
            <a:xfrm>
              <a:off x="9515054" y="3316997"/>
              <a:ext cx="1432646" cy="508127"/>
            </a:xfrm>
            <a:prstGeom prst="rect">
              <a:avLst/>
            </a:prstGeom>
            <a:solidFill>
              <a:srgbClr val="F2F2F2"/>
            </a:solidFill>
            <a:ln cap="flat" cmpd="sng" w="1905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Page Fault Handler</a:t>
              </a:r>
              <a:endParaRPr sz="1600">
                <a:solidFill>
                  <a:schemeClr val="dk1"/>
                </a:solidFill>
                <a:latin typeface="Calibri"/>
                <a:ea typeface="Calibri"/>
                <a:cs typeface="Calibri"/>
                <a:sym typeface="Calibri"/>
              </a:endParaRPr>
            </a:p>
          </p:txBody>
        </p:sp>
        <p:cxnSp>
          <p:nvCxnSpPr>
            <p:cNvPr id="319" name="Google Shape;319;p10"/>
            <p:cNvCxnSpPr/>
            <p:nvPr/>
          </p:nvCxnSpPr>
          <p:spPr>
            <a:xfrm flipH="1" rot="10800000">
              <a:off x="8660320" y="3748752"/>
              <a:ext cx="858844" cy="461710"/>
            </a:xfrm>
            <a:prstGeom prst="bentConnector3">
              <a:avLst>
                <a:gd fmla="val 50000" name="adj1"/>
              </a:avLst>
            </a:prstGeom>
            <a:noFill/>
            <a:ln cap="flat" cmpd="sng" w="19050">
              <a:solidFill>
                <a:schemeClr val="dk1"/>
              </a:solidFill>
              <a:prstDash val="solid"/>
              <a:miter lim="800000"/>
              <a:headEnd len="med" w="med" type="triangle"/>
              <a:tailEnd len="sm" w="sm" type="none"/>
            </a:ln>
          </p:spPr>
        </p:cxnSp>
        <p:sp>
          <p:nvSpPr>
            <p:cNvPr id="320" name="Google Shape;320;p10"/>
            <p:cNvSpPr/>
            <p:nvPr/>
          </p:nvSpPr>
          <p:spPr>
            <a:xfrm>
              <a:off x="7510228" y="4589776"/>
              <a:ext cx="1150776" cy="289062"/>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0" spcFirstLastPara="1" rIns="0"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Kernel Mode</a:t>
              </a:r>
              <a:endParaRPr sz="1600">
                <a:solidFill>
                  <a:schemeClr val="dk1"/>
                </a:solidFill>
                <a:latin typeface="Calibri"/>
                <a:ea typeface="Calibri"/>
                <a:cs typeface="Calibri"/>
                <a:sym typeface="Calibri"/>
              </a:endParaRPr>
            </a:p>
          </p:txBody>
        </p:sp>
      </p:grpSp>
      <p:grpSp>
        <p:nvGrpSpPr>
          <p:cNvPr id="321" name="Google Shape;321;p10"/>
          <p:cNvGrpSpPr/>
          <p:nvPr/>
        </p:nvGrpSpPr>
        <p:grpSpPr>
          <a:xfrm>
            <a:off x="7503448" y="2813144"/>
            <a:ext cx="4642291" cy="4037780"/>
            <a:chOff x="7503448" y="2813144"/>
            <a:chExt cx="4642291" cy="4037780"/>
          </a:xfrm>
        </p:grpSpPr>
        <p:sp>
          <p:nvSpPr>
            <p:cNvPr id="322" name="Google Shape;322;p10"/>
            <p:cNvSpPr/>
            <p:nvPr/>
          </p:nvSpPr>
          <p:spPr>
            <a:xfrm>
              <a:off x="11021232" y="2813144"/>
              <a:ext cx="138148" cy="1328928"/>
            </a:xfrm>
            <a:prstGeom prst="rightBrace">
              <a:avLst>
                <a:gd fmla="val 8333" name="adj1"/>
                <a:gd fmla="val 50000" name="adj2"/>
              </a:avLst>
            </a:prstGeom>
            <a:no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10"/>
            <p:cNvSpPr/>
            <p:nvPr/>
          </p:nvSpPr>
          <p:spPr>
            <a:xfrm>
              <a:off x="11015136" y="4175726"/>
              <a:ext cx="156436" cy="2319402"/>
            </a:xfrm>
            <a:prstGeom prst="rightBrace">
              <a:avLst>
                <a:gd fmla="val 8333" name="adj1"/>
                <a:gd fmla="val 50000" name="adj2"/>
              </a:avLst>
            </a:prstGeom>
            <a:no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24" name="Google Shape;324;p10"/>
            <p:cNvSpPr txBox="1"/>
            <p:nvPr/>
          </p:nvSpPr>
          <p:spPr>
            <a:xfrm>
              <a:off x="11159380" y="2877703"/>
              <a:ext cx="986359"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Kernel</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Address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Space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(Virtual)</a:t>
              </a:r>
              <a:endParaRPr sz="1800">
                <a:solidFill>
                  <a:schemeClr val="dk1"/>
                </a:solidFill>
                <a:latin typeface="Calibri"/>
                <a:ea typeface="Calibri"/>
                <a:cs typeface="Calibri"/>
                <a:sym typeface="Calibri"/>
              </a:endParaRPr>
            </a:p>
          </p:txBody>
        </p:sp>
        <p:sp>
          <p:nvSpPr>
            <p:cNvPr id="325" name="Google Shape;325;p10"/>
            <p:cNvSpPr txBox="1"/>
            <p:nvPr/>
          </p:nvSpPr>
          <p:spPr>
            <a:xfrm>
              <a:off x="11159380" y="4718435"/>
              <a:ext cx="986359" cy="120032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User</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Address </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Space</a:t>
              </a:r>
              <a:br>
                <a:rPr lang="en-US" sz="1800">
                  <a:solidFill>
                    <a:schemeClr val="dk1"/>
                  </a:solidFill>
                  <a:latin typeface="Calibri"/>
                  <a:ea typeface="Calibri"/>
                  <a:cs typeface="Calibri"/>
                  <a:sym typeface="Calibri"/>
                </a:rPr>
              </a:br>
              <a:r>
                <a:rPr lang="en-US" sz="1800">
                  <a:solidFill>
                    <a:schemeClr val="dk1"/>
                  </a:solidFill>
                  <a:latin typeface="Calibri"/>
                  <a:ea typeface="Calibri"/>
                  <a:cs typeface="Calibri"/>
                  <a:sym typeface="Calibri"/>
                </a:rPr>
                <a:t>(Virtual)</a:t>
              </a:r>
              <a:endParaRPr sz="1800">
                <a:solidFill>
                  <a:schemeClr val="dk1"/>
                </a:solidFill>
                <a:latin typeface="Calibri"/>
                <a:ea typeface="Calibri"/>
                <a:cs typeface="Calibri"/>
                <a:sym typeface="Calibri"/>
              </a:endParaRPr>
            </a:p>
          </p:txBody>
        </p:sp>
        <p:sp>
          <p:nvSpPr>
            <p:cNvPr id="326" name="Google Shape;326;p10"/>
            <p:cNvSpPr txBox="1"/>
            <p:nvPr/>
          </p:nvSpPr>
          <p:spPr>
            <a:xfrm>
              <a:off x="9462082" y="6481592"/>
              <a:ext cx="1553054"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Main Memory</a:t>
              </a:r>
              <a:endParaRPr sz="1800">
                <a:solidFill>
                  <a:schemeClr val="dk1"/>
                </a:solidFill>
                <a:latin typeface="Calibri"/>
                <a:ea typeface="Calibri"/>
                <a:cs typeface="Calibri"/>
                <a:sym typeface="Calibri"/>
              </a:endParaRPr>
            </a:p>
          </p:txBody>
        </p:sp>
        <p:sp>
          <p:nvSpPr>
            <p:cNvPr id="315" name="Google Shape;315;p10"/>
            <p:cNvSpPr/>
            <p:nvPr/>
          </p:nvSpPr>
          <p:spPr>
            <a:xfrm>
              <a:off x="7503448" y="3904246"/>
              <a:ext cx="1164336" cy="969516"/>
            </a:xfrm>
            <a:prstGeom prst="rect">
              <a:avLst/>
            </a:prstGeom>
            <a:noFill/>
            <a:ln cap="flat" cmpd="sng" w="31750">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CPU</a:t>
              </a:r>
              <a:endParaRPr sz="1600">
                <a:solidFill>
                  <a:schemeClr val="dk1"/>
                </a:solidFill>
                <a:latin typeface="Calibri"/>
                <a:ea typeface="Calibri"/>
                <a:cs typeface="Calibri"/>
                <a:sym typeface="Calibri"/>
              </a:endParaRPr>
            </a:p>
          </p:txBody>
        </p:sp>
        <p:sp>
          <p:nvSpPr>
            <p:cNvPr id="327" name="Google Shape;327;p10"/>
            <p:cNvSpPr/>
            <p:nvPr/>
          </p:nvSpPr>
          <p:spPr>
            <a:xfrm>
              <a:off x="9513460" y="4142072"/>
              <a:ext cx="1434240" cy="2353056"/>
            </a:xfrm>
            <a:prstGeom prst="rect">
              <a:avLst/>
            </a:prstGeom>
            <a:noFill/>
            <a:ln cap="flat" cmpd="sng" w="317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sp>
          <p:nvSpPr>
            <p:cNvPr id="328" name="Google Shape;328;p10"/>
            <p:cNvSpPr/>
            <p:nvPr/>
          </p:nvSpPr>
          <p:spPr>
            <a:xfrm>
              <a:off x="9513460" y="2813144"/>
              <a:ext cx="1434240" cy="1328928"/>
            </a:xfrm>
            <a:prstGeom prst="rect">
              <a:avLst/>
            </a:prstGeom>
            <a:noFill/>
            <a:ln cap="flat" cmpd="sng" w="317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Calibri"/>
                <a:ea typeface="Calibri"/>
                <a:cs typeface="Calibri"/>
                <a:sym typeface="Calibri"/>
              </a:endParaRPr>
            </a:p>
          </p:txBody>
        </p:sp>
      </p:grpSp>
      <p:grpSp>
        <p:nvGrpSpPr>
          <p:cNvPr id="329" name="Google Shape;329;p10"/>
          <p:cNvGrpSpPr/>
          <p:nvPr/>
        </p:nvGrpSpPr>
        <p:grpSpPr>
          <a:xfrm>
            <a:off x="1011718" y="5339568"/>
            <a:ext cx="3473773" cy="1340629"/>
            <a:chOff x="1011718" y="5339568"/>
            <a:chExt cx="3473773" cy="1340629"/>
          </a:xfrm>
        </p:grpSpPr>
        <p:sp>
          <p:nvSpPr>
            <p:cNvPr id="330" name="Google Shape;330;p10"/>
            <p:cNvSpPr/>
            <p:nvPr/>
          </p:nvSpPr>
          <p:spPr>
            <a:xfrm>
              <a:off x="1011718" y="5339568"/>
              <a:ext cx="3473773" cy="1340629"/>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31" name="Google Shape;331;p10"/>
            <p:cNvCxnSpPr/>
            <p:nvPr/>
          </p:nvCxnSpPr>
          <p:spPr>
            <a:xfrm>
              <a:off x="1011718" y="5339568"/>
              <a:ext cx="3473773" cy="0"/>
            </a:xfrm>
            <a:prstGeom prst="straightConnector1">
              <a:avLst/>
            </a:prstGeom>
            <a:noFill/>
            <a:ln cap="flat" cmpd="sng" w="31750">
              <a:solidFill>
                <a:srgbClr val="2E75B5"/>
              </a:solidFill>
              <a:prstDash val="solid"/>
              <a:miter lim="800000"/>
              <a:headEnd len="sm" w="sm" type="none"/>
              <a:tailEnd len="sm" w="sm" type="none"/>
            </a:ln>
          </p:spPr>
        </p:cxnSp>
      </p:grpSp>
      <p:grpSp>
        <p:nvGrpSpPr>
          <p:cNvPr id="332" name="Google Shape;332;p10"/>
          <p:cNvGrpSpPr/>
          <p:nvPr/>
        </p:nvGrpSpPr>
        <p:grpSpPr>
          <a:xfrm>
            <a:off x="1429029" y="4387557"/>
            <a:ext cx="3065533" cy="1245861"/>
            <a:chOff x="1429029" y="4387557"/>
            <a:chExt cx="3065533" cy="1245861"/>
          </a:xfrm>
        </p:grpSpPr>
        <p:grpSp>
          <p:nvGrpSpPr>
            <p:cNvPr id="333" name="Google Shape;333;p10"/>
            <p:cNvGrpSpPr/>
            <p:nvPr/>
          </p:nvGrpSpPr>
          <p:grpSpPr>
            <a:xfrm>
              <a:off x="1429029" y="4387557"/>
              <a:ext cx="1245861" cy="1245861"/>
              <a:chOff x="1429029" y="4387557"/>
              <a:chExt cx="1245861" cy="1245861"/>
            </a:xfrm>
          </p:grpSpPr>
          <p:pic>
            <p:nvPicPr>
              <p:cNvPr id="334" name="Google Shape;334;p10"/>
              <p:cNvPicPr preferRelativeResize="0"/>
              <p:nvPr/>
            </p:nvPicPr>
            <p:blipFill rotWithShape="1">
              <a:blip r:embed="rId3">
                <a:alphaModFix/>
              </a:blip>
              <a:srcRect b="0" l="0" r="0" t="0"/>
              <a:stretch/>
            </p:blipFill>
            <p:spPr>
              <a:xfrm>
                <a:off x="1429029" y="4387557"/>
                <a:ext cx="1245861" cy="1245861"/>
              </a:xfrm>
              <a:prstGeom prst="rect">
                <a:avLst/>
              </a:prstGeom>
              <a:noFill/>
              <a:ln>
                <a:noFill/>
              </a:ln>
            </p:spPr>
          </p:pic>
          <p:sp>
            <p:nvSpPr>
              <p:cNvPr id="335" name="Google Shape;335;p10"/>
              <p:cNvSpPr txBox="1"/>
              <p:nvPr/>
            </p:nvSpPr>
            <p:spPr>
              <a:xfrm>
                <a:off x="1635706" y="5030344"/>
                <a:ext cx="912494" cy="276999"/>
              </a:xfrm>
              <a:prstGeom prst="rect">
                <a:avLst/>
              </a:prstGeom>
              <a:solidFill>
                <a:srgbClr val="F6DF98"/>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chemeClr val="accent5"/>
                    </a:solidFill>
                    <a:latin typeface="Calibri"/>
                    <a:ea typeface="Calibri"/>
                    <a:cs typeface="Calibri"/>
                    <a:sym typeface="Calibri"/>
                  </a:rPr>
                  <a:t>Process A</a:t>
                </a:r>
                <a:endParaRPr b="1" sz="1800">
                  <a:solidFill>
                    <a:schemeClr val="accent5"/>
                  </a:solidFill>
                  <a:latin typeface="Calibri"/>
                  <a:ea typeface="Calibri"/>
                  <a:cs typeface="Calibri"/>
                  <a:sym typeface="Calibri"/>
                </a:endParaRPr>
              </a:p>
            </p:txBody>
          </p:sp>
        </p:grpSp>
        <p:sp>
          <p:nvSpPr>
            <p:cNvPr id="336" name="Google Shape;336;p10"/>
            <p:cNvSpPr txBox="1"/>
            <p:nvPr/>
          </p:nvSpPr>
          <p:spPr>
            <a:xfrm>
              <a:off x="3376948" y="4968706"/>
              <a:ext cx="111761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u="sng">
                  <a:solidFill>
                    <a:srgbClr val="C00000"/>
                  </a:solidFill>
                  <a:latin typeface="Calibri"/>
                  <a:ea typeface="Calibri"/>
                  <a:cs typeface="Calibri"/>
                  <a:sym typeface="Calibri"/>
                </a:rPr>
                <a:t>User Mode</a:t>
              </a:r>
              <a:endParaRPr b="1" i="1" sz="1600" u="sng">
                <a:solidFill>
                  <a:srgbClr val="C00000"/>
                </a:solidFill>
                <a:latin typeface="Calibri"/>
                <a:ea typeface="Calibri"/>
                <a:cs typeface="Calibri"/>
                <a:sym typeface="Calibri"/>
              </a:endParaRPr>
            </a:p>
          </p:txBody>
        </p:sp>
      </p:grpSp>
      <p:grpSp>
        <p:nvGrpSpPr>
          <p:cNvPr id="337" name="Google Shape;337;p10"/>
          <p:cNvGrpSpPr/>
          <p:nvPr/>
        </p:nvGrpSpPr>
        <p:grpSpPr>
          <a:xfrm>
            <a:off x="1456446" y="5318599"/>
            <a:ext cx="3056611" cy="1362075"/>
            <a:chOff x="1456446" y="5318599"/>
            <a:chExt cx="3056611" cy="1362075"/>
          </a:xfrm>
        </p:grpSpPr>
        <p:grpSp>
          <p:nvGrpSpPr>
            <p:cNvPr id="338" name="Google Shape;338;p10"/>
            <p:cNvGrpSpPr/>
            <p:nvPr/>
          </p:nvGrpSpPr>
          <p:grpSpPr>
            <a:xfrm>
              <a:off x="1456446" y="5434813"/>
              <a:ext cx="1245861" cy="1245861"/>
              <a:chOff x="1429029" y="4387557"/>
              <a:chExt cx="1245861" cy="1245861"/>
            </a:xfrm>
          </p:grpSpPr>
          <p:pic>
            <p:nvPicPr>
              <p:cNvPr id="339" name="Google Shape;339;p10"/>
              <p:cNvPicPr preferRelativeResize="0"/>
              <p:nvPr/>
            </p:nvPicPr>
            <p:blipFill rotWithShape="1">
              <a:blip r:embed="rId3">
                <a:alphaModFix/>
              </a:blip>
              <a:srcRect b="0" l="0" r="0" t="0"/>
              <a:stretch/>
            </p:blipFill>
            <p:spPr>
              <a:xfrm>
                <a:off x="1429029" y="4387557"/>
                <a:ext cx="1245861" cy="1245861"/>
              </a:xfrm>
              <a:prstGeom prst="rect">
                <a:avLst/>
              </a:prstGeom>
              <a:noFill/>
              <a:ln>
                <a:noFill/>
              </a:ln>
            </p:spPr>
          </p:pic>
          <p:sp>
            <p:nvSpPr>
              <p:cNvPr id="340" name="Google Shape;340;p10"/>
              <p:cNvSpPr txBox="1"/>
              <p:nvPr/>
            </p:nvSpPr>
            <p:spPr>
              <a:xfrm>
                <a:off x="1635706" y="5030344"/>
                <a:ext cx="912494" cy="276999"/>
              </a:xfrm>
              <a:prstGeom prst="rect">
                <a:avLst/>
              </a:prstGeom>
              <a:solidFill>
                <a:srgbClr val="F6DF98"/>
              </a:solid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chemeClr val="accent5"/>
                    </a:solidFill>
                    <a:latin typeface="Calibri"/>
                    <a:ea typeface="Calibri"/>
                    <a:cs typeface="Calibri"/>
                    <a:sym typeface="Calibri"/>
                  </a:rPr>
                  <a:t>Process A</a:t>
                </a:r>
                <a:endParaRPr b="1" sz="1800">
                  <a:solidFill>
                    <a:schemeClr val="accent5"/>
                  </a:solidFill>
                  <a:latin typeface="Calibri"/>
                  <a:ea typeface="Calibri"/>
                  <a:cs typeface="Calibri"/>
                  <a:sym typeface="Calibri"/>
                </a:endParaRPr>
              </a:p>
            </p:txBody>
          </p:sp>
        </p:grpSp>
        <p:sp>
          <p:nvSpPr>
            <p:cNvPr id="341" name="Google Shape;341;p10"/>
            <p:cNvSpPr txBox="1"/>
            <p:nvPr/>
          </p:nvSpPr>
          <p:spPr>
            <a:xfrm>
              <a:off x="3242581" y="5318599"/>
              <a:ext cx="127047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u="sng">
                  <a:solidFill>
                    <a:srgbClr val="C00000"/>
                  </a:solidFill>
                  <a:latin typeface="Calibri"/>
                  <a:ea typeface="Calibri"/>
                  <a:cs typeface="Calibri"/>
                  <a:sym typeface="Calibri"/>
                </a:rPr>
                <a:t>Kernel Mode</a:t>
              </a:r>
              <a:endParaRPr b="1" i="1" sz="1600" u="sng">
                <a:solidFill>
                  <a:srgbClr val="C00000"/>
                </a:solidFill>
                <a:latin typeface="Calibri"/>
                <a:ea typeface="Calibri"/>
                <a:cs typeface="Calibri"/>
                <a:sym typeface="Calibri"/>
              </a:endParaRPr>
            </a:p>
          </p:txBody>
        </p:sp>
      </p:grpSp>
      <p:sp>
        <p:nvSpPr>
          <p:cNvPr id="342" name="Google Shape;342;p10"/>
          <p:cNvSpPr/>
          <p:nvPr/>
        </p:nvSpPr>
        <p:spPr>
          <a:xfrm>
            <a:off x="7133063" y="2220999"/>
            <a:ext cx="4908553" cy="4625887"/>
          </a:xfrm>
          <a:prstGeom prst="rect">
            <a:avLst/>
          </a:prstGeom>
          <a:solidFill>
            <a:schemeClr val="lt1">
              <a:alpha val="71764"/>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3" name="Google Shape;343;p10"/>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Linux Kernel: </a:t>
            </a:r>
            <a:r>
              <a:rPr lang="en-US">
                <a:solidFill>
                  <a:schemeClr val="dk1"/>
                </a:solidFill>
              </a:rPr>
              <a:t>A </a:t>
            </a:r>
            <a:r>
              <a:rPr lang="en-US" sz="2800">
                <a:solidFill>
                  <a:schemeClr val="dk1"/>
                </a:solidFill>
                <a:latin typeface="Calibri"/>
                <a:ea typeface="Calibri"/>
                <a:cs typeface="Calibri"/>
                <a:sym typeface="Calibri"/>
              </a:rPr>
              <a:t>process manager </a:t>
            </a:r>
            <a:r>
              <a:rPr lang="en-US">
                <a:solidFill>
                  <a:schemeClr val="dk1"/>
                </a:solidFill>
              </a:rPr>
              <a:t>consists of</a:t>
            </a:r>
            <a:r>
              <a:rPr lang="en-US" sz="2800">
                <a:solidFill>
                  <a:schemeClr val="dk1"/>
                </a:solidFill>
                <a:latin typeface="Calibri"/>
                <a:ea typeface="Calibri"/>
                <a:cs typeface="Calibri"/>
                <a:sym typeface="Calibri"/>
              </a:rPr>
              <a:t> a </a:t>
            </a:r>
            <a:r>
              <a:rPr lang="en-US" sz="2800">
                <a:solidFill>
                  <a:srgbClr val="C00000"/>
                </a:solidFill>
                <a:latin typeface="Calibri"/>
                <a:ea typeface="Calibri"/>
                <a:cs typeface="Calibri"/>
                <a:sym typeface="Calibri"/>
              </a:rPr>
              <a:t>bunch of C and Assembly code</a:t>
            </a:r>
            <a:r>
              <a:rPr lang="en-US" sz="2800">
                <a:solidFill>
                  <a:schemeClr val="dk1"/>
                </a:solidFill>
                <a:latin typeface="Calibri"/>
                <a:ea typeface="Calibri"/>
                <a:cs typeface="Calibri"/>
                <a:sym typeface="Calibri"/>
              </a:rPr>
              <a:t>.</a:t>
            </a:r>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Is Linux Kernel a Process: No, Not exactly.</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Each process shall have their own virtual address space.</a:t>
            </a:r>
            <a:endParaRPr>
              <a:solidFill>
                <a:schemeClr val="dk1"/>
              </a:solidFill>
              <a:latin typeface="Calibri"/>
              <a:ea typeface="Calibri"/>
              <a:cs typeface="Calibri"/>
              <a:sym typeface="Calibri"/>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Kernel runs as </a:t>
            </a:r>
            <a:r>
              <a:rPr lang="en-US" sz="2400">
                <a:solidFill>
                  <a:srgbClr val="C00000"/>
                </a:solidFill>
                <a:latin typeface="Calibri"/>
                <a:ea typeface="Calibri"/>
                <a:cs typeface="Calibri"/>
                <a:sym typeface="Calibri"/>
              </a:rPr>
              <a:t>part of a user process</a:t>
            </a:r>
            <a:r>
              <a:rPr lang="en-US" sz="2400">
                <a:solidFill>
                  <a:schemeClr val="dk1"/>
                </a:solidFill>
                <a:latin typeface="Calibri"/>
                <a:ea typeface="Calibri"/>
                <a:cs typeface="Calibri"/>
                <a:sym typeface="Calibri"/>
              </a:rPr>
              <a:t>. (</a:t>
            </a:r>
            <a:r>
              <a:rPr i="1" lang="en-US" sz="2400">
                <a:solidFill>
                  <a:schemeClr val="dk1"/>
                </a:solidFill>
                <a:latin typeface="Calibri"/>
                <a:ea typeface="Calibri"/>
                <a:cs typeface="Calibri"/>
                <a:sym typeface="Calibri"/>
              </a:rPr>
              <a:t>Noting: </a:t>
            </a:r>
            <a:r>
              <a:rPr i="1" lang="en-US">
                <a:solidFill>
                  <a:srgbClr val="C00000"/>
                </a:solidFill>
              </a:rPr>
              <a:t>A specific </a:t>
            </a:r>
            <a:r>
              <a:rPr i="1" lang="en-US" sz="2400">
                <a:solidFill>
                  <a:srgbClr val="C00000"/>
                </a:solidFill>
                <a:latin typeface="Calibri"/>
                <a:ea typeface="Calibri"/>
                <a:cs typeface="Calibri"/>
                <a:sym typeface="Calibri"/>
              </a:rPr>
              <a:t>part</a:t>
            </a:r>
            <a:r>
              <a:rPr i="1" lang="en-US" sz="2400">
                <a:solidFill>
                  <a:schemeClr val="dk1"/>
                </a:solidFill>
                <a:latin typeface="Calibri"/>
                <a:ea typeface="Calibri"/>
                <a:cs typeface="Calibri"/>
                <a:sym typeface="Calibri"/>
              </a:rPr>
              <a:t> of all </a:t>
            </a:r>
            <a:br>
              <a:rPr i="1" lang="en-US" sz="2400">
                <a:solidFill>
                  <a:schemeClr val="dk1"/>
                </a:solidFill>
                <a:latin typeface="Calibri"/>
                <a:ea typeface="Calibri"/>
                <a:cs typeface="Calibri"/>
                <a:sym typeface="Calibri"/>
              </a:rPr>
            </a:br>
            <a:r>
              <a:rPr i="1" lang="en-US" sz="2400">
                <a:solidFill>
                  <a:schemeClr val="dk1"/>
                </a:solidFill>
                <a:latin typeface="Calibri"/>
                <a:ea typeface="Calibri"/>
                <a:cs typeface="Calibri"/>
                <a:sym typeface="Calibri"/>
              </a:rPr>
              <a:t>processes’ virtual address space </a:t>
            </a:r>
            <a:r>
              <a:rPr i="1" lang="en-US" sz="2400">
                <a:solidFill>
                  <a:srgbClr val="C00000"/>
                </a:solidFill>
                <a:latin typeface="Calibri"/>
                <a:ea typeface="Calibri"/>
                <a:cs typeface="Calibri"/>
                <a:sym typeface="Calibri"/>
              </a:rPr>
              <a:t>points to the same physical </a:t>
            </a:r>
            <a:br>
              <a:rPr i="1" lang="en-US" sz="2400">
                <a:solidFill>
                  <a:srgbClr val="C00000"/>
                </a:solidFill>
                <a:latin typeface="Calibri"/>
                <a:ea typeface="Calibri"/>
                <a:cs typeface="Calibri"/>
                <a:sym typeface="Calibri"/>
              </a:rPr>
            </a:br>
            <a:r>
              <a:rPr i="1" lang="en-US" sz="2400">
                <a:solidFill>
                  <a:srgbClr val="C00000"/>
                </a:solidFill>
                <a:latin typeface="Calibri"/>
                <a:ea typeface="Calibri"/>
                <a:cs typeface="Calibri"/>
                <a:sym typeface="Calibri"/>
              </a:rPr>
              <a:t>address</a:t>
            </a:r>
            <a:r>
              <a:rPr i="1" lang="en-US" sz="2400">
                <a:solidFill>
                  <a:schemeClr val="dk1"/>
                </a:solidFill>
                <a:latin typeface="Calibri"/>
                <a:ea typeface="Calibri"/>
                <a:cs typeface="Calibri"/>
                <a:sym typeface="Calibri"/>
              </a:rPr>
              <a:t> storing kernel code.</a:t>
            </a:r>
            <a:r>
              <a:rPr lang="en-US" sz="24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There are also some kernel processes working </a:t>
            </a:r>
            <a:br>
              <a:rPr lang="en-US" sz="2400">
                <a:solidFill>
                  <a:schemeClr val="dk1"/>
                </a:solidFill>
                <a:latin typeface="Calibri"/>
                <a:ea typeface="Calibri"/>
                <a:cs typeface="Calibri"/>
                <a:sym typeface="Calibri"/>
              </a:rPr>
            </a:br>
            <a:r>
              <a:rPr lang="en-US" sz="2400">
                <a:solidFill>
                  <a:schemeClr val="dk1"/>
                </a:solidFill>
                <a:latin typeface="Calibri"/>
                <a:ea typeface="Calibri"/>
                <a:cs typeface="Calibri"/>
                <a:sym typeface="Calibri"/>
              </a:rPr>
              <a:t>on monitoring system status. (Daemon)</a:t>
            </a:r>
            <a:br>
              <a:rPr lang="en-US" sz="2400">
                <a:solidFill>
                  <a:schemeClr val="dk1"/>
                </a:solidFill>
                <a:latin typeface="Calibri"/>
                <a:ea typeface="Calibri"/>
                <a:cs typeface="Calibri"/>
                <a:sym typeface="Calibri"/>
              </a:rPr>
            </a:br>
            <a:endParaRPr sz="2400">
              <a:solidFill>
                <a:schemeClr val="dk1"/>
              </a:solidFill>
              <a:latin typeface="Calibri"/>
              <a:ea typeface="Calibri"/>
              <a:cs typeface="Calibri"/>
              <a:sym typeface="Calibri"/>
            </a:endParaRPr>
          </a:p>
          <a:p>
            <a:pPr indent="-190500" lvl="0" marL="342900" rtl="0" algn="l">
              <a:lnSpc>
                <a:spcPct val="100000"/>
              </a:lnSpc>
              <a:spcBef>
                <a:spcPts val="0"/>
              </a:spcBef>
              <a:spcAft>
                <a:spcPts val="0"/>
              </a:spcAft>
              <a:buClr>
                <a:srgbClr val="333333"/>
              </a:buClr>
              <a:buSzPts val="2400"/>
              <a:buFont typeface="Calibri"/>
              <a:buNone/>
            </a:pPr>
            <a:r>
              <a:t/>
            </a:r>
            <a:endParaRPr sz="2400">
              <a:solidFill>
                <a:schemeClr val="dk1"/>
              </a:solidFill>
              <a:latin typeface="Calibri"/>
              <a:ea typeface="Calibri"/>
              <a:cs typeface="Calibri"/>
              <a:sym typeface="Calibri"/>
            </a:endParaRPr>
          </a:p>
        </p:txBody>
      </p:sp>
      <p:sp>
        <p:nvSpPr>
          <p:cNvPr id="344" name="Google Shape;344;p10"/>
          <p:cNvSpPr txBox="1"/>
          <p:nvPr/>
        </p:nvSpPr>
        <p:spPr>
          <a:xfrm>
            <a:off x="4651599" y="5583850"/>
            <a:ext cx="499540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u="sng">
                <a:solidFill>
                  <a:srgbClr val="C00000"/>
                </a:solidFill>
                <a:latin typeface="Calibri"/>
                <a:ea typeface="Calibri"/>
                <a:cs typeface="Calibri"/>
                <a:sym typeface="Calibri"/>
              </a:rPr>
              <a:t>Noting: CPU switches to kernel mode to access OS code.</a:t>
            </a:r>
            <a:br>
              <a:rPr b="1" i="1" lang="en-US" sz="1600" u="sng">
                <a:solidFill>
                  <a:srgbClr val="C00000"/>
                </a:solidFill>
                <a:latin typeface="Calibri"/>
                <a:ea typeface="Calibri"/>
                <a:cs typeface="Calibri"/>
                <a:sym typeface="Calibri"/>
              </a:rPr>
            </a:br>
            <a:r>
              <a:rPr b="1" i="1" lang="en-US" sz="1600" u="sng">
                <a:solidFill>
                  <a:srgbClr val="C00000"/>
                </a:solidFill>
                <a:latin typeface="Calibri"/>
                <a:ea typeface="Calibri"/>
                <a:cs typeface="Calibri"/>
                <a:sym typeface="Calibri"/>
              </a:rPr>
              <a:t>But, CPU does not need to switch the context!</a:t>
            </a:r>
            <a:endParaRPr b="1" i="1" sz="1600" u="sng">
              <a:solidFill>
                <a:srgbClr val="C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2"/>
                                        </p:tgtEl>
                                        <p:attrNameLst>
                                          <p:attrName>style.visibility</p:attrName>
                                        </p:attrNameLst>
                                      </p:cBhvr>
                                      <p:to>
                                        <p:strVal val="visible"/>
                                      </p:to>
                                    </p:set>
                                    <p:animEffect filter="fade" transition="in">
                                      <p:cBhvr>
                                        <p:cTn dur="500"/>
                                        <p:tgtEl>
                                          <p:spTgt spid="3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12"/>
                                        </p:tgtEl>
                                      </p:cBhvr>
                                    </p:animEffect>
                                    <p:set>
                                      <p:cBhvr>
                                        <p:cTn dur="1" fill="hold">
                                          <p:stCondLst>
                                            <p:cond delay="500"/>
                                          </p:stCondLst>
                                        </p:cTn>
                                        <p:tgtEl>
                                          <p:spTgt spid="31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5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32"/>
                                        </p:tgtEl>
                                      </p:cBhvr>
                                    </p:animEffect>
                                    <p:set>
                                      <p:cBhvr>
                                        <p:cTn dur="1" fill="hold">
                                          <p:stCondLst>
                                            <p:cond delay="500"/>
                                          </p:stCondLst>
                                        </p:cTn>
                                        <p:tgtEl>
                                          <p:spTgt spid="33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5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grpSp>
        <p:nvGrpSpPr>
          <p:cNvPr id="350" name="Google Shape;350;p11"/>
          <p:cNvGrpSpPr/>
          <p:nvPr/>
        </p:nvGrpSpPr>
        <p:grpSpPr>
          <a:xfrm>
            <a:off x="94406" y="4919672"/>
            <a:ext cx="11693642" cy="1894260"/>
            <a:chOff x="94406" y="4919672"/>
            <a:chExt cx="11693642" cy="1894260"/>
          </a:xfrm>
        </p:grpSpPr>
        <p:grpSp>
          <p:nvGrpSpPr>
            <p:cNvPr id="351" name="Google Shape;351;p11"/>
            <p:cNvGrpSpPr/>
            <p:nvPr/>
          </p:nvGrpSpPr>
          <p:grpSpPr>
            <a:xfrm>
              <a:off x="177800" y="5295500"/>
              <a:ext cx="11610248" cy="1518432"/>
              <a:chOff x="1011718" y="5339568"/>
              <a:chExt cx="3473773" cy="1340629"/>
            </a:xfrm>
          </p:grpSpPr>
          <p:sp>
            <p:nvSpPr>
              <p:cNvPr id="352" name="Google Shape;352;p11"/>
              <p:cNvSpPr/>
              <p:nvPr/>
            </p:nvSpPr>
            <p:spPr>
              <a:xfrm>
                <a:off x="1011718" y="5339568"/>
                <a:ext cx="3473773" cy="1340629"/>
              </a:xfrm>
              <a:prstGeom prst="rect">
                <a:avLst/>
              </a:prstGeom>
              <a:solidFill>
                <a:srgbClr val="BBD6E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53" name="Google Shape;353;p11"/>
              <p:cNvCxnSpPr/>
              <p:nvPr/>
            </p:nvCxnSpPr>
            <p:spPr>
              <a:xfrm>
                <a:off x="1011718" y="5339568"/>
                <a:ext cx="3473773" cy="0"/>
              </a:xfrm>
              <a:prstGeom prst="straightConnector1">
                <a:avLst/>
              </a:prstGeom>
              <a:noFill/>
              <a:ln cap="flat" cmpd="sng" w="31750">
                <a:solidFill>
                  <a:srgbClr val="2E75B5"/>
                </a:solidFill>
                <a:prstDash val="solid"/>
                <a:miter lim="800000"/>
                <a:headEnd len="sm" w="sm" type="none"/>
                <a:tailEnd len="sm" w="sm" type="none"/>
              </a:ln>
            </p:spPr>
          </p:cxnSp>
        </p:grpSp>
        <p:sp>
          <p:nvSpPr>
            <p:cNvPr id="354" name="Google Shape;354;p11"/>
            <p:cNvSpPr txBox="1"/>
            <p:nvPr/>
          </p:nvSpPr>
          <p:spPr>
            <a:xfrm>
              <a:off x="94406" y="4919672"/>
              <a:ext cx="1117614"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u="sng">
                  <a:solidFill>
                    <a:srgbClr val="C00000"/>
                  </a:solidFill>
                  <a:latin typeface="Calibri"/>
                  <a:ea typeface="Calibri"/>
                  <a:cs typeface="Calibri"/>
                  <a:sym typeface="Calibri"/>
                </a:rPr>
                <a:t>User Mode</a:t>
              </a:r>
              <a:endParaRPr b="1" i="1" sz="1600" u="sng">
                <a:solidFill>
                  <a:srgbClr val="C00000"/>
                </a:solidFill>
                <a:latin typeface="Calibri"/>
                <a:ea typeface="Calibri"/>
                <a:cs typeface="Calibri"/>
                <a:sym typeface="Calibri"/>
              </a:endParaRPr>
            </a:p>
          </p:txBody>
        </p:sp>
        <p:sp>
          <p:nvSpPr>
            <p:cNvPr id="355" name="Google Shape;355;p11"/>
            <p:cNvSpPr txBox="1"/>
            <p:nvPr/>
          </p:nvSpPr>
          <p:spPr>
            <a:xfrm>
              <a:off x="105622" y="5339567"/>
              <a:ext cx="127047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600" u="sng">
                  <a:solidFill>
                    <a:srgbClr val="C00000"/>
                  </a:solidFill>
                  <a:latin typeface="Calibri"/>
                  <a:ea typeface="Calibri"/>
                  <a:cs typeface="Calibri"/>
                  <a:sym typeface="Calibri"/>
                </a:rPr>
                <a:t>Kernel Mode</a:t>
              </a:r>
              <a:endParaRPr b="1" i="1" sz="1600" u="sng">
                <a:solidFill>
                  <a:srgbClr val="C00000"/>
                </a:solidFill>
                <a:latin typeface="Calibri"/>
                <a:ea typeface="Calibri"/>
                <a:cs typeface="Calibri"/>
                <a:sym typeface="Calibri"/>
              </a:endParaRPr>
            </a:p>
          </p:txBody>
        </p:sp>
      </p:grpSp>
      <p:sp>
        <p:nvSpPr>
          <p:cNvPr id="356" name="Google Shape;356;p11"/>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How to Trigger/Request Kernel Services</a:t>
            </a:r>
            <a:endParaRPr sz="4000">
              <a:latin typeface="Calibri"/>
              <a:ea typeface="Calibri"/>
              <a:cs typeface="Calibri"/>
              <a:sym typeface="Calibri"/>
            </a:endParaRPr>
          </a:p>
        </p:txBody>
      </p:sp>
      <p:sp>
        <p:nvSpPr>
          <p:cNvPr id="357" name="Google Shape;357;p11"/>
          <p:cNvSpPr txBox="1"/>
          <p:nvPr>
            <p:ph idx="1" type="body"/>
          </p:nvPr>
        </p:nvSpPr>
        <p:spPr>
          <a:xfrm>
            <a:off x="177800" y="1084013"/>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When Do CPUs Run Kernel: CPUs runs the kernel only when </a:t>
            </a:r>
            <a:r>
              <a:rPr lang="en-US" sz="2800">
                <a:solidFill>
                  <a:srgbClr val="C00000"/>
                </a:solidFill>
                <a:latin typeface="Calibri"/>
                <a:ea typeface="Calibri"/>
                <a:cs typeface="Calibri"/>
                <a:sym typeface="Calibri"/>
              </a:rPr>
              <a:t>some special events are triggered</a:t>
            </a:r>
            <a:r>
              <a:rPr lang="en-US" sz="2800">
                <a:solidFill>
                  <a:schemeClr val="dk1"/>
                </a:solidFill>
                <a:latin typeface="Calibri"/>
                <a:ea typeface="Calibri"/>
                <a:cs typeface="Calibri"/>
                <a:sym typeface="Calibri"/>
              </a:rPr>
              <a:t>. Otherwise, it runs user programs or stays idle.</a:t>
            </a:r>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Special Events: </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latin typeface="Calibri"/>
                <a:ea typeface="Calibri"/>
                <a:cs typeface="Calibri"/>
                <a:sym typeface="Calibri"/>
              </a:rPr>
              <a:t>Hardware interrupts (</a:t>
            </a:r>
            <a:r>
              <a:rPr lang="en-US">
                <a:solidFill>
                  <a:schemeClr val="dk1"/>
                </a:solidFill>
              </a:rPr>
              <a:t>Alerting signal</a:t>
            </a:r>
            <a:r>
              <a:rPr lang="en-US">
                <a:solidFill>
                  <a:schemeClr val="dk1"/>
                </a:solidFill>
                <a:latin typeface="Calibri"/>
                <a:ea typeface="Calibri"/>
                <a:cs typeface="Calibri"/>
                <a:sym typeface="Calibri"/>
              </a:rPr>
              <a:t>)</a:t>
            </a:r>
            <a:endParaRPr>
              <a:solidFill>
                <a:schemeClr val="dk1"/>
              </a:solidFill>
            </a:endParaRPr>
          </a:p>
          <a:p>
            <a:pPr indent="-228600" lvl="2" marL="1143000" rtl="0" algn="l">
              <a:lnSpc>
                <a:spcPct val="100000"/>
              </a:lnSpc>
              <a:spcBef>
                <a:spcPts val="0"/>
              </a:spcBef>
              <a:spcAft>
                <a:spcPts val="0"/>
              </a:spcAft>
              <a:buClr>
                <a:schemeClr val="dk1"/>
              </a:buClr>
              <a:buSzPts val="2000"/>
              <a:buFont typeface="Calibri"/>
              <a:buChar char="•"/>
            </a:pPr>
            <a:r>
              <a:rPr lang="en-US">
                <a:solidFill>
                  <a:schemeClr val="dk1"/>
                </a:solidFill>
              </a:rPr>
              <a:t>Timer interrupt</a:t>
            </a:r>
            <a:endParaRPr/>
          </a:p>
          <a:p>
            <a:pPr indent="-228600" lvl="2" marL="1143000" rtl="0" algn="l">
              <a:lnSpc>
                <a:spcPct val="100000"/>
              </a:lnSpc>
              <a:spcBef>
                <a:spcPts val="0"/>
              </a:spcBef>
              <a:spcAft>
                <a:spcPts val="0"/>
              </a:spcAft>
              <a:buClr>
                <a:schemeClr val="dk1"/>
              </a:buClr>
              <a:buSzPts val="2000"/>
              <a:buFont typeface="Calibri"/>
              <a:buChar char="•"/>
            </a:pPr>
            <a:r>
              <a:rPr lang="en-US">
                <a:solidFill>
                  <a:schemeClr val="dk1"/>
                </a:solidFill>
              </a:rPr>
              <a:t>I/O Interrupt (e.g., Keyboard, Hard Disks)</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Software-generated interrupts (</a:t>
            </a:r>
            <a:r>
              <a:rPr lang="en-US">
                <a:solidFill>
                  <a:srgbClr val="C00000"/>
                </a:solidFill>
              </a:rPr>
              <a:t>Traps or Exceptions</a:t>
            </a:r>
            <a:r>
              <a:rPr lang="en-US">
                <a:solidFill>
                  <a:schemeClr val="dk1"/>
                </a:solidFill>
              </a:rPr>
              <a:t>) </a:t>
            </a:r>
            <a:r>
              <a:rPr lang="en-US">
                <a:solidFill>
                  <a:schemeClr val="dk1"/>
                </a:solidFill>
                <a:latin typeface="Calibri"/>
                <a:ea typeface="Calibri"/>
                <a:cs typeface="Calibri"/>
                <a:sym typeface="Calibri"/>
              </a:rPr>
              <a:t> </a:t>
            </a:r>
            <a:endParaRPr/>
          </a:p>
          <a:p>
            <a:pPr indent="-228600" lvl="2" marL="1143000" rtl="0" algn="l">
              <a:lnSpc>
                <a:spcPct val="100000"/>
              </a:lnSpc>
              <a:spcBef>
                <a:spcPts val="0"/>
              </a:spcBef>
              <a:spcAft>
                <a:spcPts val="0"/>
              </a:spcAft>
              <a:buClr>
                <a:schemeClr val="dk1"/>
              </a:buClr>
              <a:buSzPts val="2000"/>
              <a:buFont typeface="Calibri"/>
              <a:buChar char="•"/>
            </a:pPr>
            <a:r>
              <a:rPr lang="en-US">
                <a:solidFill>
                  <a:schemeClr val="dk1"/>
                </a:solidFill>
              </a:rPr>
              <a:t>Specific requests from user processes (</a:t>
            </a:r>
            <a:r>
              <a:rPr lang="en-US">
                <a:solidFill>
                  <a:srgbClr val="C00000"/>
                </a:solidFill>
              </a:rPr>
              <a:t>System Call, such as Read/Write</a:t>
            </a:r>
            <a:r>
              <a:rPr lang="en-US">
                <a:solidFill>
                  <a:schemeClr val="dk1"/>
                </a:solidFill>
              </a:rPr>
              <a:t>)</a:t>
            </a:r>
            <a:endParaRPr/>
          </a:p>
          <a:p>
            <a:pPr indent="-228600" lvl="2" marL="1143000" rtl="0" algn="l">
              <a:lnSpc>
                <a:spcPct val="100000"/>
              </a:lnSpc>
              <a:spcBef>
                <a:spcPts val="0"/>
              </a:spcBef>
              <a:spcAft>
                <a:spcPts val="0"/>
              </a:spcAft>
              <a:buClr>
                <a:schemeClr val="dk1"/>
              </a:buClr>
              <a:buSzPts val="2000"/>
              <a:buFont typeface="Calibri"/>
              <a:buChar char="•"/>
            </a:pPr>
            <a:r>
              <a:rPr lang="en-US">
                <a:solidFill>
                  <a:schemeClr val="dk1"/>
                </a:solidFill>
              </a:rPr>
              <a:t>Some errors (e.g., invalid memory access or </a:t>
            </a:r>
            <a:r>
              <a:rPr lang="en-US">
                <a:solidFill>
                  <a:srgbClr val="C00000"/>
                </a:solidFill>
              </a:rPr>
              <a:t>page faults</a:t>
            </a:r>
            <a:r>
              <a:rPr lang="en-US">
                <a:solidFill>
                  <a:schemeClr val="dk1"/>
                </a:solidFill>
              </a:rPr>
              <a:t>)</a:t>
            </a:r>
            <a:endParaRPr/>
          </a:p>
          <a:p>
            <a:pPr indent="-165100" lvl="0" marL="342900" rtl="0" algn="l">
              <a:lnSpc>
                <a:spcPct val="100000"/>
              </a:lnSpc>
              <a:spcBef>
                <a:spcPts val="0"/>
              </a:spcBef>
              <a:spcAft>
                <a:spcPts val="0"/>
              </a:spcAft>
              <a:buClr>
                <a:srgbClr val="333333"/>
              </a:buClr>
              <a:buSzPts val="2800"/>
              <a:buFont typeface="Calibri"/>
              <a:buNone/>
            </a:pPr>
            <a:r>
              <a:t/>
            </a:r>
            <a:endParaRPr sz="2800">
              <a:solidFill>
                <a:schemeClr val="dk1"/>
              </a:solidFill>
              <a:latin typeface="Calibri"/>
              <a:ea typeface="Calibri"/>
              <a:cs typeface="Calibri"/>
              <a:sym typeface="Calibri"/>
            </a:endParaRPr>
          </a:p>
        </p:txBody>
      </p:sp>
      <p:sp>
        <p:nvSpPr>
          <p:cNvPr id="358" name="Google Shape;358;p11"/>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359" name="Google Shape;359;p11"/>
          <p:cNvGrpSpPr/>
          <p:nvPr/>
        </p:nvGrpSpPr>
        <p:grpSpPr>
          <a:xfrm>
            <a:off x="1536389" y="4298283"/>
            <a:ext cx="1395534" cy="1395534"/>
            <a:chOff x="1323298" y="4313407"/>
            <a:chExt cx="1395534" cy="1395534"/>
          </a:xfrm>
        </p:grpSpPr>
        <p:pic>
          <p:nvPicPr>
            <p:cNvPr id="360" name="Google Shape;360;p11"/>
            <p:cNvPicPr preferRelativeResize="0"/>
            <p:nvPr/>
          </p:nvPicPr>
          <p:blipFill rotWithShape="1">
            <a:blip r:embed="rId3">
              <a:alphaModFix/>
            </a:blip>
            <a:srcRect b="0" l="0" r="0" t="0"/>
            <a:stretch/>
          </p:blipFill>
          <p:spPr>
            <a:xfrm>
              <a:off x="1323298" y="4313407"/>
              <a:ext cx="1395534" cy="1395534"/>
            </a:xfrm>
            <a:prstGeom prst="rect">
              <a:avLst/>
            </a:prstGeom>
            <a:noFill/>
            <a:ln>
              <a:noFill/>
            </a:ln>
          </p:spPr>
        </p:pic>
        <p:sp>
          <p:nvSpPr>
            <p:cNvPr id="361" name="Google Shape;361;p11"/>
            <p:cNvSpPr txBox="1"/>
            <p:nvPr/>
          </p:nvSpPr>
          <p:spPr>
            <a:xfrm>
              <a:off x="1572186" y="5033662"/>
              <a:ext cx="994373" cy="318924"/>
            </a:xfrm>
            <a:prstGeom prst="rect">
              <a:avLst/>
            </a:prstGeom>
            <a:solidFill>
              <a:srgbClr val="F6DF98"/>
            </a:solidFill>
            <a:ln>
              <a:noFill/>
            </a:ln>
          </p:spPr>
          <p:txBody>
            <a:bodyPr anchorCtr="0" anchor="ctr" bIns="36000" lIns="36000" spcFirstLastPara="1" rIns="36000" wrap="square" tIns="36000">
              <a:spAutoFit/>
            </a:bodyPr>
            <a:lstStyle/>
            <a:p>
              <a:pPr indent="0" lvl="0" marL="0" marR="0" rtl="0" algn="ctr">
                <a:spcBef>
                  <a:spcPts val="0"/>
                </a:spcBef>
                <a:spcAft>
                  <a:spcPts val="0"/>
                </a:spcAft>
                <a:buNone/>
              </a:pPr>
              <a:r>
                <a:rPr b="1" lang="en-US" sz="1600">
                  <a:solidFill>
                    <a:schemeClr val="accent5"/>
                  </a:solidFill>
                  <a:latin typeface="Calibri"/>
                  <a:ea typeface="Calibri"/>
                  <a:cs typeface="Calibri"/>
                  <a:sym typeface="Calibri"/>
                </a:rPr>
                <a:t>Process A</a:t>
              </a:r>
              <a:endParaRPr b="1" sz="1600">
                <a:solidFill>
                  <a:schemeClr val="accent5"/>
                </a:solidFill>
                <a:latin typeface="Calibri"/>
                <a:ea typeface="Calibri"/>
                <a:cs typeface="Calibri"/>
                <a:sym typeface="Calibri"/>
              </a:endParaRPr>
            </a:p>
          </p:txBody>
        </p:sp>
      </p:grpSp>
      <p:grpSp>
        <p:nvGrpSpPr>
          <p:cNvPr id="362" name="Google Shape;362;p11"/>
          <p:cNvGrpSpPr/>
          <p:nvPr/>
        </p:nvGrpSpPr>
        <p:grpSpPr>
          <a:xfrm>
            <a:off x="3189744" y="5323132"/>
            <a:ext cx="1395534" cy="1395534"/>
            <a:chOff x="1323298" y="4313407"/>
            <a:chExt cx="1395534" cy="1395534"/>
          </a:xfrm>
        </p:grpSpPr>
        <p:pic>
          <p:nvPicPr>
            <p:cNvPr id="363" name="Google Shape;363;p11"/>
            <p:cNvPicPr preferRelativeResize="0"/>
            <p:nvPr/>
          </p:nvPicPr>
          <p:blipFill rotWithShape="1">
            <a:blip r:embed="rId3">
              <a:alphaModFix/>
            </a:blip>
            <a:srcRect b="0" l="0" r="0" t="0"/>
            <a:stretch/>
          </p:blipFill>
          <p:spPr>
            <a:xfrm>
              <a:off x="1323298" y="4313407"/>
              <a:ext cx="1395534" cy="1395534"/>
            </a:xfrm>
            <a:prstGeom prst="rect">
              <a:avLst/>
            </a:prstGeom>
            <a:noFill/>
            <a:ln>
              <a:noFill/>
            </a:ln>
          </p:spPr>
        </p:pic>
        <p:sp>
          <p:nvSpPr>
            <p:cNvPr id="364" name="Google Shape;364;p11"/>
            <p:cNvSpPr txBox="1"/>
            <p:nvPr/>
          </p:nvSpPr>
          <p:spPr>
            <a:xfrm>
              <a:off x="1550338" y="4961690"/>
              <a:ext cx="1035586" cy="492443"/>
            </a:xfrm>
            <a:prstGeom prst="rect">
              <a:avLst/>
            </a:prstGeom>
            <a:solidFill>
              <a:srgbClr val="F6DF98"/>
            </a:solid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600">
                  <a:solidFill>
                    <a:schemeClr val="accent5"/>
                  </a:solidFill>
                  <a:latin typeface="Calibri"/>
                  <a:ea typeface="Calibri"/>
                  <a:cs typeface="Calibri"/>
                  <a:sym typeface="Calibri"/>
                </a:rPr>
                <a:t>System Call</a:t>
              </a:r>
              <a:br>
                <a:rPr b="1" lang="en-US" sz="1600">
                  <a:solidFill>
                    <a:schemeClr val="accent5"/>
                  </a:solidFill>
                  <a:latin typeface="Calibri"/>
                  <a:ea typeface="Calibri"/>
                  <a:cs typeface="Calibri"/>
                  <a:sym typeface="Calibri"/>
                </a:rPr>
              </a:br>
              <a:r>
                <a:rPr b="1" lang="en-US" sz="1600">
                  <a:solidFill>
                    <a:schemeClr val="accent5"/>
                  </a:solidFill>
                  <a:latin typeface="Calibri"/>
                  <a:ea typeface="Calibri"/>
                  <a:cs typeface="Calibri"/>
                  <a:sym typeface="Calibri"/>
                </a:rPr>
                <a:t>Handler</a:t>
              </a:r>
              <a:endParaRPr b="1" sz="1600">
                <a:solidFill>
                  <a:schemeClr val="accent5"/>
                </a:solidFill>
                <a:latin typeface="Calibri"/>
                <a:ea typeface="Calibri"/>
                <a:cs typeface="Calibri"/>
                <a:sym typeface="Calibri"/>
              </a:endParaRPr>
            </a:p>
          </p:txBody>
        </p:sp>
      </p:grpSp>
      <p:sp>
        <p:nvSpPr>
          <p:cNvPr id="365" name="Google Shape;365;p11"/>
          <p:cNvSpPr/>
          <p:nvPr/>
        </p:nvSpPr>
        <p:spPr>
          <a:xfrm>
            <a:off x="3041679" y="4461604"/>
            <a:ext cx="1707098" cy="738630"/>
          </a:xfrm>
          <a:prstGeom prst="cloudCallout">
            <a:avLst>
              <a:gd fmla="val -38002" name="adj1"/>
              <a:gd fmla="val 20383" name="adj2"/>
            </a:avLst>
          </a:prstGeom>
          <a:solidFill>
            <a:srgbClr val="FFD966"/>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System Call</a:t>
            </a:r>
            <a:endParaRPr b="1" sz="1800">
              <a:solidFill>
                <a:schemeClr val="dk1"/>
              </a:solidFill>
              <a:latin typeface="Calibri"/>
              <a:ea typeface="Calibri"/>
              <a:cs typeface="Calibri"/>
              <a:sym typeface="Calibri"/>
            </a:endParaRPr>
          </a:p>
        </p:txBody>
      </p:sp>
      <p:grpSp>
        <p:nvGrpSpPr>
          <p:cNvPr id="366" name="Google Shape;366;p11"/>
          <p:cNvGrpSpPr/>
          <p:nvPr/>
        </p:nvGrpSpPr>
        <p:grpSpPr>
          <a:xfrm>
            <a:off x="4915322" y="4275795"/>
            <a:ext cx="1395534" cy="1395534"/>
            <a:chOff x="1323298" y="4313407"/>
            <a:chExt cx="1395534" cy="1395534"/>
          </a:xfrm>
        </p:grpSpPr>
        <p:pic>
          <p:nvPicPr>
            <p:cNvPr id="367" name="Google Shape;367;p11"/>
            <p:cNvPicPr preferRelativeResize="0"/>
            <p:nvPr/>
          </p:nvPicPr>
          <p:blipFill rotWithShape="1">
            <a:blip r:embed="rId3">
              <a:alphaModFix/>
            </a:blip>
            <a:srcRect b="0" l="0" r="0" t="0"/>
            <a:stretch/>
          </p:blipFill>
          <p:spPr>
            <a:xfrm>
              <a:off x="1323298" y="4313407"/>
              <a:ext cx="1395534" cy="1395534"/>
            </a:xfrm>
            <a:prstGeom prst="rect">
              <a:avLst/>
            </a:prstGeom>
            <a:noFill/>
            <a:ln>
              <a:noFill/>
            </a:ln>
          </p:spPr>
        </p:pic>
        <p:sp>
          <p:nvSpPr>
            <p:cNvPr id="368" name="Google Shape;368;p11"/>
            <p:cNvSpPr txBox="1"/>
            <p:nvPr/>
          </p:nvSpPr>
          <p:spPr>
            <a:xfrm>
              <a:off x="1572186" y="5033662"/>
              <a:ext cx="994373" cy="318924"/>
            </a:xfrm>
            <a:prstGeom prst="rect">
              <a:avLst/>
            </a:prstGeom>
            <a:solidFill>
              <a:srgbClr val="F6DF98"/>
            </a:solidFill>
            <a:ln>
              <a:noFill/>
            </a:ln>
          </p:spPr>
          <p:txBody>
            <a:bodyPr anchorCtr="0" anchor="ctr" bIns="36000" lIns="36000" spcFirstLastPara="1" rIns="36000" wrap="square" tIns="36000">
              <a:spAutoFit/>
            </a:bodyPr>
            <a:lstStyle/>
            <a:p>
              <a:pPr indent="0" lvl="0" marL="0" marR="0" rtl="0" algn="ctr">
                <a:spcBef>
                  <a:spcPts val="0"/>
                </a:spcBef>
                <a:spcAft>
                  <a:spcPts val="0"/>
                </a:spcAft>
                <a:buNone/>
              </a:pPr>
              <a:r>
                <a:rPr b="1" lang="en-US" sz="1600">
                  <a:solidFill>
                    <a:schemeClr val="accent5"/>
                  </a:solidFill>
                  <a:latin typeface="Calibri"/>
                  <a:ea typeface="Calibri"/>
                  <a:cs typeface="Calibri"/>
                  <a:sym typeface="Calibri"/>
                </a:rPr>
                <a:t>Process A</a:t>
              </a:r>
              <a:endParaRPr b="1" sz="1600">
                <a:solidFill>
                  <a:schemeClr val="accent5"/>
                </a:solidFill>
                <a:latin typeface="Calibri"/>
                <a:ea typeface="Calibri"/>
                <a:cs typeface="Calibri"/>
                <a:sym typeface="Calibri"/>
              </a:endParaRPr>
            </a:p>
          </p:txBody>
        </p:sp>
      </p:grpSp>
      <p:sp>
        <p:nvSpPr>
          <p:cNvPr id="369" name="Google Shape;369;p11"/>
          <p:cNvSpPr/>
          <p:nvPr/>
        </p:nvSpPr>
        <p:spPr>
          <a:xfrm>
            <a:off x="6394250" y="4444379"/>
            <a:ext cx="1707098" cy="738630"/>
          </a:xfrm>
          <a:prstGeom prst="cloudCallout">
            <a:avLst>
              <a:gd fmla="val -38002" name="adj1"/>
              <a:gd fmla="val 20383" name="adj2"/>
            </a:avLst>
          </a:prstGeom>
          <a:solidFill>
            <a:srgbClr val="FFD966"/>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Timer Interrupt</a:t>
            </a:r>
            <a:endParaRPr b="1" sz="1800">
              <a:solidFill>
                <a:schemeClr val="dk1"/>
              </a:solidFill>
              <a:latin typeface="Calibri"/>
              <a:ea typeface="Calibri"/>
              <a:cs typeface="Calibri"/>
              <a:sym typeface="Calibri"/>
            </a:endParaRPr>
          </a:p>
        </p:txBody>
      </p:sp>
      <p:grpSp>
        <p:nvGrpSpPr>
          <p:cNvPr id="370" name="Google Shape;370;p11"/>
          <p:cNvGrpSpPr/>
          <p:nvPr/>
        </p:nvGrpSpPr>
        <p:grpSpPr>
          <a:xfrm>
            <a:off x="6531191" y="5312115"/>
            <a:ext cx="1395534" cy="1395534"/>
            <a:chOff x="6778967" y="5272207"/>
            <a:chExt cx="1395534" cy="1395534"/>
          </a:xfrm>
        </p:grpSpPr>
        <p:pic>
          <p:nvPicPr>
            <p:cNvPr id="371" name="Google Shape;371;p11"/>
            <p:cNvPicPr preferRelativeResize="0"/>
            <p:nvPr/>
          </p:nvPicPr>
          <p:blipFill rotWithShape="1">
            <a:blip r:embed="rId3">
              <a:alphaModFix/>
            </a:blip>
            <a:srcRect b="0" l="0" r="0" t="0"/>
            <a:stretch/>
          </p:blipFill>
          <p:spPr>
            <a:xfrm>
              <a:off x="6778967" y="5272207"/>
              <a:ext cx="1395534" cy="1395534"/>
            </a:xfrm>
            <a:prstGeom prst="rect">
              <a:avLst/>
            </a:prstGeom>
            <a:noFill/>
            <a:ln>
              <a:noFill/>
            </a:ln>
          </p:spPr>
        </p:pic>
        <p:sp>
          <p:nvSpPr>
            <p:cNvPr id="372" name="Google Shape;372;p11"/>
            <p:cNvSpPr txBox="1"/>
            <p:nvPr/>
          </p:nvSpPr>
          <p:spPr>
            <a:xfrm>
              <a:off x="7028882" y="5996544"/>
              <a:ext cx="994373" cy="318924"/>
            </a:xfrm>
            <a:prstGeom prst="rect">
              <a:avLst/>
            </a:prstGeom>
            <a:solidFill>
              <a:srgbClr val="F6DF98"/>
            </a:solidFill>
            <a:ln>
              <a:noFill/>
            </a:ln>
          </p:spPr>
          <p:txBody>
            <a:bodyPr anchorCtr="0" anchor="ctr" bIns="36000" lIns="36000" spcFirstLastPara="1" rIns="36000" wrap="square" tIns="36000">
              <a:spAutoFit/>
            </a:bodyPr>
            <a:lstStyle/>
            <a:p>
              <a:pPr indent="0" lvl="0" marL="0" marR="0" rtl="0" algn="ctr">
                <a:spcBef>
                  <a:spcPts val="0"/>
                </a:spcBef>
                <a:spcAft>
                  <a:spcPts val="0"/>
                </a:spcAft>
                <a:buNone/>
              </a:pPr>
              <a:r>
                <a:rPr b="1" lang="en-US" sz="1600">
                  <a:solidFill>
                    <a:schemeClr val="accent5"/>
                  </a:solidFill>
                  <a:latin typeface="Calibri"/>
                  <a:ea typeface="Calibri"/>
                  <a:cs typeface="Calibri"/>
                  <a:sym typeface="Calibri"/>
                </a:rPr>
                <a:t>Scheduler</a:t>
              </a:r>
              <a:endParaRPr b="1" sz="1600">
                <a:solidFill>
                  <a:schemeClr val="accent5"/>
                </a:solidFill>
                <a:latin typeface="Calibri"/>
                <a:ea typeface="Calibri"/>
                <a:cs typeface="Calibri"/>
                <a:sym typeface="Calibri"/>
              </a:endParaRPr>
            </a:p>
          </p:txBody>
        </p:sp>
      </p:grpSp>
      <p:sp>
        <p:nvSpPr>
          <p:cNvPr id="373" name="Google Shape;373;p11"/>
          <p:cNvSpPr/>
          <p:nvPr/>
        </p:nvSpPr>
        <p:spPr>
          <a:xfrm>
            <a:off x="9924288" y="4461604"/>
            <a:ext cx="1707098" cy="738630"/>
          </a:xfrm>
          <a:prstGeom prst="cloudCallout">
            <a:avLst>
              <a:gd fmla="val -38002" name="adj1"/>
              <a:gd fmla="val 20383" name="adj2"/>
            </a:avLst>
          </a:prstGeom>
          <a:solidFill>
            <a:srgbClr val="FFD966"/>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I/O Interrupt</a:t>
            </a:r>
            <a:endParaRPr b="1" sz="1800">
              <a:solidFill>
                <a:schemeClr val="dk1"/>
              </a:solidFill>
              <a:latin typeface="Calibri"/>
              <a:ea typeface="Calibri"/>
              <a:cs typeface="Calibri"/>
              <a:sym typeface="Calibri"/>
            </a:endParaRPr>
          </a:p>
        </p:txBody>
      </p:sp>
      <p:grpSp>
        <p:nvGrpSpPr>
          <p:cNvPr id="374" name="Google Shape;374;p11"/>
          <p:cNvGrpSpPr/>
          <p:nvPr/>
        </p:nvGrpSpPr>
        <p:grpSpPr>
          <a:xfrm>
            <a:off x="6525716" y="5304970"/>
            <a:ext cx="1395534" cy="1395534"/>
            <a:chOff x="9840824" y="3388046"/>
            <a:chExt cx="1395534" cy="1395534"/>
          </a:xfrm>
        </p:grpSpPr>
        <p:pic>
          <p:nvPicPr>
            <p:cNvPr id="375" name="Google Shape;375;p11"/>
            <p:cNvPicPr preferRelativeResize="0"/>
            <p:nvPr/>
          </p:nvPicPr>
          <p:blipFill rotWithShape="1">
            <a:blip r:embed="rId4">
              <a:alphaModFix/>
            </a:blip>
            <a:srcRect b="0" l="0" r="0" t="0"/>
            <a:stretch/>
          </p:blipFill>
          <p:spPr>
            <a:xfrm>
              <a:off x="9840824" y="3388046"/>
              <a:ext cx="1395534" cy="1395534"/>
            </a:xfrm>
            <a:prstGeom prst="rect">
              <a:avLst/>
            </a:prstGeom>
            <a:noFill/>
            <a:ln>
              <a:noFill/>
            </a:ln>
          </p:spPr>
        </p:pic>
        <p:sp>
          <p:nvSpPr>
            <p:cNvPr id="376" name="Google Shape;376;p11"/>
            <p:cNvSpPr txBox="1"/>
            <p:nvPr/>
          </p:nvSpPr>
          <p:spPr>
            <a:xfrm>
              <a:off x="10166645" y="4153174"/>
              <a:ext cx="994373" cy="391628"/>
            </a:xfrm>
            <a:prstGeom prst="rect">
              <a:avLst/>
            </a:prstGeom>
            <a:solidFill>
              <a:srgbClr val="F6DF98"/>
            </a:solidFill>
            <a:ln>
              <a:noFill/>
            </a:ln>
          </p:spPr>
          <p:txBody>
            <a:bodyPr anchorCtr="0" anchor="ctr" bIns="72000" lIns="0" spcFirstLastPara="1" rIns="0" wrap="square" tIns="72000">
              <a:spAutoFit/>
            </a:bodyPr>
            <a:lstStyle/>
            <a:p>
              <a:pPr indent="0" lvl="0" marL="0" marR="0" rtl="0" algn="ctr">
                <a:spcBef>
                  <a:spcPts val="0"/>
                </a:spcBef>
                <a:spcAft>
                  <a:spcPts val="0"/>
                </a:spcAft>
                <a:buNone/>
              </a:pPr>
              <a:r>
                <a:rPr b="1" lang="en-US" sz="1600">
                  <a:solidFill>
                    <a:srgbClr val="800080"/>
                  </a:solidFill>
                  <a:latin typeface="Calibri"/>
                  <a:ea typeface="Calibri"/>
                  <a:cs typeface="Calibri"/>
                  <a:sym typeface="Calibri"/>
                </a:rPr>
                <a:t>Scheduler</a:t>
              </a:r>
              <a:endParaRPr b="1" sz="1600">
                <a:solidFill>
                  <a:srgbClr val="800080"/>
                </a:solidFill>
                <a:latin typeface="Calibri"/>
                <a:ea typeface="Calibri"/>
                <a:cs typeface="Calibri"/>
                <a:sym typeface="Calibri"/>
              </a:endParaRPr>
            </a:p>
          </p:txBody>
        </p:sp>
      </p:grpSp>
      <p:sp>
        <p:nvSpPr>
          <p:cNvPr id="377" name="Google Shape;377;p11"/>
          <p:cNvSpPr/>
          <p:nvPr/>
        </p:nvSpPr>
        <p:spPr>
          <a:xfrm>
            <a:off x="6383034" y="4461604"/>
            <a:ext cx="1707098" cy="738630"/>
          </a:xfrm>
          <a:prstGeom prst="cloudCallout">
            <a:avLst>
              <a:gd fmla="val -38002" name="adj1"/>
              <a:gd fmla="val 20383" name="adj2"/>
            </a:avLst>
          </a:prstGeom>
          <a:solidFill>
            <a:srgbClr val="FFD966"/>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chemeClr val="dk1"/>
                </a:solidFill>
                <a:latin typeface="Calibri"/>
                <a:ea typeface="Calibri"/>
                <a:cs typeface="Calibri"/>
                <a:sym typeface="Calibri"/>
              </a:rPr>
              <a:t>Context Switch</a:t>
            </a:r>
            <a:endParaRPr b="1" sz="1800">
              <a:solidFill>
                <a:schemeClr val="dk1"/>
              </a:solidFill>
              <a:latin typeface="Calibri"/>
              <a:ea typeface="Calibri"/>
              <a:cs typeface="Calibri"/>
              <a:sym typeface="Calibri"/>
            </a:endParaRPr>
          </a:p>
        </p:txBody>
      </p:sp>
      <p:grpSp>
        <p:nvGrpSpPr>
          <p:cNvPr id="378" name="Google Shape;378;p11"/>
          <p:cNvGrpSpPr/>
          <p:nvPr/>
        </p:nvGrpSpPr>
        <p:grpSpPr>
          <a:xfrm>
            <a:off x="8348656" y="4221905"/>
            <a:ext cx="1395534" cy="1395534"/>
            <a:chOff x="9840824" y="3388046"/>
            <a:chExt cx="1395534" cy="1395534"/>
          </a:xfrm>
        </p:grpSpPr>
        <p:pic>
          <p:nvPicPr>
            <p:cNvPr id="379" name="Google Shape;379;p11"/>
            <p:cNvPicPr preferRelativeResize="0"/>
            <p:nvPr/>
          </p:nvPicPr>
          <p:blipFill rotWithShape="1">
            <a:blip r:embed="rId4">
              <a:alphaModFix/>
            </a:blip>
            <a:srcRect b="0" l="0" r="0" t="0"/>
            <a:stretch/>
          </p:blipFill>
          <p:spPr>
            <a:xfrm>
              <a:off x="9840824" y="3388046"/>
              <a:ext cx="1395534" cy="1395534"/>
            </a:xfrm>
            <a:prstGeom prst="rect">
              <a:avLst/>
            </a:prstGeom>
            <a:noFill/>
            <a:ln>
              <a:noFill/>
            </a:ln>
          </p:spPr>
        </p:pic>
        <p:sp>
          <p:nvSpPr>
            <p:cNvPr id="380" name="Google Shape;380;p11"/>
            <p:cNvSpPr txBox="1"/>
            <p:nvPr/>
          </p:nvSpPr>
          <p:spPr>
            <a:xfrm>
              <a:off x="10166645" y="4153174"/>
              <a:ext cx="994373" cy="391628"/>
            </a:xfrm>
            <a:prstGeom prst="rect">
              <a:avLst/>
            </a:prstGeom>
            <a:solidFill>
              <a:srgbClr val="F6DF98"/>
            </a:solidFill>
            <a:ln>
              <a:noFill/>
            </a:ln>
          </p:spPr>
          <p:txBody>
            <a:bodyPr anchorCtr="0" anchor="ctr" bIns="72000" lIns="0" spcFirstLastPara="1" rIns="0" wrap="square" tIns="72000">
              <a:spAutoFit/>
            </a:bodyPr>
            <a:lstStyle/>
            <a:p>
              <a:pPr indent="0" lvl="0" marL="0" marR="0" rtl="0" algn="ctr">
                <a:spcBef>
                  <a:spcPts val="0"/>
                </a:spcBef>
                <a:spcAft>
                  <a:spcPts val="0"/>
                </a:spcAft>
                <a:buNone/>
              </a:pPr>
              <a:r>
                <a:rPr b="1" lang="en-US" sz="1600">
                  <a:solidFill>
                    <a:srgbClr val="800080"/>
                  </a:solidFill>
                  <a:latin typeface="Calibri"/>
                  <a:ea typeface="Calibri"/>
                  <a:cs typeface="Calibri"/>
                  <a:sym typeface="Calibri"/>
                </a:rPr>
                <a:t>Process B</a:t>
              </a:r>
              <a:endParaRPr b="1" sz="1600">
                <a:solidFill>
                  <a:srgbClr val="800080"/>
                </a:solidFill>
                <a:latin typeface="Calibri"/>
                <a:ea typeface="Calibri"/>
                <a:cs typeface="Calibri"/>
                <a:sym typeface="Calibri"/>
              </a:endParaRPr>
            </a:p>
          </p:txBody>
        </p:sp>
      </p:grpSp>
      <p:grpSp>
        <p:nvGrpSpPr>
          <p:cNvPr id="381" name="Google Shape;381;p11"/>
          <p:cNvGrpSpPr/>
          <p:nvPr/>
        </p:nvGrpSpPr>
        <p:grpSpPr>
          <a:xfrm>
            <a:off x="10077685" y="5312115"/>
            <a:ext cx="1395534" cy="1395534"/>
            <a:chOff x="9840824" y="3388046"/>
            <a:chExt cx="1395534" cy="1395534"/>
          </a:xfrm>
        </p:grpSpPr>
        <p:pic>
          <p:nvPicPr>
            <p:cNvPr id="382" name="Google Shape;382;p11"/>
            <p:cNvPicPr preferRelativeResize="0"/>
            <p:nvPr/>
          </p:nvPicPr>
          <p:blipFill rotWithShape="1">
            <a:blip r:embed="rId4">
              <a:alphaModFix/>
            </a:blip>
            <a:srcRect b="0" l="0" r="0" t="0"/>
            <a:stretch/>
          </p:blipFill>
          <p:spPr>
            <a:xfrm>
              <a:off x="9840824" y="3388046"/>
              <a:ext cx="1395534" cy="1395534"/>
            </a:xfrm>
            <a:prstGeom prst="rect">
              <a:avLst/>
            </a:prstGeom>
            <a:noFill/>
            <a:ln>
              <a:noFill/>
            </a:ln>
          </p:spPr>
        </p:pic>
        <p:sp>
          <p:nvSpPr>
            <p:cNvPr id="383" name="Google Shape;383;p11"/>
            <p:cNvSpPr txBox="1"/>
            <p:nvPr/>
          </p:nvSpPr>
          <p:spPr>
            <a:xfrm>
              <a:off x="10166645" y="4102767"/>
              <a:ext cx="994373" cy="492443"/>
            </a:xfrm>
            <a:prstGeom prst="rect">
              <a:avLst/>
            </a:prstGeom>
            <a:solidFill>
              <a:srgbClr val="F6DF98"/>
            </a:solid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600">
                  <a:solidFill>
                    <a:srgbClr val="800080"/>
                  </a:solidFill>
                  <a:latin typeface="Calibri"/>
                  <a:ea typeface="Calibri"/>
                  <a:cs typeface="Calibri"/>
                  <a:sym typeface="Calibri"/>
                </a:rPr>
                <a:t>I/O Handler</a:t>
              </a:r>
              <a:endParaRPr b="1" sz="1600">
                <a:solidFill>
                  <a:srgbClr val="800080"/>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par>
                                <p:cTn fill="hold" nodeType="withEffect" presetClass="entr" presetID="10" presetSubtype="0">
                                  <p:stCondLst>
                                    <p:cond delay="0"/>
                                  </p:stCondLst>
                                  <p:childTnLst>
                                    <p:set>
                                      <p:cBhvr>
                                        <p:cTn dur="1" fill="hold">
                                          <p:stCondLst>
                                            <p:cond delay="0"/>
                                          </p:stCondLst>
                                        </p:cTn>
                                        <p:tgtEl>
                                          <p:spTgt spid="359"/>
                                        </p:tgtEl>
                                        <p:attrNameLst>
                                          <p:attrName>style.visibility</p:attrName>
                                        </p:attrNameLst>
                                      </p:cBhvr>
                                      <p:to>
                                        <p:strVal val="visible"/>
                                      </p:to>
                                    </p:set>
                                    <p:animEffect filter="fade" transition="in">
                                      <p:cBhvr>
                                        <p:cTn dur="500"/>
                                        <p:tgtEl>
                                          <p:spTgt spid="3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500"/>
                                        <p:tgtEl>
                                          <p:spTgt spid="365"/>
                                        </p:tgtEl>
                                      </p:cBhvr>
                                    </p:animEffec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2"/>
                                        </p:tgtEl>
                                        <p:attrNameLst>
                                          <p:attrName>style.visibility</p:attrName>
                                        </p:attrNameLst>
                                      </p:cBhvr>
                                      <p:to>
                                        <p:strVal val="visible"/>
                                      </p:to>
                                    </p:set>
                                  </p:childTnLst>
                                </p:cTn>
                              </p:par>
                              <p:par>
                                <p:cTn fill="hold" nodeType="withEffect" presetClass="exit" presetID="10" presetSubtype="0">
                                  <p:stCondLst>
                                    <p:cond delay="0"/>
                                  </p:stCondLst>
                                  <p:childTnLst>
                                    <p:animEffect filter="fade" transition="out">
                                      <p:cBhvr>
                                        <p:cTn dur="500"/>
                                        <p:tgtEl>
                                          <p:spTgt spid="365"/>
                                        </p:tgtEl>
                                      </p:cBhvr>
                                    </p:animEffect>
                                    <p:set>
                                      <p:cBhvr>
                                        <p:cTn dur="1" fill="hold">
                                          <p:stCondLst>
                                            <p:cond delay="500"/>
                                          </p:stCondLst>
                                        </p:cTn>
                                        <p:tgtEl>
                                          <p:spTgt spid="36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5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500"/>
                                        <p:tgtEl>
                                          <p:spTgt spid="369"/>
                                        </p:tgtEl>
                                      </p:cBhvr>
                                    </p:animEffect>
                                  </p:childTnLst>
                                </p:cTn>
                              </p:par>
                              <p:par>
                                <p:cTn fill="hold" nodeType="withEffect" presetClass="exit" presetID="1" presetSubtype="0">
                                  <p:stCondLst>
                                    <p:cond delay="0"/>
                                  </p:stCondLst>
                                  <p:childTnLst>
                                    <p:set>
                                      <p:cBhvr>
                                        <p:cTn dur="1" fill="hold">
                                          <p:stCondLst>
                                            <p:cond delay="1"/>
                                          </p:stCondLst>
                                        </p:cTn>
                                        <p:tgtEl>
                                          <p:spTgt spid="362"/>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 presetSubtype="0">
                                  <p:stCondLst>
                                    <p:cond delay="0"/>
                                  </p:stCondLst>
                                  <p:childTnLst>
                                    <p:set>
                                      <p:cBhvr>
                                        <p:cTn dur="1" fill="hold">
                                          <p:stCondLst>
                                            <p:cond delay="0"/>
                                          </p:stCondLst>
                                        </p:cTn>
                                        <p:tgtEl>
                                          <p:spTgt spid="3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7"/>
                                        </p:tgtEl>
                                        <p:attrNameLst>
                                          <p:attrName>style.visibility</p:attrName>
                                        </p:attrNameLst>
                                      </p:cBhvr>
                                      <p:to>
                                        <p:strVal val="visible"/>
                                      </p:to>
                                    </p:set>
                                    <p:animEffect filter="fade" transition="in">
                                      <p:cBhvr>
                                        <p:cTn dur="500"/>
                                        <p:tgtEl>
                                          <p:spTgt spid="377"/>
                                        </p:tgtEl>
                                      </p:cBhvr>
                                    </p:animEffect>
                                  </p:childTnLst>
                                </p:cTn>
                              </p:par>
                            </p:childTnLst>
                          </p:cTn>
                        </p:par>
                        <p:par>
                          <p:cTn fill="hold">
                            <p:stCondLst>
                              <p:cond delay="500"/>
                            </p:stCondLst>
                            <p:childTnLst>
                              <p:par>
                                <p:cTn fill="hold" nodeType="afterEffect" presetClass="exit" presetID="10" presetSubtype="0">
                                  <p:stCondLst>
                                    <p:cond delay="0"/>
                                  </p:stCondLst>
                                  <p:childTnLst>
                                    <p:animEffect filter="fade" transition="out">
                                      <p:cBhvr>
                                        <p:cTn dur="500"/>
                                        <p:tgtEl>
                                          <p:spTgt spid="370"/>
                                        </p:tgtEl>
                                      </p:cBhvr>
                                    </p:animEffect>
                                    <p:set>
                                      <p:cBhvr>
                                        <p:cTn dur="1" fill="hold">
                                          <p:stCondLst>
                                            <p:cond delay="500"/>
                                          </p:stCondLst>
                                        </p:cTn>
                                        <p:tgtEl>
                                          <p:spTgt spid="37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1"/>
                                          </p:stCondLst>
                                        </p:cTn>
                                        <p:tgtEl>
                                          <p:spTgt spid="366"/>
                                        </p:tgtEl>
                                        <p:attrNameLst>
                                          <p:attrName>style.visibility</p:attrName>
                                        </p:attrNameLst>
                                      </p:cBhvr>
                                      <p:to>
                                        <p:strVal val="hidden"/>
                                      </p:to>
                                    </p:set>
                                  </p:childTnLst>
                                </p:cTn>
                              </p:par>
                            </p:childTnLst>
                          </p:cTn>
                        </p:par>
                        <p:par>
                          <p:cTn fill="hold">
                            <p:stCondLst>
                              <p:cond delay="1000"/>
                            </p:stCondLst>
                            <p:childTnLst>
                              <p:par>
                                <p:cTn fill="hold" nodeType="afterEffect" presetClass="exit" presetID="10" presetSubtype="0">
                                  <p:stCondLst>
                                    <p:cond delay="0"/>
                                  </p:stCondLst>
                                  <p:childTnLst>
                                    <p:animEffect filter="fade" transition="out">
                                      <p:cBhvr>
                                        <p:cTn dur="500"/>
                                        <p:tgtEl>
                                          <p:spTgt spid="369"/>
                                        </p:tgtEl>
                                      </p:cBhvr>
                                    </p:animEffect>
                                    <p:set>
                                      <p:cBhvr>
                                        <p:cTn dur="1" fill="hold">
                                          <p:stCondLst>
                                            <p:cond delay="500"/>
                                          </p:stCondLst>
                                        </p:cTn>
                                        <p:tgtEl>
                                          <p:spTgt spid="369"/>
                                        </p:tgtEl>
                                        <p:attrNameLst>
                                          <p:attrName>style.visibility</p:attrName>
                                        </p:attrNameLst>
                                      </p:cBhvr>
                                      <p:to>
                                        <p:strVal val="hidden"/>
                                      </p:to>
                                    </p:set>
                                  </p:childTnLst>
                                </p:cTn>
                              </p:par>
                            </p:childTnLst>
                          </p:cTn>
                        </p:par>
                        <p:par>
                          <p:cTn fill="hold">
                            <p:stCondLst>
                              <p:cond delay="1500"/>
                            </p:stCondLst>
                            <p:childTnLst>
                              <p:par>
                                <p:cTn fill="hold" nodeType="after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par>
                          <p:cTn fill="hold">
                            <p:stCondLst>
                              <p:cond delay="2000"/>
                            </p:stCondLst>
                            <p:childTnLst>
                              <p:par>
                                <p:cTn fill="hold" nodeType="afterEffect" presetClass="entr" presetID="1" presetSubtype="0">
                                  <p:stCondLst>
                                    <p:cond delay="0"/>
                                  </p:stCondLst>
                                  <p:childTnLst>
                                    <p:set>
                                      <p:cBhvr>
                                        <p:cTn dur="1" fill="hold">
                                          <p:stCondLst>
                                            <p:cond delay="0"/>
                                          </p:stCondLst>
                                        </p:cTn>
                                        <p:tgtEl>
                                          <p:spTgt spid="378"/>
                                        </p:tgtEl>
                                        <p:attrNameLst>
                                          <p:attrName>style.visibility</p:attrName>
                                        </p:attrNameLst>
                                      </p:cBhvr>
                                      <p:to>
                                        <p:strVal val="visible"/>
                                      </p:to>
                                    </p:set>
                                  </p:childTnLst>
                                </p:cTn>
                              </p:par>
                            </p:childTnLst>
                          </p:cTn>
                        </p:par>
                        <p:par>
                          <p:cTn fill="hold">
                            <p:stCondLst>
                              <p:cond delay="2001"/>
                            </p:stCondLst>
                            <p:childTnLst>
                              <p:par>
                                <p:cTn fill="hold" nodeType="afterEffect" presetClass="exit" presetID="10" presetSubtype="0">
                                  <p:stCondLst>
                                    <p:cond delay="0"/>
                                  </p:stCondLst>
                                  <p:childTnLst>
                                    <p:animEffect filter="fade" transition="out">
                                      <p:cBhvr>
                                        <p:cTn dur="500"/>
                                        <p:tgtEl>
                                          <p:spTgt spid="377"/>
                                        </p:tgtEl>
                                      </p:cBhvr>
                                    </p:animEffect>
                                    <p:set>
                                      <p:cBhvr>
                                        <p:cTn dur="1" fill="hold">
                                          <p:stCondLst>
                                            <p:cond delay="500"/>
                                          </p:stCondLst>
                                        </p:cTn>
                                        <p:tgtEl>
                                          <p:spTgt spid="3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500"/>
                                        <p:tgtEl>
                                          <p:spTgt spid="3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374"/>
                                        </p:tgtEl>
                                        <p:attrNameLst>
                                          <p:attrName>style.visibility</p:attrName>
                                        </p:attrNameLst>
                                      </p:cBhvr>
                                      <p:to>
                                        <p:strVal val="hidden"/>
                                      </p:to>
                                    </p:set>
                                  </p:childTnLst>
                                </p:cTn>
                              </p:par>
                            </p:childTnLst>
                          </p:cTn>
                        </p:par>
                        <p:par>
                          <p:cTn fill="hold">
                            <p:stCondLst>
                              <p:cond delay="1"/>
                            </p:stCondLst>
                            <p:childTnLst>
                              <p:par>
                                <p:cTn fill="hold" nodeType="after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37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12"/>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latin typeface="Calibri"/>
                <a:ea typeface="Calibri"/>
                <a:cs typeface="Calibri"/>
                <a:sym typeface="Calibri"/>
              </a:rPr>
              <a:t>Put it all together: A High-Level Overview</a:t>
            </a:r>
            <a:endParaRPr sz="4000">
              <a:latin typeface="Calibri"/>
              <a:ea typeface="Calibri"/>
              <a:cs typeface="Calibri"/>
              <a:sym typeface="Calibri"/>
            </a:endParaRPr>
          </a:p>
        </p:txBody>
      </p:sp>
      <p:sp>
        <p:nvSpPr>
          <p:cNvPr id="390" name="Google Shape;390;p12"/>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User Space: </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latin typeface="Calibri"/>
                <a:ea typeface="Calibri"/>
                <a:cs typeface="Calibri"/>
                <a:sym typeface="Calibri"/>
              </a:rPr>
              <a:t>Applications (e.g., TensorFlow, Hadoop, Databases, Pytorch)</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latin typeface="Calibri"/>
                <a:ea typeface="Calibri"/>
                <a:cs typeface="Calibri"/>
                <a:sym typeface="Calibri"/>
              </a:rPr>
              <a:t>Libraries (e.g., C/C++ Library 🡪 Does Memory Allocation )</a:t>
            </a:r>
            <a:endParaRPr/>
          </a:p>
          <a:p>
            <a:pPr indent="-342900" lvl="0" marL="342900" rtl="0" algn="l">
              <a:lnSpc>
                <a:spcPct val="100000"/>
              </a:lnSpc>
              <a:spcBef>
                <a:spcPts val="0"/>
              </a:spcBef>
              <a:spcAft>
                <a:spcPts val="0"/>
              </a:spcAft>
              <a:buClr>
                <a:schemeClr val="dk1"/>
              </a:buClr>
              <a:buSzPts val="2800"/>
              <a:buFont typeface="Calibri"/>
              <a:buChar char="•"/>
            </a:pPr>
            <a:r>
              <a:rPr lang="en-US">
                <a:solidFill>
                  <a:schemeClr val="dk1"/>
                </a:solidFill>
              </a:rPr>
              <a:t>Kernel Space:</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Device Drivers (Contact with I/O devices)</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Core Kernel</a:t>
            </a:r>
            <a:endParaRPr/>
          </a:p>
          <a:p>
            <a:pPr indent="-228600" lvl="2" marL="1143000" rtl="0" algn="l">
              <a:lnSpc>
                <a:spcPct val="100000"/>
              </a:lnSpc>
              <a:spcBef>
                <a:spcPts val="0"/>
              </a:spcBef>
              <a:spcAft>
                <a:spcPts val="0"/>
              </a:spcAft>
              <a:buClr>
                <a:schemeClr val="dk1"/>
              </a:buClr>
              <a:buSzPts val="2000"/>
              <a:buFont typeface="Calibri"/>
              <a:buChar char="•"/>
            </a:pPr>
            <a:r>
              <a:rPr lang="en-US">
                <a:solidFill>
                  <a:schemeClr val="dk1"/>
                </a:solidFill>
              </a:rPr>
              <a:t>Process Management</a:t>
            </a:r>
            <a:endParaRPr/>
          </a:p>
          <a:p>
            <a:pPr indent="-228600" lvl="2" marL="1143000" rtl="0" algn="l">
              <a:lnSpc>
                <a:spcPct val="100000"/>
              </a:lnSpc>
              <a:spcBef>
                <a:spcPts val="0"/>
              </a:spcBef>
              <a:spcAft>
                <a:spcPts val="0"/>
              </a:spcAft>
              <a:buClr>
                <a:schemeClr val="dk1"/>
              </a:buClr>
              <a:buSzPts val="2000"/>
              <a:buFont typeface="Calibri"/>
              <a:buChar char="•"/>
            </a:pPr>
            <a:r>
              <a:rPr lang="en-US">
                <a:solidFill>
                  <a:schemeClr val="dk1"/>
                </a:solidFill>
              </a:rPr>
              <a:t>Memory Management</a:t>
            </a:r>
            <a:endParaRPr/>
          </a:p>
          <a:p>
            <a:pPr indent="-228600" lvl="2" marL="1143000" rtl="0" algn="l">
              <a:lnSpc>
                <a:spcPct val="100000"/>
              </a:lnSpc>
              <a:spcBef>
                <a:spcPts val="0"/>
              </a:spcBef>
              <a:spcAft>
                <a:spcPts val="0"/>
              </a:spcAft>
              <a:buClr>
                <a:schemeClr val="dk1"/>
              </a:buClr>
              <a:buSzPts val="2000"/>
              <a:buFont typeface="Calibri"/>
              <a:buChar char="•"/>
            </a:pPr>
            <a:r>
              <a:rPr lang="en-US">
                <a:solidFill>
                  <a:schemeClr val="dk1"/>
                </a:solidFill>
              </a:rPr>
              <a:t>I/O Management</a:t>
            </a:r>
            <a:endParaRPr/>
          </a:p>
          <a:p>
            <a:pPr indent="-133350" lvl="1" marL="742950" rtl="0" algn="l">
              <a:lnSpc>
                <a:spcPct val="100000"/>
              </a:lnSpc>
              <a:spcBef>
                <a:spcPts val="0"/>
              </a:spcBef>
              <a:spcAft>
                <a:spcPts val="0"/>
              </a:spcAft>
              <a:buClr>
                <a:srgbClr val="333333"/>
              </a:buClr>
              <a:buSzPts val="2400"/>
              <a:buFont typeface="Calibri"/>
              <a:buNone/>
            </a:pPr>
            <a:r>
              <a:t/>
            </a:r>
            <a:endParaRPr>
              <a:solidFill>
                <a:schemeClr val="dk1"/>
              </a:solidFill>
              <a:latin typeface="Calibri"/>
              <a:ea typeface="Calibri"/>
              <a:cs typeface="Calibri"/>
              <a:sym typeface="Calibri"/>
            </a:endParaRPr>
          </a:p>
        </p:txBody>
      </p:sp>
      <p:sp>
        <p:nvSpPr>
          <p:cNvPr id="391" name="Google Shape;391;p12"/>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392" name="Google Shape;392;p12"/>
          <p:cNvPicPr preferRelativeResize="0"/>
          <p:nvPr/>
        </p:nvPicPr>
        <p:blipFill rotWithShape="1">
          <a:blip r:embed="rId3">
            <a:alphaModFix/>
          </a:blip>
          <a:srcRect b="0" l="0" r="0" t="0"/>
          <a:stretch/>
        </p:blipFill>
        <p:spPr>
          <a:xfrm>
            <a:off x="4283133" y="3183584"/>
            <a:ext cx="7646928" cy="3127284"/>
          </a:xfrm>
          <a:prstGeom prst="rect">
            <a:avLst/>
          </a:prstGeom>
          <a:noFill/>
          <a:ln>
            <a:noFill/>
          </a:ln>
        </p:spPr>
      </p:pic>
      <p:sp>
        <p:nvSpPr>
          <p:cNvPr id="393" name="Google Shape;393;p12"/>
          <p:cNvSpPr txBox="1"/>
          <p:nvPr/>
        </p:nvSpPr>
        <p:spPr>
          <a:xfrm>
            <a:off x="6593225" y="6338658"/>
            <a:ext cx="43195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 High-level Overview of the Linux Kernel</a:t>
            </a:r>
            <a:r>
              <a:rPr baseline="30000" lang="en-US" sz="1800">
                <a:solidFill>
                  <a:schemeClr val="dk1"/>
                </a:solidFill>
                <a:latin typeface="Calibri"/>
                <a:ea typeface="Calibri"/>
                <a:cs typeface="Calibri"/>
                <a:sym typeface="Calibri"/>
              </a:rPr>
              <a:t>[1]</a:t>
            </a:r>
            <a:endParaRPr baseline="30000" sz="1800">
              <a:solidFill>
                <a:schemeClr val="dk1"/>
              </a:solidFill>
              <a:latin typeface="Calibri"/>
              <a:ea typeface="Calibri"/>
              <a:cs typeface="Calibri"/>
              <a:sym typeface="Calibri"/>
            </a:endParaRPr>
          </a:p>
        </p:txBody>
      </p:sp>
      <p:sp>
        <p:nvSpPr>
          <p:cNvPr id="394" name="Google Shape;394;p12"/>
          <p:cNvSpPr txBox="1"/>
          <p:nvPr/>
        </p:nvSpPr>
        <p:spPr>
          <a:xfrm>
            <a:off x="0" y="6598099"/>
            <a:ext cx="559877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BFBFBF"/>
                </a:solidFill>
                <a:latin typeface="Calibri"/>
                <a:ea typeface="Calibri"/>
                <a:cs typeface="Calibri"/>
                <a:sym typeface="Calibri"/>
              </a:rPr>
              <a:t>[1] Mauerer, Wolfgang. Professional Linux kernel architecture. John Wiley &amp; Sons, 2010</a:t>
            </a:r>
            <a:endParaRPr sz="1200">
              <a:solidFill>
                <a:srgbClr val="BFBFBF"/>
              </a:solidFill>
              <a:latin typeface="Calibri"/>
              <a:ea typeface="Calibri"/>
              <a:cs typeface="Calibri"/>
              <a:sym typeface="Calibri"/>
            </a:endParaRPr>
          </a:p>
        </p:txBody>
      </p:sp>
      <p:sp>
        <p:nvSpPr>
          <p:cNvPr id="395" name="Google Shape;395;p12"/>
          <p:cNvSpPr/>
          <p:nvPr/>
        </p:nvSpPr>
        <p:spPr>
          <a:xfrm>
            <a:off x="8441355" y="5476775"/>
            <a:ext cx="3407343" cy="83409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6" name="Google Shape;396;p12"/>
          <p:cNvSpPr/>
          <p:nvPr/>
        </p:nvSpPr>
        <p:spPr>
          <a:xfrm>
            <a:off x="8441354" y="3670015"/>
            <a:ext cx="3407343" cy="180676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7" name="Google Shape;397;p12"/>
          <p:cNvSpPr/>
          <p:nvPr/>
        </p:nvSpPr>
        <p:spPr>
          <a:xfrm>
            <a:off x="4283133" y="4445268"/>
            <a:ext cx="4074082" cy="1865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7"/>
                                        </p:tgtEl>
                                      </p:cBhvr>
                                    </p:animEffect>
                                    <p:set>
                                      <p:cBhvr>
                                        <p:cTn dur="1" fill="hold">
                                          <p:stCondLst>
                                            <p:cond delay="500"/>
                                          </p:stCondLst>
                                        </p:cTn>
                                        <p:tgtEl>
                                          <p:spTgt spid="39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5"/>
                                        </p:tgtEl>
                                      </p:cBhvr>
                                    </p:animEffect>
                                    <p:set>
                                      <p:cBhvr>
                                        <p:cTn dur="1" fill="hold">
                                          <p:stCondLst>
                                            <p:cond delay="500"/>
                                          </p:stCondLst>
                                        </p:cTn>
                                        <p:tgtEl>
                                          <p:spTgt spid="39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396"/>
                                        </p:tgtEl>
                                      </p:cBhvr>
                                    </p:animEffect>
                                    <p:set>
                                      <p:cBhvr>
                                        <p:cTn dur="1" fill="hold">
                                          <p:stCondLst>
                                            <p:cond delay="500"/>
                                          </p:stCondLst>
                                        </p:cTn>
                                        <p:tgtEl>
                                          <p:spTgt spid="39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13"/>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Emerging I/O Technologies</a:t>
            </a:r>
            <a:endParaRPr sz="4000">
              <a:latin typeface="Calibri"/>
              <a:ea typeface="Calibri"/>
              <a:cs typeface="Calibri"/>
              <a:sym typeface="Calibri"/>
            </a:endParaRPr>
          </a:p>
        </p:txBody>
      </p:sp>
      <p:sp>
        <p:nvSpPr>
          <p:cNvPr id="404" name="Google Shape;404;p13"/>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grpSp>
        <p:nvGrpSpPr>
          <p:cNvPr id="405" name="Google Shape;405;p13"/>
          <p:cNvGrpSpPr/>
          <p:nvPr/>
        </p:nvGrpSpPr>
        <p:grpSpPr>
          <a:xfrm>
            <a:off x="8677532" y="1097474"/>
            <a:ext cx="3489314" cy="5472160"/>
            <a:chOff x="8677532" y="1097474"/>
            <a:chExt cx="3489314" cy="5472160"/>
          </a:xfrm>
        </p:grpSpPr>
        <p:grpSp>
          <p:nvGrpSpPr>
            <p:cNvPr id="406" name="Google Shape;406;p13"/>
            <p:cNvGrpSpPr/>
            <p:nvPr/>
          </p:nvGrpSpPr>
          <p:grpSpPr>
            <a:xfrm>
              <a:off x="8828371" y="1228173"/>
              <a:ext cx="3338475" cy="5341461"/>
              <a:chOff x="8828371" y="1343783"/>
              <a:chExt cx="3338475" cy="5341461"/>
            </a:xfrm>
          </p:grpSpPr>
          <p:sp>
            <p:nvSpPr>
              <p:cNvPr id="407" name="Google Shape;407;p13"/>
              <p:cNvSpPr/>
              <p:nvPr/>
            </p:nvSpPr>
            <p:spPr>
              <a:xfrm>
                <a:off x="8839500" y="5371617"/>
                <a:ext cx="3289000" cy="1016000"/>
              </a:xfrm>
              <a:prstGeom prst="homePlate">
                <a:avLst>
                  <a:gd fmla="val 50000" name="adj"/>
                </a:avLst>
              </a:prstGeom>
              <a:solidFill>
                <a:srgbClr val="FF0000"/>
              </a:solidFill>
              <a:ln cap="flat" cmpd="sng" w="571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000000"/>
                    </a:solidFill>
                    <a:latin typeface="Calibri"/>
                    <a:ea typeface="Calibri"/>
                    <a:cs typeface="Calibri"/>
                    <a:sym typeface="Calibri"/>
                  </a:rPr>
                  <a:t>Faster </a:t>
                </a:r>
                <a:br>
                  <a:rPr b="1" lang="en-US" sz="2400">
                    <a:solidFill>
                      <a:srgbClr val="000000"/>
                    </a:solidFill>
                    <a:latin typeface="Calibri"/>
                    <a:ea typeface="Calibri"/>
                    <a:cs typeface="Calibri"/>
                    <a:sym typeface="Calibri"/>
                  </a:rPr>
                </a:br>
                <a:r>
                  <a:rPr b="1" lang="en-US" sz="2400">
                    <a:solidFill>
                      <a:srgbClr val="000000"/>
                    </a:solidFill>
                    <a:latin typeface="Calibri"/>
                    <a:ea typeface="Calibri"/>
                    <a:cs typeface="Calibri"/>
                    <a:sym typeface="Calibri"/>
                  </a:rPr>
                  <a:t>Data Buses</a:t>
                </a:r>
                <a:endParaRPr b="1" sz="2400">
                  <a:solidFill>
                    <a:srgbClr val="000000"/>
                  </a:solidFill>
                  <a:latin typeface="Calibri"/>
                  <a:ea typeface="Calibri"/>
                  <a:cs typeface="Calibri"/>
                  <a:sym typeface="Calibri"/>
                </a:endParaRPr>
              </a:p>
            </p:txBody>
          </p:sp>
          <p:grpSp>
            <p:nvGrpSpPr>
              <p:cNvPr id="408" name="Google Shape;408;p13"/>
              <p:cNvGrpSpPr/>
              <p:nvPr/>
            </p:nvGrpSpPr>
            <p:grpSpPr>
              <a:xfrm>
                <a:off x="9619020" y="3306687"/>
                <a:ext cx="1729961" cy="1929752"/>
                <a:chOff x="9705701" y="3380258"/>
                <a:chExt cx="1729961" cy="1929752"/>
              </a:xfrm>
            </p:grpSpPr>
            <p:pic>
              <p:nvPicPr>
                <p:cNvPr id="409" name="Google Shape;409;p13"/>
                <p:cNvPicPr preferRelativeResize="0"/>
                <p:nvPr/>
              </p:nvPicPr>
              <p:blipFill rotWithShape="1">
                <a:blip r:embed="rId3">
                  <a:alphaModFix/>
                </a:blip>
                <a:srcRect b="0" l="0" r="0" t="0"/>
                <a:stretch/>
              </p:blipFill>
              <p:spPr>
                <a:xfrm>
                  <a:off x="9777191" y="3380258"/>
                  <a:ext cx="1586981" cy="1618328"/>
                </a:xfrm>
                <a:prstGeom prst="rect">
                  <a:avLst/>
                </a:prstGeom>
                <a:noFill/>
                <a:ln>
                  <a:noFill/>
                </a:ln>
              </p:spPr>
            </p:pic>
            <p:sp>
              <p:nvSpPr>
                <p:cNvPr id="410" name="Google Shape;410;p13"/>
                <p:cNvSpPr/>
                <p:nvPr/>
              </p:nvSpPr>
              <p:spPr>
                <a:xfrm>
                  <a:off x="9705701" y="4971456"/>
                  <a:ext cx="1729961"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Samsung AXDIMM</a:t>
                  </a:r>
                  <a:endParaRPr sz="1600">
                    <a:solidFill>
                      <a:schemeClr val="dk1"/>
                    </a:solidFill>
                    <a:latin typeface="Calibri"/>
                    <a:ea typeface="Calibri"/>
                    <a:cs typeface="Calibri"/>
                    <a:sym typeface="Calibri"/>
                  </a:endParaRPr>
                </a:p>
              </p:txBody>
            </p:sp>
          </p:grpSp>
          <p:grpSp>
            <p:nvGrpSpPr>
              <p:cNvPr id="411" name="Google Shape;411;p13"/>
              <p:cNvGrpSpPr/>
              <p:nvPr/>
            </p:nvGrpSpPr>
            <p:grpSpPr>
              <a:xfrm>
                <a:off x="9633366" y="1343783"/>
                <a:ext cx="1701268" cy="2032231"/>
                <a:chOff x="9623603" y="1163091"/>
                <a:chExt cx="1701268" cy="2032231"/>
              </a:xfrm>
            </p:grpSpPr>
            <p:sp>
              <p:nvSpPr>
                <p:cNvPr id="412" name="Google Shape;412;p13"/>
                <p:cNvSpPr/>
                <p:nvPr/>
              </p:nvSpPr>
              <p:spPr>
                <a:xfrm>
                  <a:off x="9706463" y="2856768"/>
                  <a:ext cx="153554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TSMC PIM Chips</a:t>
                  </a:r>
                  <a:endParaRPr sz="1600">
                    <a:solidFill>
                      <a:schemeClr val="dk1"/>
                    </a:solidFill>
                    <a:latin typeface="Calibri"/>
                    <a:ea typeface="Calibri"/>
                    <a:cs typeface="Calibri"/>
                    <a:sym typeface="Calibri"/>
                  </a:endParaRPr>
                </a:p>
              </p:txBody>
            </p:sp>
            <p:pic>
              <p:nvPicPr>
                <p:cNvPr id="413" name="Google Shape;413;p13"/>
                <p:cNvPicPr preferRelativeResize="0"/>
                <p:nvPr/>
              </p:nvPicPr>
              <p:blipFill rotWithShape="1">
                <a:blip r:embed="rId4">
                  <a:alphaModFix/>
                </a:blip>
                <a:srcRect b="0" l="0" r="0" t="0"/>
                <a:stretch/>
              </p:blipFill>
              <p:spPr>
                <a:xfrm>
                  <a:off x="9623603" y="1163091"/>
                  <a:ext cx="1701268" cy="1716485"/>
                </a:xfrm>
                <a:prstGeom prst="rect">
                  <a:avLst/>
                </a:prstGeom>
                <a:noFill/>
                <a:ln>
                  <a:noFill/>
                </a:ln>
              </p:spPr>
            </p:pic>
          </p:grpSp>
          <p:sp>
            <p:nvSpPr>
              <p:cNvPr id="414" name="Google Shape;414;p13"/>
              <p:cNvSpPr/>
              <p:nvPr/>
            </p:nvSpPr>
            <p:spPr>
              <a:xfrm>
                <a:off x="11644471" y="6408245"/>
                <a:ext cx="522375"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Now</a:t>
                </a:r>
                <a:endParaRPr sz="1800">
                  <a:solidFill>
                    <a:srgbClr val="FF0000"/>
                  </a:solidFill>
                  <a:latin typeface="Calibri"/>
                  <a:ea typeface="Calibri"/>
                  <a:cs typeface="Calibri"/>
                  <a:sym typeface="Calibri"/>
                </a:endParaRPr>
              </a:p>
            </p:txBody>
          </p:sp>
          <p:cxnSp>
            <p:nvCxnSpPr>
              <p:cNvPr id="415" name="Google Shape;415;p13"/>
              <p:cNvCxnSpPr>
                <a:endCxn id="414" idx="1"/>
              </p:cNvCxnSpPr>
              <p:nvPr/>
            </p:nvCxnSpPr>
            <p:spPr>
              <a:xfrm>
                <a:off x="8828371" y="6546745"/>
                <a:ext cx="2816100" cy="0"/>
              </a:xfrm>
              <a:prstGeom prst="straightConnector1">
                <a:avLst/>
              </a:prstGeom>
              <a:noFill/>
              <a:ln cap="flat" cmpd="sng" w="38100">
                <a:solidFill>
                  <a:srgbClr val="FF0000"/>
                </a:solidFill>
                <a:prstDash val="solid"/>
                <a:miter lim="800000"/>
                <a:headEnd len="sm" w="sm" type="none"/>
                <a:tailEnd len="med" w="med" type="triangle"/>
              </a:ln>
            </p:spPr>
          </p:cxnSp>
        </p:grpSp>
        <p:sp>
          <p:nvSpPr>
            <p:cNvPr id="416" name="Google Shape;416;p13"/>
            <p:cNvSpPr/>
            <p:nvPr/>
          </p:nvSpPr>
          <p:spPr>
            <a:xfrm>
              <a:off x="9322005" y="1097474"/>
              <a:ext cx="2183693" cy="4020033"/>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一張含有 圖形, 字型, 平面設計, 標誌 的圖片&#10;&#10;自動產生的描述" id="417" name="Google Shape;417;p13"/>
            <p:cNvPicPr preferRelativeResize="0"/>
            <p:nvPr/>
          </p:nvPicPr>
          <p:blipFill rotWithShape="1">
            <a:blip r:embed="rId5">
              <a:alphaModFix/>
            </a:blip>
            <a:srcRect b="0" l="0" r="0" t="0"/>
            <a:stretch/>
          </p:blipFill>
          <p:spPr>
            <a:xfrm>
              <a:off x="9444016" y="1701040"/>
              <a:ext cx="2200455" cy="891643"/>
            </a:xfrm>
            <a:prstGeom prst="rect">
              <a:avLst/>
            </a:prstGeom>
            <a:noFill/>
            <a:ln>
              <a:noFill/>
            </a:ln>
          </p:spPr>
        </p:pic>
        <p:pic>
          <p:nvPicPr>
            <p:cNvPr descr="一張含有 文字, 螢幕擷取畫面, 字型 的圖片&#10;&#10;自動產生的描述" id="418" name="Google Shape;418;p13"/>
            <p:cNvPicPr preferRelativeResize="0"/>
            <p:nvPr/>
          </p:nvPicPr>
          <p:blipFill rotWithShape="1">
            <a:blip r:embed="rId6">
              <a:alphaModFix/>
            </a:blip>
            <a:srcRect b="0" l="0" r="0" t="0"/>
            <a:stretch/>
          </p:blipFill>
          <p:spPr>
            <a:xfrm>
              <a:off x="8677532" y="3101043"/>
              <a:ext cx="3432598" cy="1755306"/>
            </a:xfrm>
            <a:prstGeom prst="rect">
              <a:avLst/>
            </a:prstGeom>
            <a:noFill/>
            <a:ln>
              <a:noFill/>
            </a:ln>
          </p:spPr>
        </p:pic>
      </p:grpSp>
      <p:grpSp>
        <p:nvGrpSpPr>
          <p:cNvPr id="419" name="Google Shape;419;p13"/>
          <p:cNvGrpSpPr/>
          <p:nvPr/>
        </p:nvGrpSpPr>
        <p:grpSpPr>
          <a:xfrm>
            <a:off x="5859803" y="1638176"/>
            <a:ext cx="3501686" cy="4792958"/>
            <a:chOff x="5859803" y="1753786"/>
            <a:chExt cx="3501686" cy="4792958"/>
          </a:xfrm>
        </p:grpSpPr>
        <p:sp>
          <p:nvSpPr>
            <p:cNvPr id="420" name="Google Shape;420;p13"/>
            <p:cNvSpPr/>
            <p:nvPr/>
          </p:nvSpPr>
          <p:spPr>
            <a:xfrm>
              <a:off x="5859803" y="5371617"/>
              <a:ext cx="3501686" cy="1016000"/>
            </a:xfrm>
            <a:prstGeom prst="homePlate">
              <a:avLst>
                <a:gd fmla="val 50000" name="adj"/>
              </a:avLst>
            </a:prstGeom>
            <a:solidFill>
              <a:schemeClr val="accent2"/>
            </a:solidFill>
            <a:ln cap="flat" cmpd="sng" w="571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000000"/>
                  </a:solidFill>
                  <a:latin typeface="Calibri"/>
                  <a:ea typeface="Calibri"/>
                  <a:cs typeface="Calibri"/>
                  <a:sym typeface="Calibri"/>
                </a:rPr>
                <a:t>    Storage-Class</a:t>
              </a:r>
              <a:endParaRPr/>
            </a:p>
            <a:p>
              <a:pPr indent="0" lvl="0" marL="0" marR="0" rtl="0" algn="ctr">
                <a:spcBef>
                  <a:spcPts val="0"/>
                </a:spcBef>
                <a:spcAft>
                  <a:spcPts val="0"/>
                </a:spcAft>
                <a:buNone/>
              </a:pPr>
              <a:r>
                <a:rPr b="1" lang="en-US" sz="2400">
                  <a:solidFill>
                    <a:srgbClr val="000000"/>
                  </a:solidFill>
                  <a:latin typeface="Calibri"/>
                  <a:ea typeface="Calibri"/>
                  <a:cs typeface="Calibri"/>
                  <a:sym typeface="Calibri"/>
                </a:rPr>
                <a:t>    Memory</a:t>
              </a:r>
              <a:endParaRPr sz="2400">
                <a:solidFill>
                  <a:srgbClr val="000000"/>
                </a:solidFill>
                <a:latin typeface="Calibri"/>
                <a:ea typeface="Calibri"/>
                <a:cs typeface="Calibri"/>
                <a:sym typeface="Calibri"/>
              </a:endParaRPr>
            </a:p>
          </p:txBody>
        </p:sp>
        <p:grpSp>
          <p:nvGrpSpPr>
            <p:cNvPr id="421" name="Google Shape;421;p13"/>
            <p:cNvGrpSpPr/>
            <p:nvPr/>
          </p:nvGrpSpPr>
          <p:grpSpPr>
            <a:xfrm>
              <a:off x="6297938" y="1753786"/>
              <a:ext cx="2625417" cy="1212225"/>
              <a:chOff x="6119090" y="3860473"/>
              <a:chExt cx="2625417" cy="1212225"/>
            </a:xfrm>
          </p:grpSpPr>
          <p:pic>
            <p:nvPicPr>
              <p:cNvPr descr="Intel Optane DC Persistent Memory Module (PMM)持久内存| KClouder" id="422" name="Google Shape;422;p13"/>
              <p:cNvPicPr preferRelativeResize="0"/>
              <p:nvPr/>
            </p:nvPicPr>
            <p:blipFill rotWithShape="1">
              <a:blip r:embed="rId7">
                <a:alphaModFix/>
              </a:blip>
              <a:srcRect b="0" l="0" r="0" t="0"/>
              <a:stretch/>
            </p:blipFill>
            <p:spPr>
              <a:xfrm>
                <a:off x="6119090" y="3860473"/>
                <a:ext cx="2625417" cy="657899"/>
              </a:xfrm>
              <a:prstGeom prst="rect">
                <a:avLst/>
              </a:prstGeom>
              <a:noFill/>
              <a:ln>
                <a:noFill/>
              </a:ln>
            </p:spPr>
          </p:pic>
          <p:sp>
            <p:nvSpPr>
              <p:cNvPr id="423" name="Google Shape;423;p13"/>
              <p:cNvSpPr/>
              <p:nvPr/>
            </p:nvSpPr>
            <p:spPr>
              <a:xfrm>
                <a:off x="6547677" y="4487923"/>
                <a:ext cx="176824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Intel Optane DC</a:t>
                </a:r>
                <a:endParaRPr/>
              </a:p>
              <a:p>
                <a:pPr indent="0" lvl="0" marL="0" marR="0" rtl="0" algn="ctr">
                  <a:spcBef>
                    <a:spcPts val="0"/>
                  </a:spcBef>
                  <a:spcAft>
                    <a:spcPts val="0"/>
                  </a:spcAft>
                  <a:buNone/>
                </a:pPr>
                <a:r>
                  <a:rPr lang="en-US" sz="1600">
                    <a:solidFill>
                      <a:schemeClr val="dk1"/>
                    </a:solidFill>
                    <a:latin typeface="Calibri"/>
                    <a:ea typeface="Calibri"/>
                    <a:cs typeface="Calibri"/>
                    <a:sym typeface="Calibri"/>
                  </a:rPr>
                  <a:t>Persistent Memory</a:t>
                </a:r>
                <a:endParaRPr sz="1600">
                  <a:solidFill>
                    <a:schemeClr val="dk1"/>
                  </a:solidFill>
                  <a:latin typeface="Calibri"/>
                  <a:ea typeface="Calibri"/>
                  <a:cs typeface="Calibri"/>
                  <a:sym typeface="Calibri"/>
                </a:endParaRPr>
              </a:p>
            </p:txBody>
          </p:sp>
        </p:grpSp>
        <p:cxnSp>
          <p:nvCxnSpPr>
            <p:cNvPr id="424" name="Google Shape;424;p13"/>
            <p:cNvCxnSpPr/>
            <p:nvPr/>
          </p:nvCxnSpPr>
          <p:spPr>
            <a:xfrm flipH="1" rot="10800000">
              <a:off x="6010001" y="6546742"/>
              <a:ext cx="2829499" cy="2"/>
            </a:xfrm>
            <a:prstGeom prst="straightConnector1">
              <a:avLst/>
            </a:prstGeom>
            <a:noFill/>
            <a:ln cap="flat" cmpd="sng" w="38100">
              <a:solidFill>
                <a:srgbClr val="FF0000"/>
              </a:solidFill>
              <a:prstDash val="solid"/>
              <a:miter lim="800000"/>
              <a:headEnd len="sm" w="sm" type="none"/>
              <a:tailEnd len="sm" w="sm" type="none"/>
            </a:ln>
          </p:spPr>
        </p:cxnSp>
        <p:grpSp>
          <p:nvGrpSpPr>
            <p:cNvPr id="425" name="Google Shape;425;p13"/>
            <p:cNvGrpSpPr/>
            <p:nvPr/>
          </p:nvGrpSpPr>
          <p:grpSpPr>
            <a:xfrm>
              <a:off x="6512679" y="3649917"/>
              <a:ext cx="2195935" cy="1586522"/>
              <a:chOff x="6474143" y="1388469"/>
              <a:chExt cx="2195935" cy="1586522"/>
            </a:xfrm>
          </p:grpSpPr>
          <p:pic>
            <p:nvPicPr>
              <p:cNvPr id="426" name="Google Shape;426;p13"/>
              <p:cNvPicPr preferRelativeResize="0"/>
              <p:nvPr/>
            </p:nvPicPr>
            <p:blipFill rotWithShape="1">
              <a:blip r:embed="rId8">
                <a:alphaModFix/>
              </a:blip>
              <a:srcRect b="0" l="0" r="0" t="0"/>
              <a:stretch/>
            </p:blipFill>
            <p:spPr>
              <a:xfrm>
                <a:off x="6474143" y="1388469"/>
                <a:ext cx="2183693" cy="1349579"/>
              </a:xfrm>
              <a:prstGeom prst="rect">
                <a:avLst/>
              </a:prstGeom>
              <a:noFill/>
              <a:ln>
                <a:noFill/>
              </a:ln>
            </p:spPr>
          </p:pic>
          <p:sp>
            <p:nvSpPr>
              <p:cNvPr id="427" name="Google Shape;427;p13"/>
              <p:cNvSpPr/>
              <p:nvPr/>
            </p:nvSpPr>
            <p:spPr>
              <a:xfrm>
                <a:off x="6719409" y="2636437"/>
                <a:ext cx="134363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HPE NVDIMM</a:t>
                </a:r>
                <a:endParaRPr sz="1600">
                  <a:solidFill>
                    <a:schemeClr val="dk1"/>
                  </a:solidFill>
                  <a:latin typeface="Calibri"/>
                  <a:ea typeface="Calibri"/>
                  <a:cs typeface="Calibri"/>
                  <a:sym typeface="Calibri"/>
                </a:endParaRPr>
              </a:p>
            </p:txBody>
          </p:sp>
          <p:sp>
            <p:nvSpPr>
              <p:cNvPr id="428" name="Google Shape;428;p13"/>
              <p:cNvSpPr/>
              <p:nvPr/>
            </p:nvSpPr>
            <p:spPr>
              <a:xfrm>
                <a:off x="8178287" y="2488543"/>
                <a:ext cx="348494" cy="20721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9" name="Google Shape;429;p13"/>
              <p:cNvSpPr/>
              <p:nvPr/>
            </p:nvSpPr>
            <p:spPr>
              <a:xfrm>
                <a:off x="7746427" y="2437682"/>
                <a:ext cx="923651" cy="27699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rgbClr val="2E75B5"/>
                    </a:solidFill>
                    <a:latin typeface="Calibri"/>
                    <a:ea typeface="Calibri"/>
                    <a:cs typeface="Calibri"/>
                    <a:sym typeface="Calibri"/>
                  </a:rPr>
                  <a:t>NAND Flash</a:t>
                </a:r>
                <a:endParaRPr sz="1200">
                  <a:solidFill>
                    <a:srgbClr val="2E75B5"/>
                  </a:solidFill>
                  <a:latin typeface="Calibri"/>
                  <a:ea typeface="Calibri"/>
                  <a:cs typeface="Calibri"/>
                  <a:sym typeface="Calibri"/>
                </a:endParaRPr>
              </a:p>
            </p:txBody>
          </p:sp>
          <p:sp>
            <p:nvSpPr>
              <p:cNvPr id="430" name="Google Shape;430;p13"/>
              <p:cNvSpPr/>
              <p:nvPr/>
            </p:nvSpPr>
            <p:spPr>
              <a:xfrm>
                <a:off x="6723743" y="1420090"/>
                <a:ext cx="348494" cy="20721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1" name="Google Shape;431;p13"/>
              <p:cNvSpPr/>
              <p:nvPr/>
            </p:nvSpPr>
            <p:spPr>
              <a:xfrm>
                <a:off x="6626925" y="1477888"/>
                <a:ext cx="583814" cy="276999"/>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rgbClr val="2E75B5"/>
                    </a:solidFill>
                    <a:latin typeface="Calibri"/>
                    <a:ea typeface="Calibri"/>
                    <a:cs typeface="Calibri"/>
                    <a:sym typeface="Calibri"/>
                  </a:rPr>
                  <a:t>DRAM</a:t>
                </a:r>
                <a:endParaRPr sz="1200">
                  <a:solidFill>
                    <a:srgbClr val="2E75B5"/>
                  </a:solidFill>
                  <a:latin typeface="Calibri"/>
                  <a:ea typeface="Calibri"/>
                  <a:cs typeface="Calibri"/>
                  <a:sym typeface="Calibri"/>
                </a:endParaRPr>
              </a:p>
            </p:txBody>
          </p:sp>
        </p:grpSp>
      </p:grpSp>
      <p:grpSp>
        <p:nvGrpSpPr>
          <p:cNvPr id="432" name="Google Shape;432;p13"/>
          <p:cNvGrpSpPr/>
          <p:nvPr/>
        </p:nvGrpSpPr>
        <p:grpSpPr>
          <a:xfrm>
            <a:off x="2832238" y="1540728"/>
            <a:ext cx="3634018" cy="4890404"/>
            <a:chOff x="2832238" y="1656338"/>
            <a:chExt cx="3634018" cy="4890404"/>
          </a:xfrm>
        </p:grpSpPr>
        <p:sp>
          <p:nvSpPr>
            <p:cNvPr id="433" name="Google Shape;433;p13"/>
            <p:cNvSpPr/>
            <p:nvPr/>
          </p:nvSpPr>
          <p:spPr>
            <a:xfrm>
              <a:off x="2832238" y="5371617"/>
              <a:ext cx="3634018" cy="1016000"/>
            </a:xfrm>
            <a:prstGeom prst="homePlate">
              <a:avLst>
                <a:gd fmla="val 50000" name="adj"/>
              </a:avLst>
            </a:prstGeom>
            <a:solidFill>
              <a:schemeClr val="accent4"/>
            </a:solidFill>
            <a:ln cap="flat" cmpd="sng" w="571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000000"/>
                  </a:solidFill>
                  <a:latin typeface="Calibri"/>
                  <a:ea typeface="Calibri"/>
                  <a:cs typeface="Calibri"/>
                  <a:sym typeface="Calibri"/>
                </a:rPr>
                <a:t>      Ultra-Low Latency</a:t>
              </a:r>
              <a:endParaRPr/>
            </a:p>
            <a:p>
              <a:pPr indent="0" lvl="0" marL="0" marR="0" rtl="0" algn="ctr">
                <a:spcBef>
                  <a:spcPts val="0"/>
                </a:spcBef>
                <a:spcAft>
                  <a:spcPts val="0"/>
                </a:spcAft>
                <a:buNone/>
              </a:pPr>
              <a:r>
                <a:rPr i="1" lang="en-US" sz="1800">
                  <a:solidFill>
                    <a:srgbClr val="000000"/>
                  </a:solidFill>
                  <a:latin typeface="Calibri"/>
                  <a:ea typeface="Calibri"/>
                  <a:cs typeface="Calibri"/>
                  <a:sym typeface="Calibri"/>
                </a:rPr>
                <a:t>   ~ 5 us</a:t>
              </a:r>
              <a:endParaRPr i="1" sz="1800">
                <a:solidFill>
                  <a:srgbClr val="000000"/>
                </a:solidFill>
                <a:latin typeface="Calibri"/>
                <a:ea typeface="Calibri"/>
                <a:cs typeface="Calibri"/>
                <a:sym typeface="Calibri"/>
              </a:endParaRPr>
            </a:p>
          </p:txBody>
        </p:sp>
        <p:grpSp>
          <p:nvGrpSpPr>
            <p:cNvPr id="434" name="Google Shape;434;p13"/>
            <p:cNvGrpSpPr/>
            <p:nvPr/>
          </p:nvGrpSpPr>
          <p:grpSpPr>
            <a:xfrm>
              <a:off x="3857749" y="1656338"/>
              <a:ext cx="1582997" cy="1407120"/>
              <a:chOff x="3558604" y="1590293"/>
              <a:chExt cx="1582997" cy="1407120"/>
            </a:xfrm>
          </p:grpSpPr>
          <p:pic>
            <p:nvPicPr>
              <p:cNvPr descr="Intel® Optane™ SSD P5800X 系列" id="435" name="Google Shape;435;p13"/>
              <p:cNvPicPr preferRelativeResize="0"/>
              <p:nvPr/>
            </p:nvPicPr>
            <p:blipFill rotWithShape="1">
              <a:blip r:embed="rId9">
                <a:alphaModFix/>
              </a:blip>
              <a:srcRect b="0" l="10189" r="12111" t="0"/>
              <a:stretch/>
            </p:blipFill>
            <p:spPr>
              <a:xfrm>
                <a:off x="3619350" y="1590293"/>
                <a:ext cx="1461504" cy="1058056"/>
              </a:xfrm>
              <a:prstGeom prst="rect">
                <a:avLst/>
              </a:prstGeom>
              <a:noFill/>
              <a:ln>
                <a:noFill/>
              </a:ln>
            </p:spPr>
          </p:pic>
          <p:sp>
            <p:nvSpPr>
              <p:cNvPr id="436" name="Google Shape;436;p13"/>
              <p:cNvSpPr/>
              <p:nvPr/>
            </p:nvSpPr>
            <p:spPr>
              <a:xfrm>
                <a:off x="3558604" y="2658859"/>
                <a:ext cx="158299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Intel Optane SSD</a:t>
                </a:r>
                <a:endParaRPr sz="1600">
                  <a:solidFill>
                    <a:schemeClr val="dk1"/>
                  </a:solidFill>
                  <a:latin typeface="Calibri"/>
                  <a:ea typeface="Calibri"/>
                  <a:cs typeface="Calibri"/>
                  <a:sym typeface="Calibri"/>
                </a:endParaRPr>
              </a:p>
            </p:txBody>
          </p:sp>
        </p:grpSp>
        <p:grpSp>
          <p:nvGrpSpPr>
            <p:cNvPr id="437" name="Google Shape;437;p13"/>
            <p:cNvGrpSpPr/>
            <p:nvPr/>
          </p:nvGrpSpPr>
          <p:grpSpPr>
            <a:xfrm>
              <a:off x="3646249" y="3503804"/>
              <a:ext cx="2005997" cy="1732635"/>
              <a:chOff x="3501305" y="3535779"/>
              <a:chExt cx="2005997" cy="1732635"/>
            </a:xfrm>
          </p:grpSpPr>
          <p:pic>
            <p:nvPicPr>
              <p:cNvPr descr="迎戰3D XPoint，Samsung SZ985 Z-NAND SSD 即將登場- BenchLife" id="438" name="Google Shape;438;p13"/>
              <p:cNvPicPr preferRelativeResize="0"/>
              <p:nvPr/>
            </p:nvPicPr>
            <p:blipFill rotWithShape="1">
              <a:blip r:embed="rId10">
                <a:alphaModFix/>
              </a:blip>
              <a:srcRect b="0" l="15400" r="16057" t="0"/>
              <a:stretch/>
            </p:blipFill>
            <p:spPr>
              <a:xfrm>
                <a:off x="3616797" y="3535779"/>
                <a:ext cx="1775012" cy="1456697"/>
              </a:xfrm>
              <a:prstGeom prst="rect">
                <a:avLst/>
              </a:prstGeom>
              <a:noFill/>
              <a:ln>
                <a:noFill/>
              </a:ln>
            </p:spPr>
          </p:pic>
          <p:sp>
            <p:nvSpPr>
              <p:cNvPr id="439" name="Google Shape;439;p13"/>
              <p:cNvSpPr/>
              <p:nvPr/>
            </p:nvSpPr>
            <p:spPr>
              <a:xfrm>
                <a:off x="3501305" y="4929860"/>
                <a:ext cx="200599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Samsung Z-NAND SSD</a:t>
                </a:r>
                <a:endParaRPr sz="1600">
                  <a:solidFill>
                    <a:schemeClr val="dk1"/>
                  </a:solidFill>
                  <a:latin typeface="Calibri"/>
                  <a:ea typeface="Calibri"/>
                  <a:cs typeface="Calibri"/>
                  <a:sym typeface="Calibri"/>
                </a:endParaRPr>
              </a:p>
            </p:txBody>
          </p:sp>
        </p:grpSp>
        <p:cxnSp>
          <p:nvCxnSpPr>
            <p:cNvPr id="440" name="Google Shape;440;p13"/>
            <p:cNvCxnSpPr/>
            <p:nvPr/>
          </p:nvCxnSpPr>
          <p:spPr>
            <a:xfrm flipH="1" rot="10800000">
              <a:off x="3285339" y="6546741"/>
              <a:ext cx="2724662" cy="1"/>
            </a:xfrm>
            <a:prstGeom prst="straightConnector1">
              <a:avLst/>
            </a:prstGeom>
            <a:noFill/>
            <a:ln cap="flat" cmpd="sng" w="38100">
              <a:solidFill>
                <a:srgbClr val="FF0000"/>
              </a:solidFill>
              <a:prstDash val="solid"/>
              <a:miter lim="800000"/>
              <a:headEnd len="sm" w="sm" type="none"/>
              <a:tailEnd len="sm" w="sm" type="none"/>
            </a:ln>
          </p:spPr>
        </p:cxnSp>
      </p:grpSp>
      <p:grpSp>
        <p:nvGrpSpPr>
          <p:cNvPr id="441" name="Google Shape;441;p13"/>
          <p:cNvGrpSpPr/>
          <p:nvPr/>
        </p:nvGrpSpPr>
        <p:grpSpPr>
          <a:xfrm>
            <a:off x="114302" y="1366380"/>
            <a:ext cx="3300782" cy="5203253"/>
            <a:chOff x="114302" y="1481990"/>
            <a:chExt cx="3300782" cy="5203253"/>
          </a:xfrm>
        </p:grpSpPr>
        <p:sp>
          <p:nvSpPr>
            <p:cNvPr id="442" name="Google Shape;442;p13"/>
            <p:cNvSpPr/>
            <p:nvPr/>
          </p:nvSpPr>
          <p:spPr>
            <a:xfrm>
              <a:off x="114302" y="5371617"/>
              <a:ext cx="3300782" cy="1016000"/>
            </a:xfrm>
            <a:prstGeom prst="homePlate">
              <a:avLst>
                <a:gd fmla="val 50000" name="adj"/>
              </a:avLst>
            </a:prstGeom>
            <a:solidFill>
              <a:srgbClr val="A8D08C"/>
            </a:solidFill>
            <a:ln cap="flat" cmpd="sng" w="571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000000"/>
                  </a:solidFill>
                  <a:latin typeface="Calibri"/>
                  <a:ea typeface="Calibri"/>
                  <a:cs typeface="Calibri"/>
                  <a:sym typeface="Calibri"/>
                </a:rPr>
                <a:t>High Throughput</a:t>
              </a:r>
              <a:endParaRPr/>
            </a:p>
            <a:p>
              <a:pPr indent="0" lvl="0" marL="0" marR="0" rtl="0" algn="ctr">
                <a:spcBef>
                  <a:spcPts val="0"/>
                </a:spcBef>
                <a:spcAft>
                  <a:spcPts val="0"/>
                </a:spcAft>
                <a:buNone/>
              </a:pPr>
              <a:r>
                <a:rPr i="1" lang="en-US" sz="1800">
                  <a:solidFill>
                    <a:srgbClr val="000000"/>
                  </a:solidFill>
                  <a:latin typeface="Calibri"/>
                  <a:ea typeface="Calibri"/>
                  <a:cs typeface="Calibri"/>
                  <a:sym typeface="Calibri"/>
                </a:rPr>
                <a:t>3.98 GB/s</a:t>
              </a:r>
              <a:endParaRPr i="1" sz="1800">
                <a:solidFill>
                  <a:srgbClr val="000000"/>
                </a:solidFill>
                <a:latin typeface="Calibri"/>
                <a:ea typeface="Calibri"/>
                <a:cs typeface="Calibri"/>
                <a:sym typeface="Calibri"/>
              </a:endParaRPr>
            </a:p>
          </p:txBody>
        </p:sp>
        <p:cxnSp>
          <p:nvCxnSpPr>
            <p:cNvPr id="443" name="Google Shape;443;p13"/>
            <p:cNvCxnSpPr>
              <a:stCxn id="444" idx="3"/>
              <a:endCxn id="445" idx="1"/>
            </p:cNvCxnSpPr>
            <p:nvPr/>
          </p:nvCxnSpPr>
          <p:spPr>
            <a:xfrm>
              <a:off x="679213" y="6546744"/>
              <a:ext cx="2083800" cy="0"/>
            </a:xfrm>
            <a:prstGeom prst="straightConnector1">
              <a:avLst/>
            </a:prstGeom>
            <a:noFill/>
            <a:ln cap="flat" cmpd="sng" w="38100">
              <a:solidFill>
                <a:srgbClr val="F6F9FC"/>
              </a:solidFill>
              <a:prstDash val="solid"/>
              <a:miter lim="800000"/>
              <a:headEnd len="sm" w="sm" type="none"/>
              <a:tailEnd len="sm" w="sm" type="none"/>
            </a:ln>
          </p:spPr>
        </p:cxnSp>
        <p:sp>
          <p:nvSpPr>
            <p:cNvPr id="445" name="Google Shape;445;p13"/>
            <p:cNvSpPr/>
            <p:nvPr/>
          </p:nvSpPr>
          <p:spPr>
            <a:xfrm>
              <a:off x="2762964" y="6408243"/>
              <a:ext cx="522375"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2017</a:t>
              </a:r>
              <a:endParaRPr sz="1800">
                <a:solidFill>
                  <a:srgbClr val="FF0000"/>
                </a:solidFill>
                <a:latin typeface="Calibri"/>
                <a:ea typeface="Calibri"/>
                <a:cs typeface="Calibri"/>
                <a:sym typeface="Calibri"/>
              </a:endParaRPr>
            </a:p>
          </p:txBody>
        </p:sp>
        <p:sp>
          <p:nvSpPr>
            <p:cNvPr id="444" name="Google Shape;444;p13"/>
            <p:cNvSpPr/>
            <p:nvPr/>
          </p:nvSpPr>
          <p:spPr>
            <a:xfrm>
              <a:off x="156838" y="6408244"/>
              <a:ext cx="522375"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2011</a:t>
              </a:r>
              <a:endParaRPr sz="1800">
                <a:solidFill>
                  <a:srgbClr val="FF0000"/>
                </a:solidFill>
                <a:latin typeface="Calibri"/>
                <a:ea typeface="Calibri"/>
                <a:cs typeface="Calibri"/>
                <a:sym typeface="Calibri"/>
              </a:endParaRPr>
            </a:p>
          </p:txBody>
        </p:sp>
        <p:grpSp>
          <p:nvGrpSpPr>
            <p:cNvPr id="446" name="Google Shape;446;p13"/>
            <p:cNvGrpSpPr/>
            <p:nvPr/>
          </p:nvGrpSpPr>
          <p:grpSpPr>
            <a:xfrm>
              <a:off x="1039174" y="1481990"/>
              <a:ext cx="1451038" cy="689289"/>
              <a:chOff x="768514" y="1632732"/>
              <a:chExt cx="1451038" cy="689289"/>
            </a:xfrm>
          </p:grpSpPr>
          <p:pic>
            <p:nvPicPr>
              <p:cNvPr descr="https://encrypted-tbn0.gstatic.com/images?q=tbn:ANd9GcTBYUTiCk30QdjX4-TLl3uV02X3LIh9iW4bfHrF4h4TRy0Uac_wxu7YiKI5NklnbtNk6_53HAA&amp;usqp=CAc" id="447" name="Google Shape;447;p13"/>
              <p:cNvPicPr preferRelativeResize="0"/>
              <p:nvPr/>
            </p:nvPicPr>
            <p:blipFill rotWithShape="1">
              <a:blip r:embed="rId11">
                <a:alphaModFix/>
              </a:blip>
              <a:srcRect b="26785" l="0" r="0" t="33552"/>
              <a:stretch/>
            </p:blipFill>
            <p:spPr>
              <a:xfrm>
                <a:off x="880625" y="1632732"/>
                <a:ext cx="1226816" cy="486589"/>
              </a:xfrm>
              <a:prstGeom prst="rect">
                <a:avLst/>
              </a:prstGeom>
              <a:noFill/>
              <a:ln>
                <a:noFill/>
              </a:ln>
            </p:spPr>
          </p:pic>
          <p:sp>
            <p:nvSpPr>
              <p:cNvPr id="448" name="Google Shape;448;p13"/>
              <p:cNvSpPr/>
              <p:nvPr/>
            </p:nvSpPr>
            <p:spPr>
              <a:xfrm>
                <a:off x="768514" y="1983467"/>
                <a:ext cx="1451038"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NVMe M.2 SSD</a:t>
                </a:r>
                <a:endParaRPr sz="1600">
                  <a:solidFill>
                    <a:schemeClr val="dk1"/>
                  </a:solidFill>
                  <a:latin typeface="Calibri"/>
                  <a:ea typeface="Calibri"/>
                  <a:cs typeface="Calibri"/>
                  <a:sym typeface="Calibri"/>
                </a:endParaRPr>
              </a:p>
            </p:txBody>
          </p:sp>
        </p:grpSp>
        <p:grpSp>
          <p:nvGrpSpPr>
            <p:cNvPr id="449" name="Google Shape;449;p13"/>
            <p:cNvGrpSpPr/>
            <p:nvPr/>
          </p:nvGrpSpPr>
          <p:grpSpPr>
            <a:xfrm>
              <a:off x="1062610" y="2395098"/>
              <a:ext cx="1404167" cy="1196594"/>
              <a:chOff x="791950" y="2548714"/>
              <a:chExt cx="1404167" cy="1196594"/>
            </a:xfrm>
          </p:grpSpPr>
          <p:pic>
            <p:nvPicPr>
              <p:cNvPr id="450" name="Google Shape;450;p13"/>
              <p:cNvPicPr preferRelativeResize="0"/>
              <p:nvPr/>
            </p:nvPicPr>
            <p:blipFill rotWithShape="1">
              <a:blip r:embed="rId12">
                <a:alphaModFix/>
              </a:blip>
              <a:srcRect b="0" l="0" r="0" t="0"/>
              <a:stretch/>
            </p:blipFill>
            <p:spPr>
              <a:xfrm>
                <a:off x="859887" y="2548714"/>
                <a:ext cx="1268295" cy="886871"/>
              </a:xfrm>
              <a:prstGeom prst="rect">
                <a:avLst/>
              </a:prstGeom>
              <a:noFill/>
              <a:ln>
                <a:noFill/>
              </a:ln>
            </p:spPr>
          </p:pic>
          <p:sp>
            <p:nvSpPr>
              <p:cNvPr id="451" name="Google Shape;451;p13"/>
              <p:cNvSpPr/>
              <p:nvPr/>
            </p:nvSpPr>
            <p:spPr>
              <a:xfrm>
                <a:off x="791950" y="3406754"/>
                <a:ext cx="1404167"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NVMe U.2 SSD</a:t>
                </a:r>
                <a:endParaRPr sz="1600">
                  <a:solidFill>
                    <a:schemeClr val="dk1"/>
                  </a:solidFill>
                  <a:latin typeface="Calibri"/>
                  <a:ea typeface="Calibri"/>
                  <a:cs typeface="Calibri"/>
                  <a:sym typeface="Calibri"/>
                </a:endParaRPr>
              </a:p>
            </p:txBody>
          </p:sp>
        </p:grpSp>
        <p:grpSp>
          <p:nvGrpSpPr>
            <p:cNvPr id="452" name="Google Shape;452;p13"/>
            <p:cNvGrpSpPr/>
            <p:nvPr/>
          </p:nvGrpSpPr>
          <p:grpSpPr>
            <a:xfrm>
              <a:off x="449304" y="3815511"/>
              <a:ext cx="2630779" cy="1420928"/>
              <a:chOff x="178644" y="3794325"/>
              <a:chExt cx="2630779" cy="1420928"/>
            </a:xfrm>
          </p:grpSpPr>
          <p:pic>
            <p:nvPicPr>
              <p:cNvPr id="453" name="Google Shape;453;p13"/>
              <p:cNvPicPr preferRelativeResize="0"/>
              <p:nvPr/>
            </p:nvPicPr>
            <p:blipFill rotWithShape="1">
              <a:blip r:embed="rId13">
                <a:alphaModFix/>
              </a:blip>
              <a:srcRect b="0" l="0" r="0" t="0"/>
              <a:stretch/>
            </p:blipFill>
            <p:spPr>
              <a:xfrm>
                <a:off x="178644" y="3794325"/>
                <a:ext cx="2630778" cy="1268964"/>
              </a:xfrm>
              <a:prstGeom prst="rect">
                <a:avLst/>
              </a:prstGeom>
              <a:noFill/>
              <a:ln>
                <a:noFill/>
              </a:ln>
            </p:spPr>
          </p:pic>
          <p:sp>
            <p:nvSpPr>
              <p:cNvPr id="454" name="Google Shape;454;p13"/>
              <p:cNvSpPr/>
              <p:nvPr/>
            </p:nvSpPr>
            <p:spPr>
              <a:xfrm>
                <a:off x="749279" y="4876699"/>
                <a:ext cx="1489510"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NVMe PCIe SSD</a:t>
                </a:r>
                <a:endParaRPr sz="1600">
                  <a:solidFill>
                    <a:schemeClr val="dk1"/>
                  </a:solidFill>
                  <a:latin typeface="Calibri"/>
                  <a:ea typeface="Calibri"/>
                  <a:cs typeface="Calibri"/>
                  <a:sym typeface="Calibri"/>
                </a:endParaRPr>
              </a:p>
            </p:txBody>
          </p:sp>
          <p:sp>
            <p:nvSpPr>
              <p:cNvPr id="455" name="Google Shape;455;p13"/>
              <p:cNvSpPr/>
              <p:nvPr/>
            </p:nvSpPr>
            <p:spPr>
              <a:xfrm>
                <a:off x="2460929" y="4876698"/>
                <a:ext cx="348494" cy="20721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5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500"/>
                                        <p:tgtEl>
                                          <p:spTgt spid="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9"/>
                                        </p:tgtEl>
                                        <p:attrNameLst>
                                          <p:attrName>style.visibility</p:attrName>
                                        </p:attrNameLst>
                                      </p:cBhvr>
                                      <p:to>
                                        <p:strVal val="visible"/>
                                      </p:to>
                                    </p:set>
                                    <p:animEffect filter="fade" transition="in">
                                      <p:cBhvr>
                                        <p:cTn dur="500"/>
                                        <p:tgtEl>
                                          <p:spTgt spid="4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5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14"/>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System Trend – Rethinking OS</a:t>
            </a:r>
            <a:endParaRPr/>
          </a:p>
        </p:txBody>
      </p:sp>
      <p:sp>
        <p:nvSpPr>
          <p:cNvPr id="461" name="Google Shape;461;p14"/>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rgbClr val="333333"/>
              </a:buClr>
              <a:buSzPts val="2800"/>
              <a:buFont typeface="Calibri"/>
              <a:buChar char="•"/>
            </a:pPr>
            <a:r>
              <a:rPr lang="en-US"/>
              <a:t>The device trend </a:t>
            </a:r>
            <a:r>
              <a:rPr lang="en-US">
                <a:solidFill>
                  <a:srgbClr val="C00000"/>
                </a:solidFill>
              </a:rPr>
              <a:t>blurs the boundary </a:t>
            </a:r>
            <a:r>
              <a:rPr lang="en-US"/>
              <a:t>between memory and storage.</a:t>
            </a:r>
            <a:endParaRPr/>
          </a:p>
          <a:p>
            <a:pPr indent="-342900" lvl="0" marL="342900" rtl="0" algn="just">
              <a:lnSpc>
                <a:spcPct val="100000"/>
              </a:lnSpc>
              <a:spcBef>
                <a:spcPts val="0"/>
              </a:spcBef>
              <a:spcAft>
                <a:spcPts val="0"/>
              </a:spcAft>
              <a:buClr>
                <a:srgbClr val="333333"/>
              </a:buClr>
              <a:buSzPts val="2800"/>
              <a:buFont typeface="Calibri"/>
              <a:buChar char="•"/>
            </a:pPr>
            <a:r>
              <a:rPr lang="en-US"/>
              <a:t>Storage response time catches up with </a:t>
            </a:r>
            <a:r>
              <a:rPr lang="en-US">
                <a:solidFill>
                  <a:srgbClr val="C00000"/>
                </a:solidFill>
              </a:rPr>
              <a:t>context switch overhead (1~10 us)</a:t>
            </a:r>
            <a:r>
              <a:rPr lang="en-US"/>
              <a:t>.</a:t>
            </a:r>
            <a:endParaRPr/>
          </a:p>
          <a:p>
            <a:pPr indent="-342900" lvl="0" marL="342900" rtl="0" algn="just">
              <a:lnSpc>
                <a:spcPct val="100000"/>
              </a:lnSpc>
              <a:spcBef>
                <a:spcPts val="0"/>
              </a:spcBef>
              <a:spcAft>
                <a:spcPts val="0"/>
              </a:spcAft>
              <a:buClr>
                <a:srgbClr val="333333"/>
              </a:buClr>
              <a:buSzPts val="2800"/>
              <a:buFont typeface="Calibri"/>
              <a:buChar char="•"/>
            </a:pPr>
            <a:r>
              <a:rPr lang="en-US"/>
              <a:t>The overhead of running </a:t>
            </a:r>
            <a:r>
              <a:rPr lang="en-US">
                <a:solidFill>
                  <a:srgbClr val="C00000"/>
                </a:solidFill>
              </a:rPr>
              <a:t>file system</a:t>
            </a:r>
            <a:r>
              <a:rPr lang="en-US"/>
              <a:t> becomes critical (e.g., page cache).</a:t>
            </a:r>
            <a:endParaRPr/>
          </a:p>
          <a:p>
            <a:pPr indent="-342900" lvl="0" marL="342900" rtl="0" algn="just">
              <a:lnSpc>
                <a:spcPct val="100000"/>
              </a:lnSpc>
              <a:spcBef>
                <a:spcPts val="0"/>
              </a:spcBef>
              <a:spcAft>
                <a:spcPts val="0"/>
              </a:spcAft>
              <a:buClr>
                <a:srgbClr val="333333"/>
              </a:buClr>
              <a:buSzPts val="2800"/>
              <a:buFont typeface="Calibri"/>
              <a:buChar char="•"/>
            </a:pPr>
            <a:r>
              <a:rPr lang="en-US"/>
              <a:t>Huge memory demands increases deployment cost. (Right page size?)</a:t>
            </a:r>
            <a:endParaRPr/>
          </a:p>
        </p:txBody>
      </p:sp>
      <p:sp>
        <p:nvSpPr>
          <p:cNvPr id="462" name="Google Shape;462;p14"/>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463" name="Google Shape;463;p14"/>
          <p:cNvPicPr preferRelativeResize="0"/>
          <p:nvPr/>
        </p:nvPicPr>
        <p:blipFill rotWithShape="1">
          <a:blip r:embed="rId3">
            <a:alphaModFix/>
          </a:blip>
          <a:srcRect b="0" l="0" r="0" t="0"/>
          <a:stretch/>
        </p:blipFill>
        <p:spPr>
          <a:xfrm>
            <a:off x="4396103" y="3463881"/>
            <a:ext cx="7646928" cy="3127284"/>
          </a:xfrm>
          <a:prstGeom prst="rect">
            <a:avLst/>
          </a:prstGeom>
          <a:noFill/>
          <a:ln>
            <a:noFill/>
          </a:ln>
        </p:spPr>
      </p:pic>
      <p:sp>
        <p:nvSpPr>
          <p:cNvPr id="464" name="Google Shape;464;p14"/>
          <p:cNvSpPr/>
          <p:nvPr/>
        </p:nvSpPr>
        <p:spPr>
          <a:xfrm>
            <a:off x="8623139" y="4035389"/>
            <a:ext cx="3300633" cy="2109551"/>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5" name="Google Shape;465;p14"/>
          <p:cNvSpPr/>
          <p:nvPr/>
        </p:nvSpPr>
        <p:spPr>
          <a:xfrm>
            <a:off x="78491" y="3308811"/>
            <a:ext cx="4099298" cy="3251200"/>
          </a:xfrm>
          <a:prstGeom prst="triangle">
            <a:avLst>
              <a:gd fmla="val 50000" name="adj"/>
            </a:avLst>
          </a:prstGeom>
          <a:solidFill>
            <a:srgbClr val="348BD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6" name="Google Shape;466;p14"/>
          <p:cNvSpPr txBox="1"/>
          <p:nvPr/>
        </p:nvSpPr>
        <p:spPr>
          <a:xfrm>
            <a:off x="1615034" y="6006390"/>
            <a:ext cx="1099275"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Storage</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(HDD, SSD)</a:t>
            </a:r>
            <a:endParaRPr sz="1600">
              <a:solidFill>
                <a:schemeClr val="dk1"/>
              </a:solidFill>
              <a:latin typeface="Calibri"/>
              <a:ea typeface="Calibri"/>
              <a:cs typeface="Calibri"/>
              <a:sym typeface="Calibri"/>
            </a:endParaRPr>
          </a:p>
        </p:txBody>
      </p:sp>
      <p:sp>
        <p:nvSpPr>
          <p:cNvPr id="467" name="Google Shape;467;p14"/>
          <p:cNvSpPr/>
          <p:nvPr/>
        </p:nvSpPr>
        <p:spPr>
          <a:xfrm>
            <a:off x="398512" y="3308924"/>
            <a:ext cx="3442751" cy="2741604"/>
          </a:xfrm>
          <a:custGeom>
            <a:rect b="b" l="l" r="r" t="t"/>
            <a:pathLst>
              <a:path extrusionOk="0" h="1533641" w="3442751">
                <a:moveTo>
                  <a:pt x="0" y="1533641"/>
                </a:moveTo>
                <a:lnTo>
                  <a:pt x="1713863" y="0"/>
                </a:lnTo>
                <a:lnTo>
                  <a:pt x="3442751" y="1520459"/>
                </a:lnTo>
                <a:lnTo>
                  <a:pt x="0" y="1533641"/>
                </a:lnTo>
                <a:close/>
              </a:path>
            </a:pathLst>
          </a:custGeom>
          <a:solidFill>
            <a:srgbClr val="86A3D6"/>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8" name="Google Shape;468;p14"/>
          <p:cNvSpPr/>
          <p:nvPr/>
        </p:nvSpPr>
        <p:spPr>
          <a:xfrm>
            <a:off x="793918" y="3308529"/>
            <a:ext cx="2668171" cy="2123573"/>
          </a:xfrm>
          <a:custGeom>
            <a:rect b="b" l="l" r="r" t="t"/>
            <a:pathLst>
              <a:path extrusionOk="0" h="1356089" w="2668171">
                <a:moveTo>
                  <a:pt x="0" y="1356089"/>
                </a:moveTo>
                <a:lnTo>
                  <a:pt x="1336275" y="0"/>
                </a:lnTo>
                <a:lnTo>
                  <a:pt x="2668171" y="1354291"/>
                </a:lnTo>
                <a:lnTo>
                  <a:pt x="0" y="1356089"/>
                </a:lnTo>
                <a:close/>
              </a:path>
            </a:pathLst>
          </a:custGeom>
          <a:solidFill>
            <a:srgbClr val="9CC2E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9" name="Google Shape;469;p14"/>
          <p:cNvSpPr/>
          <p:nvPr/>
        </p:nvSpPr>
        <p:spPr>
          <a:xfrm>
            <a:off x="1432324" y="3308530"/>
            <a:ext cx="1393511" cy="1126994"/>
          </a:xfrm>
          <a:custGeom>
            <a:rect b="b" l="l" r="r" t="t"/>
            <a:pathLst>
              <a:path extrusionOk="0" h="1126994" w="1393511">
                <a:moveTo>
                  <a:pt x="0" y="1126994"/>
                </a:moveTo>
                <a:lnTo>
                  <a:pt x="691780" y="0"/>
                </a:lnTo>
                <a:lnTo>
                  <a:pt x="1393511" y="1120138"/>
                </a:lnTo>
                <a:lnTo>
                  <a:pt x="0" y="1126994"/>
                </a:lnTo>
                <a:close/>
              </a:path>
            </a:pathLst>
          </a:custGeom>
          <a:solidFill>
            <a:srgbClr val="DDEAF6"/>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470" name="Google Shape;470;p14"/>
          <p:cNvSpPr txBox="1"/>
          <p:nvPr/>
        </p:nvSpPr>
        <p:spPr>
          <a:xfrm>
            <a:off x="1726394" y="3608638"/>
            <a:ext cx="809838" cy="83099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Cache</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TLB</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(SRAM)</a:t>
            </a:r>
            <a:endParaRPr sz="1600">
              <a:solidFill>
                <a:schemeClr val="dk1"/>
              </a:solidFill>
              <a:latin typeface="Calibri"/>
              <a:ea typeface="Calibri"/>
              <a:cs typeface="Calibri"/>
              <a:sym typeface="Calibri"/>
            </a:endParaRPr>
          </a:p>
        </p:txBody>
      </p:sp>
      <p:sp>
        <p:nvSpPr>
          <p:cNvPr id="471" name="Google Shape;471;p14"/>
          <p:cNvSpPr txBox="1"/>
          <p:nvPr/>
        </p:nvSpPr>
        <p:spPr>
          <a:xfrm>
            <a:off x="1715043" y="4651321"/>
            <a:ext cx="900631"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Memory</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(DRAM)</a:t>
            </a:r>
            <a:endParaRPr sz="1600">
              <a:solidFill>
                <a:schemeClr val="dk1"/>
              </a:solidFill>
              <a:latin typeface="Calibri"/>
              <a:ea typeface="Calibri"/>
              <a:cs typeface="Calibri"/>
              <a:sym typeface="Calibri"/>
            </a:endParaRPr>
          </a:p>
        </p:txBody>
      </p:sp>
      <p:sp>
        <p:nvSpPr>
          <p:cNvPr id="472" name="Google Shape;472;p14"/>
          <p:cNvSpPr/>
          <p:nvPr/>
        </p:nvSpPr>
        <p:spPr>
          <a:xfrm>
            <a:off x="527820" y="5394761"/>
            <a:ext cx="3202610" cy="33705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3" name="Google Shape;473;p14"/>
          <p:cNvSpPr/>
          <p:nvPr/>
        </p:nvSpPr>
        <p:spPr>
          <a:xfrm>
            <a:off x="472404" y="5405957"/>
            <a:ext cx="3184134" cy="657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4" name="Google Shape;474;p14"/>
          <p:cNvSpPr/>
          <p:nvPr/>
        </p:nvSpPr>
        <p:spPr>
          <a:xfrm>
            <a:off x="374456" y="6010684"/>
            <a:ext cx="3656393" cy="657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75" name="Google Shape;475;p14"/>
          <p:cNvSpPr/>
          <p:nvPr/>
        </p:nvSpPr>
        <p:spPr>
          <a:xfrm>
            <a:off x="846716" y="4401035"/>
            <a:ext cx="3184134" cy="6579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476" name="Google Shape;476;p14"/>
          <p:cNvGrpSpPr/>
          <p:nvPr/>
        </p:nvGrpSpPr>
        <p:grpSpPr>
          <a:xfrm>
            <a:off x="2928619" y="4229786"/>
            <a:ext cx="487634" cy="338554"/>
            <a:chOff x="2928619" y="4229786"/>
            <a:chExt cx="487634" cy="338554"/>
          </a:xfrm>
        </p:grpSpPr>
        <p:cxnSp>
          <p:nvCxnSpPr>
            <p:cNvPr id="477" name="Google Shape;477;p14"/>
            <p:cNvCxnSpPr/>
            <p:nvPr/>
          </p:nvCxnSpPr>
          <p:spPr>
            <a:xfrm>
              <a:off x="2928619" y="4239491"/>
              <a:ext cx="0" cy="281126"/>
            </a:xfrm>
            <a:prstGeom prst="straightConnector1">
              <a:avLst/>
            </a:prstGeom>
            <a:noFill/>
            <a:ln cap="flat" cmpd="sng" w="38100">
              <a:solidFill>
                <a:srgbClr val="0070C0"/>
              </a:solidFill>
              <a:prstDash val="solid"/>
              <a:miter lim="800000"/>
              <a:headEnd len="med" w="med" type="stealth"/>
              <a:tailEnd len="med" w="med" type="stealth"/>
            </a:ln>
          </p:spPr>
        </p:cxnSp>
        <p:sp>
          <p:nvSpPr>
            <p:cNvPr id="478" name="Google Shape;478;p14"/>
            <p:cNvSpPr txBox="1"/>
            <p:nvPr/>
          </p:nvSpPr>
          <p:spPr>
            <a:xfrm>
              <a:off x="2928619" y="4229786"/>
              <a:ext cx="48763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0070C0"/>
                  </a:solidFill>
                  <a:latin typeface="Calibri"/>
                  <a:ea typeface="Calibri"/>
                  <a:cs typeface="Calibri"/>
                  <a:sym typeface="Calibri"/>
                </a:rPr>
                <a:t>10x</a:t>
              </a:r>
              <a:endParaRPr b="1" sz="1600">
                <a:solidFill>
                  <a:srgbClr val="0070C0"/>
                </a:solidFill>
                <a:latin typeface="Calibri"/>
                <a:ea typeface="Calibri"/>
                <a:cs typeface="Calibri"/>
                <a:sym typeface="Calibri"/>
              </a:endParaRPr>
            </a:p>
          </p:txBody>
        </p:sp>
      </p:grpSp>
      <p:grpSp>
        <p:nvGrpSpPr>
          <p:cNvPr id="479" name="Google Shape;479;p14"/>
          <p:cNvGrpSpPr/>
          <p:nvPr/>
        </p:nvGrpSpPr>
        <p:grpSpPr>
          <a:xfrm>
            <a:off x="3689050" y="5270977"/>
            <a:ext cx="853093" cy="490846"/>
            <a:chOff x="3689050" y="5270977"/>
            <a:chExt cx="853093" cy="490846"/>
          </a:xfrm>
        </p:grpSpPr>
        <p:cxnSp>
          <p:nvCxnSpPr>
            <p:cNvPr id="480" name="Google Shape;480;p14"/>
            <p:cNvCxnSpPr/>
            <p:nvPr/>
          </p:nvCxnSpPr>
          <p:spPr>
            <a:xfrm>
              <a:off x="3689050" y="5270977"/>
              <a:ext cx="0" cy="490846"/>
            </a:xfrm>
            <a:prstGeom prst="straightConnector1">
              <a:avLst/>
            </a:prstGeom>
            <a:noFill/>
            <a:ln cap="flat" cmpd="sng" w="38100">
              <a:solidFill>
                <a:srgbClr val="0070C0"/>
              </a:solidFill>
              <a:prstDash val="solid"/>
              <a:miter lim="800000"/>
              <a:headEnd len="med" w="med" type="stealth"/>
              <a:tailEnd len="med" w="med" type="stealth"/>
            </a:ln>
          </p:spPr>
        </p:cxnSp>
        <p:sp>
          <p:nvSpPr>
            <p:cNvPr id="481" name="Google Shape;481;p14"/>
            <p:cNvSpPr txBox="1"/>
            <p:nvPr/>
          </p:nvSpPr>
          <p:spPr>
            <a:xfrm>
              <a:off x="3697040" y="5327596"/>
              <a:ext cx="845103"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0070C0"/>
                  </a:solidFill>
                  <a:latin typeface="Calibri"/>
                  <a:ea typeface="Calibri"/>
                  <a:cs typeface="Calibri"/>
                  <a:sym typeface="Calibri"/>
                </a:rPr>
                <a:t>&gt; 1000x</a:t>
              </a:r>
              <a:endParaRPr b="1" sz="1600">
                <a:solidFill>
                  <a:srgbClr val="0070C0"/>
                </a:solidFill>
                <a:latin typeface="Calibri"/>
                <a:ea typeface="Calibri"/>
                <a:cs typeface="Calibri"/>
                <a:sym typeface="Calibri"/>
              </a:endParaRPr>
            </a:p>
          </p:txBody>
        </p:sp>
      </p:grpSp>
      <p:sp>
        <p:nvSpPr>
          <p:cNvPr id="482" name="Google Shape;482;p14"/>
          <p:cNvSpPr txBox="1"/>
          <p:nvPr/>
        </p:nvSpPr>
        <p:spPr>
          <a:xfrm>
            <a:off x="2574534" y="3696835"/>
            <a:ext cx="79220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0070C0"/>
                </a:solidFill>
                <a:latin typeface="Calibri"/>
                <a:ea typeface="Calibri"/>
                <a:cs typeface="Calibri"/>
                <a:sym typeface="Calibri"/>
              </a:rPr>
              <a:t>1~10ns</a:t>
            </a:r>
            <a:endParaRPr b="1" sz="1600">
              <a:solidFill>
                <a:srgbClr val="0070C0"/>
              </a:solidFill>
              <a:latin typeface="Calibri"/>
              <a:ea typeface="Calibri"/>
              <a:cs typeface="Calibri"/>
              <a:sym typeface="Calibri"/>
            </a:endParaRPr>
          </a:p>
        </p:txBody>
      </p:sp>
      <p:sp>
        <p:nvSpPr>
          <p:cNvPr id="483" name="Google Shape;483;p14"/>
          <p:cNvSpPr txBox="1"/>
          <p:nvPr/>
        </p:nvSpPr>
        <p:spPr>
          <a:xfrm>
            <a:off x="3172436" y="4711673"/>
            <a:ext cx="1000595"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0070C0"/>
                </a:solidFill>
                <a:latin typeface="Calibri"/>
                <a:ea typeface="Calibri"/>
                <a:cs typeface="Calibri"/>
                <a:sym typeface="Calibri"/>
              </a:rPr>
              <a:t>10~100ns</a:t>
            </a:r>
            <a:endParaRPr b="1" sz="1600">
              <a:solidFill>
                <a:srgbClr val="0070C0"/>
              </a:solidFill>
              <a:latin typeface="Calibri"/>
              <a:ea typeface="Calibri"/>
              <a:cs typeface="Calibri"/>
              <a:sym typeface="Calibri"/>
            </a:endParaRPr>
          </a:p>
        </p:txBody>
      </p:sp>
      <p:sp>
        <p:nvSpPr>
          <p:cNvPr id="484" name="Google Shape;484;p14"/>
          <p:cNvSpPr txBox="1"/>
          <p:nvPr/>
        </p:nvSpPr>
        <p:spPr>
          <a:xfrm>
            <a:off x="4030849" y="6127852"/>
            <a:ext cx="1237839"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0070C0"/>
                </a:solidFill>
                <a:latin typeface="Calibri"/>
                <a:ea typeface="Calibri"/>
                <a:cs typeface="Calibri"/>
                <a:sym typeface="Calibri"/>
              </a:rPr>
              <a:t>100us ~ 1ms</a:t>
            </a:r>
            <a:endParaRPr b="1" sz="1600">
              <a:solidFill>
                <a:srgbClr val="0070C0"/>
              </a:solidFill>
              <a:latin typeface="Calibri"/>
              <a:ea typeface="Calibri"/>
              <a:cs typeface="Calibri"/>
              <a:sym typeface="Calibri"/>
            </a:endParaRPr>
          </a:p>
        </p:txBody>
      </p:sp>
      <p:sp>
        <p:nvSpPr>
          <p:cNvPr id="485" name="Google Shape;485;p14"/>
          <p:cNvSpPr txBox="1"/>
          <p:nvPr/>
        </p:nvSpPr>
        <p:spPr>
          <a:xfrm>
            <a:off x="1065653" y="5434343"/>
            <a:ext cx="2198039"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NVM, ULL Devices</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(PCM, Samsung ZNAND)</a:t>
            </a:r>
            <a:endParaRPr sz="1600">
              <a:solidFill>
                <a:schemeClr val="dk1"/>
              </a:solidFill>
              <a:latin typeface="Calibri"/>
              <a:ea typeface="Calibri"/>
              <a:cs typeface="Calibri"/>
              <a:sym typeface="Calibri"/>
            </a:endParaRPr>
          </a:p>
        </p:txBody>
      </p:sp>
      <p:grpSp>
        <p:nvGrpSpPr>
          <p:cNvPr id="486" name="Google Shape;486;p14"/>
          <p:cNvGrpSpPr/>
          <p:nvPr/>
        </p:nvGrpSpPr>
        <p:grpSpPr>
          <a:xfrm>
            <a:off x="3621417" y="5265216"/>
            <a:ext cx="1387195" cy="622340"/>
            <a:chOff x="3683763" y="5265216"/>
            <a:chExt cx="1387195" cy="622340"/>
          </a:xfrm>
        </p:grpSpPr>
        <p:sp>
          <p:nvSpPr>
            <p:cNvPr id="487" name="Google Shape;487;p14"/>
            <p:cNvSpPr txBox="1"/>
            <p:nvPr/>
          </p:nvSpPr>
          <p:spPr>
            <a:xfrm>
              <a:off x="3738542" y="5549002"/>
              <a:ext cx="1332416"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0070C0"/>
                  </a:solidFill>
                  <a:latin typeface="Calibri"/>
                  <a:ea typeface="Calibri"/>
                  <a:cs typeface="Calibri"/>
                  <a:sym typeface="Calibri"/>
                </a:rPr>
                <a:t>100ns ~ 10 us</a:t>
              </a:r>
              <a:endParaRPr b="1" sz="1600">
                <a:solidFill>
                  <a:srgbClr val="0070C0"/>
                </a:solidFill>
                <a:latin typeface="Calibri"/>
                <a:ea typeface="Calibri"/>
                <a:cs typeface="Calibri"/>
                <a:sym typeface="Calibri"/>
              </a:endParaRPr>
            </a:p>
          </p:txBody>
        </p:sp>
        <p:grpSp>
          <p:nvGrpSpPr>
            <p:cNvPr id="488" name="Google Shape;488;p14"/>
            <p:cNvGrpSpPr/>
            <p:nvPr/>
          </p:nvGrpSpPr>
          <p:grpSpPr>
            <a:xfrm>
              <a:off x="3683763" y="5265216"/>
              <a:ext cx="487634" cy="338554"/>
              <a:chOff x="2928619" y="4229786"/>
              <a:chExt cx="487634" cy="338554"/>
            </a:xfrm>
          </p:grpSpPr>
          <p:cxnSp>
            <p:nvCxnSpPr>
              <p:cNvPr id="489" name="Google Shape;489;p14"/>
              <p:cNvCxnSpPr/>
              <p:nvPr/>
            </p:nvCxnSpPr>
            <p:spPr>
              <a:xfrm>
                <a:off x="2928619" y="4239491"/>
                <a:ext cx="0" cy="281126"/>
              </a:xfrm>
              <a:prstGeom prst="straightConnector1">
                <a:avLst/>
              </a:prstGeom>
              <a:noFill/>
              <a:ln cap="flat" cmpd="sng" w="38100">
                <a:solidFill>
                  <a:srgbClr val="0070C0"/>
                </a:solidFill>
                <a:prstDash val="solid"/>
                <a:miter lim="800000"/>
                <a:headEnd len="med" w="med" type="stealth"/>
                <a:tailEnd len="med" w="med" type="stealth"/>
              </a:ln>
            </p:spPr>
          </p:cxnSp>
          <p:sp>
            <p:nvSpPr>
              <p:cNvPr id="490" name="Google Shape;490;p14"/>
              <p:cNvSpPr txBox="1"/>
              <p:nvPr/>
            </p:nvSpPr>
            <p:spPr>
              <a:xfrm>
                <a:off x="2928619" y="4229786"/>
                <a:ext cx="487634" cy="33855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rgbClr val="0070C0"/>
                    </a:solidFill>
                    <a:latin typeface="Calibri"/>
                    <a:ea typeface="Calibri"/>
                    <a:cs typeface="Calibri"/>
                    <a:sym typeface="Calibri"/>
                  </a:rPr>
                  <a:t>10x</a:t>
                </a:r>
                <a:endParaRPr b="1" sz="1600">
                  <a:solidFill>
                    <a:srgbClr val="0070C0"/>
                  </a:solidFill>
                  <a:latin typeface="Calibri"/>
                  <a:ea typeface="Calibri"/>
                  <a:cs typeface="Calibri"/>
                  <a:sym typeface="Calibri"/>
                </a:endParaRPr>
              </a:p>
            </p:txBody>
          </p:sp>
        </p:grpSp>
      </p:grpSp>
      <p:sp>
        <p:nvSpPr>
          <p:cNvPr id="491" name="Google Shape;491;p14"/>
          <p:cNvSpPr txBox="1"/>
          <p:nvPr/>
        </p:nvSpPr>
        <p:spPr>
          <a:xfrm>
            <a:off x="426211" y="5818759"/>
            <a:ext cx="3500510"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n-US" sz="2000">
                <a:solidFill>
                  <a:srgbClr val="C00000"/>
                </a:solidFill>
                <a:latin typeface="Calibri"/>
                <a:ea typeface="Calibri"/>
                <a:cs typeface="Calibri"/>
                <a:sym typeface="Calibri"/>
              </a:rPr>
              <a:t>OS Management (100ns ~10us)</a:t>
            </a:r>
            <a:endParaRPr b="1" i="1" sz="2000">
              <a:solidFill>
                <a:srgbClr val="C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0" st="0"/>
                                            </p:txEl>
                                          </p:spTgt>
                                        </p:tgtEl>
                                        <p:attrNameLst>
                                          <p:attrName>style.visibility</p:attrName>
                                        </p:attrNameLst>
                                      </p:cBhvr>
                                      <p:to>
                                        <p:strVal val="visible"/>
                                      </p:to>
                                    </p:set>
                                    <p:animEffect filter="fade" transition="in">
                                      <p:cBhvr>
                                        <p:cTn dur="500"/>
                                        <p:tgtEl>
                                          <p:spTgt spid="4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1" st="1"/>
                                            </p:txEl>
                                          </p:spTgt>
                                        </p:tgtEl>
                                        <p:attrNameLst>
                                          <p:attrName>style.visibility</p:attrName>
                                        </p:attrNameLst>
                                      </p:cBhvr>
                                      <p:to>
                                        <p:strVal val="visible"/>
                                      </p:to>
                                    </p:set>
                                    <p:animEffect filter="fade" transition="in">
                                      <p:cBhvr>
                                        <p:cTn dur="500"/>
                                        <p:tgtEl>
                                          <p:spTgt spid="4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2" st="2"/>
                                            </p:txEl>
                                          </p:spTgt>
                                        </p:tgtEl>
                                        <p:attrNameLst>
                                          <p:attrName>style.visibility</p:attrName>
                                        </p:attrNameLst>
                                      </p:cBhvr>
                                      <p:to>
                                        <p:strVal val="visible"/>
                                      </p:to>
                                    </p:set>
                                    <p:animEffect filter="fade" transition="in">
                                      <p:cBhvr>
                                        <p:cTn dur="500"/>
                                        <p:tgtEl>
                                          <p:spTgt spid="4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xEl>
                                              <p:pRg end="3" st="3"/>
                                            </p:txEl>
                                          </p:spTgt>
                                        </p:tgtEl>
                                        <p:attrNameLst>
                                          <p:attrName>style.visibility</p:attrName>
                                        </p:attrNameLst>
                                      </p:cBhvr>
                                      <p:to>
                                        <p:strVal val="visible"/>
                                      </p:to>
                                    </p:set>
                                    <p:animEffect filter="fade" transition="in">
                                      <p:cBhvr>
                                        <p:cTn dur="500"/>
                                        <p:tgtEl>
                                          <p:spTgt spid="4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472"/>
                                        </p:tgtEl>
                                      </p:cBhvr>
                                    </p:animEffect>
                                    <p:set>
                                      <p:cBhvr>
                                        <p:cTn dur="1" fill="hold">
                                          <p:stCondLst>
                                            <p:cond delay="500"/>
                                          </p:stCondLst>
                                        </p:cTn>
                                        <p:tgtEl>
                                          <p:spTgt spid="472"/>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479"/>
                                        </p:tgtEl>
                                      </p:cBhvr>
                                    </p:animEffect>
                                    <p:set>
                                      <p:cBhvr>
                                        <p:cTn dur="1" fill="hold">
                                          <p:stCondLst>
                                            <p:cond delay="500"/>
                                          </p:stCondLst>
                                        </p:cTn>
                                        <p:tgtEl>
                                          <p:spTgt spid="479"/>
                                        </p:tgtEl>
                                        <p:attrNameLst>
                                          <p:attrName>style.visibility</p:attrName>
                                        </p:attrNameLst>
                                      </p:cBhvr>
                                      <p:to>
                                        <p:strVal val="hidden"/>
                                      </p:to>
                                    </p:se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500"/>
                                        <p:tgtEl>
                                          <p:spTgt spid="46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85"/>
                                        </p:tgtEl>
                                        <p:attrNameLst>
                                          <p:attrName>style.visibility</p:attrName>
                                        </p:attrNameLst>
                                      </p:cBhvr>
                                      <p:to>
                                        <p:strVal val="visible"/>
                                      </p:to>
                                    </p:set>
                                    <p:animEffect filter="fade" transition="in">
                                      <p:cBhvr>
                                        <p:cTn dur="500"/>
                                        <p:tgtEl>
                                          <p:spTgt spid="485"/>
                                        </p:tgtEl>
                                      </p:cBhvr>
                                    </p:animEffect>
                                  </p:childTnLst>
                                </p:cTn>
                              </p:par>
                              <p:par>
                                <p:cTn fill="hold" nodeType="with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par>
                                <p:cTn fill="hold" nodeType="withEffect" presetClass="entr" presetID="10" presetSubtype="0">
                                  <p:stCondLst>
                                    <p:cond delay="0"/>
                                  </p:stCondLst>
                                  <p:childTnLst>
                                    <p:set>
                                      <p:cBhvr>
                                        <p:cTn dur="1" fill="hold">
                                          <p:stCondLst>
                                            <p:cond delay="0"/>
                                          </p:stCondLst>
                                        </p:cTn>
                                        <p:tgtEl>
                                          <p:spTgt spid="486"/>
                                        </p:tgtEl>
                                        <p:attrNameLst>
                                          <p:attrName>style.visibility</p:attrName>
                                        </p:attrNameLst>
                                      </p:cBhvr>
                                      <p:to>
                                        <p:strVal val="visible"/>
                                      </p:to>
                                    </p:set>
                                    <p:animEffect filter="fade" transition="in">
                                      <p:cBhvr>
                                        <p:cTn dur="500"/>
                                        <p:tgtEl>
                                          <p:spTgt spid="4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1"/>
                                        </p:tgtEl>
                                        <p:attrNameLst>
                                          <p:attrName>style.visibility</p:attrName>
                                        </p:attrNameLst>
                                      </p:cBhvr>
                                      <p:to>
                                        <p:strVal val="visible"/>
                                      </p:to>
                                    </p:set>
                                    <p:animEffect filter="fade" transition="in">
                                      <p:cBhvr>
                                        <p:cTn dur="500"/>
                                        <p:tgtEl>
                                          <p:spTgt spid="4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5"/>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latin typeface="Calibri"/>
                <a:ea typeface="Calibri"/>
                <a:cs typeface="Calibri"/>
                <a:sym typeface="Calibri"/>
              </a:rPr>
              <a:t>Agenda</a:t>
            </a:r>
            <a:endParaRPr sz="4000">
              <a:latin typeface="Calibri"/>
              <a:ea typeface="Calibri"/>
              <a:cs typeface="Calibri"/>
              <a:sym typeface="Calibri"/>
            </a:endParaRPr>
          </a:p>
        </p:txBody>
      </p:sp>
      <p:sp>
        <p:nvSpPr>
          <p:cNvPr id="498" name="Google Shape;498;p15"/>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rgbClr val="A5A5A5"/>
              </a:buClr>
              <a:buSzPts val="2800"/>
              <a:buFont typeface="Calibri"/>
              <a:buChar char="•"/>
            </a:pPr>
            <a:r>
              <a:rPr lang="en-US" sz="2800">
                <a:solidFill>
                  <a:srgbClr val="A5A5A5"/>
                </a:solidFill>
                <a:latin typeface="Calibri"/>
                <a:ea typeface="Calibri"/>
                <a:cs typeface="Calibri"/>
                <a:sym typeface="Calibri"/>
              </a:rPr>
              <a:t>Computer System Organization</a:t>
            </a:r>
            <a:endParaRPr/>
          </a:p>
          <a:p>
            <a:pPr indent="-342900" lvl="0" marL="342900" rtl="0" algn="l">
              <a:lnSpc>
                <a:spcPct val="100000"/>
              </a:lnSpc>
              <a:spcBef>
                <a:spcPts val="0"/>
              </a:spcBef>
              <a:spcAft>
                <a:spcPts val="0"/>
              </a:spcAft>
              <a:buClr>
                <a:srgbClr val="A5A5A5"/>
              </a:buClr>
              <a:buSzPts val="2800"/>
              <a:buFont typeface="Calibri"/>
              <a:buChar char="•"/>
            </a:pPr>
            <a:r>
              <a:rPr lang="en-US" sz="2800">
                <a:solidFill>
                  <a:srgbClr val="A5A5A5"/>
                </a:solidFill>
                <a:latin typeface="Calibri"/>
                <a:ea typeface="Calibri"/>
                <a:cs typeface="Calibri"/>
                <a:sym typeface="Calibri"/>
              </a:rPr>
              <a:t>What is Operating Systems</a:t>
            </a:r>
            <a:endParaRPr/>
          </a:p>
          <a:p>
            <a:pPr indent="-342900" lvl="0" marL="342900" rtl="0" algn="l">
              <a:lnSpc>
                <a:spcPct val="100000"/>
              </a:lnSpc>
              <a:spcBef>
                <a:spcPts val="0"/>
              </a:spcBef>
              <a:spcAft>
                <a:spcPts val="0"/>
              </a:spcAft>
              <a:buClr>
                <a:srgbClr val="A5A5A5"/>
              </a:buClr>
              <a:buSzPts val="2800"/>
              <a:buFont typeface="Calibri"/>
              <a:buChar char="•"/>
            </a:pPr>
            <a:r>
              <a:rPr lang="en-US" sz="2800">
                <a:solidFill>
                  <a:srgbClr val="A5A5A5"/>
                </a:solidFill>
                <a:latin typeface="Calibri"/>
                <a:ea typeface="Calibri"/>
                <a:cs typeface="Calibri"/>
                <a:sym typeface="Calibri"/>
              </a:rPr>
              <a:t>A High-Level Overview</a:t>
            </a:r>
            <a:endParaRPr/>
          </a:p>
          <a:p>
            <a:pPr indent="-342900" lvl="0" marL="342900" rtl="0" algn="l">
              <a:lnSpc>
                <a:spcPct val="100000"/>
              </a:lnSpc>
              <a:spcBef>
                <a:spcPts val="0"/>
              </a:spcBef>
              <a:spcAft>
                <a:spcPts val="0"/>
              </a:spcAft>
              <a:buClr>
                <a:schemeClr val="dk1"/>
              </a:buClr>
              <a:buSzPts val="2800"/>
              <a:buFont typeface="Calibri"/>
              <a:buChar char="•"/>
            </a:pPr>
            <a:r>
              <a:rPr lang="en-US" sz="2800">
                <a:solidFill>
                  <a:schemeClr val="dk1"/>
                </a:solidFill>
                <a:latin typeface="Calibri"/>
                <a:ea typeface="Calibri"/>
                <a:cs typeface="Calibri"/>
                <a:sym typeface="Calibri"/>
              </a:rPr>
              <a:t>What topics will we cover</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Process &amp; Interrupts</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Main Memory Management</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I/O Devices &amp; Device Driver</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File System</a:t>
            </a:r>
            <a:endParaRPr/>
          </a:p>
          <a:p>
            <a:pPr indent="-285750" lvl="1" marL="742950" rtl="0" algn="l">
              <a:lnSpc>
                <a:spcPct val="100000"/>
              </a:lnSpc>
              <a:spcBef>
                <a:spcPts val="0"/>
              </a:spcBef>
              <a:spcAft>
                <a:spcPts val="0"/>
              </a:spcAft>
              <a:buClr>
                <a:schemeClr val="dk1"/>
              </a:buClr>
              <a:buSzPts val="2400"/>
              <a:buFont typeface="Calibri"/>
              <a:buChar char="–"/>
            </a:pPr>
            <a:r>
              <a:rPr lang="en-US" sz="2400">
                <a:solidFill>
                  <a:schemeClr val="dk1"/>
                </a:solidFill>
                <a:latin typeface="Calibri"/>
                <a:ea typeface="Calibri"/>
                <a:cs typeface="Calibri"/>
                <a:sym typeface="Calibri"/>
              </a:rPr>
              <a:t>Close to </a:t>
            </a:r>
            <a:r>
              <a:rPr lang="en-US">
                <a:solidFill>
                  <a:schemeClr val="dk1"/>
                </a:solidFill>
                <a:latin typeface="Calibri"/>
                <a:ea typeface="Calibri"/>
                <a:cs typeface="Calibri"/>
                <a:sym typeface="Calibri"/>
              </a:rPr>
              <a:t>Applications</a:t>
            </a:r>
            <a:r>
              <a:rPr lang="en-US" sz="2400">
                <a:solidFill>
                  <a:schemeClr val="dk1"/>
                </a:solidFill>
                <a:latin typeface="Calibri"/>
                <a:ea typeface="Calibri"/>
                <a:cs typeface="Calibri"/>
                <a:sym typeface="Calibri"/>
              </a:rPr>
              <a:t>: Graph Systems, Deep Recommendation Systems, Key-Value Databases, Virtualization Concepts</a:t>
            </a:r>
            <a:endParaRPr sz="2800">
              <a:solidFill>
                <a:schemeClr val="dk1"/>
              </a:solidFill>
              <a:latin typeface="Calibri"/>
              <a:ea typeface="Calibri"/>
              <a:cs typeface="Calibri"/>
              <a:sym typeface="Calibri"/>
            </a:endParaRPr>
          </a:p>
          <a:p>
            <a:pPr indent="-165100" lvl="0" marL="342900" rtl="0" algn="l">
              <a:lnSpc>
                <a:spcPct val="100000"/>
              </a:lnSpc>
              <a:spcBef>
                <a:spcPts val="0"/>
              </a:spcBef>
              <a:spcAft>
                <a:spcPts val="0"/>
              </a:spcAft>
              <a:buClr>
                <a:srgbClr val="333333"/>
              </a:buClr>
              <a:buSzPts val="2800"/>
              <a:buFont typeface="Calibri"/>
              <a:buNone/>
            </a:pPr>
            <a:r>
              <a:t/>
            </a:r>
            <a:endParaRPr sz="2800">
              <a:solidFill>
                <a:schemeClr val="dk1"/>
              </a:solidFill>
              <a:latin typeface="Calibri"/>
              <a:ea typeface="Calibri"/>
              <a:cs typeface="Calibri"/>
              <a:sym typeface="Calibri"/>
            </a:endParaRPr>
          </a:p>
        </p:txBody>
      </p:sp>
      <p:sp>
        <p:nvSpPr>
          <p:cNvPr id="499" name="Google Shape;499;p15"/>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16"/>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latin typeface="Calibri"/>
                <a:ea typeface="Calibri"/>
                <a:cs typeface="Calibri"/>
                <a:sym typeface="Calibri"/>
              </a:rPr>
              <a:t>Process &amp; Interrupt</a:t>
            </a:r>
            <a:endParaRPr sz="4000">
              <a:latin typeface="Calibri"/>
              <a:ea typeface="Calibri"/>
              <a:cs typeface="Calibri"/>
              <a:sym typeface="Calibri"/>
            </a:endParaRPr>
          </a:p>
        </p:txBody>
      </p:sp>
      <p:sp>
        <p:nvSpPr>
          <p:cNvPr id="506" name="Google Shape;506;p16"/>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2800"/>
              <a:buFont typeface="Calibri"/>
              <a:buChar char="•"/>
            </a:pPr>
            <a:r>
              <a:rPr lang="en-US">
                <a:solidFill>
                  <a:schemeClr val="dk1"/>
                </a:solidFill>
                <a:latin typeface="Calibri"/>
                <a:ea typeface="Calibri"/>
                <a:cs typeface="Calibri"/>
                <a:sym typeface="Calibri"/>
              </a:rPr>
              <a:t>Process</a:t>
            </a:r>
            <a:endParaRPr/>
          </a:p>
          <a:p>
            <a:pPr indent="-285750" lvl="1" marL="742950" rtl="0" algn="l">
              <a:lnSpc>
                <a:spcPct val="100000"/>
              </a:lnSpc>
              <a:spcBef>
                <a:spcPts val="0"/>
              </a:spcBef>
              <a:spcAft>
                <a:spcPts val="0"/>
              </a:spcAft>
              <a:buClr>
                <a:srgbClr val="333333"/>
              </a:buClr>
              <a:buSzPts val="2400"/>
              <a:buFont typeface="Calibri"/>
              <a:buChar char="–"/>
            </a:pPr>
            <a:r>
              <a:rPr lang="en-US"/>
              <a:t>What is a Process, Process Descriptor, </a:t>
            </a:r>
            <a:r>
              <a:rPr lang="en-US">
                <a:solidFill>
                  <a:schemeClr val="dk1"/>
                </a:solidFill>
              </a:rPr>
              <a:t>Process State Diagram (Process’s Life Cycle)</a:t>
            </a:r>
            <a:endParaRPr/>
          </a:p>
          <a:p>
            <a:pPr indent="-285750" lvl="1" marL="742950" rtl="0" algn="l">
              <a:lnSpc>
                <a:spcPct val="100000"/>
              </a:lnSpc>
              <a:spcBef>
                <a:spcPts val="0"/>
              </a:spcBef>
              <a:spcAft>
                <a:spcPts val="0"/>
              </a:spcAft>
              <a:buClr>
                <a:srgbClr val="333333"/>
              </a:buClr>
              <a:buSzPts val="2400"/>
              <a:buFont typeface="Calibri"/>
              <a:buChar char="–"/>
            </a:pPr>
            <a:r>
              <a:rPr lang="en-US"/>
              <a:t>Multiprogramming and Multitasking</a:t>
            </a:r>
            <a:r>
              <a:rPr lang="en-US">
                <a:solidFill>
                  <a:schemeClr val="dk1"/>
                </a:solidFill>
              </a:rPr>
              <a:t>, </a:t>
            </a:r>
            <a:r>
              <a:rPr lang="en-US">
                <a:solidFill>
                  <a:schemeClr val="dk1"/>
                </a:solidFill>
                <a:latin typeface="Calibri"/>
                <a:ea typeface="Calibri"/>
                <a:cs typeface="Calibri"/>
                <a:sym typeface="Calibri"/>
              </a:rPr>
              <a:t>Context Switch</a:t>
            </a:r>
            <a:endParaRPr/>
          </a:p>
          <a:p>
            <a:pPr indent="-342900" lvl="0" marL="342900" rtl="0" algn="l">
              <a:lnSpc>
                <a:spcPct val="100000"/>
              </a:lnSpc>
              <a:spcBef>
                <a:spcPts val="0"/>
              </a:spcBef>
              <a:spcAft>
                <a:spcPts val="0"/>
              </a:spcAft>
              <a:buClr>
                <a:schemeClr val="dk1"/>
              </a:buClr>
              <a:buSzPts val="2800"/>
              <a:buFont typeface="Calibri"/>
              <a:buChar char="•"/>
            </a:pPr>
            <a:r>
              <a:rPr lang="en-US">
                <a:solidFill>
                  <a:schemeClr val="dk1"/>
                </a:solidFill>
              </a:rPr>
              <a:t>CPU Scheduling:</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Priority, Time Slice</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O(N) (Linux 2.4 ~ 2.6)</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O(1) SCHED_Normal (</a:t>
            </a:r>
            <a:r>
              <a:rPr lang="en-US"/>
              <a:t>Linux releases 2.6.0 thru 2.6.22 )</a:t>
            </a:r>
            <a:endParaRPr>
              <a:solidFill>
                <a:schemeClr val="dk1"/>
              </a:solidFill>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Completely Fair Scheduler (CFS) (After Linux 2.6.22)</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Real-Time Scheduling</a:t>
            </a:r>
            <a:endParaRPr/>
          </a:p>
          <a:p>
            <a:pPr indent="-342900" lvl="0" marL="342900" rtl="0" algn="l">
              <a:lnSpc>
                <a:spcPct val="100000"/>
              </a:lnSpc>
              <a:spcBef>
                <a:spcPts val="0"/>
              </a:spcBef>
              <a:spcAft>
                <a:spcPts val="0"/>
              </a:spcAft>
              <a:buClr>
                <a:schemeClr val="dk1"/>
              </a:buClr>
              <a:buSzPts val="2800"/>
              <a:buFont typeface="Calibri"/>
              <a:buChar char="•"/>
            </a:pPr>
            <a:r>
              <a:rPr lang="en-US">
                <a:solidFill>
                  <a:schemeClr val="dk1"/>
                </a:solidFill>
                <a:latin typeface="Calibri"/>
                <a:ea typeface="Calibri"/>
                <a:cs typeface="Calibri"/>
                <a:sym typeface="Calibri"/>
              </a:rPr>
              <a:t>Interrupts:</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rPr>
              <a:t>Software Interrupt: How system call works. Also, how to implement it.</a:t>
            </a:r>
            <a:endParaRPr>
              <a:solidFill>
                <a:schemeClr val="dk1"/>
              </a:solidFill>
              <a:latin typeface="Calibri"/>
              <a:ea typeface="Calibri"/>
              <a:cs typeface="Calibri"/>
              <a:sym typeface="Calibri"/>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latin typeface="Calibri"/>
                <a:ea typeface="Calibri"/>
                <a:cs typeface="Calibri"/>
                <a:sym typeface="Calibri"/>
              </a:rPr>
              <a:t>Hardware Interrupt: How interrupt handler (or </a:t>
            </a:r>
            <a:r>
              <a:rPr lang="en-US">
                <a:solidFill>
                  <a:schemeClr val="dk1"/>
                </a:solidFill>
              </a:rPr>
              <a:t>interrupt service routine)</a:t>
            </a:r>
            <a:r>
              <a:rPr lang="en-US">
                <a:solidFill>
                  <a:schemeClr val="dk1"/>
                </a:solidFill>
                <a:latin typeface="Calibri"/>
                <a:ea typeface="Calibri"/>
                <a:cs typeface="Calibri"/>
                <a:sym typeface="Calibri"/>
              </a:rPr>
              <a:t> works.</a:t>
            </a:r>
            <a:endParaRPr/>
          </a:p>
          <a:p>
            <a:pPr indent="-342900" lvl="0" marL="342900" rtl="0" algn="l">
              <a:lnSpc>
                <a:spcPct val="100000"/>
              </a:lnSpc>
              <a:spcBef>
                <a:spcPts val="0"/>
              </a:spcBef>
              <a:spcAft>
                <a:spcPts val="0"/>
              </a:spcAft>
              <a:buClr>
                <a:schemeClr val="dk1"/>
              </a:buClr>
              <a:buSzPts val="2800"/>
              <a:buFont typeface="Calibri"/>
              <a:buChar char="•"/>
            </a:pPr>
            <a:r>
              <a:rPr lang="en-US">
                <a:solidFill>
                  <a:schemeClr val="dk1"/>
                </a:solidFill>
              </a:rPr>
              <a:t>Advance Research Topics</a:t>
            </a:r>
            <a:r>
              <a:rPr lang="en-US">
                <a:solidFill>
                  <a:schemeClr val="dk1"/>
                </a:solidFill>
                <a:latin typeface="Calibri"/>
                <a:ea typeface="Calibri"/>
                <a:cs typeface="Calibri"/>
                <a:sym typeface="Calibri"/>
              </a:rPr>
              <a:t>: </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latin typeface="Calibri"/>
                <a:ea typeface="Calibri"/>
                <a:cs typeface="Calibri"/>
                <a:sym typeface="Calibri"/>
              </a:rPr>
              <a:t>(</a:t>
            </a:r>
            <a:r>
              <a:rPr lang="en-US">
                <a:solidFill>
                  <a:schemeClr val="dk1"/>
                </a:solidFill>
              </a:rPr>
              <a:t>1</a:t>
            </a:r>
            <a:r>
              <a:rPr lang="en-US">
                <a:solidFill>
                  <a:schemeClr val="dk1"/>
                </a:solidFill>
                <a:latin typeface="Calibri"/>
                <a:ea typeface="Calibri"/>
                <a:cs typeface="Calibri"/>
                <a:sym typeface="Calibri"/>
              </a:rPr>
              <a:t>) Rethink context switch </a:t>
            </a:r>
            <a:endParaRPr/>
          </a:p>
          <a:p>
            <a:pPr indent="-285750" lvl="1" marL="742950" rtl="0" algn="l">
              <a:lnSpc>
                <a:spcPct val="100000"/>
              </a:lnSpc>
              <a:spcBef>
                <a:spcPts val="0"/>
              </a:spcBef>
              <a:spcAft>
                <a:spcPts val="0"/>
              </a:spcAft>
              <a:buClr>
                <a:schemeClr val="dk1"/>
              </a:buClr>
              <a:buSzPts val="2400"/>
              <a:buFont typeface="Calibri"/>
              <a:buChar char="–"/>
            </a:pPr>
            <a:r>
              <a:rPr lang="en-US">
                <a:solidFill>
                  <a:schemeClr val="dk1"/>
                </a:solidFill>
                <a:latin typeface="Calibri"/>
                <a:ea typeface="Calibri"/>
                <a:cs typeface="Calibri"/>
                <a:sym typeface="Calibri"/>
              </a:rPr>
              <a:t>(2) Rethink process state diagram</a:t>
            </a:r>
            <a:endParaRPr/>
          </a:p>
        </p:txBody>
      </p:sp>
      <p:sp>
        <p:nvSpPr>
          <p:cNvPr id="507" name="Google Shape;507;p16"/>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17"/>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Main Memory Management</a:t>
            </a:r>
            <a:endParaRPr/>
          </a:p>
        </p:txBody>
      </p:sp>
      <p:sp>
        <p:nvSpPr>
          <p:cNvPr id="513" name="Google Shape;513;p17"/>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rgbClr val="333333"/>
              </a:buClr>
              <a:buSzPts val="2800"/>
              <a:buFont typeface="Calibri"/>
              <a:buChar char="•"/>
            </a:pPr>
            <a:r>
              <a:rPr lang="en-US"/>
              <a:t>Physical Memory</a:t>
            </a:r>
            <a:endParaRPr/>
          </a:p>
          <a:p>
            <a:pPr indent="-285750" lvl="1" marL="742950" rtl="0" algn="just">
              <a:lnSpc>
                <a:spcPct val="100000"/>
              </a:lnSpc>
              <a:spcBef>
                <a:spcPts val="0"/>
              </a:spcBef>
              <a:spcAft>
                <a:spcPts val="0"/>
              </a:spcAft>
              <a:buClr>
                <a:srgbClr val="333333"/>
              </a:buClr>
              <a:buSzPts val="2400"/>
              <a:buFont typeface="Calibri"/>
              <a:buChar char="–"/>
            </a:pPr>
            <a:r>
              <a:rPr lang="en-US"/>
              <a:t>Physical Memory Allocation (Buddy System)</a:t>
            </a:r>
            <a:endParaRPr/>
          </a:p>
          <a:p>
            <a:pPr indent="-285750" lvl="1" marL="742950" rtl="0" algn="just">
              <a:lnSpc>
                <a:spcPct val="100000"/>
              </a:lnSpc>
              <a:spcBef>
                <a:spcPts val="0"/>
              </a:spcBef>
              <a:spcAft>
                <a:spcPts val="0"/>
              </a:spcAft>
              <a:buClr>
                <a:srgbClr val="333333"/>
              </a:buClr>
              <a:buSzPts val="2400"/>
              <a:buFont typeface="Calibri"/>
              <a:buChar char="–"/>
            </a:pPr>
            <a:r>
              <a:rPr lang="en-US"/>
              <a:t>Slab Layer</a:t>
            </a:r>
            <a:endParaRPr/>
          </a:p>
          <a:p>
            <a:pPr indent="-342900" lvl="0" marL="342900" rtl="0" algn="just">
              <a:lnSpc>
                <a:spcPct val="100000"/>
              </a:lnSpc>
              <a:spcBef>
                <a:spcPts val="0"/>
              </a:spcBef>
              <a:spcAft>
                <a:spcPts val="0"/>
              </a:spcAft>
              <a:buClr>
                <a:srgbClr val="333333"/>
              </a:buClr>
              <a:buSzPts val="2800"/>
              <a:buFont typeface="Calibri"/>
              <a:buChar char="•"/>
            </a:pPr>
            <a:r>
              <a:rPr lang="en-US"/>
              <a:t>Virtual Memory</a:t>
            </a:r>
            <a:endParaRPr/>
          </a:p>
          <a:p>
            <a:pPr indent="-285750" lvl="1" marL="742950" rtl="0" algn="just">
              <a:lnSpc>
                <a:spcPct val="100000"/>
              </a:lnSpc>
              <a:spcBef>
                <a:spcPts val="0"/>
              </a:spcBef>
              <a:spcAft>
                <a:spcPts val="0"/>
              </a:spcAft>
              <a:buClr>
                <a:srgbClr val="333333"/>
              </a:buClr>
              <a:buSzPts val="2400"/>
              <a:buFont typeface="Calibri"/>
              <a:buChar char="–"/>
            </a:pPr>
            <a:r>
              <a:rPr lang="en-US"/>
              <a:t>Paging (Page Table Walk), Huge Page</a:t>
            </a:r>
            <a:endParaRPr/>
          </a:p>
          <a:p>
            <a:pPr indent="-285750" lvl="1" marL="742950" rtl="0" algn="just">
              <a:lnSpc>
                <a:spcPct val="100000"/>
              </a:lnSpc>
              <a:spcBef>
                <a:spcPts val="0"/>
              </a:spcBef>
              <a:spcAft>
                <a:spcPts val="0"/>
              </a:spcAft>
              <a:buClr>
                <a:srgbClr val="333333"/>
              </a:buClr>
              <a:buSzPts val="2400"/>
              <a:buFont typeface="Calibri"/>
              <a:buChar char="–"/>
            </a:pPr>
            <a:r>
              <a:rPr lang="en-US"/>
              <a:t>Page Fault Handler</a:t>
            </a:r>
            <a:endParaRPr/>
          </a:p>
          <a:p>
            <a:pPr indent="-285750" lvl="1" marL="742950" rtl="0" algn="just">
              <a:lnSpc>
                <a:spcPct val="100000"/>
              </a:lnSpc>
              <a:spcBef>
                <a:spcPts val="0"/>
              </a:spcBef>
              <a:spcAft>
                <a:spcPts val="0"/>
              </a:spcAft>
              <a:buClr>
                <a:srgbClr val="333333"/>
              </a:buClr>
              <a:buSzPts val="2400"/>
              <a:buFont typeface="Calibri"/>
              <a:buChar char="–"/>
            </a:pPr>
            <a:r>
              <a:rPr lang="en-US"/>
              <a:t>Page Replacement (LRU and others)</a:t>
            </a:r>
            <a:endParaRPr/>
          </a:p>
          <a:p>
            <a:pPr indent="-285750" lvl="1" marL="742950" rtl="0" algn="just">
              <a:lnSpc>
                <a:spcPct val="100000"/>
              </a:lnSpc>
              <a:spcBef>
                <a:spcPts val="0"/>
              </a:spcBef>
              <a:spcAft>
                <a:spcPts val="0"/>
              </a:spcAft>
              <a:buClr>
                <a:srgbClr val="333333"/>
              </a:buClr>
              <a:buSzPts val="2400"/>
              <a:buFont typeface="Calibri"/>
              <a:buChar char="–"/>
            </a:pPr>
            <a:r>
              <a:rPr lang="en-US"/>
              <a:t>Swapping</a:t>
            </a:r>
            <a:endParaRPr/>
          </a:p>
          <a:p>
            <a:pPr indent="-342900" lvl="0" marL="342900" rtl="0" algn="just">
              <a:lnSpc>
                <a:spcPct val="100000"/>
              </a:lnSpc>
              <a:spcBef>
                <a:spcPts val="0"/>
              </a:spcBef>
              <a:spcAft>
                <a:spcPts val="0"/>
              </a:spcAft>
              <a:buClr>
                <a:srgbClr val="333333"/>
              </a:buClr>
              <a:buSzPts val="2800"/>
              <a:buFont typeface="Calibri"/>
              <a:buChar char="•"/>
            </a:pPr>
            <a:r>
              <a:rPr lang="en-US"/>
              <a:t>Memory Hierarchy (Cache vs Memory vs Storage)</a:t>
            </a:r>
            <a:endParaRPr/>
          </a:p>
          <a:p>
            <a:pPr indent="-285750" lvl="1" marL="742950" rtl="0" algn="just">
              <a:lnSpc>
                <a:spcPct val="100000"/>
              </a:lnSpc>
              <a:spcBef>
                <a:spcPts val="0"/>
              </a:spcBef>
              <a:spcAft>
                <a:spcPts val="0"/>
              </a:spcAft>
              <a:buClr>
                <a:srgbClr val="333333"/>
              </a:buClr>
              <a:buSzPts val="2400"/>
              <a:buFont typeface="Calibri"/>
              <a:buChar char="–"/>
            </a:pPr>
            <a:r>
              <a:rPr lang="en-US"/>
              <a:t>Design concerns for each layer</a:t>
            </a:r>
            <a:endParaRPr/>
          </a:p>
          <a:p>
            <a:pPr indent="-285750" lvl="1" marL="742950" rtl="0" algn="just">
              <a:lnSpc>
                <a:spcPct val="100000"/>
              </a:lnSpc>
              <a:spcBef>
                <a:spcPts val="0"/>
              </a:spcBef>
              <a:spcAft>
                <a:spcPts val="0"/>
              </a:spcAft>
              <a:buClr>
                <a:srgbClr val="333333"/>
              </a:buClr>
              <a:buSzPts val="2400"/>
              <a:buFont typeface="Calibri"/>
              <a:buChar char="–"/>
            </a:pPr>
            <a:r>
              <a:rPr lang="en-US"/>
              <a:t>Non-Uniform Memory Access (NUMA)</a:t>
            </a:r>
            <a:endParaRPr/>
          </a:p>
          <a:p>
            <a:pPr indent="-342900" lvl="0" marL="342900" rtl="0" algn="just">
              <a:lnSpc>
                <a:spcPct val="100000"/>
              </a:lnSpc>
              <a:spcBef>
                <a:spcPts val="0"/>
              </a:spcBef>
              <a:spcAft>
                <a:spcPts val="0"/>
              </a:spcAft>
              <a:buClr>
                <a:srgbClr val="333333"/>
              </a:buClr>
              <a:buSzPts val="2800"/>
              <a:buFont typeface="Calibri"/>
              <a:buChar char="•"/>
            </a:pPr>
            <a:r>
              <a:rPr lang="en-US"/>
              <a:t>Advance Research Topics: </a:t>
            </a:r>
            <a:endParaRPr/>
          </a:p>
          <a:p>
            <a:pPr indent="-285750" lvl="1" marL="742950" rtl="0" algn="just">
              <a:lnSpc>
                <a:spcPct val="100000"/>
              </a:lnSpc>
              <a:spcBef>
                <a:spcPts val="0"/>
              </a:spcBef>
              <a:spcAft>
                <a:spcPts val="0"/>
              </a:spcAft>
              <a:buClr>
                <a:srgbClr val="333333"/>
              </a:buClr>
              <a:buSzPts val="2400"/>
              <a:buFont typeface="Calibri"/>
              <a:buChar char="–"/>
            </a:pPr>
            <a:r>
              <a:rPr lang="en-US"/>
              <a:t>(1) Main Memory Extension</a:t>
            </a:r>
            <a:endParaRPr/>
          </a:p>
          <a:p>
            <a:pPr indent="-285750" lvl="1" marL="742950" rtl="0" algn="just">
              <a:lnSpc>
                <a:spcPct val="100000"/>
              </a:lnSpc>
              <a:spcBef>
                <a:spcPts val="0"/>
              </a:spcBef>
              <a:spcAft>
                <a:spcPts val="0"/>
              </a:spcAft>
              <a:buClr>
                <a:srgbClr val="333333"/>
              </a:buClr>
              <a:buSzPts val="2400"/>
              <a:buFont typeface="Calibri"/>
              <a:buChar char="–"/>
            </a:pPr>
            <a:r>
              <a:rPr lang="en-US"/>
              <a:t>(2) Rethink page size </a:t>
            </a:r>
            <a:endParaRPr/>
          </a:p>
          <a:p>
            <a:pPr indent="-285750" lvl="1" marL="742950" rtl="0" algn="just">
              <a:lnSpc>
                <a:spcPct val="100000"/>
              </a:lnSpc>
              <a:spcBef>
                <a:spcPts val="0"/>
              </a:spcBef>
              <a:spcAft>
                <a:spcPts val="0"/>
              </a:spcAft>
              <a:buClr>
                <a:srgbClr val="333333"/>
              </a:buClr>
              <a:buSzPts val="2400"/>
              <a:buFont typeface="Calibri"/>
              <a:buChar char="–"/>
            </a:pPr>
            <a:r>
              <a:rPr lang="en-US"/>
              <a:t>(3) Rethink page fault handler</a:t>
            </a:r>
            <a:endParaRPr/>
          </a:p>
        </p:txBody>
      </p:sp>
      <p:sp>
        <p:nvSpPr>
          <p:cNvPr id="514" name="Google Shape;514;p17"/>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15" name="Google Shape;515;p17"/>
          <p:cNvSpPr txBox="1"/>
          <p:nvPr/>
        </p:nvSpPr>
        <p:spPr>
          <a:xfrm>
            <a:off x="0" y="6598099"/>
            <a:ext cx="5598777"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BFBFBF"/>
                </a:solidFill>
                <a:latin typeface="Calibri"/>
                <a:ea typeface="Calibri"/>
                <a:cs typeface="Calibri"/>
                <a:sym typeface="Calibri"/>
              </a:rPr>
              <a:t>[1] Mauerer, Wolfgang. Professional Linux kernel architecture. John Wiley &amp; Sons, 2010</a:t>
            </a:r>
            <a:endParaRPr sz="1200">
              <a:solidFill>
                <a:srgbClr val="BFBFBF"/>
              </a:solidFill>
              <a:latin typeface="Calibri"/>
              <a:ea typeface="Calibri"/>
              <a:cs typeface="Calibri"/>
              <a:sym typeface="Calibri"/>
            </a:endParaRPr>
          </a:p>
        </p:txBody>
      </p:sp>
      <p:grpSp>
        <p:nvGrpSpPr>
          <p:cNvPr id="516" name="Google Shape;516;p17"/>
          <p:cNvGrpSpPr/>
          <p:nvPr/>
        </p:nvGrpSpPr>
        <p:grpSpPr>
          <a:xfrm>
            <a:off x="7926939" y="4237168"/>
            <a:ext cx="2819400" cy="2265388"/>
            <a:chOff x="7926939" y="4237168"/>
            <a:chExt cx="2819400" cy="2265388"/>
          </a:xfrm>
        </p:grpSpPr>
        <p:sp>
          <p:nvSpPr>
            <p:cNvPr id="517" name="Google Shape;517;p17"/>
            <p:cNvSpPr/>
            <p:nvPr/>
          </p:nvSpPr>
          <p:spPr>
            <a:xfrm>
              <a:off x="7926939" y="4263962"/>
              <a:ext cx="2819400" cy="2196710"/>
            </a:xfrm>
            <a:prstGeom prst="triangle">
              <a:avLst>
                <a:gd fmla="val 50000" name="adj"/>
              </a:avLst>
            </a:prstGeom>
            <a:solidFill>
              <a:srgbClr val="2E75B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8" name="Google Shape;518;p17"/>
            <p:cNvSpPr/>
            <p:nvPr/>
          </p:nvSpPr>
          <p:spPr>
            <a:xfrm>
              <a:off x="8331584" y="4237168"/>
              <a:ext cx="2068348" cy="1605134"/>
            </a:xfrm>
            <a:custGeom>
              <a:rect b="b" l="l" r="r" t="t"/>
              <a:pathLst>
                <a:path extrusionOk="0" h="1025021" w="2068348">
                  <a:moveTo>
                    <a:pt x="0" y="1015531"/>
                  </a:moveTo>
                  <a:lnTo>
                    <a:pt x="1025022" y="0"/>
                  </a:lnTo>
                  <a:lnTo>
                    <a:pt x="2068348" y="1025021"/>
                  </a:lnTo>
                  <a:lnTo>
                    <a:pt x="0" y="1015531"/>
                  </a:lnTo>
                  <a:close/>
                </a:path>
              </a:pathLst>
            </a:custGeom>
            <a:solidFill>
              <a:srgbClr val="9CC2E5"/>
            </a:solidFill>
            <a:ln cap="flat" cmpd="sng" w="571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19" name="Google Shape;519;p17"/>
            <p:cNvSpPr/>
            <p:nvPr/>
          </p:nvSpPr>
          <p:spPr>
            <a:xfrm>
              <a:off x="8311616" y="4272059"/>
              <a:ext cx="2068348" cy="1605134"/>
            </a:xfrm>
            <a:custGeom>
              <a:rect b="b" l="l" r="r" t="t"/>
              <a:pathLst>
                <a:path extrusionOk="0" h="1025021" w="2068348">
                  <a:moveTo>
                    <a:pt x="0" y="1015531"/>
                  </a:moveTo>
                  <a:lnTo>
                    <a:pt x="1025022" y="0"/>
                  </a:lnTo>
                  <a:lnTo>
                    <a:pt x="2068348" y="1025021"/>
                  </a:lnTo>
                  <a:lnTo>
                    <a:pt x="0" y="1015531"/>
                  </a:lnTo>
                  <a:close/>
                </a:path>
              </a:pathLst>
            </a:custGeom>
            <a:solidFill>
              <a:srgbClr val="9CC2E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0" name="Google Shape;520;p17"/>
            <p:cNvSpPr/>
            <p:nvPr/>
          </p:nvSpPr>
          <p:spPr>
            <a:xfrm>
              <a:off x="8492440" y="4249911"/>
              <a:ext cx="1696313" cy="1342214"/>
            </a:xfrm>
            <a:custGeom>
              <a:rect b="b" l="l" r="r" t="t"/>
              <a:pathLst>
                <a:path extrusionOk="0" h="893352" w="1696313">
                  <a:moveTo>
                    <a:pt x="0" y="883861"/>
                  </a:moveTo>
                  <a:lnTo>
                    <a:pt x="850211" y="0"/>
                  </a:lnTo>
                  <a:lnTo>
                    <a:pt x="1696313" y="893352"/>
                  </a:lnTo>
                  <a:lnTo>
                    <a:pt x="0" y="883861"/>
                  </a:lnTo>
                  <a:close/>
                </a:path>
              </a:pathLst>
            </a:custGeom>
            <a:solidFill>
              <a:srgbClr val="9CC2E5"/>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21" name="Google Shape;521;p17"/>
            <p:cNvGrpSpPr/>
            <p:nvPr/>
          </p:nvGrpSpPr>
          <p:grpSpPr>
            <a:xfrm>
              <a:off x="8787042" y="4260486"/>
              <a:ext cx="1117007" cy="929039"/>
              <a:chOff x="9718857" y="1048313"/>
              <a:chExt cx="1117007" cy="929039"/>
            </a:xfrm>
          </p:grpSpPr>
          <p:sp>
            <p:nvSpPr>
              <p:cNvPr id="522" name="Google Shape;522;p17"/>
              <p:cNvSpPr/>
              <p:nvPr/>
            </p:nvSpPr>
            <p:spPr>
              <a:xfrm>
                <a:off x="9718857" y="1048313"/>
                <a:ext cx="1117007" cy="929039"/>
              </a:xfrm>
              <a:custGeom>
                <a:rect b="b" l="l" r="r" t="t"/>
                <a:pathLst>
                  <a:path extrusionOk="0" h="929039" w="1117007">
                    <a:moveTo>
                      <a:pt x="0" y="913936"/>
                    </a:moveTo>
                    <a:lnTo>
                      <a:pt x="549596" y="0"/>
                    </a:lnTo>
                    <a:lnTo>
                      <a:pt x="1117007" y="929039"/>
                    </a:lnTo>
                    <a:lnTo>
                      <a:pt x="0" y="913936"/>
                    </a:lnTo>
                    <a:close/>
                  </a:path>
                </a:pathLst>
              </a:custGeom>
              <a:solidFill>
                <a:srgbClr val="BBD6EE"/>
              </a:solidFill>
              <a:ln cap="flat" cmpd="sng" w="1905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523" name="Google Shape;523;p17"/>
              <p:cNvSpPr txBox="1"/>
              <p:nvPr/>
            </p:nvSpPr>
            <p:spPr>
              <a:xfrm>
                <a:off x="9949500" y="1418150"/>
                <a:ext cx="652743"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Cache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(SRAM)</a:t>
                </a:r>
                <a:endParaRPr sz="1200">
                  <a:solidFill>
                    <a:schemeClr val="dk1"/>
                  </a:solidFill>
                  <a:latin typeface="Calibri"/>
                  <a:ea typeface="Calibri"/>
                  <a:cs typeface="Calibri"/>
                  <a:sym typeface="Calibri"/>
                </a:endParaRPr>
              </a:p>
            </p:txBody>
          </p:sp>
        </p:grpSp>
        <p:sp>
          <p:nvSpPr>
            <p:cNvPr id="524" name="Google Shape;524;p17"/>
            <p:cNvSpPr txBox="1"/>
            <p:nvPr/>
          </p:nvSpPr>
          <p:spPr>
            <a:xfrm>
              <a:off x="8931630" y="6040891"/>
              <a:ext cx="86825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Storage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(HDD, SSD)</a:t>
              </a:r>
              <a:endParaRPr sz="1200">
                <a:solidFill>
                  <a:schemeClr val="dk1"/>
                </a:solidFill>
                <a:latin typeface="Calibri"/>
                <a:ea typeface="Calibri"/>
                <a:cs typeface="Calibri"/>
                <a:sym typeface="Calibri"/>
              </a:endParaRPr>
            </a:p>
          </p:txBody>
        </p:sp>
        <p:sp>
          <p:nvSpPr>
            <p:cNvPr id="525" name="Google Shape;525;p17"/>
            <p:cNvSpPr txBox="1"/>
            <p:nvPr/>
          </p:nvSpPr>
          <p:spPr>
            <a:xfrm>
              <a:off x="9063431" y="5592125"/>
              <a:ext cx="60465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NUMA</a:t>
              </a:r>
              <a:endParaRPr sz="1200">
                <a:solidFill>
                  <a:schemeClr val="dk1"/>
                </a:solidFill>
                <a:latin typeface="Calibri"/>
                <a:ea typeface="Calibri"/>
                <a:cs typeface="Calibri"/>
                <a:sym typeface="Calibri"/>
              </a:endParaRPr>
            </a:p>
          </p:txBody>
        </p:sp>
        <p:sp>
          <p:nvSpPr>
            <p:cNvPr id="526" name="Google Shape;526;p17"/>
            <p:cNvSpPr txBox="1"/>
            <p:nvPr/>
          </p:nvSpPr>
          <p:spPr>
            <a:xfrm>
              <a:off x="9005339" y="5146976"/>
              <a:ext cx="720838"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Memory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(DRAM)</a:t>
              </a:r>
              <a:endParaRPr sz="1200">
                <a:solidFill>
                  <a:schemeClr val="dk1"/>
                </a:solidFill>
                <a:latin typeface="Calibri"/>
                <a:ea typeface="Calibri"/>
                <a:cs typeface="Calibri"/>
                <a:sym typeface="Calibri"/>
              </a:endParaRPr>
            </a:p>
          </p:txBody>
        </p:sp>
        <p:cxnSp>
          <p:nvCxnSpPr>
            <p:cNvPr id="527" name="Google Shape;527;p17"/>
            <p:cNvCxnSpPr/>
            <p:nvPr/>
          </p:nvCxnSpPr>
          <p:spPr>
            <a:xfrm>
              <a:off x="10496468" y="5777829"/>
              <a:ext cx="0" cy="182590"/>
            </a:xfrm>
            <a:prstGeom prst="straightConnector1">
              <a:avLst/>
            </a:prstGeom>
            <a:noFill/>
            <a:ln cap="flat" cmpd="sng" w="19050">
              <a:solidFill>
                <a:schemeClr val="accent1"/>
              </a:solidFill>
              <a:prstDash val="solid"/>
              <a:miter lim="800000"/>
              <a:headEnd len="med" w="med" type="stealth"/>
              <a:tailEnd len="med" w="med" type="stealth"/>
            </a:ln>
          </p:spPr>
        </p:cxnSp>
      </p:grpSp>
      <p:sp>
        <p:nvSpPr>
          <p:cNvPr id="528" name="Google Shape;528;p17"/>
          <p:cNvSpPr txBox="1"/>
          <p:nvPr/>
        </p:nvSpPr>
        <p:spPr>
          <a:xfrm>
            <a:off x="6753877" y="3645297"/>
            <a:ext cx="221746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C00000"/>
                </a:solidFill>
                <a:latin typeface="Calibri"/>
                <a:ea typeface="Calibri"/>
                <a:cs typeface="Calibri"/>
                <a:sym typeface="Calibri"/>
              </a:rPr>
              <a:t>Virtual Address Space</a:t>
            </a:r>
            <a:endParaRPr sz="1800">
              <a:solidFill>
                <a:srgbClr val="C00000"/>
              </a:solidFill>
              <a:latin typeface="Calibri"/>
              <a:ea typeface="Calibri"/>
              <a:cs typeface="Calibri"/>
              <a:sym typeface="Calibri"/>
            </a:endParaRPr>
          </a:p>
        </p:txBody>
      </p:sp>
      <p:sp>
        <p:nvSpPr>
          <p:cNvPr id="529" name="Google Shape;529;p17"/>
          <p:cNvSpPr txBox="1"/>
          <p:nvPr/>
        </p:nvSpPr>
        <p:spPr>
          <a:xfrm>
            <a:off x="9942181" y="3645641"/>
            <a:ext cx="2217466" cy="369332"/>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rgbClr val="C00000"/>
                </a:solidFill>
                <a:latin typeface="Calibri"/>
                <a:ea typeface="Calibri"/>
                <a:cs typeface="Calibri"/>
                <a:sym typeface="Calibri"/>
              </a:rPr>
              <a:t>Virtual Address Space</a:t>
            </a:r>
            <a:endParaRPr sz="1800">
              <a:solidFill>
                <a:srgbClr val="C00000"/>
              </a:solidFill>
              <a:latin typeface="Calibri"/>
              <a:ea typeface="Calibri"/>
              <a:cs typeface="Calibri"/>
              <a:sym typeface="Calibri"/>
            </a:endParaRPr>
          </a:p>
        </p:txBody>
      </p:sp>
      <p:grpSp>
        <p:nvGrpSpPr>
          <p:cNvPr id="530" name="Google Shape;530;p17"/>
          <p:cNvGrpSpPr/>
          <p:nvPr/>
        </p:nvGrpSpPr>
        <p:grpSpPr>
          <a:xfrm>
            <a:off x="7535431" y="1262893"/>
            <a:ext cx="5398436" cy="2467443"/>
            <a:chOff x="7345412" y="2759075"/>
            <a:chExt cx="4530466" cy="1747937"/>
          </a:xfrm>
        </p:grpSpPr>
        <p:pic>
          <p:nvPicPr>
            <p:cNvPr id="531" name="Google Shape;531;p17"/>
            <p:cNvPicPr preferRelativeResize="0"/>
            <p:nvPr/>
          </p:nvPicPr>
          <p:blipFill rotWithShape="1">
            <a:blip r:embed="rId3">
              <a:alphaModFix/>
            </a:blip>
            <a:srcRect b="0" l="0" r="0" t="0"/>
            <a:stretch/>
          </p:blipFill>
          <p:spPr>
            <a:xfrm>
              <a:off x="7345412" y="2987925"/>
              <a:ext cx="4392143" cy="1519087"/>
            </a:xfrm>
            <a:prstGeom prst="rect">
              <a:avLst/>
            </a:prstGeom>
            <a:noFill/>
            <a:ln>
              <a:noFill/>
            </a:ln>
          </p:spPr>
        </p:pic>
        <p:sp>
          <p:nvSpPr>
            <p:cNvPr id="532" name="Google Shape;532;p17"/>
            <p:cNvSpPr/>
            <p:nvPr/>
          </p:nvSpPr>
          <p:spPr>
            <a:xfrm>
              <a:off x="10961478" y="2759075"/>
              <a:ext cx="914400" cy="914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sp>
        <p:nvSpPr>
          <p:cNvPr id="533" name="Google Shape;533;p17"/>
          <p:cNvSpPr txBox="1"/>
          <p:nvPr/>
        </p:nvSpPr>
        <p:spPr>
          <a:xfrm>
            <a:off x="8890540" y="1184101"/>
            <a:ext cx="183216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F5496"/>
                </a:solidFill>
                <a:latin typeface="Calibri"/>
                <a:ea typeface="Calibri"/>
                <a:cs typeface="Calibri"/>
                <a:sym typeface="Calibri"/>
              </a:rPr>
              <a:t>Page Frame (4KB)</a:t>
            </a:r>
            <a:endParaRPr sz="1800">
              <a:solidFill>
                <a:srgbClr val="2F5496"/>
              </a:solidFill>
              <a:latin typeface="Calibri"/>
              <a:ea typeface="Calibri"/>
              <a:cs typeface="Calibri"/>
              <a:sym typeface="Calibri"/>
            </a:endParaRPr>
          </a:p>
        </p:txBody>
      </p:sp>
      <p:cxnSp>
        <p:nvCxnSpPr>
          <p:cNvPr id="534" name="Google Shape;534;p17"/>
          <p:cNvCxnSpPr/>
          <p:nvPr/>
        </p:nvCxnSpPr>
        <p:spPr>
          <a:xfrm>
            <a:off x="9459641" y="1495683"/>
            <a:ext cx="173" cy="219384"/>
          </a:xfrm>
          <a:prstGeom prst="straightConnector1">
            <a:avLst/>
          </a:prstGeom>
          <a:noFill/>
          <a:ln cap="flat" cmpd="sng" w="25400">
            <a:solidFill>
              <a:srgbClr val="2F5496"/>
            </a:solidFill>
            <a:prstDash val="solid"/>
            <a:miter lim="800000"/>
            <a:headEnd len="sm" w="sm" type="none"/>
            <a:tailEnd len="sm" w="sm" type="none"/>
          </a:ln>
        </p:spPr>
      </p:cxnSp>
      <p:grpSp>
        <p:nvGrpSpPr>
          <p:cNvPr id="535" name="Google Shape;535;p17"/>
          <p:cNvGrpSpPr/>
          <p:nvPr/>
        </p:nvGrpSpPr>
        <p:grpSpPr>
          <a:xfrm>
            <a:off x="7638210" y="1184101"/>
            <a:ext cx="631455" cy="475824"/>
            <a:chOff x="6662281" y="2699762"/>
            <a:chExt cx="631455" cy="475824"/>
          </a:xfrm>
        </p:grpSpPr>
        <p:sp>
          <p:nvSpPr>
            <p:cNvPr id="536" name="Google Shape;536;p17"/>
            <p:cNvSpPr txBox="1"/>
            <p:nvPr/>
          </p:nvSpPr>
          <p:spPr>
            <a:xfrm>
              <a:off x="6662281" y="2699762"/>
              <a:ext cx="631455"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F5496"/>
                  </a:solidFill>
                  <a:latin typeface="Calibri"/>
                  <a:ea typeface="Calibri"/>
                  <a:cs typeface="Calibri"/>
                  <a:sym typeface="Calibri"/>
                </a:rPr>
                <a:t>Page</a:t>
              </a:r>
              <a:endParaRPr sz="1800">
                <a:solidFill>
                  <a:srgbClr val="2F5496"/>
                </a:solidFill>
                <a:latin typeface="Calibri"/>
                <a:ea typeface="Calibri"/>
                <a:cs typeface="Calibri"/>
                <a:sym typeface="Calibri"/>
              </a:endParaRPr>
            </a:p>
          </p:txBody>
        </p:sp>
        <p:cxnSp>
          <p:nvCxnSpPr>
            <p:cNvPr id="537" name="Google Shape;537;p17"/>
            <p:cNvCxnSpPr/>
            <p:nvPr/>
          </p:nvCxnSpPr>
          <p:spPr>
            <a:xfrm>
              <a:off x="6978009" y="3011344"/>
              <a:ext cx="0" cy="164242"/>
            </a:xfrm>
            <a:prstGeom prst="straightConnector1">
              <a:avLst/>
            </a:prstGeom>
            <a:noFill/>
            <a:ln cap="flat" cmpd="sng" w="25400">
              <a:solidFill>
                <a:srgbClr val="2F5496"/>
              </a:solidFill>
              <a:prstDash val="solid"/>
              <a:miter lim="800000"/>
              <a:headEnd len="sm" w="sm" type="none"/>
              <a:tailEnd len="sm" w="sm" type="none"/>
            </a:ln>
          </p:spPr>
        </p:cxnSp>
      </p:grpSp>
      <p:sp>
        <p:nvSpPr>
          <p:cNvPr id="538" name="Google Shape;538;p17"/>
          <p:cNvSpPr txBox="1"/>
          <p:nvPr/>
        </p:nvSpPr>
        <p:spPr>
          <a:xfrm>
            <a:off x="8318447" y="3066244"/>
            <a:ext cx="233095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C00000"/>
                </a:solidFill>
                <a:latin typeface="Calibri"/>
                <a:ea typeface="Calibri"/>
                <a:cs typeface="Calibri"/>
                <a:sym typeface="Calibri"/>
              </a:rPr>
              <a:t>Physical Address Space</a:t>
            </a:r>
            <a:endParaRPr sz="1800">
              <a:solidFill>
                <a:srgbClr val="C00000"/>
              </a:solidFill>
              <a:latin typeface="Calibri"/>
              <a:ea typeface="Calibri"/>
              <a:cs typeface="Calibri"/>
              <a:sym typeface="Calibri"/>
            </a:endParaRPr>
          </a:p>
        </p:txBody>
      </p:sp>
      <p:sp>
        <p:nvSpPr>
          <p:cNvPr id="539" name="Google Shape;539;p17"/>
          <p:cNvSpPr/>
          <p:nvPr/>
        </p:nvSpPr>
        <p:spPr>
          <a:xfrm>
            <a:off x="9837217" y="2449500"/>
            <a:ext cx="720000" cy="24706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pSp>
        <p:nvGrpSpPr>
          <p:cNvPr id="540" name="Google Shape;540;p17"/>
          <p:cNvGrpSpPr/>
          <p:nvPr/>
        </p:nvGrpSpPr>
        <p:grpSpPr>
          <a:xfrm>
            <a:off x="8267150" y="1109279"/>
            <a:ext cx="679610" cy="727613"/>
            <a:chOff x="6662281" y="2447973"/>
            <a:chExt cx="679610" cy="727613"/>
          </a:xfrm>
        </p:grpSpPr>
        <p:sp>
          <p:nvSpPr>
            <p:cNvPr id="541" name="Google Shape;541;p17"/>
            <p:cNvSpPr txBox="1"/>
            <p:nvPr/>
          </p:nvSpPr>
          <p:spPr>
            <a:xfrm>
              <a:off x="6662281" y="2447973"/>
              <a:ext cx="67961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2F5496"/>
                  </a:solidFill>
                  <a:latin typeface="Calibri"/>
                  <a:ea typeface="Calibri"/>
                  <a:cs typeface="Calibri"/>
                  <a:sym typeface="Calibri"/>
                </a:rPr>
                <a:t>Page</a:t>
              </a:r>
              <a:endParaRPr/>
            </a:p>
            <a:p>
              <a:pPr indent="0" lvl="0" marL="0" marR="0" rtl="0" algn="l">
                <a:spcBef>
                  <a:spcPts val="0"/>
                </a:spcBef>
                <a:spcAft>
                  <a:spcPts val="0"/>
                </a:spcAft>
                <a:buNone/>
              </a:pPr>
              <a:r>
                <a:rPr lang="en-US" sz="1800">
                  <a:solidFill>
                    <a:srgbClr val="2F5496"/>
                  </a:solidFill>
                  <a:latin typeface="Calibri"/>
                  <a:ea typeface="Calibri"/>
                  <a:cs typeface="Calibri"/>
                  <a:sym typeface="Calibri"/>
                </a:rPr>
                <a:t>Table</a:t>
              </a:r>
              <a:endParaRPr sz="1800">
                <a:solidFill>
                  <a:srgbClr val="2F5496"/>
                </a:solidFill>
                <a:latin typeface="Calibri"/>
                <a:ea typeface="Calibri"/>
                <a:cs typeface="Calibri"/>
                <a:sym typeface="Calibri"/>
              </a:endParaRPr>
            </a:p>
          </p:txBody>
        </p:sp>
        <p:cxnSp>
          <p:nvCxnSpPr>
            <p:cNvPr id="542" name="Google Shape;542;p17"/>
            <p:cNvCxnSpPr/>
            <p:nvPr/>
          </p:nvCxnSpPr>
          <p:spPr>
            <a:xfrm>
              <a:off x="6978009" y="3011344"/>
              <a:ext cx="0" cy="164242"/>
            </a:xfrm>
            <a:prstGeom prst="straightConnector1">
              <a:avLst/>
            </a:prstGeom>
            <a:noFill/>
            <a:ln cap="flat" cmpd="sng" w="25400">
              <a:solidFill>
                <a:srgbClr val="2F5496"/>
              </a:solidFill>
              <a:prstDash val="solid"/>
              <a:miter lim="800000"/>
              <a:headEnd len="sm" w="sm" type="none"/>
              <a:tailEnd len="sm" w="sm"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500"/>
                                        <p:tgtEl>
                                          <p:spTgt spid="5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18"/>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I/O Devices &amp; I/O Systems</a:t>
            </a:r>
            <a:endParaRPr/>
          </a:p>
        </p:txBody>
      </p:sp>
      <p:sp>
        <p:nvSpPr>
          <p:cNvPr id="549" name="Google Shape;549;p18"/>
          <p:cNvSpPr txBox="1"/>
          <p:nvPr>
            <p:ph idx="1" type="body"/>
          </p:nvPr>
        </p:nvSpPr>
        <p:spPr>
          <a:xfrm>
            <a:off x="177800" y="1226375"/>
            <a:ext cx="11836400" cy="6171953"/>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rgbClr val="333333"/>
              </a:buClr>
              <a:buSzPts val="2800"/>
              <a:buFont typeface="Calibri"/>
              <a:buChar char="•"/>
            </a:pPr>
            <a:r>
              <a:rPr lang="en-US"/>
              <a:t>How data stored in I/O devices:</a:t>
            </a:r>
            <a:endParaRPr/>
          </a:p>
          <a:p>
            <a:pPr indent="-285750" lvl="1" marL="742950" rtl="0" algn="just">
              <a:lnSpc>
                <a:spcPct val="100000"/>
              </a:lnSpc>
              <a:spcBef>
                <a:spcPts val="0"/>
              </a:spcBef>
              <a:spcAft>
                <a:spcPts val="0"/>
              </a:spcAft>
              <a:buClr>
                <a:srgbClr val="333333"/>
              </a:buClr>
              <a:buSzPts val="2400"/>
              <a:buFont typeface="Calibri"/>
              <a:buChar char="–"/>
            </a:pPr>
            <a:r>
              <a:rPr lang="en-US"/>
              <a:t>NAND-Flash-based </a:t>
            </a:r>
            <a:r>
              <a:rPr lang="en-US" u="sng"/>
              <a:t>S</a:t>
            </a:r>
            <a:r>
              <a:rPr lang="en-US"/>
              <a:t>olid </a:t>
            </a:r>
            <a:r>
              <a:rPr lang="en-US" u="sng"/>
              <a:t>S</a:t>
            </a:r>
            <a:r>
              <a:rPr lang="en-US"/>
              <a:t>tate </a:t>
            </a:r>
            <a:r>
              <a:rPr lang="en-US" u="sng"/>
              <a:t>D</a:t>
            </a:r>
            <a:r>
              <a:rPr lang="en-US"/>
              <a:t>rive (SSD)</a:t>
            </a:r>
            <a:endParaRPr/>
          </a:p>
          <a:p>
            <a:pPr indent="-285750" lvl="1" marL="742950" rtl="0" algn="just">
              <a:lnSpc>
                <a:spcPct val="100000"/>
              </a:lnSpc>
              <a:spcBef>
                <a:spcPts val="0"/>
              </a:spcBef>
              <a:spcAft>
                <a:spcPts val="0"/>
              </a:spcAft>
              <a:buClr>
                <a:srgbClr val="333333"/>
              </a:buClr>
              <a:buSzPts val="2400"/>
              <a:buFont typeface="Calibri"/>
              <a:buChar char="–"/>
            </a:pPr>
            <a:r>
              <a:rPr lang="en-US" u="sng"/>
              <a:t>H</a:t>
            </a:r>
            <a:r>
              <a:rPr lang="en-US"/>
              <a:t>ard </a:t>
            </a:r>
            <a:r>
              <a:rPr lang="en-US" u="sng"/>
              <a:t>D</a:t>
            </a:r>
            <a:r>
              <a:rPr lang="en-US"/>
              <a:t>isk </a:t>
            </a:r>
            <a:r>
              <a:rPr lang="en-US" u="sng"/>
              <a:t>D</a:t>
            </a:r>
            <a:r>
              <a:rPr lang="en-US"/>
              <a:t>rive (HDD)</a:t>
            </a:r>
            <a:endParaRPr/>
          </a:p>
          <a:p>
            <a:pPr indent="-285750" lvl="1" marL="742950" rtl="0" algn="just">
              <a:lnSpc>
                <a:spcPct val="100000"/>
              </a:lnSpc>
              <a:spcBef>
                <a:spcPts val="0"/>
              </a:spcBef>
              <a:spcAft>
                <a:spcPts val="0"/>
              </a:spcAft>
              <a:buClr>
                <a:srgbClr val="333333"/>
              </a:buClr>
              <a:buSzPts val="2400"/>
              <a:buFont typeface="Calibri"/>
              <a:buChar char="–"/>
            </a:pPr>
            <a:r>
              <a:rPr lang="en-US" u="sng"/>
              <a:t>S</a:t>
            </a:r>
            <a:r>
              <a:rPr lang="en-US"/>
              <a:t>hingled </a:t>
            </a:r>
            <a:r>
              <a:rPr lang="en-US" u="sng"/>
              <a:t>M</a:t>
            </a:r>
            <a:r>
              <a:rPr lang="en-US"/>
              <a:t>agnetic </a:t>
            </a:r>
            <a:r>
              <a:rPr lang="en-US" u="sng"/>
              <a:t>D</a:t>
            </a:r>
            <a:r>
              <a:rPr lang="en-US"/>
              <a:t>rive (SMR)</a:t>
            </a:r>
            <a:endParaRPr/>
          </a:p>
          <a:p>
            <a:pPr indent="-342900" lvl="0" marL="342900" rtl="0" algn="just">
              <a:lnSpc>
                <a:spcPct val="100000"/>
              </a:lnSpc>
              <a:spcBef>
                <a:spcPts val="0"/>
              </a:spcBef>
              <a:spcAft>
                <a:spcPts val="0"/>
              </a:spcAft>
              <a:buClr>
                <a:srgbClr val="333333"/>
              </a:buClr>
              <a:buSzPts val="2800"/>
              <a:buFont typeface="Calibri"/>
              <a:buChar char="•"/>
            </a:pPr>
            <a:r>
              <a:rPr lang="en-US"/>
              <a:t>Device Driver</a:t>
            </a:r>
            <a:endParaRPr/>
          </a:p>
          <a:p>
            <a:pPr indent="-285750" lvl="1" marL="742950" rtl="0" algn="just">
              <a:lnSpc>
                <a:spcPct val="100000"/>
              </a:lnSpc>
              <a:spcBef>
                <a:spcPts val="0"/>
              </a:spcBef>
              <a:spcAft>
                <a:spcPts val="0"/>
              </a:spcAft>
              <a:buClr>
                <a:srgbClr val="333333"/>
              </a:buClr>
              <a:buSzPts val="2400"/>
              <a:buFont typeface="Calibri"/>
              <a:buChar char="–"/>
            </a:pPr>
            <a:r>
              <a:rPr lang="en-US"/>
              <a:t>More about interrupts: Top-Halves vs Bottom-Halves</a:t>
            </a:r>
            <a:endParaRPr/>
          </a:p>
          <a:p>
            <a:pPr indent="-285750" lvl="1" marL="742950" rtl="0" algn="just">
              <a:lnSpc>
                <a:spcPct val="100000"/>
              </a:lnSpc>
              <a:spcBef>
                <a:spcPts val="0"/>
              </a:spcBef>
              <a:spcAft>
                <a:spcPts val="0"/>
              </a:spcAft>
              <a:buClr>
                <a:srgbClr val="333333"/>
              </a:buClr>
              <a:buSzPts val="2400"/>
              <a:buFont typeface="Calibri"/>
              <a:buChar char="–"/>
            </a:pPr>
            <a:r>
              <a:rPr lang="en-US"/>
              <a:t>How to write a device driver</a:t>
            </a:r>
            <a:endParaRPr/>
          </a:p>
          <a:p>
            <a:pPr indent="-342900" lvl="0" marL="342900" rtl="0" algn="just">
              <a:lnSpc>
                <a:spcPct val="100000"/>
              </a:lnSpc>
              <a:spcBef>
                <a:spcPts val="0"/>
              </a:spcBef>
              <a:spcAft>
                <a:spcPts val="0"/>
              </a:spcAft>
              <a:buClr>
                <a:srgbClr val="333333"/>
              </a:buClr>
              <a:buSzPts val="2800"/>
              <a:buFont typeface="Calibri"/>
              <a:buChar char="•"/>
            </a:pPr>
            <a:r>
              <a:rPr lang="en-US"/>
              <a:t>Block I/O Layer</a:t>
            </a:r>
            <a:endParaRPr/>
          </a:p>
          <a:p>
            <a:pPr indent="-285750" lvl="1" marL="742950" rtl="0" algn="just">
              <a:lnSpc>
                <a:spcPct val="100000"/>
              </a:lnSpc>
              <a:spcBef>
                <a:spcPts val="0"/>
              </a:spcBef>
              <a:spcAft>
                <a:spcPts val="0"/>
              </a:spcAft>
              <a:buClr>
                <a:srgbClr val="333333"/>
              </a:buClr>
              <a:buSzPts val="2400"/>
              <a:buFont typeface="Calibri"/>
              <a:buChar char="–"/>
            </a:pPr>
            <a:r>
              <a:rPr lang="en-US"/>
              <a:t>What is BIO</a:t>
            </a:r>
            <a:endParaRPr/>
          </a:p>
          <a:p>
            <a:pPr indent="-285750" lvl="1" marL="742950" rtl="0" algn="just">
              <a:lnSpc>
                <a:spcPct val="100000"/>
              </a:lnSpc>
              <a:spcBef>
                <a:spcPts val="0"/>
              </a:spcBef>
              <a:spcAft>
                <a:spcPts val="0"/>
              </a:spcAft>
              <a:buClr>
                <a:srgbClr val="333333"/>
              </a:buClr>
              <a:buSzPts val="2400"/>
              <a:buFont typeface="Calibri"/>
              <a:buChar char="–"/>
            </a:pPr>
            <a:r>
              <a:rPr lang="en-US"/>
              <a:t>Merge and Coalesce I/O Operations</a:t>
            </a:r>
            <a:endParaRPr/>
          </a:p>
          <a:p>
            <a:pPr indent="-285750" lvl="1" marL="742950" rtl="0" algn="just">
              <a:lnSpc>
                <a:spcPct val="100000"/>
              </a:lnSpc>
              <a:spcBef>
                <a:spcPts val="0"/>
              </a:spcBef>
              <a:spcAft>
                <a:spcPts val="0"/>
              </a:spcAft>
              <a:buClr>
                <a:srgbClr val="333333"/>
              </a:buClr>
              <a:buSzPts val="2400"/>
              <a:buFont typeface="Calibri"/>
              <a:buChar char="–"/>
            </a:pPr>
            <a:r>
              <a:rPr lang="en-US"/>
              <a:t>I/O Scheduler</a:t>
            </a:r>
            <a:endParaRPr/>
          </a:p>
          <a:p>
            <a:pPr indent="-342900" lvl="0" marL="342900" rtl="0" algn="just">
              <a:lnSpc>
                <a:spcPct val="100000"/>
              </a:lnSpc>
              <a:spcBef>
                <a:spcPts val="0"/>
              </a:spcBef>
              <a:spcAft>
                <a:spcPts val="0"/>
              </a:spcAft>
              <a:buClr>
                <a:srgbClr val="333333"/>
              </a:buClr>
              <a:buSzPts val="2800"/>
              <a:buFont typeface="Calibri"/>
              <a:buChar char="•"/>
            </a:pPr>
            <a:r>
              <a:rPr lang="en-US"/>
              <a:t>Advance Topic:</a:t>
            </a:r>
            <a:endParaRPr/>
          </a:p>
          <a:p>
            <a:pPr indent="-285750" lvl="1" marL="742950" rtl="0" algn="just">
              <a:lnSpc>
                <a:spcPct val="100000"/>
              </a:lnSpc>
              <a:spcBef>
                <a:spcPts val="0"/>
              </a:spcBef>
              <a:spcAft>
                <a:spcPts val="0"/>
              </a:spcAft>
              <a:buClr>
                <a:srgbClr val="333333"/>
              </a:buClr>
              <a:buSzPts val="2400"/>
              <a:buFont typeface="Calibri"/>
              <a:buChar char="–"/>
            </a:pPr>
            <a:r>
              <a:rPr lang="en-US"/>
              <a:t>NVMe Protocol</a:t>
            </a:r>
            <a:endParaRPr/>
          </a:p>
          <a:p>
            <a:pPr indent="-285750" lvl="1" marL="742950" rtl="0" algn="just">
              <a:lnSpc>
                <a:spcPct val="100000"/>
              </a:lnSpc>
              <a:spcBef>
                <a:spcPts val="0"/>
              </a:spcBef>
              <a:spcAft>
                <a:spcPts val="0"/>
              </a:spcAft>
              <a:buClr>
                <a:srgbClr val="333333"/>
              </a:buClr>
              <a:buSzPts val="2400"/>
              <a:buFont typeface="Calibri"/>
              <a:buChar char="–"/>
            </a:pPr>
            <a:r>
              <a:rPr lang="en-US"/>
              <a:t>Device Mapper</a:t>
            </a:r>
            <a:endParaRPr/>
          </a:p>
          <a:p>
            <a:pPr indent="-133350" lvl="1" marL="742950" rtl="0" algn="just">
              <a:lnSpc>
                <a:spcPct val="100000"/>
              </a:lnSpc>
              <a:spcBef>
                <a:spcPts val="0"/>
              </a:spcBef>
              <a:spcAft>
                <a:spcPts val="0"/>
              </a:spcAft>
              <a:buClr>
                <a:srgbClr val="333333"/>
              </a:buClr>
              <a:buSzPts val="2400"/>
              <a:buFont typeface="Calibri"/>
              <a:buNone/>
            </a:pPr>
            <a:r>
              <a:t/>
            </a:r>
            <a:endParaRPr/>
          </a:p>
        </p:txBody>
      </p:sp>
      <p:sp>
        <p:nvSpPr>
          <p:cNvPr id="550" name="Google Shape;550;p18"/>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51" name="Google Shape;551;p18"/>
          <p:cNvSpPr/>
          <p:nvPr/>
        </p:nvSpPr>
        <p:spPr>
          <a:xfrm>
            <a:off x="9713254" y="978102"/>
            <a:ext cx="1567121"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Process</a:t>
            </a:r>
            <a:endParaRPr sz="1600">
              <a:solidFill>
                <a:schemeClr val="dk1"/>
              </a:solidFill>
              <a:latin typeface="Calibri"/>
              <a:ea typeface="Calibri"/>
              <a:cs typeface="Calibri"/>
              <a:sym typeface="Calibri"/>
            </a:endParaRPr>
          </a:p>
        </p:txBody>
      </p:sp>
      <p:sp>
        <p:nvSpPr>
          <p:cNvPr id="552" name="Google Shape;552;p18"/>
          <p:cNvSpPr/>
          <p:nvPr/>
        </p:nvSpPr>
        <p:spPr>
          <a:xfrm>
            <a:off x="9713254" y="2288100"/>
            <a:ext cx="1567121" cy="540000"/>
          </a:xfrm>
          <a:prstGeom prst="rect">
            <a:avLst/>
          </a:prstGeom>
          <a:solidFill>
            <a:srgbClr val="FFF2CC"/>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Virtual File System</a:t>
            </a:r>
            <a:endParaRPr sz="1600">
              <a:solidFill>
                <a:schemeClr val="dk1"/>
              </a:solidFill>
              <a:latin typeface="Calibri"/>
              <a:ea typeface="Calibri"/>
              <a:cs typeface="Calibri"/>
              <a:sym typeface="Calibri"/>
            </a:endParaRPr>
          </a:p>
        </p:txBody>
      </p:sp>
      <p:sp>
        <p:nvSpPr>
          <p:cNvPr id="553" name="Google Shape;553;p18"/>
          <p:cNvSpPr/>
          <p:nvPr/>
        </p:nvSpPr>
        <p:spPr>
          <a:xfrm>
            <a:off x="9713255" y="3067183"/>
            <a:ext cx="921104" cy="540000"/>
          </a:xfrm>
          <a:prstGeom prst="rect">
            <a:avLst/>
          </a:prstGeom>
          <a:solidFill>
            <a:srgbClr val="FFF2CC"/>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Page Cache</a:t>
            </a:r>
            <a:endParaRPr sz="1600">
              <a:solidFill>
                <a:schemeClr val="dk1"/>
              </a:solidFill>
              <a:latin typeface="Calibri"/>
              <a:ea typeface="Calibri"/>
              <a:cs typeface="Calibri"/>
              <a:sym typeface="Calibri"/>
            </a:endParaRPr>
          </a:p>
        </p:txBody>
      </p:sp>
      <p:sp>
        <p:nvSpPr>
          <p:cNvPr id="554" name="Google Shape;554;p18"/>
          <p:cNvSpPr/>
          <p:nvPr/>
        </p:nvSpPr>
        <p:spPr>
          <a:xfrm>
            <a:off x="9713254" y="3846266"/>
            <a:ext cx="1567121" cy="540000"/>
          </a:xfrm>
          <a:prstGeom prst="rect">
            <a:avLst/>
          </a:prstGeom>
          <a:solidFill>
            <a:srgbClr val="FFF2CC"/>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Mapping Layer</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(FS Specific)</a:t>
            </a:r>
            <a:endParaRPr sz="1600">
              <a:solidFill>
                <a:schemeClr val="dk1"/>
              </a:solidFill>
              <a:latin typeface="Calibri"/>
              <a:ea typeface="Calibri"/>
              <a:cs typeface="Calibri"/>
              <a:sym typeface="Calibri"/>
            </a:endParaRPr>
          </a:p>
        </p:txBody>
      </p:sp>
      <p:cxnSp>
        <p:nvCxnSpPr>
          <p:cNvPr id="555" name="Google Shape;555;p18"/>
          <p:cNvCxnSpPr/>
          <p:nvPr/>
        </p:nvCxnSpPr>
        <p:spPr>
          <a:xfrm>
            <a:off x="9073896" y="2060330"/>
            <a:ext cx="2845834" cy="0"/>
          </a:xfrm>
          <a:prstGeom prst="straightConnector1">
            <a:avLst/>
          </a:prstGeom>
          <a:noFill/>
          <a:ln cap="flat" cmpd="sng" w="19050">
            <a:solidFill>
              <a:schemeClr val="dk1"/>
            </a:solidFill>
            <a:prstDash val="dash"/>
            <a:miter lim="800000"/>
            <a:headEnd len="sm" w="sm" type="none"/>
            <a:tailEnd len="sm" w="sm" type="none"/>
          </a:ln>
        </p:spPr>
      </p:cxnSp>
      <p:sp>
        <p:nvSpPr>
          <p:cNvPr id="556" name="Google Shape;556;p18"/>
          <p:cNvSpPr txBox="1"/>
          <p:nvPr/>
        </p:nvSpPr>
        <p:spPr>
          <a:xfrm>
            <a:off x="8979426" y="1723348"/>
            <a:ext cx="57099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User</a:t>
            </a:r>
            <a:endParaRPr sz="1600">
              <a:solidFill>
                <a:schemeClr val="dk1"/>
              </a:solidFill>
              <a:latin typeface="Calibri"/>
              <a:ea typeface="Calibri"/>
              <a:cs typeface="Calibri"/>
              <a:sym typeface="Calibri"/>
            </a:endParaRPr>
          </a:p>
        </p:txBody>
      </p:sp>
      <p:sp>
        <p:nvSpPr>
          <p:cNvPr id="557" name="Google Shape;557;p18"/>
          <p:cNvSpPr txBox="1"/>
          <p:nvPr/>
        </p:nvSpPr>
        <p:spPr>
          <a:xfrm>
            <a:off x="8979426" y="2043084"/>
            <a:ext cx="71955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Kernel</a:t>
            </a:r>
            <a:endParaRPr sz="1600">
              <a:solidFill>
                <a:schemeClr val="dk1"/>
              </a:solidFill>
              <a:latin typeface="Calibri"/>
              <a:ea typeface="Calibri"/>
              <a:cs typeface="Calibri"/>
              <a:sym typeface="Calibri"/>
            </a:endParaRPr>
          </a:p>
        </p:txBody>
      </p:sp>
      <p:sp>
        <p:nvSpPr>
          <p:cNvPr id="558" name="Google Shape;558;p18"/>
          <p:cNvSpPr txBox="1"/>
          <p:nvPr/>
        </p:nvSpPr>
        <p:spPr>
          <a:xfrm>
            <a:off x="10793743" y="1495260"/>
            <a:ext cx="109536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sys_read()</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sys_write()</a:t>
            </a:r>
            <a:endParaRPr sz="1600">
              <a:solidFill>
                <a:schemeClr val="dk1"/>
              </a:solidFill>
              <a:latin typeface="Calibri"/>
              <a:ea typeface="Calibri"/>
              <a:cs typeface="Calibri"/>
              <a:sym typeface="Calibri"/>
            </a:endParaRPr>
          </a:p>
        </p:txBody>
      </p:sp>
      <p:cxnSp>
        <p:nvCxnSpPr>
          <p:cNvPr id="559" name="Google Shape;559;p18"/>
          <p:cNvCxnSpPr/>
          <p:nvPr/>
        </p:nvCxnSpPr>
        <p:spPr>
          <a:xfrm>
            <a:off x="10941457" y="2828100"/>
            <a:ext cx="0" cy="1018166"/>
          </a:xfrm>
          <a:prstGeom prst="straightConnector1">
            <a:avLst/>
          </a:prstGeom>
          <a:noFill/>
          <a:ln cap="flat" cmpd="sng" w="19050">
            <a:solidFill>
              <a:schemeClr val="dk1"/>
            </a:solidFill>
            <a:prstDash val="solid"/>
            <a:miter lim="800000"/>
            <a:headEnd len="med" w="med" type="triangle"/>
            <a:tailEnd len="med" w="med" type="triangle"/>
          </a:ln>
        </p:spPr>
      </p:cxnSp>
      <p:cxnSp>
        <p:nvCxnSpPr>
          <p:cNvPr id="560" name="Google Shape;560;p18"/>
          <p:cNvCxnSpPr>
            <a:stCxn id="551" idx="2"/>
          </p:cNvCxnSpPr>
          <p:nvPr/>
        </p:nvCxnSpPr>
        <p:spPr>
          <a:xfrm>
            <a:off x="10496815" y="1518102"/>
            <a:ext cx="0" cy="778500"/>
          </a:xfrm>
          <a:prstGeom prst="straightConnector1">
            <a:avLst/>
          </a:prstGeom>
          <a:noFill/>
          <a:ln cap="flat" cmpd="sng" w="19050">
            <a:solidFill>
              <a:schemeClr val="dk1"/>
            </a:solidFill>
            <a:prstDash val="solid"/>
            <a:miter lim="800000"/>
            <a:headEnd len="med" w="med" type="triangle"/>
            <a:tailEnd len="med" w="med" type="triangle"/>
          </a:ln>
        </p:spPr>
      </p:cxnSp>
      <p:grpSp>
        <p:nvGrpSpPr>
          <p:cNvPr id="561" name="Google Shape;561;p18"/>
          <p:cNvGrpSpPr/>
          <p:nvPr/>
        </p:nvGrpSpPr>
        <p:grpSpPr>
          <a:xfrm>
            <a:off x="9713254" y="5944432"/>
            <a:ext cx="1567121" cy="779082"/>
            <a:chOff x="9713254" y="5944432"/>
            <a:chExt cx="1567121" cy="779082"/>
          </a:xfrm>
        </p:grpSpPr>
        <p:sp>
          <p:nvSpPr>
            <p:cNvPr id="562" name="Google Shape;562;p18"/>
            <p:cNvSpPr/>
            <p:nvPr/>
          </p:nvSpPr>
          <p:spPr>
            <a:xfrm>
              <a:off x="9713254" y="6183514"/>
              <a:ext cx="1567121"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Devices </a:t>
              </a:r>
              <a:endParaRPr sz="1600">
                <a:solidFill>
                  <a:schemeClr val="dk1"/>
                </a:solidFill>
                <a:latin typeface="Calibri"/>
                <a:ea typeface="Calibri"/>
                <a:cs typeface="Calibri"/>
                <a:sym typeface="Calibri"/>
              </a:endParaRPr>
            </a:p>
            <a:p>
              <a:pPr indent="0" lvl="0" marL="0" marR="0" rtl="0" algn="ctr">
                <a:spcBef>
                  <a:spcPts val="0"/>
                </a:spcBef>
                <a:spcAft>
                  <a:spcPts val="0"/>
                </a:spcAft>
                <a:buNone/>
              </a:pPr>
              <a:r>
                <a:rPr lang="en-US" sz="1600">
                  <a:solidFill>
                    <a:schemeClr val="dk1"/>
                  </a:solidFill>
                  <a:latin typeface="Calibri"/>
                  <a:ea typeface="Calibri"/>
                  <a:cs typeface="Calibri"/>
                  <a:sym typeface="Calibri"/>
                </a:rPr>
                <a:t>(e.g., HDD, SSD)</a:t>
              </a:r>
              <a:endParaRPr sz="1600">
                <a:solidFill>
                  <a:schemeClr val="dk1"/>
                </a:solidFill>
                <a:latin typeface="Calibri"/>
                <a:ea typeface="Calibri"/>
                <a:cs typeface="Calibri"/>
                <a:sym typeface="Calibri"/>
              </a:endParaRPr>
            </a:p>
          </p:txBody>
        </p:sp>
        <p:cxnSp>
          <p:nvCxnSpPr>
            <p:cNvPr id="563" name="Google Shape;563;p18"/>
            <p:cNvCxnSpPr>
              <a:stCxn id="564" idx="2"/>
            </p:cNvCxnSpPr>
            <p:nvPr/>
          </p:nvCxnSpPr>
          <p:spPr>
            <a:xfrm>
              <a:off x="10496815" y="5944432"/>
              <a:ext cx="0" cy="238500"/>
            </a:xfrm>
            <a:prstGeom prst="straightConnector1">
              <a:avLst/>
            </a:prstGeom>
            <a:noFill/>
            <a:ln cap="flat" cmpd="sng" w="19050">
              <a:solidFill>
                <a:schemeClr val="dk1"/>
              </a:solidFill>
              <a:prstDash val="solid"/>
              <a:miter lim="800000"/>
              <a:headEnd len="med" w="med" type="triangle"/>
              <a:tailEnd len="med" w="med" type="triangle"/>
            </a:ln>
          </p:spPr>
        </p:cxnSp>
      </p:grpSp>
      <p:grpSp>
        <p:nvGrpSpPr>
          <p:cNvPr id="565" name="Google Shape;565;p18"/>
          <p:cNvGrpSpPr/>
          <p:nvPr/>
        </p:nvGrpSpPr>
        <p:grpSpPr>
          <a:xfrm>
            <a:off x="9713254" y="5143606"/>
            <a:ext cx="1567121" cy="800826"/>
            <a:chOff x="9713254" y="5143606"/>
            <a:chExt cx="1567121" cy="800826"/>
          </a:xfrm>
        </p:grpSpPr>
        <p:sp>
          <p:nvSpPr>
            <p:cNvPr id="564" name="Google Shape;564;p18"/>
            <p:cNvSpPr/>
            <p:nvPr/>
          </p:nvSpPr>
          <p:spPr>
            <a:xfrm>
              <a:off x="9713254" y="5404432"/>
              <a:ext cx="1567121" cy="540000"/>
            </a:xfrm>
            <a:prstGeom prst="rect">
              <a:avLst/>
            </a:prstGeom>
            <a:solidFill>
              <a:srgbClr val="E1EFD8"/>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Block Device Driver</a:t>
              </a:r>
              <a:endParaRPr sz="1600">
                <a:solidFill>
                  <a:schemeClr val="dk1"/>
                </a:solidFill>
                <a:latin typeface="Calibri"/>
                <a:ea typeface="Calibri"/>
                <a:cs typeface="Calibri"/>
                <a:sym typeface="Calibri"/>
              </a:endParaRPr>
            </a:p>
          </p:txBody>
        </p:sp>
        <p:cxnSp>
          <p:nvCxnSpPr>
            <p:cNvPr id="566" name="Google Shape;566;p18"/>
            <p:cNvCxnSpPr/>
            <p:nvPr/>
          </p:nvCxnSpPr>
          <p:spPr>
            <a:xfrm flipH="1">
              <a:off x="10470620" y="5143606"/>
              <a:ext cx="2" cy="238628"/>
            </a:xfrm>
            <a:prstGeom prst="straightConnector1">
              <a:avLst/>
            </a:prstGeom>
            <a:noFill/>
            <a:ln cap="flat" cmpd="sng" w="19050">
              <a:solidFill>
                <a:schemeClr val="dk1"/>
              </a:solidFill>
              <a:prstDash val="solid"/>
              <a:miter lim="800000"/>
              <a:headEnd len="med" w="med" type="triangle"/>
              <a:tailEnd len="med" w="med" type="triangle"/>
            </a:ln>
          </p:spPr>
        </p:cxnSp>
      </p:grpSp>
      <p:grpSp>
        <p:nvGrpSpPr>
          <p:cNvPr id="567" name="Google Shape;567;p18"/>
          <p:cNvGrpSpPr/>
          <p:nvPr/>
        </p:nvGrpSpPr>
        <p:grpSpPr>
          <a:xfrm>
            <a:off x="9713254" y="4386266"/>
            <a:ext cx="1567121" cy="779083"/>
            <a:chOff x="9713254" y="4386266"/>
            <a:chExt cx="1567121" cy="779083"/>
          </a:xfrm>
        </p:grpSpPr>
        <p:sp>
          <p:nvSpPr>
            <p:cNvPr id="568" name="Google Shape;568;p18"/>
            <p:cNvSpPr/>
            <p:nvPr/>
          </p:nvSpPr>
          <p:spPr>
            <a:xfrm>
              <a:off x="9713254" y="4625349"/>
              <a:ext cx="1567121" cy="540000"/>
            </a:xfrm>
            <a:prstGeom prst="rect">
              <a:avLst/>
            </a:prstGeom>
            <a:solidFill>
              <a:srgbClr val="E1EFD8"/>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Block I/O Layer</a:t>
              </a:r>
              <a:endParaRPr sz="1600">
                <a:solidFill>
                  <a:schemeClr val="dk1"/>
                </a:solidFill>
                <a:latin typeface="Calibri"/>
                <a:ea typeface="Calibri"/>
                <a:cs typeface="Calibri"/>
                <a:sym typeface="Calibri"/>
              </a:endParaRPr>
            </a:p>
          </p:txBody>
        </p:sp>
        <p:cxnSp>
          <p:nvCxnSpPr>
            <p:cNvPr id="569" name="Google Shape;569;p18"/>
            <p:cNvCxnSpPr/>
            <p:nvPr/>
          </p:nvCxnSpPr>
          <p:spPr>
            <a:xfrm flipH="1">
              <a:off x="10470618" y="4386266"/>
              <a:ext cx="2" cy="238628"/>
            </a:xfrm>
            <a:prstGeom prst="straightConnector1">
              <a:avLst/>
            </a:prstGeom>
            <a:noFill/>
            <a:ln cap="flat" cmpd="sng" w="19050">
              <a:solidFill>
                <a:schemeClr val="dk1"/>
              </a:solidFill>
              <a:prstDash val="solid"/>
              <a:miter lim="800000"/>
              <a:headEnd len="med" w="med" type="triangle"/>
              <a:tailEnd len="med" w="med" type="triangle"/>
            </a:ln>
          </p:spPr>
        </p:cxnSp>
      </p:grpSp>
      <p:cxnSp>
        <p:nvCxnSpPr>
          <p:cNvPr id="570" name="Google Shape;570;p18"/>
          <p:cNvCxnSpPr/>
          <p:nvPr/>
        </p:nvCxnSpPr>
        <p:spPr>
          <a:xfrm flipH="1">
            <a:off x="10167873" y="3606034"/>
            <a:ext cx="2" cy="238628"/>
          </a:xfrm>
          <a:prstGeom prst="straightConnector1">
            <a:avLst/>
          </a:prstGeom>
          <a:noFill/>
          <a:ln cap="flat" cmpd="sng" w="19050">
            <a:solidFill>
              <a:schemeClr val="dk1"/>
            </a:solidFill>
            <a:prstDash val="solid"/>
            <a:miter lim="800000"/>
            <a:headEnd len="med" w="med" type="triangle"/>
            <a:tailEnd len="med" w="med" type="triangle"/>
          </a:ln>
        </p:spPr>
      </p:cxnSp>
      <p:cxnSp>
        <p:nvCxnSpPr>
          <p:cNvPr id="571" name="Google Shape;571;p18"/>
          <p:cNvCxnSpPr/>
          <p:nvPr/>
        </p:nvCxnSpPr>
        <p:spPr>
          <a:xfrm flipH="1">
            <a:off x="10167871" y="2818632"/>
            <a:ext cx="2" cy="238628"/>
          </a:xfrm>
          <a:prstGeom prst="straightConnector1">
            <a:avLst/>
          </a:prstGeom>
          <a:noFill/>
          <a:ln cap="flat" cmpd="sng" w="19050">
            <a:solidFill>
              <a:schemeClr val="dk1"/>
            </a:solidFill>
            <a:prstDash val="solid"/>
            <a:miter lim="800000"/>
            <a:headEnd len="med" w="med" type="triangle"/>
            <a:tailEnd len="med" w="med" type="triangle"/>
          </a:ln>
        </p:spPr>
      </p:cxnSp>
      <p:sp>
        <p:nvSpPr>
          <p:cNvPr id="572" name="Google Shape;572;p18"/>
          <p:cNvSpPr/>
          <p:nvPr/>
        </p:nvSpPr>
        <p:spPr>
          <a:xfrm>
            <a:off x="9698981" y="4624893"/>
            <a:ext cx="1581393" cy="2098611"/>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3" name="Google Shape;573;p18"/>
          <p:cNvSpPr txBox="1"/>
          <p:nvPr/>
        </p:nvSpPr>
        <p:spPr>
          <a:xfrm>
            <a:off x="0" y="6598099"/>
            <a:ext cx="3822585"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BFBFBF"/>
                </a:solidFill>
                <a:latin typeface="Calibri"/>
                <a:ea typeface="Calibri"/>
                <a:cs typeface="Calibri"/>
                <a:sym typeface="Calibri"/>
              </a:rPr>
              <a:t>http://byteliu.com/2019/05/10/Linux-The-block-I-O-layer/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500"/>
                                        <p:tgtEl>
                                          <p:spTgt spid="571"/>
                                        </p:tgtEl>
                                      </p:cBhvr>
                                    </p:animEffect>
                                  </p:childTnLst>
                                </p:cTn>
                              </p:par>
                              <p:par>
                                <p:cTn fill="hold" nodeType="with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500"/>
                                        <p:tgtEl>
                                          <p:spTgt spid="553"/>
                                        </p:tgtEl>
                                      </p:cBhvr>
                                    </p:animEffect>
                                  </p:childTnLst>
                                </p:cTn>
                              </p:par>
                              <p:par>
                                <p:cTn fill="hold" nodeType="withEffect" presetClass="entr" presetID="10" presetSubtype="0">
                                  <p:stCondLst>
                                    <p:cond delay="0"/>
                                  </p:stCondLst>
                                  <p:childTnLst>
                                    <p:set>
                                      <p:cBhvr>
                                        <p:cTn dur="1" fill="hold">
                                          <p:stCondLst>
                                            <p:cond delay="0"/>
                                          </p:stCondLst>
                                        </p:cTn>
                                        <p:tgtEl>
                                          <p:spTgt spid="570"/>
                                        </p:tgtEl>
                                        <p:attrNameLst>
                                          <p:attrName>style.visibility</p:attrName>
                                        </p:attrNameLst>
                                      </p:cBhvr>
                                      <p:to>
                                        <p:strVal val="visible"/>
                                      </p:to>
                                    </p:set>
                                    <p:animEffect filter="fade" transition="in">
                                      <p:cBhvr>
                                        <p:cTn dur="500"/>
                                        <p:tgtEl>
                                          <p:spTgt spid="570"/>
                                        </p:tgtEl>
                                      </p:cBhvr>
                                    </p:animEffect>
                                  </p:childTnLst>
                                </p:cTn>
                              </p:par>
                              <p:par>
                                <p:cTn fill="hold" nodeType="with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500"/>
                                        <p:tgtEl>
                                          <p:spTgt spid="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500"/>
                                        <p:tgtEl>
                                          <p:spTgt spid="5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7"/>
                                        </p:tgtEl>
                                        <p:attrNameLst>
                                          <p:attrName>style.visibility</p:attrName>
                                        </p:attrNameLst>
                                      </p:cBhvr>
                                      <p:to>
                                        <p:strVal val="visible"/>
                                      </p:to>
                                    </p:set>
                                    <p:animEffect filter="fade" transition="in">
                                      <p:cBhvr>
                                        <p:cTn dur="500"/>
                                        <p:tgtEl>
                                          <p:spTgt spid="5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500"/>
                                        <p:tgtEl>
                                          <p:spTgt spid="5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gtEl>
                                        <p:attrNameLst>
                                          <p:attrName>style.visibility</p:attrName>
                                        </p:attrNameLst>
                                      </p:cBhvr>
                                      <p:to>
                                        <p:strVal val="visible"/>
                                      </p:to>
                                    </p:set>
                                    <p:animEffect filter="fade" transition="in">
                                      <p:cBhvr>
                                        <p:cTn dur="500"/>
                                        <p:tgtEl>
                                          <p:spTgt spid="5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gtEl>
                                        <p:attrNameLst>
                                          <p:attrName>style.visibility</p:attrName>
                                        </p:attrNameLst>
                                      </p:cBhvr>
                                      <p:to>
                                        <p:strVal val="visible"/>
                                      </p:to>
                                    </p:set>
                                    <p:animEffect filter="fade" transition="in">
                                      <p:cBhvr>
                                        <p:cTn dur="500"/>
                                        <p:tgtEl>
                                          <p:spTgt spid="5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0" st="0"/>
                                            </p:txEl>
                                          </p:spTgt>
                                        </p:tgtEl>
                                        <p:attrNameLst>
                                          <p:attrName>style.visibility</p:attrName>
                                        </p:attrNameLst>
                                      </p:cBhvr>
                                      <p:to>
                                        <p:strVal val="visible"/>
                                      </p:to>
                                    </p:set>
                                    <p:animEffect filter="fade" transition="in">
                                      <p:cBhvr>
                                        <p:cTn dur="500"/>
                                        <p:tgtEl>
                                          <p:spTgt spid="5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 st="1"/>
                                            </p:txEl>
                                          </p:spTgt>
                                        </p:tgtEl>
                                        <p:attrNameLst>
                                          <p:attrName>style.visibility</p:attrName>
                                        </p:attrNameLst>
                                      </p:cBhvr>
                                      <p:to>
                                        <p:strVal val="visible"/>
                                      </p:to>
                                    </p:set>
                                    <p:animEffect filter="fade" transition="in">
                                      <p:cBhvr>
                                        <p:cTn dur="500"/>
                                        <p:tgtEl>
                                          <p:spTgt spid="5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2" st="2"/>
                                            </p:txEl>
                                          </p:spTgt>
                                        </p:tgtEl>
                                        <p:attrNameLst>
                                          <p:attrName>style.visibility</p:attrName>
                                        </p:attrNameLst>
                                      </p:cBhvr>
                                      <p:to>
                                        <p:strVal val="visible"/>
                                      </p:to>
                                    </p:set>
                                    <p:animEffect filter="fade" transition="in">
                                      <p:cBhvr>
                                        <p:cTn dur="500"/>
                                        <p:tgtEl>
                                          <p:spTgt spid="5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3" st="3"/>
                                            </p:txEl>
                                          </p:spTgt>
                                        </p:tgtEl>
                                        <p:attrNameLst>
                                          <p:attrName>style.visibility</p:attrName>
                                        </p:attrNameLst>
                                      </p:cBhvr>
                                      <p:to>
                                        <p:strVal val="visible"/>
                                      </p:to>
                                    </p:set>
                                    <p:animEffect filter="fade" transition="in">
                                      <p:cBhvr>
                                        <p:cTn dur="500"/>
                                        <p:tgtEl>
                                          <p:spTgt spid="5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4" st="4"/>
                                            </p:txEl>
                                          </p:spTgt>
                                        </p:tgtEl>
                                        <p:attrNameLst>
                                          <p:attrName>style.visibility</p:attrName>
                                        </p:attrNameLst>
                                      </p:cBhvr>
                                      <p:to>
                                        <p:strVal val="visible"/>
                                      </p:to>
                                    </p:set>
                                    <p:animEffect filter="fade" transition="in">
                                      <p:cBhvr>
                                        <p:cTn dur="500"/>
                                        <p:tgtEl>
                                          <p:spTgt spid="5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5" st="5"/>
                                            </p:txEl>
                                          </p:spTgt>
                                        </p:tgtEl>
                                        <p:attrNameLst>
                                          <p:attrName>style.visibility</p:attrName>
                                        </p:attrNameLst>
                                      </p:cBhvr>
                                      <p:to>
                                        <p:strVal val="visible"/>
                                      </p:to>
                                    </p:set>
                                    <p:animEffect filter="fade" transition="in">
                                      <p:cBhvr>
                                        <p:cTn dur="500"/>
                                        <p:tgtEl>
                                          <p:spTgt spid="5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6" st="6"/>
                                            </p:txEl>
                                          </p:spTgt>
                                        </p:tgtEl>
                                        <p:attrNameLst>
                                          <p:attrName>style.visibility</p:attrName>
                                        </p:attrNameLst>
                                      </p:cBhvr>
                                      <p:to>
                                        <p:strVal val="visible"/>
                                      </p:to>
                                    </p:set>
                                    <p:animEffect filter="fade" transition="in">
                                      <p:cBhvr>
                                        <p:cTn dur="500"/>
                                        <p:tgtEl>
                                          <p:spTgt spid="5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7" st="7"/>
                                            </p:txEl>
                                          </p:spTgt>
                                        </p:tgtEl>
                                        <p:attrNameLst>
                                          <p:attrName>style.visibility</p:attrName>
                                        </p:attrNameLst>
                                      </p:cBhvr>
                                      <p:to>
                                        <p:strVal val="visible"/>
                                      </p:to>
                                    </p:set>
                                    <p:animEffect filter="fade" transition="in">
                                      <p:cBhvr>
                                        <p:cTn dur="500"/>
                                        <p:tgtEl>
                                          <p:spTgt spid="5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8" st="8"/>
                                            </p:txEl>
                                          </p:spTgt>
                                        </p:tgtEl>
                                        <p:attrNameLst>
                                          <p:attrName>style.visibility</p:attrName>
                                        </p:attrNameLst>
                                      </p:cBhvr>
                                      <p:to>
                                        <p:strVal val="visible"/>
                                      </p:to>
                                    </p:set>
                                    <p:animEffect filter="fade" transition="in">
                                      <p:cBhvr>
                                        <p:cTn dur="500"/>
                                        <p:tgtEl>
                                          <p:spTgt spid="5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9" st="9"/>
                                            </p:txEl>
                                          </p:spTgt>
                                        </p:tgtEl>
                                        <p:attrNameLst>
                                          <p:attrName>style.visibility</p:attrName>
                                        </p:attrNameLst>
                                      </p:cBhvr>
                                      <p:to>
                                        <p:strVal val="visible"/>
                                      </p:to>
                                    </p:set>
                                    <p:animEffect filter="fade" transition="in">
                                      <p:cBhvr>
                                        <p:cTn dur="500"/>
                                        <p:tgtEl>
                                          <p:spTgt spid="54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0" st="10"/>
                                            </p:txEl>
                                          </p:spTgt>
                                        </p:tgtEl>
                                        <p:attrNameLst>
                                          <p:attrName>style.visibility</p:attrName>
                                        </p:attrNameLst>
                                      </p:cBhvr>
                                      <p:to>
                                        <p:strVal val="visible"/>
                                      </p:to>
                                    </p:set>
                                    <p:animEffect filter="fade" transition="in">
                                      <p:cBhvr>
                                        <p:cTn dur="500"/>
                                        <p:tgtEl>
                                          <p:spTgt spid="54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1" st="11"/>
                                            </p:txEl>
                                          </p:spTgt>
                                        </p:tgtEl>
                                        <p:attrNameLst>
                                          <p:attrName>style.visibility</p:attrName>
                                        </p:attrNameLst>
                                      </p:cBhvr>
                                      <p:to>
                                        <p:strVal val="visible"/>
                                      </p:to>
                                    </p:set>
                                    <p:animEffect filter="fade" transition="in">
                                      <p:cBhvr>
                                        <p:cTn dur="500"/>
                                        <p:tgtEl>
                                          <p:spTgt spid="54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2" st="12"/>
                                            </p:txEl>
                                          </p:spTgt>
                                        </p:tgtEl>
                                        <p:attrNameLst>
                                          <p:attrName>style.visibility</p:attrName>
                                        </p:attrNameLst>
                                      </p:cBhvr>
                                      <p:to>
                                        <p:strVal val="visible"/>
                                      </p:to>
                                    </p:set>
                                    <p:animEffect filter="fade" transition="in">
                                      <p:cBhvr>
                                        <p:cTn dur="500"/>
                                        <p:tgtEl>
                                          <p:spTgt spid="54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3" st="13"/>
                                            </p:txEl>
                                          </p:spTgt>
                                        </p:tgtEl>
                                        <p:attrNameLst>
                                          <p:attrName>style.visibility</p:attrName>
                                        </p:attrNameLst>
                                      </p:cBhvr>
                                      <p:to>
                                        <p:strVal val="visible"/>
                                      </p:to>
                                    </p:set>
                                    <p:animEffect filter="fade" transition="in">
                                      <p:cBhvr>
                                        <p:cTn dur="500"/>
                                        <p:tgtEl>
                                          <p:spTgt spid="54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4" st="14"/>
                                            </p:txEl>
                                          </p:spTgt>
                                        </p:tgtEl>
                                        <p:attrNameLst>
                                          <p:attrName>style.visibility</p:attrName>
                                        </p:attrNameLst>
                                      </p:cBhvr>
                                      <p:to>
                                        <p:strVal val="visible"/>
                                      </p:to>
                                    </p:set>
                                    <p:animEffect filter="fade" transition="in">
                                      <p:cBhvr>
                                        <p:cTn dur="500"/>
                                        <p:tgtEl>
                                          <p:spTgt spid="549">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9"/>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File System</a:t>
            </a:r>
            <a:endParaRPr/>
          </a:p>
        </p:txBody>
      </p:sp>
      <p:sp>
        <p:nvSpPr>
          <p:cNvPr id="579" name="Google Shape;579;p19"/>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rgbClr val="333333"/>
              </a:buClr>
              <a:buSzPts val="2800"/>
              <a:buFont typeface="Calibri"/>
              <a:buChar char="•"/>
            </a:pPr>
            <a:r>
              <a:rPr lang="en-US"/>
              <a:t>Virtual File System</a:t>
            </a:r>
            <a:endParaRPr/>
          </a:p>
          <a:p>
            <a:pPr indent="-342900" lvl="0" marL="342900" rtl="0" algn="just">
              <a:lnSpc>
                <a:spcPct val="100000"/>
              </a:lnSpc>
              <a:spcBef>
                <a:spcPts val="0"/>
              </a:spcBef>
              <a:spcAft>
                <a:spcPts val="0"/>
              </a:spcAft>
              <a:buClr>
                <a:srgbClr val="333333"/>
              </a:buClr>
              <a:buSzPts val="2800"/>
              <a:buFont typeface="Calibri"/>
              <a:buChar char="•"/>
            </a:pPr>
            <a:r>
              <a:rPr lang="en-US"/>
              <a:t>File System</a:t>
            </a:r>
            <a:endParaRPr/>
          </a:p>
          <a:p>
            <a:pPr indent="-285750" lvl="1" marL="742950" rtl="0" algn="just">
              <a:lnSpc>
                <a:spcPct val="100000"/>
              </a:lnSpc>
              <a:spcBef>
                <a:spcPts val="0"/>
              </a:spcBef>
              <a:spcAft>
                <a:spcPts val="0"/>
              </a:spcAft>
              <a:buClr>
                <a:srgbClr val="333333"/>
              </a:buClr>
              <a:buSzPts val="2400"/>
              <a:buFont typeface="Calibri"/>
              <a:buChar char="–"/>
            </a:pPr>
            <a:r>
              <a:rPr lang="en-US"/>
              <a:t>Organization (Files &amp; Directories)</a:t>
            </a:r>
            <a:endParaRPr/>
          </a:p>
          <a:p>
            <a:pPr indent="-285750" lvl="1" marL="742950" rtl="0" algn="just">
              <a:lnSpc>
                <a:spcPct val="100000"/>
              </a:lnSpc>
              <a:spcBef>
                <a:spcPts val="0"/>
              </a:spcBef>
              <a:spcAft>
                <a:spcPts val="0"/>
              </a:spcAft>
              <a:buClr>
                <a:srgbClr val="333333"/>
              </a:buClr>
              <a:buSzPts val="2400"/>
              <a:buFont typeface="Calibri"/>
              <a:buChar char="–"/>
            </a:pPr>
            <a:r>
              <a:rPr lang="en-US"/>
              <a:t>Interface (Functions)</a:t>
            </a:r>
            <a:endParaRPr/>
          </a:p>
          <a:p>
            <a:pPr indent="-342900" lvl="0" marL="342900" rtl="0" algn="just">
              <a:lnSpc>
                <a:spcPct val="100000"/>
              </a:lnSpc>
              <a:spcBef>
                <a:spcPts val="0"/>
              </a:spcBef>
              <a:spcAft>
                <a:spcPts val="0"/>
              </a:spcAft>
              <a:buClr>
                <a:srgbClr val="333333"/>
              </a:buClr>
              <a:buSzPts val="2800"/>
              <a:buFont typeface="Calibri"/>
              <a:buChar char="•"/>
            </a:pPr>
            <a:r>
              <a:rPr lang="en-US"/>
              <a:t>Page Cache</a:t>
            </a:r>
            <a:endParaRPr/>
          </a:p>
          <a:p>
            <a:pPr indent="-285750" lvl="1" marL="742950" rtl="0" algn="just">
              <a:lnSpc>
                <a:spcPct val="100000"/>
              </a:lnSpc>
              <a:spcBef>
                <a:spcPts val="0"/>
              </a:spcBef>
              <a:spcAft>
                <a:spcPts val="0"/>
              </a:spcAft>
              <a:buClr>
                <a:srgbClr val="333333"/>
              </a:buClr>
              <a:buSzPts val="2400"/>
              <a:buFont typeface="Calibri"/>
              <a:buChar char="–"/>
            </a:pPr>
            <a:r>
              <a:rPr lang="en-US"/>
              <a:t>Cache Eviction (Linux Two-List Strategy)</a:t>
            </a:r>
            <a:endParaRPr/>
          </a:p>
          <a:p>
            <a:pPr indent="-285750" lvl="1" marL="742950" rtl="0" algn="just">
              <a:lnSpc>
                <a:spcPct val="100000"/>
              </a:lnSpc>
              <a:spcBef>
                <a:spcPts val="0"/>
              </a:spcBef>
              <a:spcAft>
                <a:spcPts val="0"/>
              </a:spcAft>
              <a:buClr>
                <a:srgbClr val="333333"/>
              </a:buClr>
              <a:buSzPts val="2400"/>
              <a:buFont typeface="Calibri"/>
              <a:buChar char="–"/>
            </a:pPr>
            <a:r>
              <a:rPr lang="en-US"/>
              <a:t>The Flusher Threads</a:t>
            </a:r>
            <a:endParaRPr/>
          </a:p>
          <a:p>
            <a:pPr indent="-342900" lvl="0" marL="342900" rtl="0" algn="just">
              <a:lnSpc>
                <a:spcPct val="100000"/>
              </a:lnSpc>
              <a:spcBef>
                <a:spcPts val="0"/>
              </a:spcBef>
              <a:spcAft>
                <a:spcPts val="0"/>
              </a:spcAft>
              <a:buClr>
                <a:srgbClr val="333333"/>
              </a:buClr>
              <a:buSzPts val="2800"/>
              <a:buFont typeface="Calibri"/>
              <a:buChar char="•"/>
            </a:pPr>
            <a:r>
              <a:rPr lang="en-US"/>
              <a:t>Memory Mapping (mmap)</a:t>
            </a:r>
            <a:endParaRPr/>
          </a:p>
          <a:p>
            <a:pPr indent="-342900" lvl="0" marL="342900" rtl="0" algn="just">
              <a:lnSpc>
                <a:spcPct val="100000"/>
              </a:lnSpc>
              <a:spcBef>
                <a:spcPts val="0"/>
              </a:spcBef>
              <a:spcAft>
                <a:spcPts val="0"/>
              </a:spcAft>
              <a:buClr>
                <a:srgbClr val="333333"/>
              </a:buClr>
              <a:buSzPts val="2800"/>
              <a:buFont typeface="Calibri"/>
              <a:buChar char="•"/>
            </a:pPr>
            <a:r>
              <a:rPr lang="en-US"/>
              <a:t>Advance Research Topic:</a:t>
            </a:r>
            <a:endParaRPr/>
          </a:p>
          <a:p>
            <a:pPr indent="-285750" lvl="1" marL="742950" rtl="0" algn="just">
              <a:lnSpc>
                <a:spcPct val="100000"/>
              </a:lnSpc>
              <a:spcBef>
                <a:spcPts val="0"/>
              </a:spcBef>
              <a:spcAft>
                <a:spcPts val="0"/>
              </a:spcAft>
              <a:buClr>
                <a:srgbClr val="333333"/>
              </a:buClr>
              <a:buSzPts val="2400"/>
              <a:buFont typeface="Calibri"/>
              <a:buChar char="–"/>
            </a:pPr>
            <a:r>
              <a:rPr lang="en-US"/>
              <a:t>In-Memory File System</a:t>
            </a:r>
            <a:endParaRPr/>
          </a:p>
          <a:p>
            <a:pPr indent="-133350" lvl="1" marL="742950" rtl="0" algn="just">
              <a:lnSpc>
                <a:spcPct val="100000"/>
              </a:lnSpc>
              <a:spcBef>
                <a:spcPts val="0"/>
              </a:spcBef>
              <a:spcAft>
                <a:spcPts val="0"/>
              </a:spcAft>
              <a:buClr>
                <a:srgbClr val="333333"/>
              </a:buClr>
              <a:buSzPts val="2400"/>
              <a:buFont typeface="Calibri"/>
              <a:buNone/>
            </a:pPr>
            <a:r>
              <a:t/>
            </a:r>
            <a:endParaRPr/>
          </a:p>
        </p:txBody>
      </p:sp>
      <p:sp>
        <p:nvSpPr>
          <p:cNvPr id="580" name="Google Shape;580;p19"/>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
        <p:nvSpPr>
          <p:cNvPr id="581" name="Google Shape;581;p19"/>
          <p:cNvSpPr/>
          <p:nvPr/>
        </p:nvSpPr>
        <p:spPr>
          <a:xfrm>
            <a:off x="9713254" y="978102"/>
            <a:ext cx="1567121"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Process</a:t>
            </a:r>
            <a:endParaRPr sz="1600">
              <a:solidFill>
                <a:schemeClr val="dk1"/>
              </a:solidFill>
              <a:latin typeface="Calibri"/>
              <a:ea typeface="Calibri"/>
              <a:cs typeface="Calibri"/>
              <a:sym typeface="Calibri"/>
            </a:endParaRPr>
          </a:p>
        </p:txBody>
      </p:sp>
      <p:sp>
        <p:nvSpPr>
          <p:cNvPr id="582" name="Google Shape;582;p19"/>
          <p:cNvSpPr/>
          <p:nvPr/>
        </p:nvSpPr>
        <p:spPr>
          <a:xfrm>
            <a:off x="9713254" y="2288100"/>
            <a:ext cx="1567121" cy="540000"/>
          </a:xfrm>
          <a:prstGeom prst="rect">
            <a:avLst/>
          </a:prstGeom>
          <a:solidFill>
            <a:srgbClr val="FFF2CC"/>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Virtual File System</a:t>
            </a:r>
            <a:endParaRPr sz="1600">
              <a:solidFill>
                <a:schemeClr val="dk1"/>
              </a:solidFill>
              <a:latin typeface="Calibri"/>
              <a:ea typeface="Calibri"/>
              <a:cs typeface="Calibri"/>
              <a:sym typeface="Calibri"/>
            </a:endParaRPr>
          </a:p>
        </p:txBody>
      </p:sp>
      <p:sp>
        <p:nvSpPr>
          <p:cNvPr id="583" name="Google Shape;583;p19"/>
          <p:cNvSpPr/>
          <p:nvPr/>
        </p:nvSpPr>
        <p:spPr>
          <a:xfrm>
            <a:off x="9713255" y="3067183"/>
            <a:ext cx="921104" cy="540000"/>
          </a:xfrm>
          <a:prstGeom prst="rect">
            <a:avLst/>
          </a:prstGeom>
          <a:solidFill>
            <a:srgbClr val="FFF2CC"/>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Page Cache</a:t>
            </a:r>
            <a:endParaRPr sz="1600">
              <a:solidFill>
                <a:schemeClr val="dk1"/>
              </a:solidFill>
              <a:latin typeface="Calibri"/>
              <a:ea typeface="Calibri"/>
              <a:cs typeface="Calibri"/>
              <a:sym typeface="Calibri"/>
            </a:endParaRPr>
          </a:p>
        </p:txBody>
      </p:sp>
      <p:sp>
        <p:nvSpPr>
          <p:cNvPr id="584" name="Google Shape;584;p19"/>
          <p:cNvSpPr/>
          <p:nvPr/>
        </p:nvSpPr>
        <p:spPr>
          <a:xfrm>
            <a:off x="9713254" y="3846266"/>
            <a:ext cx="1567121" cy="540000"/>
          </a:xfrm>
          <a:prstGeom prst="rect">
            <a:avLst/>
          </a:prstGeom>
          <a:solidFill>
            <a:srgbClr val="FFF2CC"/>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Mapping Layer</a:t>
            </a:r>
            <a:br>
              <a:rPr lang="en-US" sz="1600">
                <a:solidFill>
                  <a:schemeClr val="dk1"/>
                </a:solidFill>
                <a:latin typeface="Calibri"/>
                <a:ea typeface="Calibri"/>
                <a:cs typeface="Calibri"/>
                <a:sym typeface="Calibri"/>
              </a:rPr>
            </a:br>
            <a:r>
              <a:rPr lang="en-US" sz="1600">
                <a:solidFill>
                  <a:schemeClr val="dk1"/>
                </a:solidFill>
                <a:latin typeface="Calibri"/>
                <a:ea typeface="Calibri"/>
                <a:cs typeface="Calibri"/>
                <a:sym typeface="Calibri"/>
              </a:rPr>
              <a:t>(FS Specific)</a:t>
            </a:r>
            <a:endParaRPr sz="1600">
              <a:solidFill>
                <a:schemeClr val="dk1"/>
              </a:solidFill>
              <a:latin typeface="Calibri"/>
              <a:ea typeface="Calibri"/>
              <a:cs typeface="Calibri"/>
              <a:sym typeface="Calibri"/>
            </a:endParaRPr>
          </a:p>
        </p:txBody>
      </p:sp>
      <p:sp>
        <p:nvSpPr>
          <p:cNvPr id="585" name="Google Shape;585;p19"/>
          <p:cNvSpPr/>
          <p:nvPr/>
        </p:nvSpPr>
        <p:spPr>
          <a:xfrm>
            <a:off x="9713254" y="4625349"/>
            <a:ext cx="1567121" cy="540000"/>
          </a:xfrm>
          <a:prstGeom prst="rect">
            <a:avLst/>
          </a:prstGeom>
          <a:solidFill>
            <a:srgbClr val="E1EFD8"/>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Block I/O Layer</a:t>
            </a:r>
            <a:endParaRPr sz="1600">
              <a:solidFill>
                <a:schemeClr val="dk1"/>
              </a:solidFill>
              <a:latin typeface="Calibri"/>
              <a:ea typeface="Calibri"/>
              <a:cs typeface="Calibri"/>
              <a:sym typeface="Calibri"/>
            </a:endParaRPr>
          </a:p>
        </p:txBody>
      </p:sp>
      <p:sp>
        <p:nvSpPr>
          <p:cNvPr id="586" name="Google Shape;586;p19"/>
          <p:cNvSpPr/>
          <p:nvPr/>
        </p:nvSpPr>
        <p:spPr>
          <a:xfrm>
            <a:off x="9713254" y="5404432"/>
            <a:ext cx="1567121" cy="540000"/>
          </a:xfrm>
          <a:prstGeom prst="rect">
            <a:avLst/>
          </a:prstGeom>
          <a:solidFill>
            <a:srgbClr val="E1EFD8"/>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Block Device Driver</a:t>
            </a:r>
            <a:endParaRPr sz="1600">
              <a:solidFill>
                <a:schemeClr val="dk1"/>
              </a:solidFill>
              <a:latin typeface="Calibri"/>
              <a:ea typeface="Calibri"/>
              <a:cs typeface="Calibri"/>
              <a:sym typeface="Calibri"/>
            </a:endParaRPr>
          </a:p>
        </p:txBody>
      </p:sp>
      <p:sp>
        <p:nvSpPr>
          <p:cNvPr id="587" name="Google Shape;587;p19"/>
          <p:cNvSpPr/>
          <p:nvPr/>
        </p:nvSpPr>
        <p:spPr>
          <a:xfrm>
            <a:off x="9713254" y="6183514"/>
            <a:ext cx="1567121" cy="540000"/>
          </a:xfrm>
          <a:prstGeom prst="rect">
            <a:avLst/>
          </a:prstGeom>
          <a:solidFill>
            <a:srgbClr val="F2F2F2"/>
          </a:solid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libri"/>
                <a:ea typeface="Calibri"/>
                <a:cs typeface="Calibri"/>
                <a:sym typeface="Calibri"/>
              </a:rPr>
              <a:t>Devices </a:t>
            </a:r>
            <a:endParaRPr sz="1600">
              <a:solidFill>
                <a:schemeClr val="dk1"/>
              </a:solidFill>
              <a:latin typeface="Calibri"/>
              <a:ea typeface="Calibri"/>
              <a:cs typeface="Calibri"/>
              <a:sym typeface="Calibri"/>
            </a:endParaRPr>
          </a:p>
          <a:p>
            <a:pPr indent="0" lvl="0" marL="0" marR="0" rtl="0" algn="ctr">
              <a:spcBef>
                <a:spcPts val="0"/>
              </a:spcBef>
              <a:spcAft>
                <a:spcPts val="0"/>
              </a:spcAft>
              <a:buNone/>
            </a:pPr>
            <a:r>
              <a:rPr lang="en-US" sz="1600">
                <a:solidFill>
                  <a:schemeClr val="dk1"/>
                </a:solidFill>
                <a:latin typeface="Calibri"/>
                <a:ea typeface="Calibri"/>
                <a:cs typeface="Calibri"/>
                <a:sym typeface="Calibri"/>
              </a:rPr>
              <a:t>(e.g., HDD, SSD)</a:t>
            </a:r>
            <a:endParaRPr sz="1600">
              <a:solidFill>
                <a:schemeClr val="dk1"/>
              </a:solidFill>
              <a:latin typeface="Calibri"/>
              <a:ea typeface="Calibri"/>
              <a:cs typeface="Calibri"/>
              <a:sym typeface="Calibri"/>
            </a:endParaRPr>
          </a:p>
        </p:txBody>
      </p:sp>
      <p:cxnSp>
        <p:nvCxnSpPr>
          <p:cNvPr id="588" name="Google Shape;588;p19"/>
          <p:cNvCxnSpPr/>
          <p:nvPr/>
        </p:nvCxnSpPr>
        <p:spPr>
          <a:xfrm>
            <a:off x="9073896" y="2060330"/>
            <a:ext cx="2845834" cy="0"/>
          </a:xfrm>
          <a:prstGeom prst="straightConnector1">
            <a:avLst/>
          </a:prstGeom>
          <a:noFill/>
          <a:ln cap="flat" cmpd="sng" w="19050">
            <a:solidFill>
              <a:schemeClr val="dk1"/>
            </a:solidFill>
            <a:prstDash val="dash"/>
            <a:miter lim="800000"/>
            <a:headEnd len="sm" w="sm" type="none"/>
            <a:tailEnd len="sm" w="sm" type="none"/>
          </a:ln>
        </p:spPr>
      </p:cxnSp>
      <p:sp>
        <p:nvSpPr>
          <p:cNvPr id="589" name="Google Shape;589;p19"/>
          <p:cNvSpPr txBox="1"/>
          <p:nvPr/>
        </p:nvSpPr>
        <p:spPr>
          <a:xfrm>
            <a:off x="8979426" y="1723348"/>
            <a:ext cx="570990"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User</a:t>
            </a:r>
            <a:endParaRPr sz="1600">
              <a:solidFill>
                <a:schemeClr val="dk1"/>
              </a:solidFill>
              <a:latin typeface="Calibri"/>
              <a:ea typeface="Calibri"/>
              <a:cs typeface="Calibri"/>
              <a:sym typeface="Calibri"/>
            </a:endParaRPr>
          </a:p>
        </p:txBody>
      </p:sp>
      <p:sp>
        <p:nvSpPr>
          <p:cNvPr id="590" name="Google Shape;590;p19"/>
          <p:cNvSpPr txBox="1"/>
          <p:nvPr/>
        </p:nvSpPr>
        <p:spPr>
          <a:xfrm>
            <a:off x="8979426" y="2043084"/>
            <a:ext cx="719556"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Kernel</a:t>
            </a:r>
            <a:endParaRPr sz="1600">
              <a:solidFill>
                <a:schemeClr val="dk1"/>
              </a:solidFill>
              <a:latin typeface="Calibri"/>
              <a:ea typeface="Calibri"/>
              <a:cs typeface="Calibri"/>
              <a:sym typeface="Calibri"/>
            </a:endParaRPr>
          </a:p>
        </p:txBody>
      </p:sp>
      <p:sp>
        <p:nvSpPr>
          <p:cNvPr id="591" name="Google Shape;591;p19"/>
          <p:cNvSpPr txBox="1"/>
          <p:nvPr/>
        </p:nvSpPr>
        <p:spPr>
          <a:xfrm>
            <a:off x="10793743" y="1495260"/>
            <a:ext cx="1095364"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sys_read()</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sys_write()</a:t>
            </a:r>
            <a:endParaRPr sz="1600">
              <a:solidFill>
                <a:schemeClr val="dk1"/>
              </a:solidFill>
              <a:latin typeface="Calibri"/>
              <a:ea typeface="Calibri"/>
              <a:cs typeface="Calibri"/>
              <a:sym typeface="Calibri"/>
            </a:endParaRPr>
          </a:p>
        </p:txBody>
      </p:sp>
      <p:cxnSp>
        <p:nvCxnSpPr>
          <p:cNvPr id="592" name="Google Shape;592;p19"/>
          <p:cNvCxnSpPr/>
          <p:nvPr/>
        </p:nvCxnSpPr>
        <p:spPr>
          <a:xfrm>
            <a:off x="10941457" y="2828100"/>
            <a:ext cx="0" cy="1018166"/>
          </a:xfrm>
          <a:prstGeom prst="straightConnector1">
            <a:avLst/>
          </a:prstGeom>
          <a:noFill/>
          <a:ln cap="flat" cmpd="sng" w="19050">
            <a:solidFill>
              <a:schemeClr val="dk1"/>
            </a:solidFill>
            <a:prstDash val="solid"/>
            <a:miter lim="800000"/>
            <a:headEnd len="med" w="med" type="triangle"/>
            <a:tailEnd len="med" w="med" type="triangle"/>
          </a:ln>
        </p:spPr>
      </p:cxnSp>
      <p:cxnSp>
        <p:nvCxnSpPr>
          <p:cNvPr id="593" name="Google Shape;593;p19"/>
          <p:cNvCxnSpPr>
            <a:stCxn id="581" idx="2"/>
          </p:cNvCxnSpPr>
          <p:nvPr/>
        </p:nvCxnSpPr>
        <p:spPr>
          <a:xfrm>
            <a:off x="10496815" y="1518102"/>
            <a:ext cx="0" cy="778500"/>
          </a:xfrm>
          <a:prstGeom prst="straightConnector1">
            <a:avLst/>
          </a:prstGeom>
          <a:noFill/>
          <a:ln cap="flat" cmpd="sng" w="19050">
            <a:solidFill>
              <a:schemeClr val="dk1"/>
            </a:solidFill>
            <a:prstDash val="solid"/>
            <a:miter lim="800000"/>
            <a:headEnd len="med" w="med" type="triangle"/>
            <a:tailEnd len="med" w="med" type="triangle"/>
          </a:ln>
        </p:spPr>
      </p:cxnSp>
      <p:cxnSp>
        <p:nvCxnSpPr>
          <p:cNvPr id="594" name="Google Shape;594;p19"/>
          <p:cNvCxnSpPr>
            <a:stCxn id="586" idx="2"/>
          </p:cNvCxnSpPr>
          <p:nvPr/>
        </p:nvCxnSpPr>
        <p:spPr>
          <a:xfrm>
            <a:off x="10496815" y="5944432"/>
            <a:ext cx="0" cy="238500"/>
          </a:xfrm>
          <a:prstGeom prst="straightConnector1">
            <a:avLst/>
          </a:prstGeom>
          <a:noFill/>
          <a:ln cap="flat" cmpd="sng" w="19050">
            <a:solidFill>
              <a:schemeClr val="dk1"/>
            </a:solidFill>
            <a:prstDash val="solid"/>
            <a:miter lim="800000"/>
            <a:headEnd len="med" w="med" type="triangle"/>
            <a:tailEnd len="med" w="med" type="triangle"/>
          </a:ln>
        </p:spPr>
      </p:cxnSp>
      <p:cxnSp>
        <p:nvCxnSpPr>
          <p:cNvPr id="595" name="Google Shape;595;p19"/>
          <p:cNvCxnSpPr/>
          <p:nvPr/>
        </p:nvCxnSpPr>
        <p:spPr>
          <a:xfrm flipH="1">
            <a:off x="10470620" y="5143606"/>
            <a:ext cx="2" cy="238628"/>
          </a:xfrm>
          <a:prstGeom prst="straightConnector1">
            <a:avLst/>
          </a:prstGeom>
          <a:noFill/>
          <a:ln cap="flat" cmpd="sng" w="19050">
            <a:solidFill>
              <a:schemeClr val="dk1"/>
            </a:solidFill>
            <a:prstDash val="solid"/>
            <a:miter lim="800000"/>
            <a:headEnd len="med" w="med" type="triangle"/>
            <a:tailEnd len="med" w="med" type="triangle"/>
          </a:ln>
        </p:spPr>
      </p:cxnSp>
      <p:cxnSp>
        <p:nvCxnSpPr>
          <p:cNvPr id="596" name="Google Shape;596;p19"/>
          <p:cNvCxnSpPr/>
          <p:nvPr/>
        </p:nvCxnSpPr>
        <p:spPr>
          <a:xfrm flipH="1">
            <a:off x="10470618" y="4386266"/>
            <a:ext cx="2" cy="238628"/>
          </a:xfrm>
          <a:prstGeom prst="straightConnector1">
            <a:avLst/>
          </a:prstGeom>
          <a:noFill/>
          <a:ln cap="flat" cmpd="sng" w="19050">
            <a:solidFill>
              <a:schemeClr val="dk1"/>
            </a:solidFill>
            <a:prstDash val="solid"/>
            <a:miter lim="800000"/>
            <a:headEnd len="med" w="med" type="triangle"/>
            <a:tailEnd len="med" w="med" type="triangle"/>
          </a:ln>
        </p:spPr>
      </p:cxnSp>
      <p:cxnSp>
        <p:nvCxnSpPr>
          <p:cNvPr id="597" name="Google Shape;597;p19"/>
          <p:cNvCxnSpPr/>
          <p:nvPr/>
        </p:nvCxnSpPr>
        <p:spPr>
          <a:xfrm flipH="1">
            <a:off x="10167873" y="3606034"/>
            <a:ext cx="2" cy="238628"/>
          </a:xfrm>
          <a:prstGeom prst="straightConnector1">
            <a:avLst/>
          </a:prstGeom>
          <a:noFill/>
          <a:ln cap="flat" cmpd="sng" w="19050">
            <a:solidFill>
              <a:schemeClr val="dk1"/>
            </a:solidFill>
            <a:prstDash val="solid"/>
            <a:miter lim="800000"/>
            <a:headEnd len="med" w="med" type="triangle"/>
            <a:tailEnd len="med" w="med" type="triangle"/>
          </a:ln>
        </p:spPr>
      </p:cxnSp>
      <p:cxnSp>
        <p:nvCxnSpPr>
          <p:cNvPr id="598" name="Google Shape;598;p19"/>
          <p:cNvCxnSpPr/>
          <p:nvPr/>
        </p:nvCxnSpPr>
        <p:spPr>
          <a:xfrm flipH="1">
            <a:off x="10167871" y="2818632"/>
            <a:ext cx="2" cy="238628"/>
          </a:xfrm>
          <a:prstGeom prst="straightConnector1">
            <a:avLst/>
          </a:prstGeom>
          <a:noFill/>
          <a:ln cap="flat" cmpd="sng" w="19050">
            <a:solidFill>
              <a:schemeClr val="dk1"/>
            </a:solidFill>
            <a:prstDash val="solid"/>
            <a:miter lim="800000"/>
            <a:headEnd len="med" w="med" type="triangle"/>
            <a:tailEnd len="med" w="med" type="triangle"/>
          </a:ln>
        </p:spPr>
      </p:cxnSp>
      <p:sp>
        <p:nvSpPr>
          <p:cNvPr id="599" name="Google Shape;599;p19"/>
          <p:cNvSpPr/>
          <p:nvPr/>
        </p:nvSpPr>
        <p:spPr>
          <a:xfrm>
            <a:off x="9698982" y="2276556"/>
            <a:ext cx="1581393" cy="2098611"/>
          </a:xfrm>
          <a:prstGeom prst="rect">
            <a:avLst/>
          </a:prstGeom>
          <a:noFill/>
          <a:ln cap="flat" cmpd="sng" w="38100">
            <a:solidFill>
              <a:srgbClr val="C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20"/>
          <p:cNvSpPr txBox="1"/>
          <p:nvPr>
            <p:ph type="title"/>
          </p:nvPr>
        </p:nvSpPr>
        <p:spPr>
          <a:xfrm>
            <a:off x="177800" y="174625"/>
            <a:ext cx="11836400" cy="106362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Applications (Optional)</a:t>
            </a:r>
            <a:endParaRPr/>
          </a:p>
        </p:txBody>
      </p:sp>
      <p:sp>
        <p:nvSpPr>
          <p:cNvPr id="605" name="Google Shape;605;p20"/>
          <p:cNvSpPr txBox="1"/>
          <p:nvPr>
            <p:ph idx="1" type="body"/>
          </p:nvPr>
        </p:nvSpPr>
        <p:spPr>
          <a:xfrm>
            <a:off x="177800" y="1238250"/>
            <a:ext cx="11836400" cy="5441950"/>
          </a:xfrm>
          <a:prstGeom prst="rect">
            <a:avLst/>
          </a:prstGeom>
          <a:noFill/>
          <a:ln>
            <a:noFill/>
          </a:ln>
        </p:spPr>
        <p:txBody>
          <a:bodyPr anchorCtr="0" anchor="t" bIns="45700" lIns="91425" spcFirstLastPara="1" rIns="91425" wrap="square" tIns="45700">
            <a:normAutofit lnSpcReduction="10000"/>
          </a:bodyPr>
          <a:lstStyle/>
          <a:p>
            <a:pPr indent="-342900" lvl="0" marL="342900" rtl="0" algn="just">
              <a:lnSpc>
                <a:spcPct val="100000"/>
              </a:lnSpc>
              <a:spcBef>
                <a:spcPts val="0"/>
              </a:spcBef>
              <a:spcAft>
                <a:spcPts val="0"/>
              </a:spcAft>
              <a:buClr>
                <a:schemeClr val="dk1"/>
              </a:buClr>
              <a:buSzPts val="2800"/>
              <a:buFont typeface="Calibri"/>
              <a:buChar char="•"/>
            </a:pPr>
            <a:r>
              <a:rPr lang="en-US">
                <a:solidFill>
                  <a:schemeClr val="dk1"/>
                </a:solidFill>
              </a:rPr>
              <a:t>Graph Systems</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How to run graph system on personal computer (GraphChi)</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How to process dynamic graph (GraphOne)</a:t>
            </a:r>
            <a:endParaRPr/>
          </a:p>
          <a:p>
            <a:pPr indent="-342900" lvl="0" marL="342900" rtl="0" algn="just">
              <a:lnSpc>
                <a:spcPct val="100000"/>
              </a:lnSpc>
              <a:spcBef>
                <a:spcPts val="0"/>
              </a:spcBef>
              <a:spcAft>
                <a:spcPts val="0"/>
              </a:spcAft>
              <a:buClr>
                <a:schemeClr val="dk1"/>
              </a:buClr>
              <a:buSzPts val="2800"/>
              <a:buFont typeface="Calibri"/>
              <a:buChar char="•"/>
            </a:pPr>
            <a:r>
              <a:rPr lang="en-US">
                <a:solidFill>
                  <a:schemeClr val="dk1"/>
                </a:solidFill>
              </a:rPr>
              <a:t>Deep Recommendation System</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General Recommendation System (Facebook DLRM)</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GNN-based Social Recommendation System (Jindong GraphRec)</a:t>
            </a:r>
            <a:endParaRPr/>
          </a:p>
          <a:p>
            <a:pPr indent="-342900" lvl="0" marL="342900" rtl="0" algn="just">
              <a:lnSpc>
                <a:spcPct val="100000"/>
              </a:lnSpc>
              <a:spcBef>
                <a:spcPts val="0"/>
              </a:spcBef>
              <a:spcAft>
                <a:spcPts val="0"/>
              </a:spcAft>
              <a:buClr>
                <a:schemeClr val="dk1"/>
              </a:buClr>
              <a:buSzPts val="2800"/>
              <a:buFont typeface="Calibri"/>
              <a:buChar char="•"/>
            </a:pPr>
            <a:r>
              <a:rPr lang="en-US">
                <a:solidFill>
                  <a:schemeClr val="dk1"/>
                </a:solidFill>
              </a:rPr>
              <a:t>Key-Value Database (For Storage)</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Log-Structured Merged (LSM) Database (Google)</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LSM on SSDs (WiscKey)</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Learned Index</a:t>
            </a:r>
            <a:endParaRPr/>
          </a:p>
          <a:p>
            <a:pPr indent="-342900" lvl="0" marL="342900" rtl="0" algn="just">
              <a:lnSpc>
                <a:spcPct val="100000"/>
              </a:lnSpc>
              <a:spcBef>
                <a:spcPts val="0"/>
              </a:spcBef>
              <a:spcAft>
                <a:spcPts val="0"/>
              </a:spcAft>
              <a:buClr>
                <a:schemeClr val="dk1"/>
              </a:buClr>
              <a:buSzPts val="2800"/>
              <a:buFont typeface="Calibri"/>
              <a:buChar char="•"/>
            </a:pPr>
            <a:r>
              <a:rPr lang="en-US">
                <a:solidFill>
                  <a:schemeClr val="dk1"/>
                </a:solidFill>
              </a:rPr>
              <a:t>Data Center (Cloud) Computing</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Data Deduplication</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In-memory File System</a:t>
            </a:r>
            <a:endParaRPr/>
          </a:p>
          <a:p>
            <a:pPr indent="-285750" lvl="1" marL="742950" rtl="0" algn="just">
              <a:lnSpc>
                <a:spcPct val="100000"/>
              </a:lnSpc>
              <a:spcBef>
                <a:spcPts val="0"/>
              </a:spcBef>
              <a:spcAft>
                <a:spcPts val="0"/>
              </a:spcAft>
              <a:buClr>
                <a:schemeClr val="dk1"/>
              </a:buClr>
              <a:buSzPts val="2400"/>
              <a:buFont typeface="Calibri"/>
              <a:buChar char="–"/>
            </a:pPr>
            <a:r>
              <a:rPr lang="en-US">
                <a:solidFill>
                  <a:schemeClr val="dk1"/>
                </a:solidFill>
              </a:rPr>
              <a:t>Distributed File System (Ceph)</a:t>
            </a:r>
            <a:endParaRPr/>
          </a:p>
          <a:p>
            <a:pPr indent="-342900" lvl="0" marL="342900" rtl="0" algn="just">
              <a:lnSpc>
                <a:spcPct val="100000"/>
              </a:lnSpc>
              <a:spcBef>
                <a:spcPts val="0"/>
              </a:spcBef>
              <a:spcAft>
                <a:spcPts val="0"/>
              </a:spcAft>
              <a:buClr>
                <a:schemeClr val="dk1"/>
              </a:buClr>
              <a:buSzPts val="2800"/>
              <a:buFont typeface="Calibri"/>
              <a:buChar char="•"/>
            </a:pPr>
            <a:r>
              <a:rPr lang="en-US">
                <a:solidFill>
                  <a:schemeClr val="dk1"/>
                </a:solidFill>
              </a:rPr>
              <a:t>Virtualization Concepts</a:t>
            </a:r>
            <a:endParaRPr sz="3200">
              <a:solidFill>
                <a:schemeClr val="dk1"/>
              </a:solidFill>
            </a:endParaRPr>
          </a:p>
          <a:p>
            <a:pPr indent="-165100" lvl="0" marL="342900" rtl="0" algn="just">
              <a:lnSpc>
                <a:spcPct val="100000"/>
              </a:lnSpc>
              <a:spcBef>
                <a:spcPts val="0"/>
              </a:spcBef>
              <a:spcAft>
                <a:spcPts val="0"/>
              </a:spcAft>
              <a:buClr>
                <a:srgbClr val="333333"/>
              </a:buClr>
              <a:buSzPts val="2800"/>
              <a:buFont typeface="Calibri"/>
              <a:buNone/>
            </a:pPr>
            <a:r>
              <a:t/>
            </a:r>
            <a:endParaRPr/>
          </a:p>
        </p:txBody>
      </p:sp>
      <p:sp>
        <p:nvSpPr>
          <p:cNvPr id="606" name="Google Shape;606;p20"/>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21"/>
          <p:cNvSpPr txBox="1"/>
          <p:nvPr>
            <p:ph type="title"/>
          </p:nvPr>
        </p:nvSpPr>
        <p:spPr>
          <a:xfrm>
            <a:off x="342900" y="2289175"/>
            <a:ext cx="11506200" cy="7874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Palatino Linotype"/>
              <a:buNone/>
            </a:pPr>
            <a:r>
              <a:rPr b="0" i="1" lang="en-US" sz="4800">
                <a:latin typeface="Palatino Linotype"/>
                <a:ea typeface="Palatino Linotype"/>
                <a:cs typeface="Palatino Linotype"/>
                <a:sym typeface="Palatino Linotype"/>
              </a:rPr>
              <a:t>Thanks for your attention</a:t>
            </a:r>
            <a:br>
              <a:rPr b="0" i="1" lang="en-US" sz="4800">
                <a:latin typeface="Palatino Linotype"/>
                <a:ea typeface="Palatino Linotype"/>
                <a:cs typeface="Palatino Linotype"/>
                <a:sym typeface="Palatino Linotype"/>
              </a:rPr>
            </a:br>
            <a:r>
              <a:rPr b="0" i="1" lang="en-US" sz="4800">
                <a:latin typeface="Palatino Linotype"/>
                <a:ea typeface="Palatino Linotype"/>
                <a:cs typeface="Palatino Linotype"/>
                <a:sym typeface="Palatino Linotype"/>
              </a:rPr>
              <a:t>Q &amp; A</a:t>
            </a:r>
            <a:endParaRPr b="0" i="1" sz="4800">
              <a:latin typeface="Palatino Linotype"/>
              <a:ea typeface="Palatino Linotype"/>
              <a:cs typeface="Palatino Linotype"/>
              <a:sym typeface="Palatino Linotype"/>
            </a:endParaRPr>
          </a:p>
        </p:txBody>
      </p:sp>
      <p:sp>
        <p:nvSpPr>
          <p:cNvPr id="613" name="Google Shape;613;p21"/>
          <p:cNvSpPr txBox="1"/>
          <p:nvPr>
            <p:ph idx="12" type="sldNum"/>
          </p:nvPr>
        </p:nvSpPr>
        <p:spPr>
          <a:xfrm>
            <a:off x="11668124" y="11113"/>
            <a:ext cx="523875" cy="484187"/>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en-US"/>
              <a:t>‹#›</a:t>
            </a:fld>
            <a:endParaRPr/>
          </a:p>
        </p:txBody>
      </p:sp>
      <p:pic>
        <p:nvPicPr>
          <p:cNvPr id="614" name="Google Shape;614;p21"/>
          <p:cNvPicPr preferRelativeResize="0"/>
          <p:nvPr/>
        </p:nvPicPr>
        <p:blipFill rotWithShape="1">
          <a:blip r:embed="rId3">
            <a:alphaModFix/>
          </a:blip>
          <a:srcRect b="0" l="0" r="0" t="0"/>
          <a:stretch/>
        </p:blipFill>
        <p:spPr>
          <a:xfrm>
            <a:off x="7581403" y="3159125"/>
            <a:ext cx="4610596" cy="3508375"/>
          </a:xfrm>
          <a:prstGeom prst="rect">
            <a:avLst/>
          </a:prstGeom>
          <a:noFill/>
          <a:ln>
            <a:noFill/>
          </a:ln>
        </p:spPr>
      </p:pic>
      <p:pic>
        <p:nvPicPr>
          <p:cNvPr id="615" name="Google Shape;615;p21"/>
          <p:cNvPicPr preferRelativeResize="0"/>
          <p:nvPr/>
        </p:nvPicPr>
        <p:blipFill rotWithShape="1">
          <a:blip r:embed="rId4">
            <a:alphaModFix/>
          </a:blip>
          <a:srcRect b="0" l="0" r="0" t="0"/>
          <a:stretch/>
        </p:blipFill>
        <p:spPr>
          <a:xfrm>
            <a:off x="0" y="2501900"/>
            <a:ext cx="5012719" cy="4356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2017-10-03T14:18:54Z</dcterms:created>
  <dc:creator>YANG Ming-Chang</dc:creator>
</cp:coreProperties>
</file>